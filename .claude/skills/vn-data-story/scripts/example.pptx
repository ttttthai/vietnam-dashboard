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embeddedFontLst>
    <p:embeddedFont>
      <p:font typeface="Newsreader" panose="02000000000000000000" pitchFamily="18" charset="0"/>
      <p:regular r:id="rId45"/>
      <p:bold r:id="rId46"/>
    </p:embeddedFont>
    <p:embeddedFont>
      <p:font typeface="Newsreader Medium" panose="02000000000000000000" pitchFamily="18" charset="0"/>
      <p:regular r:id="rId47"/>
    </p:embeddedFont>
    <p:embeddedFont>
      <p:font typeface="IBM Plex Sans" panose="020B0503050203000203" pitchFamily="34" charset="0"/>
      <p:regular r:id="rId48"/>
      <p:bold r:id="rId49"/>
    </p:embeddedFont>
    <p:embeddedFont>
      <p:font typeface="IBM Plex Sans Medium" panose="020B0503050203000203" pitchFamily="34" charset="0"/>
      <p:regular r:id="rId50"/>
    </p:embeddedFont>
    <p:embeddedFont>
      <p:font typeface="IBM Plex Sans SemiBold" panose="020B0503050203000203" pitchFamily="34" charset="0"/>
      <p:regular r:id="rId5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font" Target="fonts/font1.fntdata"/><Relationship Id="rId46" Type="http://schemas.openxmlformats.org/officeDocument/2006/relationships/font" Target="fonts/font2.fntdata"/><Relationship Id="rId47" Type="http://schemas.openxmlformats.org/officeDocument/2006/relationships/font" Target="fonts/font3.fntdata"/><Relationship Id="rId48" Type="http://schemas.openxmlformats.org/officeDocument/2006/relationships/font" Target="fonts/font4.fntdata"/><Relationship Id="rId49" Type="http://schemas.openxmlformats.org/officeDocument/2006/relationships/font" Target="fonts/font5.fntdata"/><Relationship Id="rId50" Type="http://schemas.openxmlformats.org/officeDocument/2006/relationships/font" Target="fonts/font6.fntdata"/><Relationship Id="rId51" Type="http://schemas.openxmlformats.org/officeDocument/2006/relationships/font" Target="fonts/font7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FDI giải ngân (tỷ USD)</c:v>
                </c:pt>
              </c:strCache>
            </c:strRef>
          </c:tx>
          <c:spPr>
            <a:solidFill>
              <a:srgbClr val="2A78D6"/>
            </a:solidFill>
            <a:ln>
              <a:solidFill>
                <a:srgbClr val="FFFFFF"/>
              </a:solidFill>
            </a:ln>
          </c:spPr>
          <c:dPt>
            <c:idx val="0"/>
            <c:spPr>
              <a:solidFill>
                <a:srgbClr val="C9CCD2"/>
              </a:solidFill>
            </c:spPr>
          </c:dPt>
          <c:dPt>
            <c:idx val="1"/>
            <c:spPr>
              <a:solidFill>
                <a:srgbClr val="C9CCD2"/>
              </a:solidFill>
            </c:spPr>
          </c:dPt>
          <c:dPt>
            <c:idx val="2"/>
            <c:spPr>
              <a:solidFill>
                <a:srgbClr val="C9CCD2"/>
              </a:solidFill>
            </c:spPr>
          </c:dPt>
          <c:dPt>
            <c:idx val="3"/>
            <c:spPr>
              <a:solidFill>
                <a:srgbClr val="C9CCD2"/>
              </a:solidFill>
            </c:spPr>
          </c:dPt>
          <c:dPt>
            <c:idx val="4"/>
            <c:spPr>
              <a:solidFill>
                <a:srgbClr val="C9CCD2"/>
              </a:solidFill>
            </c:spPr>
          </c:dPt>
          <c:dPt>
            <c:idx val="5"/>
            <c:spPr>
              <a:solidFill>
                <a:srgbClr val="C9CCD2"/>
              </a:solidFill>
            </c:spPr>
          </c:dPt>
          <c:dPt>
            <c:idx val="6"/>
            <c:spPr>
              <a:solidFill>
                <a:srgbClr val="C9CCD2"/>
              </a:solidFill>
            </c:spPr>
          </c:dPt>
          <c:dPt>
            <c:idx val="7"/>
            <c:spPr>
              <a:solidFill>
                <a:srgbClr val="C9CCD2"/>
              </a:solidFill>
            </c:spPr>
          </c:dPt>
          <c:dPt>
            <c:idx val="8"/>
            <c:spPr>
              <a:solidFill>
                <a:srgbClr val="C9CCD2"/>
              </a:solidFill>
            </c:spPr>
          </c:dPt>
          <c:dPt>
            <c:idx val="9"/>
            <c:spPr>
              <a:solidFill>
                <a:srgbClr val="C9CCD2"/>
              </a:solidFill>
            </c:spPr>
          </c:dPt>
          <c:dPt>
            <c:idx val="10"/>
            <c:spPr>
              <a:solidFill>
                <a:srgbClr val="C9CCD2"/>
              </a:solidFill>
            </c:spPr>
          </c:dPt>
          <c:dPt>
            <c:idx val="11"/>
            <c:spPr>
              <a:solidFill>
                <a:srgbClr val="C9CCD2"/>
              </a:solidFill>
            </c:spPr>
          </c:dPt>
          <c:dPt>
            <c:idx val="12"/>
            <c:spPr>
              <a:solidFill>
                <a:srgbClr val="C9CCD2"/>
              </a:solidFill>
            </c:spPr>
          </c:dPt>
          <c:dPt>
            <c:idx val="13"/>
            <c:spPr>
              <a:solidFill>
                <a:srgbClr val="C9CCD2"/>
              </a:solidFill>
            </c:spPr>
          </c:dPt>
          <c:dPt>
            <c:idx val="14"/>
            <c:spPr>
              <a:solidFill>
                <a:srgbClr val="C9CCD2"/>
              </a:solidFill>
            </c:spPr>
          </c:dPt>
          <c:dPt>
            <c:idx val="15"/>
            <c:spPr>
              <a:solidFill>
                <a:srgbClr val="2A78D6"/>
              </a:solidFill>
            </c:spPr>
          </c:dPt>
          <c:dLbls>
            <c:numFmt formatCode="#,##0.0" sourceLinked="0"/>
            <c:txPr>
              <a:bodyPr/>
              <a:lstStyle/>
              <a:p>
                <a:pPr>
                  <a:defRPr sz="1000">
                    <a:solidFill>
                      <a:srgbClr val="5B6170"/>
                    </a:solidFill>
                    <a:latin typeface="IBM Plex Sans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  <c:pt idx="14">
                  <c:v>2024</c:v>
                </c:pt>
                <c:pt idx="15">
                  <c:v>2025</c:v>
                </c:pt>
              </c:strCache>
            </c:strRef>
          </c:cat>
          <c:val>
            <c:numRef>
              <c:f>Sheet1!$B$2:$B$17</c:f>
              <c:numCache>
                <c:formatCode>#,##0.0</c:formatCode>
                <c:ptCount val="16"/>
                <c:pt idx="0">
                  <c:v>11.0</c:v>
                </c:pt>
                <c:pt idx="1">
                  <c:v>11.0</c:v>
                </c:pt>
                <c:pt idx="2">
                  <c:v>10.05</c:v>
                </c:pt>
                <c:pt idx="3">
                  <c:v>11.5</c:v>
                </c:pt>
                <c:pt idx="4">
                  <c:v>12.5</c:v>
                </c:pt>
                <c:pt idx="5">
                  <c:v>14.5</c:v>
                </c:pt>
                <c:pt idx="6">
                  <c:v>15.8</c:v>
                </c:pt>
                <c:pt idx="7">
                  <c:v>17.5</c:v>
                </c:pt>
                <c:pt idx="8">
                  <c:v>19.1</c:v>
                </c:pt>
                <c:pt idx="9">
                  <c:v>20.38</c:v>
                </c:pt>
                <c:pt idx="10">
                  <c:v>19.98</c:v>
                </c:pt>
                <c:pt idx="11">
                  <c:v>19.74</c:v>
                </c:pt>
                <c:pt idx="12">
                  <c:v>22.4</c:v>
                </c:pt>
                <c:pt idx="13">
                  <c:v>23.18</c:v>
                </c:pt>
                <c:pt idx="14">
                  <c:v>25.35</c:v>
                </c:pt>
                <c:pt idx="15">
                  <c:v>27.62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 w="12700">
            <a:solidFill>
              <a:srgbClr val="C3C2B7"/>
            </a:solidFill>
          </a:ln>
        </c:spPr>
        <c:txPr>
          <a:bodyPr/>
          <a:lstStyle/>
          <a:p>
            <a:pPr>
              <a:defRPr sz="1000">
                <a:solidFill>
                  <a:srgbClr val="5B617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8A8F9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50">
          <a:solidFill>
            <a:srgbClr val="5B6170"/>
          </a:solidFill>
          <a:latin typeface="IBM Plex San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566928"/>
            <a:ext cx="11002975" cy="0"/>
          </a:xfrm>
          <a:prstGeom prst="line">
            <a:avLst/>
          </a:prstGeom>
          <a:ln w="6350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7498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lang="vi-VN" spc="160">
                <a:solidFill>
                  <a:srgbClr val="16181D"/>
                </a:solidFill>
                <a:latin typeface="IBM Plex Sans SemiBold"/>
              </a:rPr>
              <a:t>VIETNAM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39735" y="7498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 i="0" lang="vi-VN">
                <a:solidFill>
                  <a:srgbClr val="5B6170"/>
                </a:solidFill>
                <a:latin typeface="IBM Plex Sans"/>
              </a:rPr>
              <a:t>Cập nhật 7/10/2026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74520"/>
            <a:ext cx="66751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 lang="vi-VN" spc="160">
                <a:solidFill>
                  <a:srgbClr val="C2362F"/>
                </a:solidFill>
                <a:latin typeface="IBM Plex Sans SemiBold"/>
              </a:rPr>
              <a:t>BÁO CÁO KINH TẾ · NGÂN HÀNG · BỘ MẪU TRÌNH BÀY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86000"/>
            <a:ext cx="6675120" cy="20628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8000"/>
              </a:lnSpc>
            </a:pPr>
            <a:r>
              <a:rPr sz="4400" b="1" i="0" lang="vi-VN">
                <a:solidFill>
                  <a:srgbClr val="16181D"/>
                </a:solidFill>
                <a:latin typeface="Newsreader"/>
              </a:rPr>
              <a:t>Kinh tế 9 tháng 2026: GDP tăng 9,01%, tín dụng chạy trước huy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550054"/>
            <a:ext cx="667512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 i="0" lang="vi-VN">
                <a:solidFill>
                  <a:srgbClr val="5B6170"/>
                </a:solidFill>
                <a:latin typeface="IBM Plex Sans"/>
              </a:rPr>
              <a:t>Ba mươi ba cách trình bày dữ liệu theo phong cách Vietnam Dashboard — số liệu thật của dashboard, mỗi trang một phát hiện.</a:t>
            </a:r>
          </a:p>
        </p:txBody>
      </p:sp>
      <p:grpSp>
        <p:nvGrpSpPr>
          <p:cNvPr id="8" name="Chart · bar"/>
          <p:cNvGrpSpPr/>
          <p:nvPr/>
        </p:nvGrpSpPr>
        <p:grpSpPr>
          <a:xfrm>
            <a:off x="7808976" y="2121408"/>
            <a:ext cx="3799641" cy="3109468"/>
            <a:chOff x="7808976" y="2121408"/>
            <a:chExt cx="3799641" cy="3109468"/>
          </a:xfrm>
        </p:grpSpPr>
        <p:sp>
          <p:nvSpPr>
            <p:cNvPr id="9" name="TextBox 8"/>
            <p:cNvSpPr txBox="1"/>
            <p:nvPr/>
          </p:nvSpPr>
          <p:spPr>
            <a:xfrm>
              <a:off x="7818120" y="2121408"/>
              <a:ext cx="1116057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Tăng trưởng GDP, %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5176" y="4910074"/>
              <a:ext cx="2143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0,0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5176" y="4269994"/>
              <a:ext cx="2143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2,5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885176" y="3629914"/>
              <a:ext cx="2143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5,0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885176" y="2989834"/>
              <a:ext cx="2143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7,5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808976" y="2349754"/>
              <a:ext cx="2905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10,0</a:t>
              </a:r>
            </a:p>
          </p:txBody>
        </p:sp>
        <p:sp>
          <p:nvSpPr>
            <p:cNvPr id="15" name="Round Same Side Corner Rectangle 14"/>
            <p:cNvSpPr/>
            <p:nvPr/>
          </p:nvSpPr>
          <p:spPr>
            <a:xfrm>
              <a:off x="8234345" y="3202960"/>
              <a:ext cx="222961" cy="1789664"/>
            </a:xfrm>
            <a:prstGeom prst="round2SameRect">
              <a:avLst>
                <a:gd name="adj1" fmla="val 2255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 Same Side Corner Rectangle 15"/>
            <p:cNvSpPr/>
            <p:nvPr/>
          </p:nvSpPr>
          <p:spPr>
            <a:xfrm>
              <a:off x="8544013" y="3279770"/>
              <a:ext cx="222961" cy="1712854"/>
            </a:xfrm>
            <a:prstGeom prst="round2SameRect">
              <a:avLst>
                <a:gd name="adj1" fmla="val 2255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 Same Side Corner Rectangle 16"/>
            <p:cNvSpPr/>
            <p:nvPr/>
          </p:nvSpPr>
          <p:spPr>
            <a:xfrm>
              <a:off x="8853681" y="3215762"/>
              <a:ext cx="222961" cy="1776862"/>
            </a:xfrm>
            <a:prstGeom prst="round2SameRect">
              <a:avLst>
                <a:gd name="adj1" fmla="val 2255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9163348" y="3080065"/>
              <a:ext cx="222961" cy="1912559"/>
            </a:xfrm>
            <a:prstGeom prst="round2SameRect">
              <a:avLst>
                <a:gd name="adj1" fmla="val 2255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 Same Side Corner Rectangle 18"/>
            <p:cNvSpPr/>
            <p:nvPr/>
          </p:nvSpPr>
          <p:spPr>
            <a:xfrm>
              <a:off x="9473016" y="3108228"/>
              <a:ext cx="222961" cy="1884396"/>
            </a:xfrm>
            <a:prstGeom prst="round2SameRect">
              <a:avLst>
                <a:gd name="adj1" fmla="val 2255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 Same Side Corner Rectangle 19"/>
            <p:cNvSpPr/>
            <p:nvPr/>
          </p:nvSpPr>
          <p:spPr>
            <a:xfrm>
              <a:off x="9782683" y="4257812"/>
              <a:ext cx="222961" cy="734812"/>
            </a:xfrm>
            <a:prstGeom prst="round2SameRect">
              <a:avLst>
                <a:gd name="adj1" fmla="val 2255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 Same Side Corner Rectangle 20"/>
            <p:cNvSpPr/>
            <p:nvPr/>
          </p:nvSpPr>
          <p:spPr>
            <a:xfrm>
              <a:off x="10092351" y="4339742"/>
              <a:ext cx="222961" cy="652882"/>
            </a:xfrm>
            <a:prstGeom prst="round2SameRect">
              <a:avLst>
                <a:gd name="adj1" fmla="val 2255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 Same Side Corner Rectangle 21"/>
            <p:cNvSpPr/>
            <p:nvPr/>
          </p:nvSpPr>
          <p:spPr>
            <a:xfrm>
              <a:off x="10402018" y="2806111"/>
              <a:ext cx="222961" cy="2186513"/>
            </a:xfrm>
            <a:prstGeom prst="round2SameRect">
              <a:avLst>
                <a:gd name="adj1" fmla="val 2255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 Same Side Corner Rectangle 22"/>
            <p:cNvSpPr/>
            <p:nvPr/>
          </p:nvSpPr>
          <p:spPr>
            <a:xfrm>
              <a:off x="10711686" y="3717585"/>
              <a:ext cx="222961" cy="1275039"/>
            </a:xfrm>
            <a:prstGeom prst="round2SameRect">
              <a:avLst>
                <a:gd name="adj1" fmla="val 2255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 Same Side Corner Rectangle 23"/>
            <p:cNvSpPr/>
            <p:nvPr/>
          </p:nvSpPr>
          <p:spPr>
            <a:xfrm>
              <a:off x="11021354" y="3190159"/>
              <a:ext cx="222961" cy="1802465"/>
            </a:xfrm>
            <a:prstGeom prst="round2SameRect">
              <a:avLst>
                <a:gd name="adj1" fmla="val 2255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 Same Side Corner Rectangle 24"/>
            <p:cNvSpPr/>
            <p:nvPr/>
          </p:nvSpPr>
          <p:spPr>
            <a:xfrm>
              <a:off x="11331021" y="2939247"/>
              <a:ext cx="222961" cy="2053377"/>
            </a:xfrm>
            <a:prstGeom prst="round2SameRect">
              <a:avLst>
                <a:gd name="adj1" fmla="val 22556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328106" y="2720172"/>
              <a:ext cx="228791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50" b="1" i="0" lang="vi-VN">
                  <a:solidFill>
                    <a:srgbClr val="16181D"/>
                  </a:solidFill>
                  <a:latin typeface="IBM Plex Sans"/>
                </a:rPr>
                <a:t>8,0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8190992" y="4992624"/>
              <a:ext cx="3406343" cy="0"/>
            </a:xfrm>
            <a:prstGeom prst="line">
              <a:avLst/>
            </a:prstGeom>
            <a:ln w="12700" cap="flat">
              <a:solidFill>
                <a:srgbClr val="C3C2B7"/>
              </a:solidFill>
              <a:round/>
            </a:ln>
          </p:spPr>
        </p:cxnSp>
        <p:sp>
          <p:nvSpPr>
            <p:cNvPr id="28" name="TextBox 27"/>
            <p:cNvSpPr txBox="1"/>
            <p:nvPr/>
          </p:nvSpPr>
          <p:spPr>
            <a:xfrm>
              <a:off x="8179710" y="5065776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2015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799045" y="5065776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2017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9418380" y="5065776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2019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0037715" y="5065776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2021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657050" y="5065776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2023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276385" y="5065776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2025</a:t>
              </a:r>
            </a:p>
          </p:txBody>
        </p:sp>
      </p:grpSp>
      <p:cxnSp>
        <p:nvCxnSpPr>
          <p:cNvPr id="34" name="Connector 33"/>
          <p:cNvCxnSpPr/>
          <p:nvPr/>
        </p:nvCxnSpPr>
        <p:spPr>
          <a:xfrm>
            <a:off x="594360" y="5989320"/>
            <a:ext cx="11002975" cy="0"/>
          </a:xfrm>
          <a:prstGeom prst="line">
            <a:avLst/>
          </a:prstGeom>
          <a:ln w="9525" cap="flat">
            <a:solidFill>
              <a:srgbClr val="16181D"/>
            </a:solidFill>
            <a:round/>
          </a:ln>
        </p:spPr>
      </p:cxnSp>
      <p:sp>
        <p:nvSpPr>
          <p:cNvPr id="35" name="TextBox 34"/>
          <p:cNvSpPr txBox="1"/>
          <p:nvPr/>
        </p:nvSpPr>
        <p:spPr>
          <a:xfrm>
            <a:off x="594360" y="6108192"/>
            <a:ext cx="110029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lang="vi-VN">
                <a:solidFill>
                  <a:srgbClr val="5B6170"/>
                </a:solidFill>
                <a:latin typeface="IBM Plex Sans"/>
              </a:rPr>
              <a:t>Nguồn số liệu: NSO, NHNN, Bộ Tài chính, IMF, World Bank, UN WPP 2024 và mô hình của dashboard. Mô tả số liệu — không phải khuyến nghị đầu tư.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56692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146304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sz="12000" b="1" i="0" lang="vi-VN">
                <a:solidFill>
                  <a:srgbClr val="C2362F"/>
                </a:solidFill>
                <a:latin typeface="Newsreader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154680"/>
            <a:ext cx="658368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800" b="1" i="0" lang="vi-VN">
                <a:solidFill>
                  <a:srgbClr val="16181D"/>
                </a:solidFill>
                <a:latin typeface="Newsreader"/>
              </a:rPr>
              <a:t>Tăng trưởng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709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 lang="vi-VN">
                <a:solidFill>
                  <a:srgbClr val="5B6170"/>
                </a:solidFill>
                <a:latin typeface="IBM Plex Sans"/>
              </a:rPr>
              <a:t>GDP 9 tháng, các con số chính, dự báo đến 2030 và cơ cấu nền kinh tế.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0" y="1600200"/>
            <a:ext cx="36420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lang="vi-VN" spc="120">
                <a:solidFill>
                  <a:srgbClr val="5B6170"/>
                </a:solidFill>
                <a:latin typeface="IBM Plex Sans SemiBold"/>
              </a:rPr>
              <a:t>TRONG CHƯƠNG NÀY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955280" y="196596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8" name="TextBox 7"/>
          <p:cNvSpPr txBox="1"/>
          <p:nvPr/>
        </p:nvSpPr>
        <p:spPr>
          <a:xfrm>
            <a:off x="7955280" y="205740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Con số nổi bật và bốn chỉ số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80" y="244983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0" name="TextBox 9"/>
          <p:cNvSpPr txBox="1"/>
          <p:nvPr/>
        </p:nvSpPr>
        <p:spPr>
          <a:xfrm>
            <a:off x="7955280" y="254127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Tăng trưởng 2010–2025 và dự báo IMF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55280" y="293370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2" name="TextBox 11"/>
          <p:cNvSpPr txBox="1"/>
          <p:nvPr/>
        </p:nvSpPr>
        <p:spPr>
          <a:xfrm>
            <a:off x="7955280" y="302514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Cơ cấu chi tiêu 2015 → 2025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955280" y="341757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4" name="TextBox 13"/>
          <p:cNvSpPr txBox="1"/>
          <p:nvPr/>
        </p:nvSpPr>
        <p:spPr>
          <a:xfrm>
            <a:off x="7955280" y="350901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Thứ hạng các ngành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55280" y="390144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7955280" y="399288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Ai đầu tư, FDI giải ngân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8" name="TextBox 17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TỔNG QUAN · 9 THÁNG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499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GDP 9 tháng 2026 tăng 9,01%; riêng quý 3 tăng 9,95%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96568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sz="9600" b="1" i="0" lang="vi-VN">
                <a:solidFill>
                  <a:srgbClr val="16181D"/>
                </a:solidFill>
                <a:latin typeface="IBM Plex Sans"/>
              </a:rPr>
              <a:t>9,01</a:t>
            </a:r>
            <a:r>
              <a:rPr sz="2400" b="0" i="0" lang="vi-VN">
                <a:solidFill>
                  <a:srgbClr val="5B6170"/>
                </a:solidFill>
                <a:latin typeface="IBM Plex Sans SemiBold"/>
              </a:rPr>
              <a:t>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68168"/>
            <a:ext cx="5212080" cy="8321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i="0" lang="vi-VN">
                <a:solidFill>
                  <a:srgbClr val="5B6170"/>
                </a:solidFill>
                <a:latin typeface="IBM Plex Sans"/>
              </a:rPr>
              <a:t>So với cùng kỳ 2025. Tốc độ tăng dần qua từng quý; mục tiêu cả năm của Quốc hội là từ 10%. Mức cả năm cao nhất 2010–2025 là 8,54% (2022).</a:t>
            </a:r>
          </a:p>
        </p:txBody>
      </p:sp>
      <p:grpSp>
        <p:nvGrpSpPr>
          <p:cNvPr id="7" name="Counters"/>
          <p:cNvGrpSpPr/>
          <p:nvPr/>
        </p:nvGrpSpPr>
        <p:grpSpPr>
          <a:xfrm>
            <a:off x="594360" y="3960876"/>
            <a:ext cx="5303520" cy="1554480"/>
            <a:chOff x="594360" y="3960876"/>
            <a:chExt cx="5303520" cy="1554480"/>
          </a:xfrm>
        </p:grpSpPr>
        <p:cxnSp>
          <p:nvCxnSpPr>
            <p:cNvPr id="8" name="Connector 7"/>
            <p:cNvCxnSpPr/>
            <p:nvPr/>
          </p:nvCxnSpPr>
          <p:spPr>
            <a:xfrm>
              <a:off x="594360" y="3974592"/>
              <a:ext cx="1645920" cy="0"/>
            </a:xfrm>
            <a:prstGeom prst="line">
              <a:avLst/>
            </a:prstGeom>
            <a:ln w="19050" cap="flat">
              <a:solidFill>
                <a:srgbClr val="16181D"/>
              </a:solidFill>
              <a:round/>
            </a:ln>
          </p:spPr>
        </p:cxnSp>
        <p:sp>
          <p:nvSpPr>
            <p:cNvPr id="9" name="TextBox 8"/>
            <p:cNvSpPr txBox="1"/>
            <p:nvPr/>
          </p:nvSpPr>
          <p:spPr>
            <a:xfrm>
              <a:off x="594360" y="4047744"/>
              <a:ext cx="555003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 spc="60">
                  <a:solidFill>
                    <a:srgbClr val="5B6170"/>
                  </a:solidFill>
                  <a:latin typeface="IBM Plex Sans SemiBold"/>
                </a:rPr>
                <a:t>Q1/2026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4360" y="4250182"/>
              <a:ext cx="882117" cy="3632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2200" b="0" i="0" lang="vi-VN">
                  <a:solidFill>
                    <a:srgbClr val="16181D"/>
                  </a:solidFill>
                  <a:latin typeface="IBM Plex Sans SemiBold"/>
                </a:rPr>
                <a:t>8,15%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4360" y="4706112"/>
              <a:ext cx="1554480" cy="64008"/>
            </a:xfrm>
            <a:prstGeom prst="rect">
              <a:avLst/>
            </a:prstGeom>
            <a:solidFill>
              <a:srgbClr val="EEECE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 Same Side Corner Rectangle 11"/>
            <p:cNvSpPr/>
            <p:nvPr/>
          </p:nvSpPr>
          <p:spPr>
            <a:xfrm rot="5400000">
              <a:off x="1198990" y="4101482"/>
              <a:ext cx="64008" cy="1273268"/>
            </a:xfrm>
            <a:prstGeom prst="round2SameRect">
              <a:avLst>
                <a:gd name="adj1" fmla="val 49999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2423160" y="3974592"/>
              <a:ext cx="1645920" cy="0"/>
            </a:xfrm>
            <a:prstGeom prst="line">
              <a:avLst/>
            </a:prstGeom>
            <a:ln w="19050" cap="flat">
              <a:solidFill>
                <a:srgbClr val="16181D"/>
              </a:solidFill>
              <a:round/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2423160" y="4047744"/>
              <a:ext cx="555003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 spc="60">
                  <a:solidFill>
                    <a:srgbClr val="5B6170"/>
                  </a:solidFill>
                  <a:latin typeface="IBM Plex Sans SemiBold"/>
                </a:rPr>
                <a:t>Q2/2026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423160" y="4250182"/>
              <a:ext cx="882117" cy="3632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2200" b="0" i="0" lang="vi-VN">
                  <a:solidFill>
                    <a:srgbClr val="16181D"/>
                  </a:solidFill>
                  <a:latin typeface="IBM Plex Sans SemiBold"/>
                </a:rPr>
                <a:t>8,81%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423160" y="4706112"/>
              <a:ext cx="1554480" cy="64008"/>
            </a:xfrm>
            <a:prstGeom prst="rect">
              <a:avLst/>
            </a:prstGeom>
            <a:solidFill>
              <a:srgbClr val="EEECE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 Same Side Corner Rectangle 16"/>
            <p:cNvSpPr/>
            <p:nvPr/>
          </p:nvSpPr>
          <p:spPr>
            <a:xfrm rot="5400000">
              <a:off x="3079345" y="4049927"/>
              <a:ext cx="64008" cy="1376379"/>
            </a:xfrm>
            <a:prstGeom prst="round2SameRect">
              <a:avLst>
                <a:gd name="adj1" fmla="val 49999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4251960" y="3974592"/>
              <a:ext cx="1645920" cy="0"/>
            </a:xfrm>
            <a:prstGeom prst="line">
              <a:avLst/>
            </a:prstGeom>
            <a:ln w="19050" cap="flat">
              <a:solidFill>
                <a:srgbClr val="16181D"/>
              </a:solidFill>
              <a:round/>
            </a:ln>
          </p:spPr>
        </p:cxnSp>
        <p:sp>
          <p:nvSpPr>
            <p:cNvPr id="19" name="TextBox 18"/>
            <p:cNvSpPr txBox="1"/>
            <p:nvPr/>
          </p:nvSpPr>
          <p:spPr>
            <a:xfrm>
              <a:off x="4251960" y="4047744"/>
              <a:ext cx="555003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 spc="60">
                  <a:solidFill>
                    <a:srgbClr val="5B6170"/>
                  </a:solidFill>
                  <a:latin typeface="IBM Plex Sans SemiBold"/>
                </a:rPr>
                <a:t>Q3/2026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251960" y="4250182"/>
              <a:ext cx="882117" cy="3632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2200" b="0" i="0" lang="vi-VN">
                  <a:solidFill>
                    <a:srgbClr val="16181D"/>
                  </a:solidFill>
                  <a:latin typeface="IBM Plex Sans SemiBold"/>
                </a:rPr>
                <a:t>9,95%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251960" y="4706112"/>
              <a:ext cx="1554480" cy="64008"/>
            </a:xfrm>
            <a:prstGeom prst="rect">
              <a:avLst/>
            </a:prstGeom>
            <a:solidFill>
              <a:srgbClr val="EEECE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 Same Side Corner Rectangle 21"/>
            <p:cNvSpPr/>
            <p:nvPr/>
          </p:nvSpPr>
          <p:spPr>
            <a:xfrm rot="5400000">
              <a:off x="4997196" y="3960876"/>
              <a:ext cx="64008" cy="1554480"/>
            </a:xfrm>
            <a:prstGeom prst="round2SameRect">
              <a:avLst>
                <a:gd name="adj1" fmla="val 4999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" name="Rectangle 22"/>
          <p:cNvSpPr/>
          <p:nvPr/>
        </p:nvSpPr>
        <p:spPr>
          <a:xfrm>
            <a:off x="6400800" y="1450848"/>
            <a:ext cx="5196535" cy="4712208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1652016"/>
            <a:ext cx="464789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lang="vi-VN">
                <a:solidFill>
                  <a:srgbClr val="16181D"/>
                </a:solidFill>
                <a:latin typeface="IBM Plex Sans SemiBold"/>
              </a:rPr>
              <a:t>Tăng trưởng GDP cả năm, 2015–2025 (%)</a:t>
            </a:r>
          </a:p>
        </p:txBody>
      </p:sp>
      <p:grpSp>
        <p:nvGrpSpPr>
          <p:cNvPr id="25" name="Chart · bar"/>
          <p:cNvGrpSpPr/>
          <p:nvPr/>
        </p:nvGrpSpPr>
        <p:grpSpPr>
          <a:xfrm>
            <a:off x="6665976" y="2154682"/>
            <a:ext cx="4682061" cy="3707130"/>
            <a:chOff x="6665976" y="2154682"/>
            <a:chExt cx="4682061" cy="3707130"/>
          </a:xfrm>
        </p:grpSpPr>
        <p:sp>
          <p:nvSpPr>
            <p:cNvPr id="26" name="TextBox 25"/>
            <p:cNvSpPr txBox="1"/>
            <p:nvPr/>
          </p:nvSpPr>
          <p:spPr>
            <a:xfrm>
              <a:off x="6742176" y="5541010"/>
              <a:ext cx="2143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0,0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7047992" y="4776978"/>
              <a:ext cx="4275023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28" name="TextBox 27"/>
            <p:cNvSpPr txBox="1"/>
            <p:nvPr/>
          </p:nvSpPr>
          <p:spPr>
            <a:xfrm>
              <a:off x="6742176" y="4694428"/>
              <a:ext cx="2143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2,5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>
              <a:off x="7047992" y="3930396"/>
              <a:ext cx="4275023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30" name="TextBox 29"/>
            <p:cNvSpPr txBox="1"/>
            <p:nvPr/>
          </p:nvSpPr>
          <p:spPr>
            <a:xfrm>
              <a:off x="6742176" y="3847846"/>
              <a:ext cx="2143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5,0</a:t>
              </a:r>
            </a:p>
          </p:txBody>
        </p:sp>
        <p:cxnSp>
          <p:nvCxnSpPr>
            <p:cNvPr id="31" name="Connector 30"/>
            <p:cNvCxnSpPr/>
            <p:nvPr/>
          </p:nvCxnSpPr>
          <p:spPr>
            <a:xfrm>
              <a:off x="7047992" y="3083814"/>
              <a:ext cx="4275023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32" name="TextBox 31"/>
            <p:cNvSpPr txBox="1"/>
            <p:nvPr/>
          </p:nvSpPr>
          <p:spPr>
            <a:xfrm>
              <a:off x="6742176" y="3001264"/>
              <a:ext cx="2143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7,5</a:t>
              </a:r>
            </a:p>
          </p:txBody>
        </p:sp>
        <p:cxnSp>
          <p:nvCxnSpPr>
            <p:cNvPr id="33" name="Connector 32"/>
            <p:cNvCxnSpPr/>
            <p:nvPr/>
          </p:nvCxnSpPr>
          <p:spPr>
            <a:xfrm>
              <a:off x="7047992" y="2237232"/>
              <a:ext cx="4275023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34" name="TextBox 33"/>
            <p:cNvSpPr txBox="1"/>
            <p:nvPr/>
          </p:nvSpPr>
          <p:spPr>
            <a:xfrm>
              <a:off x="6665976" y="2154682"/>
              <a:ext cx="2905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10,0</a:t>
              </a:r>
            </a:p>
          </p:txBody>
        </p:sp>
        <p:sp>
          <p:nvSpPr>
            <p:cNvPr id="35" name="Round Same Side Corner Rectangle 34"/>
            <p:cNvSpPr/>
            <p:nvPr/>
          </p:nvSpPr>
          <p:spPr>
            <a:xfrm>
              <a:off x="7102401" y="3256517"/>
              <a:ext cx="279820" cy="2367043"/>
            </a:xfrm>
            <a:prstGeom prst="round2SameRect">
              <a:avLst>
                <a:gd name="adj1" fmla="val 17973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ound Same Side Corner Rectangle 35"/>
            <p:cNvSpPr/>
            <p:nvPr/>
          </p:nvSpPr>
          <p:spPr>
            <a:xfrm>
              <a:off x="7491040" y="3358107"/>
              <a:ext cx="279820" cy="2265453"/>
            </a:xfrm>
            <a:prstGeom prst="round2SameRect">
              <a:avLst>
                <a:gd name="adj1" fmla="val 17973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 Same Side Corner Rectangle 36"/>
            <p:cNvSpPr/>
            <p:nvPr/>
          </p:nvSpPr>
          <p:spPr>
            <a:xfrm>
              <a:off x="7879678" y="3273448"/>
              <a:ext cx="279820" cy="2350112"/>
            </a:xfrm>
            <a:prstGeom prst="round2SameRect">
              <a:avLst>
                <a:gd name="adj1" fmla="val 17973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 Same Side Corner Rectangle 37"/>
            <p:cNvSpPr/>
            <p:nvPr/>
          </p:nvSpPr>
          <p:spPr>
            <a:xfrm>
              <a:off x="8268317" y="3093973"/>
              <a:ext cx="279820" cy="2529587"/>
            </a:xfrm>
            <a:prstGeom prst="round2SameRect">
              <a:avLst>
                <a:gd name="adj1" fmla="val 17973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 Same Side Corner Rectangle 38"/>
            <p:cNvSpPr/>
            <p:nvPr/>
          </p:nvSpPr>
          <p:spPr>
            <a:xfrm>
              <a:off x="8656955" y="3131223"/>
              <a:ext cx="279820" cy="2492337"/>
            </a:xfrm>
            <a:prstGeom prst="round2SameRect">
              <a:avLst>
                <a:gd name="adj1" fmla="val 17973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ound Same Side Corner Rectangle 39"/>
            <p:cNvSpPr/>
            <p:nvPr/>
          </p:nvSpPr>
          <p:spPr>
            <a:xfrm>
              <a:off x="9045594" y="4651684"/>
              <a:ext cx="279820" cy="971876"/>
            </a:xfrm>
            <a:prstGeom prst="round2SameRect">
              <a:avLst>
                <a:gd name="adj1" fmla="val 17973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 Same Side Corner Rectangle 40"/>
            <p:cNvSpPr/>
            <p:nvPr/>
          </p:nvSpPr>
          <p:spPr>
            <a:xfrm>
              <a:off x="9434232" y="4760046"/>
              <a:ext cx="279820" cy="863514"/>
            </a:xfrm>
            <a:prstGeom prst="round2SameRect">
              <a:avLst>
                <a:gd name="adj1" fmla="val 17973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ound Same Side Corner Rectangle 41"/>
            <p:cNvSpPr/>
            <p:nvPr/>
          </p:nvSpPr>
          <p:spPr>
            <a:xfrm>
              <a:off x="9822871" y="2731636"/>
              <a:ext cx="279820" cy="2891924"/>
            </a:xfrm>
            <a:prstGeom prst="round2SameRect">
              <a:avLst>
                <a:gd name="adj1" fmla="val 17973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 Same Side Corner Rectangle 42"/>
            <p:cNvSpPr/>
            <p:nvPr/>
          </p:nvSpPr>
          <p:spPr>
            <a:xfrm>
              <a:off x="10211509" y="3937169"/>
              <a:ext cx="279820" cy="1686391"/>
            </a:xfrm>
            <a:prstGeom prst="round2SameRect">
              <a:avLst>
                <a:gd name="adj1" fmla="val 17973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ound Same Side Corner Rectangle 43"/>
            <p:cNvSpPr/>
            <p:nvPr/>
          </p:nvSpPr>
          <p:spPr>
            <a:xfrm>
              <a:off x="10600148" y="3239585"/>
              <a:ext cx="279820" cy="2383975"/>
            </a:xfrm>
            <a:prstGeom prst="round2SameRect">
              <a:avLst>
                <a:gd name="adj1" fmla="val 17973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 Same Side Corner Rectangle 44"/>
            <p:cNvSpPr/>
            <p:nvPr/>
          </p:nvSpPr>
          <p:spPr>
            <a:xfrm>
              <a:off x="10988786" y="2907725"/>
              <a:ext cx="279820" cy="2715835"/>
            </a:xfrm>
            <a:prstGeom prst="round2SameRect">
              <a:avLst>
                <a:gd name="adj1" fmla="val 17973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10909354" y="2688650"/>
              <a:ext cx="438683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50" b="1" i="0" lang="vi-VN">
                  <a:solidFill>
                    <a:srgbClr val="16181D"/>
                  </a:solidFill>
                  <a:latin typeface="IBM Plex Sans"/>
                </a:rPr>
                <a:t>8,02%</a:t>
              </a:r>
            </a:p>
          </p:txBody>
        </p:sp>
        <p:cxnSp>
          <p:nvCxnSpPr>
            <p:cNvPr id="47" name="Connector 46"/>
            <p:cNvCxnSpPr/>
            <p:nvPr/>
          </p:nvCxnSpPr>
          <p:spPr>
            <a:xfrm>
              <a:off x="7047992" y="5623560"/>
              <a:ext cx="4275023" cy="0"/>
            </a:xfrm>
            <a:prstGeom prst="line">
              <a:avLst/>
            </a:prstGeom>
            <a:ln w="12700" cap="flat">
              <a:solidFill>
                <a:srgbClr val="C3C2B7"/>
              </a:solidFill>
              <a:round/>
            </a:ln>
          </p:spPr>
        </p:cxnSp>
        <p:sp>
          <p:nvSpPr>
            <p:cNvPr id="48" name="TextBox 47"/>
            <p:cNvSpPr txBox="1"/>
            <p:nvPr/>
          </p:nvSpPr>
          <p:spPr>
            <a:xfrm>
              <a:off x="7076195" y="56967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2015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7853472" y="56967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2017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8630749" y="56967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2019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408026" y="56967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2021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10185303" y="56967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2023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10962580" y="56967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2025</a:t>
              </a:r>
            </a:p>
          </p:txBody>
        </p:sp>
      </p:grpSp>
      <p:sp>
        <p:nvSpPr>
          <p:cNvPr id="54" name="TextBox 53"/>
          <p:cNvSpPr txBox="1"/>
          <p:nvPr/>
        </p:nvSpPr>
        <p:spPr>
          <a:xfrm>
            <a:off x="594360" y="5728614"/>
            <a:ext cx="5486400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Quý 3/2026 tăng 9,95%, cao hơn 1,80 điểm % so với quý 1.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Số 9 tháng so với cùng kỳ, không so trực tiếp với số cả năm ở biểu đồ bên phải.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56" name="TextBox 55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NSO — thông cáo quý III và 9 tháng 2026 (03/10/2026); GDP năm theo chuỗi đánh giá lại (2023 = 4,98%, 2024 = 7,04%); 2025 ước tính.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BỐN CHỈ SỐ · THÁNG 9/2026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499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Xuất khẩu 9 tháng tăng 24,5%; lạm phát lên 5,08%</a:t>
            </a:r>
          </a:p>
        </p:txBody>
      </p:sp>
      <p:grpSp>
        <p:nvGrpSpPr>
          <p:cNvPr id="5" name="Chart · tiles"/>
          <p:cNvGrpSpPr/>
          <p:nvPr/>
        </p:nvGrpSpPr>
        <p:grpSpPr>
          <a:xfrm>
            <a:off x="594360" y="1994103"/>
            <a:ext cx="11002975" cy="3017520"/>
            <a:chOff x="594360" y="1994103"/>
            <a:chExt cx="11002975" cy="3017520"/>
          </a:xfrm>
        </p:grpSpPr>
        <p:sp>
          <p:nvSpPr>
            <p:cNvPr id="6" name="Rectangle 5"/>
            <p:cNvSpPr/>
            <p:nvPr/>
          </p:nvSpPr>
          <p:spPr>
            <a:xfrm>
              <a:off x="594360" y="1994103"/>
              <a:ext cx="2510714" cy="3017520"/>
            </a:xfrm>
            <a:prstGeom prst="rect">
              <a:avLst/>
            </a:prstGeom>
            <a:solidFill>
              <a:srgbClr val="FAF8F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94360" y="1994103"/>
              <a:ext cx="2510714" cy="0"/>
            </a:xfrm>
            <a:prstGeom prst="line">
              <a:avLst/>
            </a:prstGeom>
            <a:ln w="31750" cap="flat">
              <a:solidFill>
                <a:srgbClr val="16181D"/>
              </a:solidFill>
              <a:round/>
            </a:ln>
          </p:spPr>
        </p:cxnSp>
        <p:sp>
          <p:nvSpPr>
            <p:cNvPr id="8" name="TextBox 7"/>
            <p:cNvSpPr txBox="1"/>
            <p:nvPr/>
          </p:nvSpPr>
          <p:spPr>
            <a:xfrm>
              <a:off x="795528" y="2190001"/>
              <a:ext cx="1111828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 spc="80">
                  <a:solidFill>
                    <a:srgbClr val="5B6170"/>
                  </a:solidFill>
                  <a:latin typeface="IBM Plex Sans SemiBold"/>
                </a:rPr>
                <a:t>CPI SO CÙNG KỲ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95528" y="2485085"/>
              <a:ext cx="1282700" cy="6273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3800" b="1" i="0" lang="vi-VN">
                  <a:solidFill>
                    <a:srgbClr val="16181D"/>
                  </a:solidFill>
                  <a:latin typeface="IBM Plex Sans"/>
                </a:rPr>
                <a:t>5,08</a:t>
              </a:r>
              <a:r>
                <a:rPr sz="1500" b="0" i="0" lang="vi-VN">
                  <a:solidFill>
                    <a:srgbClr val="5B6170"/>
                  </a:solidFill>
                  <a:latin typeface="IBM Plex Sans SemiBold"/>
                </a:rPr>
                <a:t> %</a:t>
              </a:r>
            </a:p>
          </p:txBody>
        </p:sp>
        <p:sp>
          <p:nvSpPr>
            <p:cNvPr id="10" name="Isosceles Triangle 9"/>
            <p:cNvSpPr/>
            <p:nvPr/>
          </p:nvSpPr>
          <p:spPr>
            <a:xfrm>
              <a:off x="800100" y="3268868"/>
              <a:ext cx="118872" cy="102230"/>
            </a:xfrm>
            <a:prstGeom prst="triangle">
              <a:avLst/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78408" y="3220923"/>
              <a:ext cx="1940814" cy="1981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200" b="0" i="0" lang="vi-VN">
                  <a:solidFill>
                    <a:srgbClr val="16181D"/>
                  </a:solidFill>
                  <a:latin typeface="IBM Plex Sans SemiBold"/>
                </a:rPr>
                <a:t>+1,70 điểm %</a:t>
              </a:r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  so với T9/2025</a:t>
              </a:r>
            </a:p>
          </p:txBody>
        </p:sp>
        <p:sp>
          <p:nvSpPr>
            <p:cNvPr id="12" name="Freeform 11"/>
            <p:cNvSpPr/>
            <p:nvPr/>
          </p:nvSpPr>
          <p:spPr>
            <a:xfrm>
              <a:off x="795528" y="3685743"/>
              <a:ext cx="1651178" cy="502920"/>
            </a:xfrm>
            <a:custGeom>
              <a:avLst/>
              <a:gdLst/>
              <a:ahLst/>
              <a:cxnLst/>
              <a:rect l="l" t="t" r="r" b="b"/>
              <a:pathLst>
                <a:path w="1651178" h="502920">
                  <a:moveTo>
                    <a:pt x="0" y="384972"/>
                  </a:moveTo>
                  <a:lnTo>
                    <a:pt x="150107" y="330912"/>
                  </a:lnTo>
                  <a:lnTo>
                    <a:pt x="300214" y="347293"/>
                  </a:lnTo>
                  <a:lnTo>
                    <a:pt x="450321" y="502920"/>
                  </a:lnTo>
                  <a:lnTo>
                    <a:pt x="600428" y="368590"/>
                  </a:lnTo>
                  <a:lnTo>
                    <a:pt x="750535" y="155627"/>
                  </a:lnTo>
                  <a:lnTo>
                    <a:pt x="900642" y="22935"/>
                  </a:lnTo>
                  <a:lnTo>
                    <a:pt x="1050750" y="0"/>
                  </a:lnTo>
                  <a:lnTo>
                    <a:pt x="1200857" y="149074"/>
                  </a:lnTo>
                  <a:lnTo>
                    <a:pt x="1350964" y="188390"/>
                  </a:lnTo>
                  <a:lnTo>
                    <a:pt x="1501071" y="116311"/>
                  </a:lnTo>
                  <a:lnTo>
                    <a:pt x="1651178" y="85185"/>
                  </a:lnTo>
                </a:path>
              </a:pathLst>
            </a:custGeom>
            <a:noFill/>
            <a:ln w="22225" cap="rnd">
              <a:solidFill>
                <a:srgbClr val="2A78D6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2405558" y="3729780"/>
              <a:ext cx="82296" cy="82296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95528" y="4536135"/>
              <a:ext cx="2108378" cy="34747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Tháng 9/2026. Đường nhỏ: 12 tháng gần nhất.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425114" y="1994103"/>
              <a:ext cx="2510714" cy="3017520"/>
            </a:xfrm>
            <a:prstGeom prst="rect">
              <a:avLst/>
            </a:prstGeom>
            <a:solidFill>
              <a:srgbClr val="FAF8F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3425114" y="1994103"/>
              <a:ext cx="2510714" cy="0"/>
            </a:xfrm>
            <a:prstGeom prst="line">
              <a:avLst/>
            </a:prstGeom>
            <a:ln w="31750" cap="flat">
              <a:solidFill>
                <a:srgbClr val="16181D"/>
              </a:solidFill>
              <a:round/>
            </a:ln>
          </p:spPr>
        </p:cxnSp>
        <p:sp>
          <p:nvSpPr>
            <p:cNvPr id="17" name="TextBox 16"/>
            <p:cNvSpPr txBox="1"/>
            <p:nvPr/>
          </p:nvSpPr>
          <p:spPr>
            <a:xfrm>
              <a:off x="3626282" y="2190001"/>
              <a:ext cx="1548467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 spc="80">
                  <a:solidFill>
                    <a:srgbClr val="5B6170"/>
                  </a:solidFill>
                  <a:latin typeface="IBM Plex Sans SemiBold"/>
                </a:rPr>
                <a:t>TÍN DỤNG TỪ ĐẦU NĂM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626282" y="2485085"/>
              <a:ext cx="1572260" cy="6273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3800" b="1" i="0" lang="vi-VN">
                  <a:solidFill>
                    <a:srgbClr val="16181D"/>
                  </a:solidFill>
                  <a:latin typeface="IBM Plex Sans"/>
                </a:rPr>
                <a:t>11,59</a:t>
              </a:r>
              <a:r>
                <a:rPr sz="1500" b="0" i="0" lang="vi-VN">
                  <a:solidFill>
                    <a:srgbClr val="5B6170"/>
                  </a:solidFill>
                  <a:latin typeface="IBM Plex Sans SemiBold"/>
                </a:rPr>
                <a:t> %</a:t>
              </a:r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3630854" y="3268868"/>
              <a:ext cx="118872" cy="102230"/>
            </a:xfrm>
            <a:prstGeom prst="triangle">
              <a:avLst/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809162" y="3220923"/>
              <a:ext cx="2069211" cy="1981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200" b="0" i="0" lang="vi-VN">
                  <a:solidFill>
                    <a:srgbClr val="16181D"/>
                  </a:solidFill>
                  <a:latin typeface="IBM Plex Sans SemiBold"/>
                </a:rPr>
                <a:t>−2,27 điểm %</a:t>
              </a:r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  so với 30/9/2025</a:t>
              </a:r>
            </a:p>
          </p:txBody>
        </p:sp>
        <p:sp>
          <p:nvSpPr>
            <p:cNvPr id="21" name="Round Same Side Corner Rectangle 20"/>
            <p:cNvSpPr/>
            <p:nvPr/>
          </p:nvSpPr>
          <p:spPr>
            <a:xfrm>
              <a:off x="3651800" y="3713962"/>
              <a:ext cx="99071" cy="474702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 Same Side Corner Rectangle 21"/>
            <p:cNvSpPr/>
            <p:nvPr/>
          </p:nvSpPr>
          <p:spPr>
            <a:xfrm>
              <a:off x="3801907" y="3707368"/>
              <a:ext cx="99071" cy="481295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 Same Side Corner Rectangle 22"/>
            <p:cNvSpPr/>
            <p:nvPr/>
          </p:nvSpPr>
          <p:spPr>
            <a:xfrm>
              <a:off x="3952014" y="3706577"/>
              <a:ext cx="99071" cy="482086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 Same Side Corner Rectangle 23"/>
            <p:cNvSpPr/>
            <p:nvPr/>
          </p:nvSpPr>
          <p:spPr>
            <a:xfrm>
              <a:off x="4102121" y="3822352"/>
              <a:ext cx="99071" cy="366311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 Same Side Corner Rectangle 24"/>
            <p:cNvSpPr/>
            <p:nvPr/>
          </p:nvSpPr>
          <p:spPr>
            <a:xfrm>
              <a:off x="4252228" y="3828681"/>
              <a:ext cx="99071" cy="359982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 Same Side Corner Rectangle 25"/>
            <p:cNvSpPr/>
            <p:nvPr/>
          </p:nvSpPr>
          <p:spPr>
            <a:xfrm>
              <a:off x="4402335" y="3866921"/>
              <a:ext cx="99071" cy="321742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 Same Side Corner Rectangle 26"/>
            <p:cNvSpPr/>
            <p:nvPr/>
          </p:nvSpPr>
          <p:spPr>
            <a:xfrm>
              <a:off x="4552442" y="3830000"/>
              <a:ext cx="99071" cy="358663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 Same Side Corner Rectangle 27"/>
            <p:cNvSpPr/>
            <p:nvPr/>
          </p:nvSpPr>
          <p:spPr>
            <a:xfrm>
              <a:off x="4702550" y="3814176"/>
              <a:ext cx="99071" cy="374487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 Same Side Corner Rectangle 28"/>
            <p:cNvSpPr/>
            <p:nvPr/>
          </p:nvSpPr>
          <p:spPr>
            <a:xfrm>
              <a:off x="4852657" y="3825253"/>
              <a:ext cx="99071" cy="363410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 Same Side Corner Rectangle 29"/>
            <p:cNvSpPr/>
            <p:nvPr/>
          </p:nvSpPr>
          <p:spPr>
            <a:xfrm>
              <a:off x="5002764" y="3790705"/>
              <a:ext cx="99071" cy="397958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 Same Side Corner Rectangle 30"/>
            <p:cNvSpPr/>
            <p:nvPr/>
          </p:nvSpPr>
          <p:spPr>
            <a:xfrm>
              <a:off x="5152871" y="3685743"/>
              <a:ext cx="99071" cy="502920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3626282" y="4188663"/>
              <a:ext cx="1651178" cy="0"/>
            </a:xfrm>
            <a:prstGeom prst="line">
              <a:avLst/>
            </a:prstGeom>
            <a:ln w="9525" cap="flat">
              <a:solidFill>
                <a:srgbClr val="C3C2B7"/>
              </a:solidFill>
              <a:round/>
            </a:ln>
          </p:spPr>
        </p:cxnSp>
        <p:sp>
          <p:nvSpPr>
            <p:cNvPr id="33" name="TextBox 32"/>
            <p:cNvSpPr txBox="1"/>
            <p:nvPr/>
          </p:nvSpPr>
          <p:spPr>
            <a:xfrm>
              <a:off x="3626282" y="4536135"/>
              <a:ext cx="2108378" cy="34747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Đến 30/9/2026. Cột nhỏ: tăng trưởng cả năm 2015–2025.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6255868" y="1994103"/>
              <a:ext cx="2510714" cy="3017520"/>
            </a:xfrm>
            <a:prstGeom prst="rect">
              <a:avLst/>
            </a:prstGeom>
            <a:solidFill>
              <a:srgbClr val="FAF8F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5" name="Connector 34"/>
            <p:cNvCxnSpPr/>
            <p:nvPr/>
          </p:nvCxnSpPr>
          <p:spPr>
            <a:xfrm>
              <a:off x="6255868" y="1994103"/>
              <a:ext cx="2510713" cy="0"/>
            </a:xfrm>
            <a:prstGeom prst="line">
              <a:avLst/>
            </a:prstGeom>
            <a:ln w="31750" cap="flat">
              <a:solidFill>
                <a:srgbClr val="16181D"/>
              </a:solidFill>
              <a:round/>
            </a:ln>
          </p:spPr>
        </p:cxnSp>
        <p:sp>
          <p:nvSpPr>
            <p:cNvPr id="36" name="TextBox 35"/>
            <p:cNvSpPr txBox="1"/>
            <p:nvPr/>
          </p:nvSpPr>
          <p:spPr>
            <a:xfrm>
              <a:off x="6457036" y="2190001"/>
              <a:ext cx="1414374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 spc="80">
                  <a:solidFill>
                    <a:srgbClr val="5B6170"/>
                  </a:solidFill>
                  <a:latin typeface="IBM Plex Sans SemiBold"/>
                </a:rPr>
                <a:t>XUẤT KHẨU 9 THÁNG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57036" y="2485085"/>
              <a:ext cx="1984312" cy="6273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3800" b="1" i="0" lang="vi-VN">
                  <a:solidFill>
                    <a:srgbClr val="16181D"/>
                  </a:solidFill>
                  <a:latin typeface="IBM Plex Sans"/>
                </a:rPr>
                <a:t>434,3</a:t>
              </a:r>
              <a:r>
                <a:rPr sz="1500" b="0" i="0" lang="vi-VN">
                  <a:solidFill>
                    <a:srgbClr val="5B6170"/>
                  </a:solidFill>
                  <a:latin typeface="IBM Plex Sans SemiBold"/>
                </a:rPr>
                <a:t> tỷ USD</a:t>
              </a:r>
            </a:p>
          </p:txBody>
        </p:sp>
        <p:sp>
          <p:nvSpPr>
            <p:cNvPr id="38" name="Isosceles Triangle 37"/>
            <p:cNvSpPr/>
            <p:nvPr/>
          </p:nvSpPr>
          <p:spPr>
            <a:xfrm>
              <a:off x="6461608" y="3268868"/>
              <a:ext cx="118872" cy="102230"/>
            </a:xfrm>
            <a:prstGeom prst="triangle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639916" y="3220923"/>
              <a:ext cx="1514704" cy="1981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200" b="0" i="0" lang="vi-VN">
                  <a:solidFill>
                    <a:srgbClr val="16181D"/>
                  </a:solidFill>
                  <a:latin typeface="IBM Plex Sans SemiBold"/>
                </a:rPr>
                <a:t>+24,5%</a:t>
              </a:r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  so với 9T/2025</a:t>
              </a:r>
            </a:p>
          </p:txBody>
        </p:sp>
        <p:sp>
          <p:nvSpPr>
            <p:cNvPr id="40" name="Round Same Side Corner Rectangle 39"/>
            <p:cNvSpPr/>
            <p:nvPr/>
          </p:nvSpPr>
          <p:spPr>
            <a:xfrm>
              <a:off x="6482554" y="4017123"/>
              <a:ext cx="99071" cy="171541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 Same Side Corner Rectangle 40"/>
            <p:cNvSpPr/>
            <p:nvPr/>
          </p:nvSpPr>
          <p:spPr>
            <a:xfrm>
              <a:off x="6632661" y="4001702"/>
              <a:ext cx="99071" cy="186961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ound Same Side Corner Rectangle 41"/>
            <p:cNvSpPr/>
            <p:nvPr/>
          </p:nvSpPr>
          <p:spPr>
            <a:xfrm>
              <a:off x="6782768" y="3960899"/>
              <a:ext cx="99071" cy="227764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 Same Side Corner Rectangle 42"/>
            <p:cNvSpPr/>
            <p:nvPr/>
          </p:nvSpPr>
          <p:spPr>
            <a:xfrm>
              <a:off x="6932875" y="3930641"/>
              <a:ext cx="99071" cy="258022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ound Same Side Corner Rectangle 43"/>
            <p:cNvSpPr/>
            <p:nvPr/>
          </p:nvSpPr>
          <p:spPr>
            <a:xfrm>
              <a:off x="7082982" y="3908861"/>
              <a:ext cx="99071" cy="279802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 Same Side Corner Rectangle 44"/>
            <p:cNvSpPr/>
            <p:nvPr/>
          </p:nvSpPr>
          <p:spPr>
            <a:xfrm>
              <a:off x="7233089" y="3889420"/>
              <a:ext cx="99071" cy="299243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 Same Side Corner Rectangle 45"/>
            <p:cNvSpPr/>
            <p:nvPr/>
          </p:nvSpPr>
          <p:spPr>
            <a:xfrm>
              <a:off x="7383196" y="3832735"/>
              <a:ext cx="99071" cy="355928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 Same Side Corner Rectangle 46"/>
            <p:cNvSpPr/>
            <p:nvPr/>
          </p:nvSpPr>
          <p:spPr>
            <a:xfrm>
              <a:off x="7533303" y="3795097"/>
              <a:ext cx="99071" cy="393566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ound Same Side Corner Rectangle 47"/>
            <p:cNvSpPr/>
            <p:nvPr/>
          </p:nvSpPr>
          <p:spPr>
            <a:xfrm>
              <a:off x="7683410" y="3813090"/>
              <a:ext cx="99071" cy="375573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 Same Side Corner Rectangle 48"/>
            <p:cNvSpPr/>
            <p:nvPr/>
          </p:nvSpPr>
          <p:spPr>
            <a:xfrm>
              <a:off x="7833517" y="3758865"/>
              <a:ext cx="99071" cy="429798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ound Same Side Corner Rectangle 49"/>
            <p:cNvSpPr/>
            <p:nvPr/>
          </p:nvSpPr>
          <p:spPr>
            <a:xfrm>
              <a:off x="7983625" y="3685743"/>
              <a:ext cx="99071" cy="502920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1" name="Connector 50"/>
            <p:cNvCxnSpPr/>
            <p:nvPr/>
          </p:nvCxnSpPr>
          <p:spPr>
            <a:xfrm>
              <a:off x="6457036" y="4188663"/>
              <a:ext cx="1651177" cy="0"/>
            </a:xfrm>
            <a:prstGeom prst="line">
              <a:avLst/>
            </a:prstGeom>
            <a:ln w="9525" cap="flat">
              <a:solidFill>
                <a:srgbClr val="C3C2B7"/>
              </a:solidFill>
              <a:round/>
            </a:ln>
          </p:spPr>
        </p:cxnSp>
        <p:sp>
          <p:nvSpPr>
            <p:cNvPr id="52" name="TextBox 51"/>
            <p:cNvSpPr txBox="1"/>
            <p:nvPr/>
          </p:nvSpPr>
          <p:spPr>
            <a:xfrm>
              <a:off x="6457036" y="4536135"/>
              <a:ext cx="2108378" cy="34747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Hàng hoá, tháng 1–9/2026. Cột nhỏ: cả năm 2015–2025.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9086621" y="1994103"/>
              <a:ext cx="2510714" cy="3017520"/>
            </a:xfrm>
            <a:prstGeom prst="rect">
              <a:avLst/>
            </a:prstGeom>
            <a:solidFill>
              <a:srgbClr val="FAF8F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4" name="Connector 53"/>
            <p:cNvCxnSpPr/>
            <p:nvPr/>
          </p:nvCxnSpPr>
          <p:spPr>
            <a:xfrm>
              <a:off x="9086621" y="1994103"/>
              <a:ext cx="2510714" cy="0"/>
            </a:xfrm>
            <a:prstGeom prst="line">
              <a:avLst/>
            </a:prstGeom>
            <a:ln w="31750" cap="flat">
              <a:solidFill>
                <a:srgbClr val="16181D"/>
              </a:solidFill>
              <a:round/>
            </a:ln>
          </p:spPr>
        </p:cxnSp>
        <p:sp>
          <p:nvSpPr>
            <p:cNvPr id="55" name="TextBox 54"/>
            <p:cNvSpPr txBox="1"/>
            <p:nvPr/>
          </p:nvSpPr>
          <p:spPr>
            <a:xfrm>
              <a:off x="9287789" y="2190001"/>
              <a:ext cx="1650829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 spc="80">
                  <a:solidFill>
                    <a:srgbClr val="5B6170"/>
                  </a:solidFill>
                  <a:latin typeface="IBM Plex Sans SemiBold"/>
                </a:rPr>
                <a:t>FDI GIẢI NGÂN 9 THÁNG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9287789" y="2485085"/>
              <a:ext cx="1984312" cy="6273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3800" b="1" i="0" lang="vi-VN">
                  <a:solidFill>
                    <a:srgbClr val="16181D"/>
                  </a:solidFill>
                  <a:latin typeface="IBM Plex Sans"/>
                </a:rPr>
                <a:t>21,07</a:t>
              </a:r>
              <a:r>
                <a:rPr sz="1500" b="0" i="0" lang="vi-VN">
                  <a:solidFill>
                    <a:srgbClr val="5B6170"/>
                  </a:solidFill>
                  <a:latin typeface="IBM Plex Sans SemiBold"/>
                </a:rPr>
                <a:t> tỷ USD</a:t>
              </a:r>
            </a:p>
          </p:txBody>
        </p:sp>
        <p:sp>
          <p:nvSpPr>
            <p:cNvPr id="57" name="Isosceles Triangle 56"/>
            <p:cNvSpPr/>
            <p:nvPr/>
          </p:nvSpPr>
          <p:spPr>
            <a:xfrm>
              <a:off x="9292361" y="3268868"/>
              <a:ext cx="118872" cy="102230"/>
            </a:xfrm>
            <a:prstGeom prst="triangle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9470669" y="3220923"/>
              <a:ext cx="1514704" cy="1981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200" b="0" i="0" lang="vi-VN">
                  <a:solidFill>
                    <a:srgbClr val="16181D"/>
                  </a:solidFill>
                  <a:latin typeface="IBM Plex Sans SemiBold"/>
                </a:rPr>
                <a:t>+12,1%</a:t>
              </a:r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  so với 9T/2025</a:t>
              </a:r>
            </a:p>
          </p:txBody>
        </p:sp>
        <p:sp>
          <p:nvSpPr>
            <p:cNvPr id="59" name="Round Same Side Corner Rectangle 58"/>
            <p:cNvSpPr/>
            <p:nvPr/>
          </p:nvSpPr>
          <p:spPr>
            <a:xfrm>
              <a:off x="9313308" y="3924639"/>
              <a:ext cx="99071" cy="264024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ound Same Side Corner Rectangle 59"/>
            <p:cNvSpPr/>
            <p:nvPr/>
          </p:nvSpPr>
          <p:spPr>
            <a:xfrm>
              <a:off x="9463415" y="3900968"/>
              <a:ext cx="99071" cy="287695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ound Same Side Corner Rectangle 60"/>
            <p:cNvSpPr/>
            <p:nvPr/>
          </p:nvSpPr>
          <p:spPr>
            <a:xfrm>
              <a:off x="9613522" y="3870014"/>
              <a:ext cx="99071" cy="318650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ound Same Side Corner Rectangle 61"/>
            <p:cNvSpPr/>
            <p:nvPr/>
          </p:nvSpPr>
          <p:spPr>
            <a:xfrm>
              <a:off x="9763629" y="3840880"/>
              <a:ext cx="99071" cy="347783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ound Same Side Corner Rectangle 62"/>
            <p:cNvSpPr/>
            <p:nvPr/>
          </p:nvSpPr>
          <p:spPr>
            <a:xfrm>
              <a:off x="9913736" y="3817573"/>
              <a:ext cx="99071" cy="371090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ound Same Side Corner Rectangle 63"/>
            <p:cNvSpPr/>
            <p:nvPr/>
          </p:nvSpPr>
          <p:spPr>
            <a:xfrm>
              <a:off x="10063843" y="3824856"/>
              <a:ext cx="99071" cy="363807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ound Same Side Corner Rectangle 64"/>
            <p:cNvSpPr/>
            <p:nvPr/>
          </p:nvSpPr>
          <p:spPr>
            <a:xfrm>
              <a:off x="10213950" y="3829227"/>
              <a:ext cx="99071" cy="359437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ound Same Side Corner Rectangle 65"/>
            <p:cNvSpPr/>
            <p:nvPr/>
          </p:nvSpPr>
          <p:spPr>
            <a:xfrm>
              <a:off x="10364057" y="3780865"/>
              <a:ext cx="99071" cy="407799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ound Same Side Corner Rectangle 66"/>
            <p:cNvSpPr/>
            <p:nvPr/>
          </p:nvSpPr>
          <p:spPr>
            <a:xfrm>
              <a:off x="10514164" y="3766535"/>
              <a:ext cx="99071" cy="422129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ound Same Side Corner Rectangle 67"/>
            <p:cNvSpPr/>
            <p:nvPr/>
          </p:nvSpPr>
          <p:spPr>
            <a:xfrm>
              <a:off x="10664271" y="3727058"/>
              <a:ext cx="99071" cy="461605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ound Same Side Corner Rectangle 68"/>
            <p:cNvSpPr/>
            <p:nvPr/>
          </p:nvSpPr>
          <p:spPr>
            <a:xfrm>
              <a:off x="10814378" y="3685743"/>
              <a:ext cx="99071" cy="502920"/>
            </a:xfrm>
            <a:prstGeom prst="round2SameRect">
              <a:avLst>
                <a:gd name="adj1" fmla="val 27689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0" name="Connector 69"/>
            <p:cNvCxnSpPr/>
            <p:nvPr/>
          </p:nvCxnSpPr>
          <p:spPr>
            <a:xfrm>
              <a:off x="9287789" y="4188663"/>
              <a:ext cx="1651178" cy="0"/>
            </a:xfrm>
            <a:prstGeom prst="line">
              <a:avLst/>
            </a:prstGeom>
            <a:ln w="9525" cap="flat">
              <a:solidFill>
                <a:srgbClr val="C3C2B7"/>
              </a:solidFill>
              <a:round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9287789" y="4536135"/>
              <a:ext cx="2108378" cy="34747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Vốn thực hiện, tháng 1–9/2026. Cột nhỏ: cả năm 2015–2025.</a:t>
              </a:r>
            </a:p>
          </p:txBody>
        </p:sp>
      </p:grpSp>
      <p:sp>
        <p:nvSpPr>
          <p:cNvPr id="72" name="TextBox 71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CPI tháng 9/2026 tăng 5,08% so với cùng kỳ, cao hơn 1,70 điểm % so với một năm trước; tín dụng tăng 11,59% từ đầu năm.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Tín dụng tăng chậm hơn cùng kỳ 2025 (13,86%), dù vẫn nhanh hơn huy động.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74" name="TextBox 73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NSO (CPI, xuất khẩu, FDI; 03/10/2026); NHNN (tín dụng đến 30/9/2026). Mũi tên: xanh = tăng, đỏ = giảm, trừ CPI (đỏ = giá tăng).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1 · TĂNG TRƯỞNG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IMF dự báo tăng trưởng chậm dần về 5,4% năm 2030, thấp hơn mục tiêu 10%/năm</a:t>
            </a:r>
          </a:p>
        </p:txBody>
      </p:sp>
      <p:grpSp>
        <p:nvGrpSpPr>
          <p:cNvPr id="5" name="Chart · line"/>
          <p:cNvGrpSpPr/>
          <p:nvPr/>
        </p:nvGrpSpPr>
        <p:grpSpPr>
          <a:xfrm>
            <a:off x="585216" y="1900619"/>
            <a:ext cx="10920679" cy="3581615"/>
            <a:chOff x="585216" y="1900619"/>
            <a:chExt cx="10920679" cy="3581615"/>
          </a:xfrm>
        </p:grpSpPr>
        <p:cxnSp>
          <p:nvCxnSpPr>
            <p:cNvPr id="6" name="Connector 5"/>
            <p:cNvCxnSpPr/>
            <p:nvPr/>
          </p:nvCxnSpPr>
          <p:spPr>
            <a:xfrm>
              <a:off x="594360" y="1987296"/>
              <a:ext cx="237744" cy="0"/>
            </a:xfrm>
            <a:prstGeom prst="line">
              <a:avLst/>
            </a:prstGeom>
            <a:ln w="28575" cap="rnd">
              <a:solidFill>
                <a:srgbClr val="16181D"/>
              </a:solidFill>
              <a:round/>
            </a:ln>
          </p:spPr>
        </p:cxnSp>
        <p:sp>
          <p:nvSpPr>
            <p:cNvPr id="7" name="TextBox 6"/>
            <p:cNvSpPr txBox="1"/>
            <p:nvPr/>
          </p:nvSpPr>
          <p:spPr>
            <a:xfrm>
              <a:off x="905256" y="1900619"/>
              <a:ext cx="872071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Thực tế (NSO)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024215" y="1987296"/>
              <a:ext cx="237744" cy="0"/>
            </a:xfrm>
            <a:prstGeom prst="line">
              <a:avLst/>
            </a:prstGeom>
            <a:ln w="28575" cap="flat">
              <a:solidFill>
                <a:srgbClr val="2A78D6"/>
              </a:solidFill>
              <a:prstDash val="dash"/>
              <a:round/>
            </a:ln>
          </p:spPr>
        </p:cxnSp>
        <p:sp>
          <p:nvSpPr>
            <p:cNvPr id="9" name="TextBox 8"/>
            <p:cNvSpPr txBox="1"/>
            <p:nvPr/>
          </p:nvSpPr>
          <p:spPr>
            <a:xfrm>
              <a:off x="2335111" y="1900619"/>
              <a:ext cx="1083164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IMF WEO 4/2026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61416" y="5161432"/>
              <a:ext cx="2143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0,0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967232" y="4640194"/>
              <a:ext cx="9855911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2" name="TextBox 11"/>
            <p:cNvSpPr txBox="1"/>
            <p:nvPr/>
          </p:nvSpPr>
          <p:spPr>
            <a:xfrm>
              <a:off x="661416" y="4557644"/>
              <a:ext cx="2143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2,5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967232" y="4036405"/>
              <a:ext cx="9855911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661416" y="3953855"/>
              <a:ext cx="2143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5,0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967232" y="3432617"/>
              <a:ext cx="9855911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6" name="TextBox 15"/>
            <p:cNvSpPr txBox="1"/>
            <p:nvPr/>
          </p:nvSpPr>
          <p:spPr>
            <a:xfrm>
              <a:off x="661416" y="3350067"/>
              <a:ext cx="2143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7,5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967232" y="2828828"/>
              <a:ext cx="9855911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8" name="TextBox 17"/>
            <p:cNvSpPr txBox="1"/>
            <p:nvPr/>
          </p:nvSpPr>
          <p:spPr>
            <a:xfrm>
              <a:off x="585216" y="2746278"/>
              <a:ext cx="2905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10,0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967232" y="2225040"/>
              <a:ext cx="9855911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20" name="TextBox 19"/>
            <p:cNvSpPr txBox="1"/>
            <p:nvPr/>
          </p:nvSpPr>
          <p:spPr>
            <a:xfrm>
              <a:off x="585216" y="2142490"/>
              <a:ext cx="2905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12,5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545213" y="2225040"/>
              <a:ext cx="2960682" cy="3018942"/>
            </a:xfrm>
            <a:prstGeom prst="rect">
              <a:avLst/>
            </a:prstGeom>
            <a:solidFill>
              <a:srgbClr val="F1EF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618365" y="2261616"/>
              <a:ext cx="506844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 spc="80">
                  <a:solidFill>
                    <a:srgbClr val="5B6170"/>
                  </a:solidFill>
                  <a:latin typeface="IBM Plex Sans SemiBold"/>
                </a:rPr>
                <a:t>DỰ BÁO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967232" y="2828828"/>
              <a:ext cx="9855911" cy="0"/>
            </a:xfrm>
            <a:prstGeom prst="line">
              <a:avLst/>
            </a:prstGeom>
            <a:ln w="12700" cap="flat">
              <a:solidFill>
                <a:srgbClr val="5B6170"/>
              </a:solidFill>
              <a:prstDash val="dash"/>
              <a:round/>
            </a:ln>
          </p:spPr>
        </p:cxnSp>
        <p:sp>
          <p:nvSpPr>
            <p:cNvPr id="24" name="TextBox 23"/>
            <p:cNvSpPr txBox="1"/>
            <p:nvPr/>
          </p:nvSpPr>
          <p:spPr>
            <a:xfrm>
              <a:off x="1022096" y="2640678"/>
              <a:ext cx="2350065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Mục tiêu từ 10%/năm (NQ 25/2026/QH16)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967232" y="5243982"/>
              <a:ext cx="9855911" cy="0"/>
            </a:xfrm>
            <a:prstGeom prst="line">
              <a:avLst/>
            </a:prstGeom>
            <a:ln w="12700" cap="flat">
              <a:solidFill>
                <a:srgbClr val="C3C2B7"/>
              </a:solidFill>
              <a:round/>
            </a:ln>
          </p:spPr>
        </p:cxnSp>
        <p:sp>
          <p:nvSpPr>
            <p:cNvPr id="26" name="TextBox 25"/>
            <p:cNvSpPr txBox="1"/>
            <p:nvPr/>
          </p:nvSpPr>
          <p:spPr>
            <a:xfrm>
              <a:off x="910844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2010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392667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2011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874490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2012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2356312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2013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838135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2014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319958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2015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3801781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2016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4283603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2017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765426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2018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247249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2019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729072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2020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210894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2021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692717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2022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7174540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2023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656363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2024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138185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2025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620008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2026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9101831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2027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9583654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2028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0065476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2029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10547299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2030</a:t>
              </a:r>
            </a:p>
          </p:txBody>
        </p:sp>
        <p:sp>
          <p:nvSpPr>
            <p:cNvPr id="47" name="Freeform 46"/>
            <p:cNvSpPr/>
            <p:nvPr/>
          </p:nvSpPr>
          <p:spPr>
            <a:xfrm>
              <a:off x="1076960" y="3181441"/>
              <a:ext cx="7227341" cy="1446677"/>
            </a:xfrm>
            <a:custGeom>
              <a:avLst/>
              <a:gdLst/>
              <a:ahLst/>
              <a:cxnLst/>
              <a:rect l="l" t="t" r="r" b="b"/>
              <a:pathLst>
                <a:path w="7227341" h="1446677">
                  <a:moveTo>
                    <a:pt x="0" y="512013"/>
                  </a:moveTo>
                  <a:lnTo>
                    <a:pt x="481823" y="514428"/>
                  </a:lnTo>
                  <a:lnTo>
                    <a:pt x="963646" y="734207"/>
                  </a:lnTo>
                  <a:lnTo>
                    <a:pt x="1445468" y="722131"/>
                  </a:lnTo>
                  <a:lnTo>
                    <a:pt x="1927291" y="512013"/>
                  </a:lnTo>
                  <a:lnTo>
                    <a:pt x="2409114" y="374349"/>
                  </a:lnTo>
                  <a:lnTo>
                    <a:pt x="2890937" y="446803"/>
                  </a:lnTo>
                  <a:lnTo>
                    <a:pt x="3372759" y="386425"/>
                  </a:lnTo>
                  <a:lnTo>
                    <a:pt x="3854582" y="258421"/>
                  </a:lnTo>
                  <a:lnTo>
                    <a:pt x="4336405" y="284988"/>
                  </a:lnTo>
                  <a:lnTo>
                    <a:pt x="4818228" y="1369392"/>
                  </a:lnTo>
                  <a:lnTo>
                    <a:pt x="5300050" y="1446677"/>
                  </a:lnTo>
                  <a:lnTo>
                    <a:pt x="5781873" y="0"/>
                  </a:lnTo>
                  <a:lnTo>
                    <a:pt x="6263696" y="859795"/>
                  </a:lnTo>
                  <a:lnTo>
                    <a:pt x="6745519" y="362273"/>
                  </a:lnTo>
                  <a:lnTo>
                    <a:pt x="7227341" y="125588"/>
                  </a:lnTo>
                </a:path>
              </a:pathLst>
            </a:custGeom>
            <a:noFill/>
            <a:ln w="28575" cap="rnd">
              <a:solidFill>
                <a:srgbClr val="16181D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8304301" y="3307029"/>
              <a:ext cx="2409114" cy="632770"/>
            </a:xfrm>
            <a:custGeom>
              <a:avLst/>
              <a:gdLst/>
              <a:ahLst/>
              <a:cxnLst/>
              <a:rect l="l" t="t" r="r" b="b"/>
              <a:pathLst>
                <a:path w="2409114" h="632770">
                  <a:moveTo>
                    <a:pt x="0" y="0"/>
                  </a:moveTo>
                  <a:lnTo>
                    <a:pt x="481823" y="222194"/>
                  </a:lnTo>
                  <a:lnTo>
                    <a:pt x="963646" y="318800"/>
                  </a:lnTo>
                  <a:lnTo>
                    <a:pt x="1445469" y="439558"/>
                  </a:lnTo>
                  <a:lnTo>
                    <a:pt x="1927291" y="584467"/>
                  </a:lnTo>
                  <a:lnTo>
                    <a:pt x="2409114" y="632770"/>
                  </a:lnTo>
                </a:path>
              </a:pathLst>
            </a:custGeom>
            <a:noFill/>
            <a:ln w="28575" cap="rnd">
              <a:solidFill>
                <a:srgbClr val="2A78D6"/>
              </a:solidFill>
              <a:prstDash val="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10663123" y="3889507"/>
              <a:ext cx="100584" cy="100584"/>
            </a:xfrm>
            <a:prstGeom prst="ellipse">
              <a:avLst/>
            </a:prstGeom>
            <a:solidFill>
              <a:srgbClr val="FFFFFF"/>
            </a:solidFill>
            <a:ln w="22225" cap="rnd">
              <a:solidFill>
                <a:srgbClr val="2A78D6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0859719" y="3857249"/>
              <a:ext cx="607314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IMF </a:t>
              </a:r>
              <a:r>
                <a:rPr sz="1000" b="0" i="0" lang="vi-VN">
                  <a:solidFill>
                    <a:srgbClr val="16181D"/>
                  </a:solidFill>
                  <a:latin typeface="IBM Plex Sans SemiBold"/>
                </a:rPr>
                <a:t>5,4%</a:t>
              </a:r>
            </a:p>
          </p:txBody>
        </p:sp>
        <p:cxnSp>
          <p:nvCxnSpPr>
            <p:cNvPr id="51" name="Connector 50"/>
            <p:cNvCxnSpPr/>
            <p:nvPr/>
          </p:nvCxnSpPr>
          <p:spPr>
            <a:xfrm flipH="1" flipV="1">
              <a:off x="8008807" y="2842681"/>
              <a:ext cx="295494" cy="464348"/>
            </a:xfrm>
            <a:prstGeom prst="line">
              <a:avLst/>
            </a:prstGeom>
            <a:ln w="9525" cap="rnd">
              <a:solidFill>
                <a:srgbClr val="5B6170"/>
              </a:solidFill>
              <a:round/>
            </a:ln>
          </p:spPr>
        </p:cxnSp>
        <p:sp>
          <p:nvSpPr>
            <p:cNvPr id="52" name="Oval 51"/>
            <p:cNvSpPr/>
            <p:nvPr/>
          </p:nvSpPr>
          <p:spPr>
            <a:xfrm>
              <a:off x="8272297" y="3275025"/>
              <a:ext cx="64008" cy="64008"/>
            </a:xfrm>
            <a:prstGeom prst="ellipse">
              <a:avLst/>
            </a:prstGeom>
            <a:solidFill>
              <a:srgbClr val="16181D"/>
            </a:solidFill>
            <a:ln w="9525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7099999" y="2637421"/>
              <a:ext cx="847687" cy="1666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>
                <a:lnSpc>
                  <a:spcPct val="105000"/>
                </a:lnSpc>
              </a:pPr>
              <a:r>
                <a:rPr sz="1050" b="0" i="0" lang="vi-VN">
                  <a:solidFill>
                    <a:srgbClr val="16181D"/>
                  </a:solidFill>
                  <a:latin typeface="IBM Plex Sans SemiBold"/>
                </a:rPr>
                <a:t>2025: 8,02%</a:t>
              </a:r>
            </a:p>
          </p:txBody>
        </p:sp>
        <p:cxnSp>
          <p:nvCxnSpPr>
            <p:cNvPr id="54" name="Connector 53"/>
            <p:cNvCxnSpPr/>
            <p:nvPr/>
          </p:nvCxnSpPr>
          <p:spPr>
            <a:xfrm flipH="1">
              <a:off x="6091684" y="4628118"/>
              <a:ext cx="285326" cy="244566"/>
            </a:xfrm>
            <a:prstGeom prst="line">
              <a:avLst/>
            </a:prstGeom>
            <a:ln w="9525" cap="rnd">
              <a:solidFill>
                <a:srgbClr val="8A8F99"/>
              </a:solidFill>
              <a:round/>
            </a:ln>
          </p:spPr>
        </p:cxnSp>
        <p:sp>
          <p:nvSpPr>
            <p:cNvPr id="55" name="Oval 54"/>
            <p:cNvSpPr/>
            <p:nvPr/>
          </p:nvSpPr>
          <p:spPr>
            <a:xfrm>
              <a:off x="6345006" y="4596114"/>
              <a:ext cx="64008" cy="64008"/>
            </a:xfrm>
            <a:prstGeom prst="ellipse">
              <a:avLst/>
            </a:prstGeom>
            <a:solidFill>
              <a:srgbClr val="8A8F99"/>
            </a:solidFill>
            <a:ln w="9525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4655367" y="4902438"/>
              <a:ext cx="1365028" cy="1508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>
                <a:lnSpc>
                  <a:spcPct val="105000"/>
                </a:lnSpc>
              </a:pPr>
              <a:r>
                <a:rPr sz="950" b="0" i="0" lang="vi-VN">
                  <a:solidFill>
                    <a:srgbClr val="6B7080"/>
                  </a:solidFill>
                  <a:latin typeface="IBM Plex Sans"/>
                </a:rPr>
                <a:t>2021: 2,55% (Covid-19)</a:t>
              </a:r>
            </a:p>
          </p:txBody>
        </p:sp>
      </p:grpSp>
      <p:sp>
        <p:nvSpPr>
          <p:cNvPr id="57" name="TextBox 56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IMF (4/2026) dự báo 7,1% năm 2026, giảm dần về 5,4% năm 2030; chín tháng 2026 thực tế đã tăng 9,01%.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Mục tiêu là mức sàn chính sách, không phải dự báo; IMF sẽ cập nhật trong WEO tháng 10/2026.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59" name="TextBox 58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NSO (2010–2025, 2025 ước tính); IMF World Economic Outlook 4/2026; Quốc hội — NQ 25/2026/QH16. Vùng tô: giai đoạn dự báo.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1 · CƠ CẤU CHI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499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Tiêu dùng hộ giảm từ 59,3% xuống 53,2% GDP trong mười năm</a:t>
            </a:r>
          </a:p>
        </p:txBody>
      </p:sp>
      <p:grpSp>
        <p:nvGrpSpPr>
          <p:cNvPr id="5" name="Chart · slope"/>
          <p:cNvGrpSpPr/>
          <p:nvPr/>
        </p:nvGrpSpPr>
        <p:grpSpPr>
          <a:xfrm>
            <a:off x="648138" y="1524000"/>
            <a:ext cx="7286873" cy="4593336"/>
            <a:chOff x="648138" y="1524000"/>
            <a:chExt cx="7286873" cy="4593336"/>
          </a:xfrm>
        </p:grpSpPr>
        <p:sp>
          <p:nvSpPr>
            <p:cNvPr id="6" name="TextBox 5"/>
            <p:cNvSpPr txBox="1"/>
            <p:nvPr/>
          </p:nvSpPr>
          <p:spPr>
            <a:xfrm>
              <a:off x="2385308" y="1524000"/>
              <a:ext cx="362712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100" b="0" i="0" lang="vi-VN">
                  <a:solidFill>
                    <a:srgbClr val="16181D"/>
                  </a:solidFill>
                  <a:latin typeface="IBM Plex Sans SemiBold"/>
                </a:rPr>
                <a:t>2015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831796" y="1524000"/>
              <a:ext cx="362712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100" b="0" i="0" lang="vi-VN">
                  <a:solidFill>
                    <a:srgbClr val="16181D"/>
                  </a:solidFill>
                  <a:latin typeface="IBM Plex Sans SemiBold"/>
                </a:rPr>
                <a:t>2025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566664" y="1862328"/>
              <a:ext cx="0" cy="4255008"/>
            </a:xfrm>
            <a:prstGeom prst="line">
              <a:avLst/>
            </a:prstGeom>
            <a:ln w="12700" cap="flat">
              <a:solidFill>
                <a:srgbClr val="C3C2B7"/>
              </a:solidFill>
              <a:round/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6013152" y="1862328"/>
              <a:ext cx="0" cy="4255008"/>
            </a:xfrm>
            <a:prstGeom prst="line">
              <a:avLst/>
            </a:prstGeom>
            <a:ln w="12700" cap="flat">
              <a:solidFill>
                <a:srgbClr val="C3C2B7"/>
              </a:solidFill>
              <a:round/>
            </a:ln>
          </p:spPr>
        </p:cxnSp>
        <p:sp>
          <p:nvSpPr>
            <p:cNvPr id="10" name="Freeform 9"/>
            <p:cNvSpPr/>
            <p:nvPr/>
          </p:nvSpPr>
          <p:spPr>
            <a:xfrm>
              <a:off x="2566664" y="3861997"/>
              <a:ext cx="3446488" cy="84578"/>
            </a:xfrm>
            <a:custGeom>
              <a:avLst/>
              <a:gdLst/>
              <a:ahLst/>
              <a:cxnLst/>
              <a:rect l="l" t="t" r="r" b="b"/>
              <a:pathLst>
                <a:path w="3446488" h="84578">
                  <a:moveTo>
                    <a:pt x="0" y="0"/>
                  </a:moveTo>
                  <a:lnTo>
                    <a:pt x="3446488" y="84578"/>
                  </a:lnTo>
                </a:path>
              </a:pathLst>
            </a:custGeom>
            <a:noFill/>
            <a:ln w="22225" cap="rnd">
              <a:solidFill>
                <a:srgbClr val="C9CCD2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2520944" y="3816277"/>
              <a:ext cx="91440" cy="91440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5967432" y="3900855"/>
              <a:ext cx="91440" cy="91440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2566664" y="5247522"/>
              <a:ext cx="3446488" cy="81996"/>
            </a:xfrm>
            <a:custGeom>
              <a:avLst/>
              <a:gdLst/>
              <a:ahLst/>
              <a:cxnLst/>
              <a:rect l="l" t="t" r="r" b="b"/>
              <a:pathLst>
                <a:path w="3446488" h="81996">
                  <a:moveTo>
                    <a:pt x="0" y="0"/>
                  </a:moveTo>
                  <a:lnTo>
                    <a:pt x="3446488" y="81996"/>
                  </a:lnTo>
                </a:path>
              </a:pathLst>
            </a:custGeom>
            <a:noFill/>
            <a:ln w="22225" cap="rnd">
              <a:solidFill>
                <a:srgbClr val="C9CCD2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2520944" y="5201802"/>
              <a:ext cx="91440" cy="91440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5967432" y="5283798"/>
              <a:ext cx="91440" cy="91440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2566664" y="2104588"/>
              <a:ext cx="3446488" cy="395126"/>
            </a:xfrm>
            <a:custGeom>
              <a:avLst/>
              <a:gdLst/>
              <a:ahLst/>
              <a:cxnLst/>
              <a:rect l="l" t="t" r="r" b="b"/>
              <a:pathLst>
                <a:path w="3446488" h="395126">
                  <a:moveTo>
                    <a:pt x="0" y="0"/>
                  </a:moveTo>
                  <a:lnTo>
                    <a:pt x="3446488" y="395126"/>
                  </a:lnTo>
                </a:path>
              </a:pathLst>
            </a:custGeom>
            <a:noFill/>
            <a:ln w="28575" cap="rnd">
              <a:solidFill>
                <a:srgbClr val="2A78D6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2520944" y="2058868"/>
              <a:ext cx="91440" cy="91440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5967432" y="2453994"/>
              <a:ext cx="91440" cy="91440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2566664" y="5538057"/>
              <a:ext cx="3446488" cy="337019"/>
            </a:xfrm>
            <a:custGeom>
              <a:avLst/>
              <a:gdLst/>
              <a:ahLst/>
              <a:cxnLst/>
              <a:rect l="l" t="t" r="r" b="b"/>
              <a:pathLst>
                <a:path w="3446488" h="337019">
                  <a:moveTo>
                    <a:pt x="0" y="337019"/>
                  </a:moveTo>
                  <a:lnTo>
                    <a:pt x="3446488" y="0"/>
                  </a:lnTo>
                </a:path>
              </a:pathLst>
            </a:custGeom>
            <a:noFill/>
            <a:ln w="28575" cap="rnd">
              <a:solidFill>
                <a:srgbClr val="EB6834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2520944" y="5829356"/>
              <a:ext cx="91440" cy="91440"/>
            </a:xfrm>
            <a:prstGeom prst="ellipse">
              <a:avLst/>
            </a:prstGeom>
            <a:solidFill>
              <a:srgbClr val="EB6834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5967432" y="5492337"/>
              <a:ext cx="91440" cy="91440"/>
            </a:xfrm>
            <a:prstGeom prst="ellipse">
              <a:avLst/>
            </a:prstGeom>
            <a:solidFill>
              <a:srgbClr val="EB6834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59644" y="2017910"/>
              <a:ext cx="1497292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Tiêu dùng hộ (C)  </a:t>
              </a:r>
              <a:r>
                <a:rPr sz="1050" b="0" i="0" lang="vi-VN">
                  <a:solidFill>
                    <a:srgbClr val="16181D"/>
                  </a:solidFill>
                  <a:latin typeface="IBM Plex Sans SemiBold"/>
                </a:rPr>
                <a:t>59,3%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71766" y="3775319"/>
              <a:ext cx="1585170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50" b="0" i="0" lang="vi-VN">
                  <a:solidFill>
                    <a:srgbClr val="5B6170"/>
                  </a:solidFill>
                  <a:latin typeface="IBM Plex Sans Medium"/>
                </a:rPr>
                <a:t>Tích luỹ tài sản (I)  </a:t>
              </a:r>
              <a:r>
                <a:rPr sz="1050" b="0" i="0" lang="vi-VN">
                  <a:solidFill>
                    <a:srgbClr val="5B6170"/>
                  </a:solidFill>
                  <a:latin typeface="IBM Plex Sans"/>
                </a:rPr>
                <a:t>32,1%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72141" y="5160845"/>
              <a:ext cx="1784795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50" b="0" i="0" lang="vi-VN">
                  <a:solidFill>
                    <a:srgbClr val="5B6170"/>
                  </a:solidFill>
                  <a:latin typeface="IBM Plex Sans Medium"/>
                </a:rPr>
                <a:t>Chi tiêu Nhà nước (G)  </a:t>
              </a:r>
              <a:r>
                <a:rPr sz="1050" b="0" i="0" lang="vi-VN">
                  <a:solidFill>
                    <a:srgbClr val="5B6170"/>
                  </a:solidFill>
                  <a:latin typeface="IBM Plex Sans"/>
                </a:rPr>
                <a:t>10,7%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48138" y="5788399"/>
              <a:ext cx="1808798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Xuất khẩu ròng (X − M)  </a:t>
              </a:r>
              <a:r>
                <a:rPr sz="1050" b="0" i="0" lang="vi-VN">
                  <a:solidFill>
                    <a:srgbClr val="16181D"/>
                  </a:solidFill>
                  <a:latin typeface="IBM Plex Sans SemiBold"/>
                </a:rPr>
                <a:t>0,9%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122880" y="2413037"/>
              <a:ext cx="1500626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1" i="0" lang="vi-VN">
                  <a:solidFill>
                    <a:srgbClr val="16181D"/>
                  </a:solidFill>
                  <a:latin typeface="IBM Plex Sans"/>
                </a:rPr>
                <a:t>53,2%  </a:t>
              </a:r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Tiêu dùng hộ (C)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122880" y="3859897"/>
              <a:ext cx="1585170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5B6170"/>
                  </a:solidFill>
                  <a:latin typeface="IBM Plex Sans"/>
                </a:rPr>
                <a:t>30,8%  </a:t>
              </a:r>
              <a:r>
                <a:rPr sz="1050" b="0" i="0" lang="vi-VN">
                  <a:solidFill>
                    <a:srgbClr val="5B6170"/>
                  </a:solidFill>
                  <a:latin typeface="IBM Plex Sans Medium"/>
                </a:rPr>
                <a:t>Tích luỹ tài sản (I)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122880" y="5242840"/>
              <a:ext cx="1704784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5B6170"/>
                  </a:solidFill>
                  <a:latin typeface="IBM Plex Sans"/>
                </a:rPr>
                <a:t>9,4%  </a:t>
              </a:r>
              <a:r>
                <a:rPr sz="1050" b="0" i="0" lang="vi-VN">
                  <a:solidFill>
                    <a:srgbClr val="5B6170"/>
                  </a:solidFill>
                  <a:latin typeface="IBM Plex Sans Medium"/>
                </a:rPr>
                <a:t>Chi tiêu Nhà nước (G)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122880" y="5451379"/>
              <a:ext cx="1812131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1" i="0" lang="vi-VN">
                  <a:solidFill>
                    <a:srgbClr val="16181D"/>
                  </a:solidFill>
                  <a:latin typeface="IBM Plex Sans"/>
                </a:rPr>
                <a:t>6,2%  </a:t>
              </a:r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Xuất khẩu ròng (X − M)</a:t>
              </a:r>
            </a:p>
          </p:txBody>
        </p:sp>
      </p:grpSp>
      <p:sp>
        <p:nvSpPr>
          <p:cNvPr id="30" name="Rectangle 29"/>
          <p:cNvSpPr/>
          <p:nvPr/>
        </p:nvSpPr>
        <p:spPr>
          <a:xfrm>
            <a:off x="8351215" y="1450848"/>
            <a:ext cx="3246120" cy="4712208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7247" y="1725168"/>
            <a:ext cx="2734056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 lang="vi-VN" spc="80">
                <a:solidFill>
                  <a:srgbClr val="5B6170"/>
                </a:solidFill>
                <a:latin typeface="IBM Plex Sans SemiBold"/>
              </a:rPr>
              <a:t>XUẤT KHẨU RÒNG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07247" y="2017776"/>
            <a:ext cx="2734056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sz="4000" b="1" i="0" lang="vi-VN">
                <a:solidFill>
                  <a:srgbClr val="16181D"/>
                </a:solidFill>
                <a:latin typeface="IBM Plex Sans"/>
              </a:rPr>
              <a:t>6,6</a:t>
            </a:r>
            <a:r>
              <a:rPr sz="1400" b="0" i="0" lang="vi-VN">
                <a:solidFill>
                  <a:srgbClr val="5B6170"/>
                </a:solidFill>
                <a:latin typeface="IBM Plex Sans SemiBold"/>
              </a:rPr>
              <a:t> lần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7247" y="2668016"/>
            <a:ext cx="2734056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 lang="vi-VN">
                <a:solidFill>
                  <a:srgbClr val="8A8F99"/>
                </a:solidFill>
                <a:latin typeface="IBM Plex Sans"/>
              </a:rPr>
              <a:t>Tỷ trọng trong GDP: 0,93% (2015) → 6,15% (2025).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607247" y="3186176"/>
            <a:ext cx="2734056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35" name="TextBox 34"/>
          <p:cNvSpPr txBox="1"/>
          <p:nvPr/>
        </p:nvSpPr>
        <p:spPr>
          <a:xfrm>
            <a:off x="8607247" y="3323336"/>
            <a:ext cx="2734056" cy="6572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Tiêu dùng hộ mất 6,1 điểm % tỷ trọng GDP; xuất khẩu ròng tăng từ 0,9% lên 6,2%.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07247" y="4090289"/>
            <a:ext cx="2734056" cy="40309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50" b="0" i="0" lang="vi-VN">
                <a:solidFill>
                  <a:srgbClr val="5B6170"/>
                </a:solidFill>
                <a:latin typeface="IBM Plex Sans"/>
              </a:rPr>
              <a:t>Tỷ trọng theo giá hiện hành; 2025 là ước tính. Sai số thống kê không vẽ.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38" name="TextBox 37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NSO — GDP theo mục đích sử dụng, giá hiện hành (2024 sơ bộ, 2025 ước tính).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1 · CÁC NGÀNH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Khai khoáng tụt từ hạng 4 xuống hạng 9 về đóng góp vào GDP; chế biến giữ hạng 1</a:t>
            </a:r>
          </a:p>
        </p:txBody>
      </p:sp>
      <p:grpSp>
        <p:nvGrpSpPr>
          <p:cNvPr id="5" name="Chart · bump"/>
          <p:cNvGrpSpPr/>
          <p:nvPr/>
        </p:nvGrpSpPr>
        <p:grpSpPr>
          <a:xfrm>
            <a:off x="594360" y="1900619"/>
            <a:ext cx="10785932" cy="3571630"/>
            <a:chOff x="594360" y="1900619"/>
            <a:chExt cx="10785932" cy="3571630"/>
          </a:xfrm>
        </p:grpSpPr>
        <p:cxnSp>
          <p:nvCxnSpPr>
            <p:cNvPr id="6" name="Connector 5"/>
            <p:cNvCxnSpPr/>
            <p:nvPr/>
          </p:nvCxnSpPr>
          <p:spPr>
            <a:xfrm>
              <a:off x="594360" y="1987296"/>
              <a:ext cx="237744" cy="0"/>
            </a:xfrm>
            <a:prstGeom prst="line">
              <a:avLst/>
            </a:prstGeom>
            <a:ln w="28575" cap="rnd">
              <a:solidFill>
                <a:srgbClr val="2A78D6"/>
              </a:solidFill>
              <a:round/>
            </a:ln>
          </p:spPr>
        </p:cxnSp>
        <p:sp>
          <p:nvSpPr>
            <p:cNvPr id="7" name="TextBox 6"/>
            <p:cNvSpPr txBox="1"/>
            <p:nvPr/>
          </p:nvSpPr>
          <p:spPr>
            <a:xfrm>
              <a:off x="905256" y="1900619"/>
              <a:ext cx="1077830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Chế biến, chế tạo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229974" y="1987296"/>
              <a:ext cx="237744" cy="0"/>
            </a:xfrm>
            <a:prstGeom prst="line">
              <a:avLst/>
            </a:prstGeom>
            <a:ln w="28575" cap="rnd">
              <a:solidFill>
                <a:srgbClr val="EB6834"/>
              </a:solidFill>
              <a:round/>
            </a:ln>
          </p:spPr>
        </p:cxnSp>
        <p:sp>
          <p:nvSpPr>
            <p:cNvPr id="9" name="TextBox 8"/>
            <p:cNvSpPr txBox="1"/>
            <p:nvPr/>
          </p:nvSpPr>
          <p:spPr>
            <a:xfrm>
              <a:off x="2540870" y="1900619"/>
              <a:ext cx="780459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Khai khoáng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3568217" y="1987296"/>
              <a:ext cx="237744" cy="0"/>
            </a:xfrm>
            <a:prstGeom prst="line">
              <a:avLst/>
            </a:prstGeom>
            <a:ln w="28575" cap="rnd">
              <a:solidFill>
                <a:srgbClr val="C9CCD2"/>
              </a:solidFill>
              <a:round/>
            </a:ln>
          </p:spPr>
        </p:cxnSp>
        <p:sp>
          <p:nvSpPr>
            <p:cNvPr id="11" name="TextBox 10"/>
            <p:cNvSpPr txBox="1"/>
            <p:nvPr/>
          </p:nvSpPr>
          <p:spPr>
            <a:xfrm>
              <a:off x="3879113" y="1900619"/>
              <a:ext cx="745255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Ngành khác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124329" y="2243328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2010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572017" y="2243328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2013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019705" y="2243328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2016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467394" y="2243328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2019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915082" y="2243328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2022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362770" y="2243328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2025</a:t>
              </a:r>
            </a:p>
          </p:txBody>
        </p:sp>
        <p:sp>
          <p:nvSpPr>
            <p:cNvPr id="18" name="Freeform 17"/>
            <p:cNvSpPr/>
            <p:nvPr/>
          </p:nvSpPr>
          <p:spPr>
            <a:xfrm>
              <a:off x="2290445" y="3077193"/>
              <a:ext cx="7238441" cy="0"/>
            </a:xfrm>
            <a:custGeom>
              <a:avLst/>
              <a:gdLst/>
              <a:ahLst/>
              <a:cxnLst/>
              <a:rect l="l" t="t" r="r" b="b"/>
              <a:pathLst>
                <a:path w="7238441" h="0">
                  <a:moveTo>
                    <a:pt x="0" y="0"/>
                  </a:moveTo>
                  <a:lnTo>
                    <a:pt x="1447688" y="0"/>
                  </a:lnTo>
                  <a:lnTo>
                    <a:pt x="2895376" y="0"/>
                  </a:lnTo>
                  <a:lnTo>
                    <a:pt x="4343065" y="0"/>
                  </a:lnTo>
                  <a:lnTo>
                    <a:pt x="5790753" y="0"/>
                  </a:lnTo>
                  <a:lnTo>
                    <a:pt x="7238441" y="0"/>
                  </a:lnTo>
                </a:path>
              </a:pathLst>
            </a:custGeom>
            <a:noFill/>
            <a:ln w="19050" cap="rnd">
              <a:solidFill>
                <a:srgbClr val="C9CCD2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2253869" y="3040617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3701557" y="3040617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5149245" y="3040617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6596934" y="3040617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8044622" y="3040617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9492310" y="3040617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Freeform 24"/>
            <p:cNvSpPr/>
            <p:nvPr/>
          </p:nvSpPr>
          <p:spPr>
            <a:xfrm>
              <a:off x="2290445" y="3407551"/>
              <a:ext cx="7238441" cy="0"/>
            </a:xfrm>
            <a:custGeom>
              <a:avLst/>
              <a:gdLst/>
              <a:ahLst/>
              <a:cxnLst/>
              <a:rect l="l" t="t" r="r" b="b"/>
              <a:pathLst>
                <a:path w="7238441" h="0">
                  <a:moveTo>
                    <a:pt x="0" y="0"/>
                  </a:moveTo>
                  <a:lnTo>
                    <a:pt x="1447688" y="0"/>
                  </a:lnTo>
                  <a:lnTo>
                    <a:pt x="2895376" y="0"/>
                  </a:lnTo>
                  <a:lnTo>
                    <a:pt x="4343065" y="0"/>
                  </a:lnTo>
                  <a:lnTo>
                    <a:pt x="5790753" y="0"/>
                  </a:lnTo>
                  <a:lnTo>
                    <a:pt x="7238441" y="0"/>
                  </a:lnTo>
                </a:path>
              </a:pathLst>
            </a:custGeom>
            <a:noFill/>
            <a:ln w="19050" cap="rnd">
              <a:solidFill>
                <a:srgbClr val="C9CCD2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2253869" y="3370975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3701557" y="3370975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5149245" y="3370975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6596934" y="3370975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8044622" y="3370975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9492310" y="3370975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Freeform 31"/>
            <p:cNvSpPr/>
            <p:nvPr/>
          </p:nvSpPr>
          <p:spPr>
            <a:xfrm>
              <a:off x="2290445" y="3737909"/>
              <a:ext cx="7238441" cy="330358"/>
            </a:xfrm>
            <a:custGeom>
              <a:avLst/>
              <a:gdLst/>
              <a:ahLst/>
              <a:cxnLst/>
              <a:rect l="l" t="t" r="r" b="b"/>
              <a:pathLst>
                <a:path w="7238441" h="330358">
                  <a:moveTo>
                    <a:pt x="0" y="330358"/>
                  </a:moveTo>
                  <a:lnTo>
                    <a:pt x="1447688" y="330358"/>
                  </a:lnTo>
                  <a:lnTo>
                    <a:pt x="2895376" y="0"/>
                  </a:lnTo>
                  <a:lnTo>
                    <a:pt x="4343065" y="0"/>
                  </a:lnTo>
                  <a:lnTo>
                    <a:pt x="5790753" y="0"/>
                  </a:lnTo>
                  <a:lnTo>
                    <a:pt x="7238441" y="0"/>
                  </a:lnTo>
                </a:path>
              </a:pathLst>
            </a:custGeom>
            <a:noFill/>
            <a:ln w="19050" cap="rnd">
              <a:solidFill>
                <a:srgbClr val="C9CCD2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2253869" y="4031691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3701557" y="4031691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5149245" y="3701333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6596934" y="3701333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8044622" y="3701333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9492310" y="3701333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Freeform 38"/>
            <p:cNvSpPr/>
            <p:nvPr/>
          </p:nvSpPr>
          <p:spPr>
            <a:xfrm>
              <a:off x="2290445" y="4068267"/>
              <a:ext cx="7238441" cy="660716"/>
            </a:xfrm>
            <a:custGeom>
              <a:avLst/>
              <a:gdLst/>
              <a:ahLst/>
              <a:cxnLst/>
              <a:rect l="l" t="t" r="r" b="b"/>
              <a:pathLst>
                <a:path w="7238441" h="660716">
                  <a:moveTo>
                    <a:pt x="0" y="660716"/>
                  </a:moveTo>
                  <a:lnTo>
                    <a:pt x="1447688" y="330358"/>
                  </a:lnTo>
                  <a:lnTo>
                    <a:pt x="2895376" y="0"/>
                  </a:lnTo>
                  <a:lnTo>
                    <a:pt x="4343065" y="0"/>
                  </a:lnTo>
                  <a:lnTo>
                    <a:pt x="5790753" y="330358"/>
                  </a:lnTo>
                  <a:lnTo>
                    <a:pt x="7238441" y="0"/>
                  </a:lnTo>
                </a:path>
              </a:pathLst>
            </a:custGeom>
            <a:noFill/>
            <a:ln w="19050" cap="rnd">
              <a:solidFill>
                <a:srgbClr val="C9CCD2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2253869" y="4692407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3701557" y="4362049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5149245" y="4031691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6596934" y="4031691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8044622" y="4362049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9492310" y="4031691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Freeform 45"/>
            <p:cNvSpPr/>
            <p:nvPr/>
          </p:nvSpPr>
          <p:spPr>
            <a:xfrm>
              <a:off x="2290445" y="4068267"/>
              <a:ext cx="7238441" cy="991074"/>
            </a:xfrm>
            <a:custGeom>
              <a:avLst/>
              <a:gdLst/>
              <a:ahLst/>
              <a:cxnLst/>
              <a:rect l="l" t="t" r="r" b="b"/>
              <a:pathLst>
                <a:path w="7238441" h="991074">
                  <a:moveTo>
                    <a:pt x="0" y="991074"/>
                  </a:moveTo>
                  <a:lnTo>
                    <a:pt x="1447688" y="991074"/>
                  </a:lnTo>
                  <a:lnTo>
                    <a:pt x="2895376" y="660716"/>
                  </a:lnTo>
                  <a:lnTo>
                    <a:pt x="4343065" y="330358"/>
                  </a:lnTo>
                  <a:lnTo>
                    <a:pt x="5790753" y="0"/>
                  </a:lnTo>
                  <a:lnTo>
                    <a:pt x="7238441" y="330358"/>
                  </a:lnTo>
                </a:path>
              </a:pathLst>
            </a:custGeom>
            <a:noFill/>
            <a:ln w="19050" cap="rnd">
              <a:solidFill>
                <a:srgbClr val="C9CCD2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2253869" y="5022765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3701557" y="5022765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5149245" y="4692407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6596934" y="4362049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8044622" y="4031691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9492310" y="4362049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Freeform 52"/>
            <p:cNvSpPr/>
            <p:nvPr/>
          </p:nvSpPr>
          <p:spPr>
            <a:xfrm>
              <a:off x="2290445" y="4398625"/>
              <a:ext cx="7238441" cy="660716"/>
            </a:xfrm>
            <a:custGeom>
              <a:avLst/>
              <a:gdLst/>
              <a:ahLst/>
              <a:cxnLst/>
              <a:rect l="l" t="t" r="r" b="b"/>
              <a:pathLst>
                <a:path w="7238441" h="660716">
                  <a:moveTo>
                    <a:pt x="0" y="0"/>
                  </a:moveTo>
                  <a:lnTo>
                    <a:pt x="1447688" y="330358"/>
                  </a:lnTo>
                  <a:lnTo>
                    <a:pt x="2895376" y="0"/>
                  </a:lnTo>
                  <a:lnTo>
                    <a:pt x="4343065" y="330358"/>
                  </a:lnTo>
                  <a:lnTo>
                    <a:pt x="5790753" y="660716"/>
                  </a:lnTo>
                  <a:lnTo>
                    <a:pt x="7238441" y="660716"/>
                  </a:lnTo>
                </a:path>
              </a:pathLst>
            </a:custGeom>
            <a:noFill/>
            <a:ln w="19050" cap="rnd">
              <a:solidFill>
                <a:srgbClr val="C9CCD2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2253869" y="4362049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3701557" y="4692407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5149245" y="4362049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6596934" y="4692407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Oval 57"/>
            <p:cNvSpPr/>
            <p:nvPr/>
          </p:nvSpPr>
          <p:spPr>
            <a:xfrm>
              <a:off x="8044622" y="5022765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Oval 58"/>
            <p:cNvSpPr/>
            <p:nvPr/>
          </p:nvSpPr>
          <p:spPr>
            <a:xfrm>
              <a:off x="9492310" y="5022765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Freeform 59"/>
            <p:cNvSpPr/>
            <p:nvPr/>
          </p:nvSpPr>
          <p:spPr>
            <a:xfrm>
              <a:off x="2290445" y="4728983"/>
              <a:ext cx="7238441" cy="660716"/>
            </a:xfrm>
            <a:custGeom>
              <a:avLst/>
              <a:gdLst/>
              <a:ahLst/>
              <a:cxnLst/>
              <a:rect l="l" t="t" r="r" b="b"/>
              <a:pathLst>
                <a:path w="7238441" h="660716">
                  <a:moveTo>
                    <a:pt x="0" y="660716"/>
                  </a:moveTo>
                  <a:lnTo>
                    <a:pt x="1447688" y="660716"/>
                  </a:lnTo>
                  <a:lnTo>
                    <a:pt x="2895376" y="660716"/>
                  </a:lnTo>
                  <a:lnTo>
                    <a:pt x="4343065" y="330358"/>
                  </a:lnTo>
                  <a:lnTo>
                    <a:pt x="5790753" y="0"/>
                  </a:lnTo>
                  <a:lnTo>
                    <a:pt x="7238441" y="0"/>
                  </a:lnTo>
                </a:path>
              </a:pathLst>
            </a:custGeom>
            <a:noFill/>
            <a:ln w="19050" cap="rnd">
              <a:solidFill>
                <a:srgbClr val="C9CCD2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2253869" y="5353123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3701557" y="5353123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5149245" y="5353123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Oval 63"/>
            <p:cNvSpPr/>
            <p:nvPr/>
          </p:nvSpPr>
          <p:spPr>
            <a:xfrm>
              <a:off x="6596934" y="5022765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8044622" y="4692407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9492310" y="4692407"/>
              <a:ext cx="73152" cy="73152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Freeform 66"/>
            <p:cNvSpPr/>
            <p:nvPr/>
          </p:nvSpPr>
          <p:spPr>
            <a:xfrm>
              <a:off x="2290445" y="2746835"/>
              <a:ext cx="7238441" cy="0"/>
            </a:xfrm>
            <a:custGeom>
              <a:avLst/>
              <a:gdLst/>
              <a:ahLst/>
              <a:cxnLst/>
              <a:rect l="l" t="t" r="r" b="b"/>
              <a:pathLst>
                <a:path w="7238441" h="0">
                  <a:moveTo>
                    <a:pt x="0" y="0"/>
                  </a:moveTo>
                  <a:lnTo>
                    <a:pt x="1447688" y="0"/>
                  </a:lnTo>
                  <a:lnTo>
                    <a:pt x="2895376" y="0"/>
                  </a:lnTo>
                  <a:lnTo>
                    <a:pt x="4343065" y="0"/>
                  </a:lnTo>
                  <a:lnTo>
                    <a:pt x="5790753" y="0"/>
                  </a:lnTo>
                  <a:lnTo>
                    <a:pt x="7238441" y="0"/>
                  </a:lnTo>
                </a:path>
              </a:pathLst>
            </a:custGeom>
            <a:noFill/>
            <a:ln w="31750" cap="rnd">
              <a:solidFill>
                <a:srgbClr val="2A78D6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Oval 67"/>
            <p:cNvSpPr/>
            <p:nvPr/>
          </p:nvSpPr>
          <p:spPr>
            <a:xfrm>
              <a:off x="2244725" y="2701115"/>
              <a:ext cx="91440" cy="91440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3692413" y="2701115"/>
              <a:ext cx="91440" cy="91440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5140101" y="2701115"/>
              <a:ext cx="91440" cy="91440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Oval 70"/>
            <p:cNvSpPr/>
            <p:nvPr/>
          </p:nvSpPr>
          <p:spPr>
            <a:xfrm>
              <a:off x="6587790" y="2701115"/>
              <a:ext cx="91440" cy="91440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8035478" y="2701115"/>
              <a:ext cx="91440" cy="91440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9483166" y="2701115"/>
              <a:ext cx="91440" cy="91440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Freeform 73"/>
            <p:cNvSpPr/>
            <p:nvPr/>
          </p:nvSpPr>
          <p:spPr>
            <a:xfrm>
              <a:off x="2290445" y="3737909"/>
              <a:ext cx="7238441" cy="1651790"/>
            </a:xfrm>
            <a:custGeom>
              <a:avLst/>
              <a:gdLst/>
              <a:ahLst/>
              <a:cxnLst/>
              <a:rect l="l" t="t" r="r" b="b"/>
              <a:pathLst>
                <a:path w="7238441" h="1651790">
                  <a:moveTo>
                    <a:pt x="0" y="0"/>
                  </a:moveTo>
                  <a:lnTo>
                    <a:pt x="1447688" y="0"/>
                  </a:lnTo>
                  <a:lnTo>
                    <a:pt x="2895376" y="1321432"/>
                  </a:lnTo>
                  <a:lnTo>
                    <a:pt x="4343065" y="1651790"/>
                  </a:lnTo>
                  <a:lnTo>
                    <a:pt x="5790753" y="1651790"/>
                  </a:lnTo>
                  <a:lnTo>
                    <a:pt x="7238441" y="1651790"/>
                  </a:lnTo>
                </a:path>
              </a:pathLst>
            </a:custGeom>
            <a:noFill/>
            <a:ln w="31750" cap="rnd">
              <a:solidFill>
                <a:srgbClr val="EB6834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2244725" y="3692189"/>
              <a:ext cx="91440" cy="91440"/>
            </a:xfrm>
            <a:prstGeom prst="ellipse">
              <a:avLst/>
            </a:prstGeom>
            <a:solidFill>
              <a:srgbClr val="EB6834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Oval 75"/>
            <p:cNvSpPr/>
            <p:nvPr/>
          </p:nvSpPr>
          <p:spPr>
            <a:xfrm>
              <a:off x="3692413" y="3692189"/>
              <a:ext cx="91440" cy="91440"/>
            </a:xfrm>
            <a:prstGeom prst="ellipse">
              <a:avLst/>
            </a:prstGeom>
            <a:solidFill>
              <a:srgbClr val="EB6834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5140101" y="5013621"/>
              <a:ext cx="91440" cy="91440"/>
            </a:xfrm>
            <a:prstGeom prst="ellipse">
              <a:avLst/>
            </a:prstGeom>
            <a:solidFill>
              <a:srgbClr val="EB6834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Oval 77"/>
            <p:cNvSpPr/>
            <p:nvPr/>
          </p:nvSpPr>
          <p:spPr>
            <a:xfrm>
              <a:off x="6587790" y="5343979"/>
              <a:ext cx="91440" cy="91440"/>
            </a:xfrm>
            <a:prstGeom prst="ellipse">
              <a:avLst/>
            </a:prstGeom>
            <a:solidFill>
              <a:srgbClr val="EB6834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Oval 78"/>
            <p:cNvSpPr/>
            <p:nvPr/>
          </p:nvSpPr>
          <p:spPr>
            <a:xfrm>
              <a:off x="8035478" y="5343979"/>
              <a:ext cx="91440" cy="91440"/>
            </a:xfrm>
            <a:prstGeom prst="ellipse">
              <a:avLst/>
            </a:prstGeom>
            <a:solidFill>
              <a:srgbClr val="EB6834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79"/>
            <p:cNvSpPr/>
            <p:nvPr/>
          </p:nvSpPr>
          <p:spPr>
            <a:xfrm>
              <a:off x="9483166" y="5343979"/>
              <a:ext cx="91440" cy="91440"/>
            </a:xfrm>
            <a:prstGeom prst="ellipse">
              <a:avLst/>
            </a:prstGeom>
            <a:solidFill>
              <a:srgbClr val="EB6834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1037590" y="2664285"/>
              <a:ext cx="1143127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Chế biến, chế tạo </a:t>
              </a:r>
              <a:r>
                <a:rPr sz="1000" b="0" i="0" lang="vi-VN">
                  <a:solidFill>
                    <a:srgbClr val="8A8F99"/>
                  </a:solidFill>
                  <a:latin typeface="IBM Plex Sans SemiBold"/>
                </a:rPr>
                <a:t>1</a:t>
              </a: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9638614" y="2664285"/>
              <a:ext cx="160388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8A8F99"/>
                  </a:solidFill>
                  <a:latin typeface="IBM Plex Sans SemiBold"/>
                </a:rPr>
                <a:t>1. </a:t>
              </a:r>
              <a:r>
                <a:rPr sz="1000" b="0" i="0" lang="vi-VN">
                  <a:solidFill>
                    <a:srgbClr val="16181D"/>
                  </a:solidFill>
                  <a:latin typeface="IBM Plex Sans SemiBold"/>
                </a:rPr>
                <a:t>Chế biến, chế tạo </a:t>
              </a:r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24,5%</a:t>
              </a: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887857" y="2994643"/>
              <a:ext cx="1292860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5B6170"/>
                  </a:solidFill>
                  <a:latin typeface="IBM Plex Sans Medium"/>
                </a:rPr>
                <a:t>Nông, lâm, thủy sản </a:t>
              </a:r>
              <a:r>
                <a:rPr sz="1000" b="0" i="0" lang="vi-VN">
                  <a:solidFill>
                    <a:srgbClr val="8A8F99"/>
                  </a:solidFill>
                  <a:latin typeface="IBM Plex Sans SemiBold"/>
                </a:rPr>
                <a:t>2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9638614" y="2994643"/>
              <a:ext cx="1741678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8A8F99"/>
                  </a:solidFill>
                  <a:latin typeface="IBM Plex Sans SemiBold"/>
                </a:rPr>
                <a:t>2. </a:t>
              </a:r>
              <a:r>
                <a:rPr sz="1000" b="0" i="0" lang="vi-VN">
                  <a:solidFill>
                    <a:srgbClr val="5B6170"/>
                  </a:solidFill>
                  <a:latin typeface="IBM Plex Sans Medium"/>
                </a:rPr>
                <a:t>Nông, lâm, thủy sản </a:t>
              </a:r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11,7%</a:t>
              </a:r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1065276" y="3325001"/>
              <a:ext cx="1115441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5B6170"/>
                  </a:solidFill>
                  <a:latin typeface="IBM Plex Sans Medium"/>
                </a:rPr>
                <a:t>Bán buôn, bán lẻ </a:t>
              </a:r>
              <a:r>
                <a:rPr sz="1000" b="0" i="0" lang="vi-VN">
                  <a:solidFill>
                    <a:srgbClr val="8A8F99"/>
                  </a:solidFill>
                  <a:latin typeface="IBM Plex Sans SemiBold"/>
                </a:rPr>
                <a:t>3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9638614" y="3325001"/>
              <a:ext cx="1488059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8A8F99"/>
                  </a:solidFill>
                  <a:latin typeface="IBM Plex Sans SemiBold"/>
                </a:rPr>
                <a:t>3. </a:t>
              </a:r>
              <a:r>
                <a:rPr sz="1000" b="0" i="0" lang="vi-VN">
                  <a:solidFill>
                    <a:srgbClr val="5B6170"/>
                  </a:solidFill>
                  <a:latin typeface="IBM Plex Sans Medium"/>
                </a:rPr>
                <a:t>Bán buôn, bán lẻ </a:t>
              </a:r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9,7%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1320800" y="3655359"/>
              <a:ext cx="859917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Khai khoáng </a:t>
              </a:r>
              <a:r>
                <a:rPr sz="1000" b="0" i="0" lang="vi-VN">
                  <a:solidFill>
                    <a:srgbClr val="8A8F99"/>
                  </a:solidFill>
                  <a:latin typeface="IBM Plex Sans SemiBold"/>
                </a:rPr>
                <a:t>4</a:t>
              </a: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9638614" y="5307149"/>
              <a:ext cx="124447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8A8F99"/>
                  </a:solidFill>
                  <a:latin typeface="IBM Plex Sans SemiBold"/>
                </a:rPr>
                <a:t>9. </a:t>
              </a:r>
              <a:r>
                <a:rPr sz="1000" b="0" i="0" lang="vi-VN">
                  <a:solidFill>
                    <a:srgbClr val="16181D"/>
                  </a:solidFill>
                  <a:latin typeface="IBM Plex Sans SemiBold"/>
                </a:rPr>
                <a:t>Khai khoáng </a:t>
              </a:r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2,1%</a:t>
              </a:r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1501013" y="3985717"/>
              <a:ext cx="679704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5B6170"/>
                  </a:solidFill>
                  <a:latin typeface="IBM Plex Sans Medium"/>
                </a:rPr>
                <a:t>Xây dựng </a:t>
              </a:r>
              <a:r>
                <a:rPr sz="1000" b="0" i="0" lang="vi-VN">
                  <a:solidFill>
                    <a:srgbClr val="8A8F99"/>
                  </a:solidFill>
                  <a:latin typeface="IBM Plex Sans SemiBold"/>
                </a:rPr>
                <a:t>5</a:t>
              </a: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9638614" y="3655359"/>
              <a:ext cx="105232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8A8F99"/>
                  </a:solidFill>
                  <a:latin typeface="IBM Plex Sans SemiBold"/>
                </a:rPr>
                <a:t>4. </a:t>
              </a:r>
              <a:r>
                <a:rPr sz="1000" b="0" i="0" lang="vi-VN">
                  <a:solidFill>
                    <a:srgbClr val="5B6170"/>
                  </a:solidFill>
                  <a:latin typeface="IBM Plex Sans Medium"/>
                </a:rPr>
                <a:t>Xây dựng </a:t>
              </a:r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6,1%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1145540" y="4646433"/>
              <a:ext cx="1035177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5B6170"/>
                  </a:solidFill>
                  <a:latin typeface="IBM Plex Sans Medium"/>
                </a:rPr>
                <a:t>Vận tải, kho bãi </a:t>
              </a:r>
              <a:r>
                <a:rPr sz="1000" b="0" i="0" lang="vi-VN">
                  <a:solidFill>
                    <a:srgbClr val="8A8F99"/>
                  </a:solidFill>
                  <a:latin typeface="IBM Plex Sans SemiBold"/>
                </a:rPr>
                <a:t>7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9638614" y="3985717"/>
              <a:ext cx="140779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8A8F99"/>
                  </a:solidFill>
                  <a:latin typeface="IBM Plex Sans SemiBold"/>
                </a:rPr>
                <a:t>5. </a:t>
              </a:r>
              <a:r>
                <a:rPr sz="1000" b="0" i="0" lang="vi-VN">
                  <a:solidFill>
                    <a:srgbClr val="5B6170"/>
                  </a:solidFill>
                  <a:latin typeface="IBM Plex Sans Medium"/>
                </a:rPr>
                <a:t>Vận tải, kho bãi </a:t>
              </a:r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5,3%</a:t>
              </a:r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844804" y="4976791"/>
              <a:ext cx="133591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5B6170"/>
                  </a:solidFill>
                  <a:latin typeface="IBM Plex Sans Medium"/>
                </a:rPr>
                <a:t>Tài chính, ngân hàng </a:t>
              </a:r>
              <a:r>
                <a:rPr sz="1000" b="0" i="0" lang="vi-VN">
                  <a:solidFill>
                    <a:srgbClr val="8A8F99"/>
                  </a:solidFill>
                  <a:latin typeface="IBM Plex Sans SemiBold"/>
                </a:rPr>
                <a:t>8</a:t>
              </a:r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9638614" y="4316075"/>
              <a:ext cx="1708531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8A8F99"/>
                  </a:solidFill>
                  <a:latin typeface="IBM Plex Sans SemiBold"/>
                </a:rPr>
                <a:t>6. </a:t>
              </a:r>
              <a:r>
                <a:rPr sz="1000" b="0" i="0" lang="vi-VN">
                  <a:solidFill>
                    <a:srgbClr val="5B6170"/>
                  </a:solidFill>
                  <a:latin typeface="IBM Plex Sans Medium"/>
                </a:rPr>
                <a:t>Tài chính, ngân hàng </a:t>
              </a:r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4,8%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1283208" y="4316075"/>
              <a:ext cx="897509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5B6170"/>
                  </a:solidFill>
                  <a:latin typeface="IBM Plex Sans Medium"/>
                </a:rPr>
                <a:t>Bất động sản </a:t>
              </a:r>
              <a:r>
                <a:rPr sz="1000" b="0" i="0" lang="vi-VN">
                  <a:solidFill>
                    <a:srgbClr val="8A8F99"/>
                  </a:solidFill>
                  <a:latin typeface="IBM Plex Sans SemiBold"/>
                </a:rPr>
                <a:t>6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9638614" y="4976791"/>
              <a:ext cx="1270127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8A8F99"/>
                  </a:solidFill>
                  <a:latin typeface="IBM Plex Sans SemiBold"/>
                </a:rPr>
                <a:t>8. </a:t>
              </a:r>
              <a:r>
                <a:rPr sz="1000" b="0" i="0" lang="vi-VN">
                  <a:solidFill>
                    <a:srgbClr val="5B6170"/>
                  </a:solidFill>
                  <a:latin typeface="IBM Plex Sans Medium"/>
                </a:rPr>
                <a:t>Bất động sản </a:t>
              </a:r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3,5%</a:t>
              </a:r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1306322" y="5307149"/>
              <a:ext cx="87439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5B6170"/>
                  </a:solidFill>
                  <a:latin typeface="IBM Plex Sans Medium"/>
                </a:rPr>
                <a:t>Điện, khí đốt </a:t>
              </a:r>
              <a:r>
                <a:rPr sz="1000" b="0" i="0" lang="vi-VN">
                  <a:solidFill>
                    <a:srgbClr val="8A8F99"/>
                  </a:solidFill>
                  <a:latin typeface="IBM Plex Sans SemiBold"/>
                </a:rPr>
                <a:t>9</a:t>
              </a:r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9638614" y="4646433"/>
              <a:ext cx="124701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8A8F99"/>
                  </a:solidFill>
                  <a:latin typeface="IBM Plex Sans SemiBold"/>
                </a:rPr>
                <a:t>7. </a:t>
              </a:r>
              <a:r>
                <a:rPr sz="1000" b="0" i="0" lang="vi-VN">
                  <a:solidFill>
                    <a:srgbClr val="5B6170"/>
                  </a:solidFill>
                  <a:latin typeface="IBM Plex Sans Medium"/>
                </a:rPr>
                <a:t>Điện, khí đốt </a:t>
              </a:r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4,4%</a:t>
              </a:r>
            </a:p>
          </p:txBody>
        </p:sp>
      </p:grpSp>
      <p:sp>
        <p:nvSpPr>
          <p:cNvPr id="99" name="TextBox 98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Chế biến, chế tạo chiếm 24,5% GDP năm 2025, từ 17,1% năm 2010; khai khoáng còn 2,1%.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Xếp hạng trong chín ngành lớn nhất theo tỷ trọng giá hiện hành; số bên phải là tỷ trọng năm 2025.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01" name="TextBox 100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NSO PxWeb — cơ cấu GDP theo ngành kinh tế, giá hiện hành (V03.02, V03.04–05), chuỗi đánh giá lại 2021; 2025 ước tính.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1 · ĐẦU TƯ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Khu vực ngoài nhà nước bỏ 54% vốn đầu tư toàn xã hội năm 2025</a:t>
            </a:r>
          </a:p>
        </p:txBody>
      </p:sp>
      <p:grpSp>
        <p:nvGrpSpPr>
          <p:cNvPr id="5" name="Chart · area"/>
          <p:cNvGrpSpPr/>
          <p:nvPr/>
        </p:nvGrpSpPr>
        <p:grpSpPr>
          <a:xfrm>
            <a:off x="585216" y="1900619"/>
            <a:ext cx="10919663" cy="3581615"/>
            <a:chOff x="585216" y="1900619"/>
            <a:chExt cx="10919663" cy="3581615"/>
          </a:xfrm>
        </p:grpSpPr>
        <p:sp>
          <p:nvSpPr>
            <p:cNvPr id="6" name="Rounded Rectangle 5"/>
            <p:cNvSpPr/>
            <p:nvPr/>
          </p:nvSpPr>
          <p:spPr>
            <a:xfrm>
              <a:off x="594360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95528" y="1900619"/>
              <a:ext cx="966216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Ngoài nhà nước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008632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209800" y="1900619"/>
              <a:ext cx="602170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Nhà nước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3058858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260026" y="1900619"/>
              <a:ext cx="249593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FDI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4360" y="2188464"/>
              <a:ext cx="77329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Nghìn tỷ đồng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48360" y="5161432"/>
              <a:ext cx="1036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0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1043432" y="4695058"/>
              <a:ext cx="9116771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5" name="TextBox 14"/>
            <p:cNvSpPr txBox="1"/>
            <p:nvPr/>
          </p:nvSpPr>
          <p:spPr>
            <a:xfrm>
              <a:off x="585216" y="4612508"/>
              <a:ext cx="3667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1.000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1043432" y="4146133"/>
              <a:ext cx="9116771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7" name="TextBox 16"/>
            <p:cNvSpPr txBox="1"/>
            <p:nvPr/>
          </p:nvSpPr>
          <p:spPr>
            <a:xfrm>
              <a:off x="585216" y="4063583"/>
              <a:ext cx="3667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2.000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1043432" y="3597209"/>
              <a:ext cx="9116771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9" name="TextBox 18"/>
            <p:cNvSpPr txBox="1"/>
            <p:nvPr/>
          </p:nvSpPr>
          <p:spPr>
            <a:xfrm>
              <a:off x="585216" y="3514659"/>
              <a:ext cx="3667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3.000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1043432" y="3048284"/>
              <a:ext cx="9116771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21" name="TextBox 20"/>
            <p:cNvSpPr txBox="1"/>
            <p:nvPr/>
          </p:nvSpPr>
          <p:spPr>
            <a:xfrm>
              <a:off x="585216" y="2965734"/>
              <a:ext cx="3667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4.000</a:t>
              </a:r>
            </a:p>
          </p:txBody>
        </p:sp>
        <p:cxnSp>
          <p:nvCxnSpPr>
            <p:cNvPr id="22" name="Connector 21"/>
            <p:cNvCxnSpPr/>
            <p:nvPr/>
          </p:nvCxnSpPr>
          <p:spPr>
            <a:xfrm>
              <a:off x="1043432" y="2499360"/>
              <a:ext cx="9116771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23" name="TextBox 22"/>
            <p:cNvSpPr txBox="1"/>
            <p:nvPr/>
          </p:nvSpPr>
          <p:spPr>
            <a:xfrm>
              <a:off x="585216" y="2416810"/>
              <a:ext cx="3667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5.000</a:t>
              </a:r>
            </a:p>
          </p:txBody>
        </p:sp>
        <p:sp>
          <p:nvSpPr>
            <p:cNvPr id="24" name="Freeform 23"/>
            <p:cNvSpPr/>
            <p:nvPr/>
          </p:nvSpPr>
          <p:spPr>
            <a:xfrm>
              <a:off x="1043432" y="4015991"/>
              <a:ext cx="9116771" cy="1227991"/>
            </a:xfrm>
            <a:custGeom>
              <a:avLst/>
              <a:gdLst/>
              <a:ahLst/>
              <a:cxnLst/>
              <a:rect l="l" t="t" r="r" b="b"/>
              <a:pathLst>
                <a:path w="9116771" h="1227991">
                  <a:moveTo>
                    <a:pt x="0" y="743972"/>
                  </a:moveTo>
                  <a:lnTo>
                    <a:pt x="911677" y="685297"/>
                  </a:lnTo>
                  <a:lnTo>
                    <a:pt x="1823354" y="583608"/>
                  </a:lnTo>
                  <a:lnTo>
                    <a:pt x="2735031" y="480820"/>
                  </a:lnTo>
                  <a:lnTo>
                    <a:pt x="3646708" y="372802"/>
                  </a:lnTo>
                  <a:lnTo>
                    <a:pt x="4558386" y="346940"/>
                  </a:lnTo>
                  <a:lnTo>
                    <a:pt x="5470063" y="284196"/>
                  </a:lnTo>
                  <a:lnTo>
                    <a:pt x="6381740" y="202248"/>
                  </a:lnTo>
                  <a:lnTo>
                    <a:pt x="7293417" y="175456"/>
                  </a:lnTo>
                  <a:lnTo>
                    <a:pt x="8205094" y="95116"/>
                  </a:lnTo>
                  <a:lnTo>
                    <a:pt x="9116771" y="0"/>
                  </a:lnTo>
                  <a:lnTo>
                    <a:pt x="9116771" y="1227991"/>
                  </a:lnTo>
                  <a:lnTo>
                    <a:pt x="8205094" y="1227991"/>
                  </a:lnTo>
                  <a:lnTo>
                    <a:pt x="7293417" y="1227991"/>
                  </a:lnTo>
                  <a:lnTo>
                    <a:pt x="6381740" y="1227991"/>
                  </a:lnTo>
                  <a:lnTo>
                    <a:pt x="5470063" y="1227991"/>
                  </a:lnTo>
                  <a:lnTo>
                    <a:pt x="4558386" y="1227991"/>
                  </a:lnTo>
                  <a:lnTo>
                    <a:pt x="3646708" y="1227991"/>
                  </a:lnTo>
                  <a:lnTo>
                    <a:pt x="2735031" y="1227991"/>
                  </a:lnTo>
                  <a:lnTo>
                    <a:pt x="1823354" y="1227991"/>
                  </a:lnTo>
                  <a:lnTo>
                    <a:pt x="911677" y="1227991"/>
                  </a:lnTo>
                  <a:lnTo>
                    <a:pt x="0" y="1227991"/>
                  </a:lnTo>
                  <a:close/>
                </a:path>
              </a:pathLst>
            </a:custGeom>
            <a:solidFill>
              <a:srgbClr val="2A78D6">
                <a:alpha val="92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Freeform 24"/>
            <p:cNvSpPr/>
            <p:nvPr/>
          </p:nvSpPr>
          <p:spPr>
            <a:xfrm>
              <a:off x="1043432" y="4015991"/>
              <a:ext cx="9116771" cy="743972"/>
            </a:xfrm>
            <a:custGeom>
              <a:avLst/>
              <a:gdLst/>
              <a:ahLst/>
              <a:cxnLst/>
              <a:rect l="l" t="t" r="r" b="b"/>
              <a:pathLst>
                <a:path w="9116771" h="743972">
                  <a:moveTo>
                    <a:pt x="0" y="743972"/>
                  </a:moveTo>
                  <a:lnTo>
                    <a:pt x="911677" y="685297"/>
                  </a:lnTo>
                  <a:lnTo>
                    <a:pt x="1823354" y="583608"/>
                  </a:lnTo>
                  <a:lnTo>
                    <a:pt x="2735031" y="480820"/>
                  </a:lnTo>
                  <a:lnTo>
                    <a:pt x="3646708" y="372802"/>
                  </a:lnTo>
                  <a:lnTo>
                    <a:pt x="4558386" y="346940"/>
                  </a:lnTo>
                  <a:lnTo>
                    <a:pt x="5470063" y="284196"/>
                  </a:lnTo>
                  <a:lnTo>
                    <a:pt x="6381740" y="202248"/>
                  </a:lnTo>
                  <a:lnTo>
                    <a:pt x="7293417" y="175456"/>
                  </a:lnTo>
                  <a:lnTo>
                    <a:pt x="8205094" y="95116"/>
                  </a:lnTo>
                  <a:lnTo>
                    <a:pt x="9116771" y="0"/>
                  </a:lnTo>
                </a:path>
              </a:pathLst>
            </a:custGeom>
            <a:noFill/>
            <a:ln w="15875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Freeform 25"/>
            <p:cNvSpPr/>
            <p:nvPr/>
          </p:nvSpPr>
          <p:spPr>
            <a:xfrm>
              <a:off x="1043432" y="3338849"/>
              <a:ext cx="9116771" cy="1421114"/>
            </a:xfrm>
            <a:custGeom>
              <a:avLst/>
              <a:gdLst/>
              <a:ahLst/>
              <a:cxnLst/>
              <a:rect l="l" t="t" r="r" b="b"/>
              <a:pathLst>
                <a:path w="9116771" h="1421114">
                  <a:moveTo>
                    <a:pt x="0" y="1115703"/>
                  </a:moveTo>
                  <a:lnTo>
                    <a:pt x="911677" y="1040160"/>
                  </a:lnTo>
                  <a:lnTo>
                    <a:pt x="1823354" y="922361"/>
                  </a:lnTo>
                  <a:lnTo>
                    <a:pt x="2735031" y="812061"/>
                  </a:lnTo>
                  <a:lnTo>
                    <a:pt x="3646708" y="696934"/>
                  </a:lnTo>
                  <a:lnTo>
                    <a:pt x="4558386" y="620768"/>
                  </a:lnTo>
                  <a:lnTo>
                    <a:pt x="5470063" y="566500"/>
                  </a:lnTo>
                  <a:lnTo>
                    <a:pt x="6381740" y="422651"/>
                  </a:lnTo>
                  <a:lnTo>
                    <a:pt x="7293417" y="321136"/>
                  </a:lnTo>
                  <a:lnTo>
                    <a:pt x="8205094" y="206711"/>
                  </a:lnTo>
                  <a:lnTo>
                    <a:pt x="9116771" y="0"/>
                  </a:lnTo>
                  <a:lnTo>
                    <a:pt x="9116771" y="677142"/>
                  </a:lnTo>
                  <a:lnTo>
                    <a:pt x="8205094" y="772258"/>
                  </a:lnTo>
                  <a:lnTo>
                    <a:pt x="7293417" y="852598"/>
                  </a:lnTo>
                  <a:lnTo>
                    <a:pt x="6381740" y="879390"/>
                  </a:lnTo>
                  <a:lnTo>
                    <a:pt x="5470063" y="961338"/>
                  </a:lnTo>
                  <a:lnTo>
                    <a:pt x="4558386" y="1024082"/>
                  </a:lnTo>
                  <a:lnTo>
                    <a:pt x="3646708" y="1049944"/>
                  </a:lnTo>
                  <a:lnTo>
                    <a:pt x="2735031" y="1157962"/>
                  </a:lnTo>
                  <a:lnTo>
                    <a:pt x="1823354" y="1260750"/>
                  </a:lnTo>
                  <a:lnTo>
                    <a:pt x="911677" y="1362439"/>
                  </a:lnTo>
                  <a:lnTo>
                    <a:pt x="0" y="1421114"/>
                  </a:lnTo>
                  <a:close/>
                </a:path>
              </a:pathLst>
            </a:custGeom>
            <a:solidFill>
              <a:srgbClr val="EB6834">
                <a:alpha val="92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Freeform 26"/>
            <p:cNvSpPr/>
            <p:nvPr/>
          </p:nvSpPr>
          <p:spPr>
            <a:xfrm>
              <a:off x="1043432" y="3338849"/>
              <a:ext cx="9116771" cy="1115703"/>
            </a:xfrm>
            <a:custGeom>
              <a:avLst/>
              <a:gdLst/>
              <a:ahLst/>
              <a:cxnLst/>
              <a:rect l="l" t="t" r="r" b="b"/>
              <a:pathLst>
                <a:path w="9116771" h="1115703">
                  <a:moveTo>
                    <a:pt x="0" y="1115703"/>
                  </a:moveTo>
                  <a:lnTo>
                    <a:pt x="911677" y="1040160"/>
                  </a:lnTo>
                  <a:lnTo>
                    <a:pt x="1823354" y="922361"/>
                  </a:lnTo>
                  <a:lnTo>
                    <a:pt x="2735031" y="812061"/>
                  </a:lnTo>
                  <a:lnTo>
                    <a:pt x="3646708" y="696934"/>
                  </a:lnTo>
                  <a:lnTo>
                    <a:pt x="4558386" y="620768"/>
                  </a:lnTo>
                  <a:lnTo>
                    <a:pt x="5470063" y="566500"/>
                  </a:lnTo>
                  <a:lnTo>
                    <a:pt x="6381740" y="422651"/>
                  </a:lnTo>
                  <a:lnTo>
                    <a:pt x="7293417" y="321136"/>
                  </a:lnTo>
                  <a:lnTo>
                    <a:pt x="8205094" y="206711"/>
                  </a:lnTo>
                  <a:lnTo>
                    <a:pt x="9116771" y="0"/>
                  </a:lnTo>
                </a:path>
              </a:pathLst>
            </a:custGeom>
            <a:noFill/>
            <a:ln w="15875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Freeform 27"/>
            <p:cNvSpPr/>
            <p:nvPr/>
          </p:nvSpPr>
          <p:spPr>
            <a:xfrm>
              <a:off x="1043432" y="2965668"/>
              <a:ext cx="9116771" cy="1488884"/>
            </a:xfrm>
            <a:custGeom>
              <a:avLst/>
              <a:gdLst/>
              <a:ahLst/>
              <a:cxnLst/>
              <a:rect l="l" t="t" r="r" b="b"/>
              <a:pathLst>
                <a:path w="9116771" h="1488884">
                  <a:moveTo>
                    <a:pt x="0" y="1314271"/>
                  </a:moveTo>
                  <a:lnTo>
                    <a:pt x="911677" y="1220612"/>
                  </a:lnTo>
                  <a:lnTo>
                    <a:pt x="1823354" y="1078058"/>
                  </a:lnTo>
                  <a:lnTo>
                    <a:pt x="2735031" y="946404"/>
                  </a:lnTo>
                  <a:lnTo>
                    <a:pt x="3646708" y="812427"/>
                  </a:lnTo>
                  <a:lnTo>
                    <a:pt x="4558386" y="739643"/>
                  </a:lnTo>
                  <a:lnTo>
                    <a:pt x="5470063" y="688229"/>
                  </a:lnTo>
                  <a:lnTo>
                    <a:pt x="6381740" y="509307"/>
                  </a:lnTo>
                  <a:lnTo>
                    <a:pt x="7293417" y="392297"/>
                  </a:lnTo>
                  <a:lnTo>
                    <a:pt x="8205094" y="245805"/>
                  </a:lnTo>
                  <a:lnTo>
                    <a:pt x="9116771" y="0"/>
                  </a:lnTo>
                  <a:lnTo>
                    <a:pt x="9116771" y="373181"/>
                  </a:lnTo>
                  <a:lnTo>
                    <a:pt x="8205094" y="579892"/>
                  </a:lnTo>
                  <a:lnTo>
                    <a:pt x="7293417" y="694317"/>
                  </a:lnTo>
                  <a:lnTo>
                    <a:pt x="6381740" y="795832"/>
                  </a:lnTo>
                  <a:lnTo>
                    <a:pt x="5470063" y="939681"/>
                  </a:lnTo>
                  <a:lnTo>
                    <a:pt x="4558386" y="993949"/>
                  </a:lnTo>
                  <a:lnTo>
                    <a:pt x="3646708" y="1070115"/>
                  </a:lnTo>
                  <a:lnTo>
                    <a:pt x="2735031" y="1185242"/>
                  </a:lnTo>
                  <a:lnTo>
                    <a:pt x="1823354" y="1295542"/>
                  </a:lnTo>
                  <a:lnTo>
                    <a:pt x="911677" y="1413341"/>
                  </a:lnTo>
                  <a:lnTo>
                    <a:pt x="0" y="1488884"/>
                  </a:lnTo>
                  <a:close/>
                </a:path>
              </a:pathLst>
            </a:custGeom>
            <a:solidFill>
              <a:srgbClr val="1BAF7A">
                <a:alpha val="92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Freeform 28"/>
            <p:cNvSpPr/>
            <p:nvPr/>
          </p:nvSpPr>
          <p:spPr>
            <a:xfrm>
              <a:off x="1043432" y="2965668"/>
              <a:ext cx="9116771" cy="1314271"/>
            </a:xfrm>
            <a:custGeom>
              <a:avLst/>
              <a:gdLst/>
              <a:ahLst/>
              <a:cxnLst/>
              <a:rect l="l" t="t" r="r" b="b"/>
              <a:pathLst>
                <a:path w="9116771" h="1314271">
                  <a:moveTo>
                    <a:pt x="0" y="1314271"/>
                  </a:moveTo>
                  <a:lnTo>
                    <a:pt x="911677" y="1220612"/>
                  </a:lnTo>
                  <a:lnTo>
                    <a:pt x="1823354" y="1078058"/>
                  </a:lnTo>
                  <a:lnTo>
                    <a:pt x="2735031" y="946404"/>
                  </a:lnTo>
                  <a:lnTo>
                    <a:pt x="3646708" y="812427"/>
                  </a:lnTo>
                  <a:lnTo>
                    <a:pt x="4558386" y="739643"/>
                  </a:lnTo>
                  <a:lnTo>
                    <a:pt x="5470063" y="688229"/>
                  </a:lnTo>
                  <a:lnTo>
                    <a:pt x="6381740" y="509307"/>
                  </a:lnTo>
                  <a:lnTo>
                    <a:pt x="7293417" y="392297"/>
                  </a:lnTo>
                  <a:lnTo>
                    <a:pt x="8205094" y="245805"/>
                  </a:lnTo>
                  <a:lnTo>
                    <a:pt x="9116771" y="0"/>
                  </a:lnTo>
                </a:path>
              </a:pathLst>
            </a:custGeom>
            <a:noFill/>
            <a:ln w="15875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1043432" y="5243982"/>
              <a:ext cx="9116771" cy="0"/>
            </a:xfrm>
            <a:prstGeom prst="line">
              <a:avLst/>
            </a:prstGeom>
            <a:ln w="12700" cap="flat">
              <a:solidFill>
                <a:srgbClr val="C3C2B7"/>
              </a:solidFill>
              <a:round/>
            </a:ln>
          </p:spPr>
        </p:cxnSp>
        <p:sp>
          <p:nvSpPr>
            <p:cNvPr id="31" name="TextBox 30"/>
            <p:cNvSpPr txBox="1"/>
            <p:nvPr/>
          </p:nvSpPr>
          <p:spPr>
            <a:xfrm>
              <a:off x="877316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2015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788993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2016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700670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2017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612347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2018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524024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2019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435702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2020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347379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2021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259056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2022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170733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2023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9082410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2024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9994087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2025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0269931" y="3069708"/>
              <a:ext cx="552450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FDI </a:t>
              </a:r>
              <a:r>
                <a:rPr sz="1000" b="0" i="0" lang="vi-VN">
                  <a:solidFill>
                    <a:srgbClr val="16181D"/>
                  </a:solidFill>
                  <a:latin typeface="IBM Plex Sans SemiBold"/>
                </a:rPr>
                <a:t>16%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0269931" y="3594870"/>
              <a:ext cx="888238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Nhà nước </a:t>
              </a:r>
              <a:r>
                <a:rPr sz="1000" b="0" i="0" lang="vi-VN">
                  <a:solidFill>
                    <a:srgbClr val="16181D"/>
                  </a:solidFill>
                  <a:latin typeface="IBM Plex Sans SemiBold"/>
                </a:rPr>
                <a:t>30%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0269931" y="4547436"/>
              <a:ext cx="1234948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Ngoài nhà nước </a:t>
              </a:r>
              <a:r>
                <a:rPr sz="1000" b="0" i="0" lang="vi-VN">
                  <a:solidFill>
                    <a:srgbClr val="16181D"/>
                  </a:solidFill>
                  <a:latin typeface="IBM Plex Sans SemiBold"/>
                </a:rPr>
                <a:t>54%</a:t>
              </a:r>
            </a:p>
          </p:txBody>
        </p:sp>
      </p:grpSp>
      <p:sp>
        <p:nvSpPr>
          <p:cNvPr id="45" name="TextBox 44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Vốn đầu tư thực hiện đạt 4.151 nghìn tỷ năm 2025, gấp 2,4 lần năm 2015.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Chín tháng 2026, vốn Nhà nước tăng 17,3%, nhanh hơn ngoài nhà nước (14,0%) và FDI (14,5%).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47" name="TextBox 46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NSO V04.01 — vốn đầu tư thực hiện toàn xã hội theo nguồn, giá hiện hành; 9T/2026: NSO 03/10/2026.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1 · FDI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499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FDI giải ngân đạt 27,6 tỷ USD năm 2025, cao nhất từ 2010</a:t>
            </a:r>
          </a:p>
        </p:txBody>
      </p:sp>
      <p:grpSp>
        <p:nvGrpSpPr>
          <p:cNvPr id="5" name="Chart · bar"/>
          <p:cNvGrpSpPr/>
          <p:nvPr/>
        </p:nvGrpSpPr>
        <p:grpSpPr>
          <a:xfrm>
            <a:off x="585216" y="1652016"/>
            <a:ext cx="7400239" cy="4438396"/>
            <a:chOff x="585216" y="1652016"/>
            <a:chExt cx="7400239" cy="4438396"/>
          </a:xfrm>
        </p:grpSpPr>
        <p:sp>
          <p:nvSpPr>
            <p:cNvPr id="6" name="TextBox 5"/>
            <p:cNvSpPr txBox="1"/>
            <p:nvPr/>
          </p:nvSpPr>
          <p:spPr>
            <a:xfrm>
              <a:off x="594360" y="1652016"/>
              <a:ext cx="4179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Tỷ USD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61416" y="5769610"/>
              <a:ext cx="1036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0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856488" y="4555744"/>
              <a:ext cx="7128967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9" name="TextBox 8"/>
            <p:cNvSpPr txBox="1"/>
            <p:nvPr/>
          </p:nvSpPr>
          <p:spPr>
            <a:xfrm>
              <a:off x="585216" y="4473194"/>
              <a:ext cx="1798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10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856488" y="3259328"/>
              <a:ext cx="7128967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1" name="TextBox 10"/>
            <p:cNvSpPr txBox="1"/>
            <p:nvPr/>
          </p:nvSpPr>
          <p:spPr>
            <a:xfrm>
              <a:off x="585216" y="3176778"/>
              <a:ext cx="1798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20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856488" y="1962912"/>
              <a:ext cx="7128967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3" name="TextBox 12"/>
            <p:cNvSpPr txBox="1"/>
            <p:nvPr/>
          </p:nvSpPr>
          <p:spPr>
            <a:xfrm>
              <a:off x="585216" y="1880362"/>
              <a:ext cx="1798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30</a:t>
              </a:r>
            </a:p>
          </p:txBody>
        </p:sp>
        <p:sp>
          <p:nvSpPr>
            <p:cNvPr id="14" name="Round Same Side Corner Rectangle 13"/>
            <p:cNvSpPr/>
            <p:nvPr/>
          </p:nvSpPr>
          <p:spPr>
            <a:xfrm>
              <a:off x="923820" y="4426064"/>
              <a:ext cx="310896" cy="1426096"/>
            </a:xfrm>
            <a:prstGeom prst="round2SameRect">
              <a:avLst>
                <a:gd name="adj1" fmla="val 1617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38930" y="4223499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11,0</a:t>
              </a:r>
            </a:p>
          </p:txBody>
        </p:sp>
        <p:sp>
          <p:nvSpPr>
            <p:cNvPr id="16" name="Round Same Side Corner Rectangle 15"/>
            <p:cNvSpPr/>
            <p:nvPr/>
          </p:nvSpPr>
          <p:spPr>
            <a:xfrm>
              <a:off x="1369381" y="4426089"/>
              <a:ext cx="310896" cy="1426071"/>
            </a:xfrm>
            <a:prstGeom prst="round2SameRect">
              <a:avLst>
                <a:gd name="adj1" fmla="val 1617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384491" y="4223524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11,0</a:t>
              </a:r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1814941" y="4549703"/>
              <a:ext cx="310896" cy="1302457"/>
            </a:xfrm>
            <a:prstGeom prst="round2SameRect">
              <a:avLst>
                <a:gd name="adj1" fmla="val 1617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830051" y="4347138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10,0</a:t>
              </a:r>
            </a:p>
          </p:txBody>
        </p:sp>
        <p:sp>
          <p:nvSpPr>
            <p:cNvPr id="20" name="Round Same Side Corner Rectangle 19"/>
            <p:cNvSpPr/>
            <p:nvPr/>
          </p:nvSpPr>
          <p:spPr>
            <a:xfrm>
              <a:off x="2260502" y="4361282"/>
              <a:ext cx="310896" cy="1490878"/>
            </a:xfrm>
            <a:prstGeom prst="round2SameRect">
              <a:avLst>
                <a:gd name="adj1" fmla="val 1617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275611" y="4158717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11,5</a:t>
              </a:r>
            </a:p>
          </p:txBody>
        </p:sp>
        <p:sp>
          <p:nvSpPr>
            <p:cNvPr id="22" name="Round Same Side Corner Rectangle 21"/>
            <p:cNvSpPr/>
            <p:nvPr/>
          </p:nvSpPr>
          <p:spPr>
            <a:xfrm>
              <a:off x="2706062" y="4231640"/>
              <a:ext cx="310896" cy="1620520"/>
            </a:xfrm>
            <a:prstGeom prst="round2SameRect">
              <a:avLst>
                <a:gd name="adj1" fmla="val 1617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721172" y="4029075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12,5</a:t>
              </a:r>
            </a:p>
          </p:txBody>
        </p:sp>
        <p:sp>
          <p:nvSpPr>
            <p:cNvPr id="24" name="Round Same Side Corner Rectangle 23"/>
            <p:cNvSpPr/>
            <p:nvPr/>
          </p:nvSpPr>
          <p:spPr>
            <a:xfrm>
              <a:off x="3151622" y="3972357"/>
              <a:ext cx="310896" cy="1879803"/>
            </a:xfrm>
            <a:prstGeom prst="round2SameRect">
              <a:avLst>
                <a:gd name="adj1" fmla="val 1617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166732" y="3769792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14,5</a:t>
              </a:r>
            </a:p>
          </p:txBody>
        </p:sp>
        <p:sp>
          <p:nvSpPr>
            <p:cNvPr id="26" name="Round Same Side Corner Rectangle 25"/>
            <p:cNvSpPr/>
            <p:nvPr/>
          </p:nvSpPr>
          <p:spPr>
            <a:xfrm>
              <a:off x="3597183" y="3803823"/>
              <a:ext cx="310896" cy="2048337"/>
            </a:xfrm>
            <a:prstGeom prst="round2SameRect">
              <a:avLst>
                <a:gd name="adj1" fmla="val 1617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612293" y="3601258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15,8</a:t>
              </a:r>
            </a:p>
          </p:txBody>
        </p:sp>
        <p:sp>
          <p:nvSpPr>
            <p:cNvPr id="28" name="Round Same Side Corner Rectangle 27"/>
            <p:cNvSpPr/>
            <p:nvPr/>
          </p:nvSpPr>
          <p:spPr>
            <a:xfrm>
              <a:off x="4042743" y="3583432"/>
              <a:ext cx="310896" cy="2268728"/>
            </a:xfrm>
            <a:prstGeom prst="round2SameRect">
              <a:avLst>
                <a:gd name="adj1" fmla="val 1617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057853" y="3380867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17,5</a:t>
              </a:r>
            </a:p>
          </p:txBody>
        </p:sp>
        <p:sp>
          <p:nvSpPr>
            <p:cNvPr id="30" name="Round Same Side Corner Rectangle 29"/>
            <p:cNvSpPr/>
            <p:nvPr/>
          </p:nvSpPr>
          <p:spPr>
            <a:xfrm>
              <a:off x="4488304" y="3376005"/>
              <a:ext cx="310896" cy="2476155"/>
            </a:xfrm>
            <a:prstGeom prst="round2SameRect">
              <a:avLst>
                <a:gd name="adj1" fmla="val 1617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503414" y="3173440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19,1</a:t>
              </a:r>
            </a:p>
          </p:txBody>
        </p:sp>
        <p:sp>
          <p:nvSpPr>
            <p:cNvPr id="32" name="Round Same Side Corner Rectangle 31"/>
            <p:cNvSpPr/>
            <p:nvPr/>
          </p:nvSpPr>
          <p:spPr>
            <a:xfrm>
              <a:off x="4933864" y="3210064"/>
              <a:ext cx="310896" cy="2642096"/>
            </a:xfrm>
            <a:prstGeom prst="round2SameRect">
              <a:avLst>
                <a:gd name="adj1" fmla="val 1617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4948974" y="3007499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20,4</a:t>
              </a:r>
            </a:p>
          </p:txBody>
        </p:sp>
        <p:sp>
          <p:nvSpPr>
            <p:cNvPr id="34" name="Round Same Side Corner Rectangle 33"/>
            <p:cNvSpPr/>
            <p:nvPr/>
          </p:nvSpPr>
          <p:spPr>
            <a:xfrm>
              <a:off x="5379425" y="3261921"/>
              <a:ext cx="310896" cy="2590239"/>
            </a:xfrm>
            <a:prstGeom prst="round2SameRect">
              <a:avLst>
                <a:gd name="adj1" fmla="val 1617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394535" y="3059356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20,0</a:t>
              </a:r>
            </a:p>
          </p:txBody>
        </p:sp>
        <p:sp>
          <p:nvSpPr>
            <p:cNvPr id="36" name="Round Same Side Corner Rectangle 35"/>
            <p:cNvSpPr/>
            <p:nvPr/>
          </p:nvSpPr>
          <p:spPr>
            <a:xfrm>
              <a:off x="5824985" y="3293035"/>
              <a:ext cx="310896" cy="2559125"/>
            </a:xfrm>
            <a:prstGeom prst="round2SameRect">
              <a:avLst>
                <a:gd name="adj1" fmla="val 1617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5840095" y="3090470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19,7</a:t>
              </a:r>
            </a:p>
          </p:txBody>
        </p:sp>
        <p:sp>
          <p:nvSpPr>
            <p:cNvPr id="38" name="Round Same Side Corner Rectangle 37"/>
            <p:cNvSpPr/>
            <p:nvPr/>
          </p:nvSpPr>
          <p:spPr>
            <a:xfrm>
              <a:off x="6270546" y="2948707"/>
              <a:ext cx="310896" cy="2903453"/>
            </a:xfrm>
            <a:prstGeom prst="round2SameRect">
              <a:avLst>
                <a:gd name="adj1" fmla="val 1617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285655" y="2746142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22,4</a:t>
              </a:r>
            </a:p>
          </p:txBody>
        </p:sp>
        <p:sp>
          <p:nvSpPr>
            <p:cNvPr id="40" name="Round Same Side Corner Rectangle 39"/>
            <p:cNvSpPr/>
            <p:nvPr/>
          </p:nvSpPr>
          <p:spPr>
            <a:xfrm>
              <a:off x="6716106" y="2846679"/>
              <a:ext cx="310896" cy="3005481"/>
            </a:xfrm>
            <a:prstGeom prst="round2SameRect">
              <a:avLst>
                <a:gd name="adj1" fmla="val 1617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731216" y="2644114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23,2</a:t>
              </a:r>
            </a:p>
          </p:txBody>
        </p:sp>
        <p:sp>
          <p:nvSpPr>
            <p:cNvPr id="42" name="Round Same Side Corner Rectangle 41"/>
            <p:cNvSpPr/>
            <p:nvPr/>
          </p:nvSpPr>
          <p:spPr>
            <a:xfrm>
              <a:off x="7161667" y="2565616"/>
              <a:ext cx="310896" cy="3286544"/>
            </a:xfrm>
            <a:prstGeom prst="round2SameRect">
              <a:avLst>
                <a:gd name="adj1" fmla="val 16176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176776" y="2363051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25,4</a:t>
              </a:r>
            </a:p>
          </p:txBody>
        </p:sp>
        <p:sp>
          <p:nvSpPr>
            <p:cNvPr id="44" name="Round Same Side Corner Rectangle 43"/>
            <p:cNvSpPr/>
            <p:nvPr/>
          </p:nvSpPr>
          <p:spPr>
            <a:xfrm>
              <a:off x="7607227" y="2271459"/>
              <a:ext cx="310896" cy="3580701"/>
            </a:xfrm>
            <a:prstGeom prst="round2SameRect">
              <a:avLst>
                <a:gd name="adj1" fmla="val 16176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7608275" y="2052384"/>
              <a:ext cx="308800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50" b="1" i="0" lang="vi-VN">
                  <a:solidFill>
                    <a:srgbClr val="16181D"/>
                  </a:solidFill>
                  <a:latin typeface="IBM Plex Sans"/>
                </a:rPr>
                <a:t>27,6</a:t>
              </a:r>
            </a:p>
          </p:txBody>
        </p:sp>
        <p:cxnSp>
          <p:nvCxnSpPr>
            <p:cNvPr id="46" name="Connector 45"/>
            <p:cNvCxnSpPr/>
            <p:nvPr/>
          </p:nvCxnSpPr>
          <p:spPr>
            <a:xfrm>
              <a:off x="856488" y="5852160"/>
              <a:ext cx="7128967" cy="0"/>
            </a:xfrm>
            <a:prstGeom prst="line">
              <a:avLst/>
            </a:prstGeom>
            <a:ln w="12700" cap="flat">
              <a:solidFill>
                <a:srgbClr val="C3C2B7"/>
              </a:solidFill>
              <a:round/>
            </a:ln>
          </p:spPr>
        </p:cxnSp>
        <p:sp>
          <p:nvSpPr>
            <p:cNvPr id="47" name="TextBox 46"/>
            <p:cNvSpPr txBox="1"/>
            <p:nvPr/>
          </p:nvSpPr>
          <p:spPr>
            <a:xfrm>
              <a:off x="913152" y="59253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2010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1358713" y="59253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2011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1804273" y="59253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2012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2249834" y="59253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2013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2695394" y="59253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2014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3140954" y="59253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2015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586515" y="59253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2016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4032075" y="59253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2017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4477636" y="59253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2018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4923196" y="59253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2019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5368757" y="59253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2020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5814317" y="59253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2021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259878" y="59253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2022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6705438" y="59253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2023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150999" y="59253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2024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596559" y="5925312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2025</a:t>
              </a:r>
            </a:p>
          </p:txBody>
        </p:sp>
      </p:grpSp>
      <p:sp>
        <p:nvSpPr>
          <p:cNvPr id="63" name="Rectangle 62"/>
          <p:cNvSpPr/>
          <p:nvPr/>
        </p:nvSpPr>
        <p:spPr>
          <a:xfrm>
            <a:off x="8351215" y="1450848"/>
            <a:ext cx="3246120" cy="4712208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07247" y="1725168"/>
            <a:ext cx="2734056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 lang="vi-VN" spc="80">
                <a:solidFill>
                  <a:srgbClr val="5B6170"/>
                </a:solidFill>
                <a:latin typeface="IBM Plex Sans SemiBold"/>
              </a:rPr>
              <a:t>9 THÁNG 2026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07247" y="2017776"/>
            <a:ext cx="2734056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sz="4000" b="1" i="0" lang="vi-VN">
                <a:solidFill>
                  <a:srgbClr val="16181D"/>
                </a:solidFill>
                <a:latin typeface="IBM Plex Sans"/>
              </a:rPr>
              <a:t>21,07</a:t>
            </a:r>
            <a:r>
              <a:rPr sz="1400" b="0" i="0" lang="vi-VN">
                <a:solidFill>
                  <a:srgbClr val="5B6170"/>
                </a:solidFill>
                <a:latin typeface="IBM Plex Sans SemiBold"/>
              </a:rPr>
              <a:t> tỷ USD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07247" y="2668016"/>
            <a:ext cx="2734056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 lang="vi-VN">
                <a:solidFill>
                  <a:srgbClr val="8A8F99"/>
                </a:solidFill>
                <a:latin typeface="IBM Plex Sans"/>
              </a:rPr>
              <a:t>Tăng 12,1% so với cùng kỳ; mục tiêu NQ 10-NQ/TW: 30–40 tỷ USD/năm.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607247" y="3186176"/>
            <a:ext cx="2734056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68" name="TextBox 67"/>
          <p:cNvSpPr txBox="1"/>
          <p:nvPr/>
        </p:nvSpPr>
        <p:spPr>
          <a:xfrm>
            <a:off x="8607247" y="3323336"/>
            <a:ext cx="2734056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FDI giải ngân năm 2025 đạt 27,62 tỷ USD, gấp 2,5 lần năm 2010.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07247" y="3871214"/>
            <a:ext cx="2734056" cy="40309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50" b="0" i="0" lang="vi-VN">
                <a:solidFill>
                  <a:srgbClr val="5B6170"/>
                </a:solidFill>
                <a:latin typeface="IBM Plex Sans"/>
              </a:rPr>
              <a:t>Vốn đăng ký là chỉ tiêu khác, không cộng chung; 2025 ước tính.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71" name="TextBox 70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NSO / Cục Đầu tư nước ngoài — FDI thực hiện (giải ngân), tỷ USD; 9T/2026: NSO 03/10/2026.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56692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146304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sz="12000" b="1" i="0" lang="vi-VN">
                <a:solidFill>
                  <a:srgbClr val="C2362F"/>
                </a:solidFill>
                <a:latin typeface="Newsreader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154680"/>
            <a:ext cx="658368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800" b="1" i="0" lang="vi-VN">
                <a:solidFill>
                  <a:srgbClr val="16181D"/>
                </a:solidFill>
                <a:latin typeface="Newsreader"/>
              </a:rPr>
              <a:t>Giá cả, tiền tệ và ngân hàng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709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 lang="vi-VN">
                <a:solidFill>
                  <a:srgbClr val="5B6170"/>
                </a:solidFill>
                <a:latin typeface="IBM Plex Sans"/>
              </a:rPr>
              <a:t>Lạm phát theo nhóm hàng, tín dụng so với huy động, sức khoẻ ngân hàng và mô hình lãi suất huy động của dashboard.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0" y="1600200"/>
            <a:ext cx="36420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lang="vi-VN" spc="120">
                <a:solidFill>
                  <a:srgbClr val="5B6170"/>
                </a:solidFill>
                <a:latin typeface="IBM Plex Sans SemiBold"/>
              </a:rPr>
              <a:t>TRONG CHƯƠNG NÀY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955280" y="196596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8" name="TextBox 7"/>
          <p:cNvSpPr txBox="1"/>
          <p:nvPr/>
        </p:nvSpPr>
        <p:spPr>
          <a:xfrm>
            <a:off x="7955280" y="205740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Bản đồ nhiệt CPI theo nhóm hàng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80" y="244983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0" name="TextBox 9"/>
          <p:cNvSpPr txBox="1"/>
          <p:nvPr/>
        </p:nvSpPr>
        <p:spPr>
          <a:xfrm>
            <a:off x="7955280" y="254127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Tín dụng, huy động, M2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55280" y="293370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2" name="TextBox 11"/>
          <p:cNvSpPr txBox="1"/>
          <p:nvPr/>
        </p:nvSpPr>
        <p:spPr>
          <a:xfrm>
            <a:off x="7955280" y="302514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Bảng chỉ số ngân hàng có biểu đồ nhỏ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955280" y="341757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4" name="TextBox 13"/>
          <p:cNvSpPr txBox="1"/>
          <p:nvPr/>
        </p:nvSpPr>
        <p:spPr>
          <a:xfrm>
            <a:off x="7955280" y="350901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Lãi suất 12 tháng: biểu đồ quạt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55280" y="390144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7955280" y="399288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Độ nhạy: biểu đồ lốc xoáy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55280" y="438531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8" name="TextBox 17"/>
          <p:cNvSpPr txBox="1"/>
          <p:nvPr/>
        </p:nvSpPr>
        <p:spPr>
          <a:xfrm>
            <a:off x="7955280" y="447675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Các đòn bẩy của NHNN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55280" y="486918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20" name="TextBox 19"/>
          <p:cNvSpPr txBox="1"/>
          <p:nvPr/>
        </p:nvSpPr>
        <p:spPr>
          <a:xfrm>
            <a:off x="7955280" y="496062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Nhận định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22" name="TextBox 21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2 · LẠM PHÁT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Giao thông tăng 3,97% riêng tháng 9/2026, mạnh nhất trong 11 nhóm hàng</a:t>
            </a:r>
          </a:p>
        </p:txBody>
      </p:sp>
      <p:grpSp>
        <p:nvGrpSpPr>
          <p:cNvPr id="5" name="Chart · heatmap"/>
          <p:cNvGrpSpPr/>
          <p:nvPr/>
        </p:nvGrpSpPr>
        <p:grpSpPr>
          <a:xfrm>
            <a:off x="594360" y="1908874"/>
            <a:ext cx="10991545" cy="3634574"/>
            <a:chOff x="594360" y="1908874"/>
            <a:chExt cx="10991545" cy="3634574"/>
          </a:xfrm>
        </p:grpSpPr>
        <p:sp>
          <p:nvSpPr>
            <p:cNvPr id="6" name="TextBox 5"/>
            <p:cNvSpPr txBox="1"/>
            <p:nvPr/>
          </p:nvSpPr>
          <p:spPr>
            <a:xfrm>
              <a:off x="594360" y="1908874"/>
              <a:ext cx="431678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Thay đổi giá so với tháng trước (%); đỏ = tăng, xanh = giảm, màu giữ ở mức ±2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020869" y="1914144"/>
              <a:ext cx="237744" cy="146304"/>
            </a:xfrm>
            <a:prstGeom prst="roundRect">
              <a:avLst>
                <a:gd name="adj" fmla="val 1875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304333" y="1913001"/>
              <a:ext cx="332842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−2,00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774334" y="1914144"/>
              <a:ext cx="237744" cy="146304"/>
            </a:xfrm>
            <a:prstGeom prst="roundRect">
              <a:avLst>
                <a:gd name="adj" fmla="val 18750"/>
              </a:avLst>
            </a:prstGeom>
            <a:solidFill>
              <a:srgbClr val="7AA6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057798" y="1913001"/>
              <a:ext cx="332842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−1,00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527800" y="1914144"/>
              <a:ext cx="237744" cy="146304"/>
            </a:xfrm>
            <a:prstGeom prst="roundRect">
              <a:avLst>
                <a:gd name="adj" fmla="val 18750"/>
              </a:avLst>
            </a:prstGeom>
            <a:solidFill>
              <a:srgbClr val="E6E4D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811264" y="1913001"/>
              <a:ext cx="264262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0,00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212686" y="1914144"/>
              <a:ext cx="237744" cy="146304"/>
            </a:xfrm>
            <a:prstGeom prst="roundRect">
              <a:avLst>
                <a:gd name="adj" fmla="val 18750"/>
              </a:avLst>
            </a:prstGeom>
            <a:solidFill>
              <a:srgbClr val="E48B8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496150" y="1913001"/>
              <a:ext cx="332842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+1,00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966151" y="1914144"/>
              <a:ext cx="237744" cy="146304"/>
            </a:xfrm>
            <a:prstGeom prst="roundRect">
              <a:avLst>
                <a:gd name="adj" fmla="val 1875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249615" y="1913001"/>
              <a:ext cx="332842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+2,00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251147" y="2315337"/>
              <a:ext cx="410908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T10/25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045993" y="2315337"/>
              <a:ext cx="410908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T11/25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840840" y="2315337"/>
              <a:ext cx="410908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T12/25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669976" y="2315337"/>
              <a:ext cx="342328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T1/26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464823" y="2315337"/>
              <a:ext cx="342328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T2/26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259669" y="2315337"/>
              <a:ext cx="342328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T3/26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054516" y="2315337"/>
              <a:ext cx="342328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T4/26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849362" y="2315337"/>
              <a:ext cx="342328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T5/26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644208" y="2315337"/>
              <a:ext cx="342328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T6/26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439055" y="2315337"/>
              <a:ext cx="342328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T7/26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233901" y="2315337"/>
              <a:ext cx="342328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T8/26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1028748" y="2315337"/>
              <a:ext cx="342328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T9/26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40080" y="2590611"/>
              <a:ext cx="1309370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Hàng ăn &amp; DV ăn uống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2070608" y="2547366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AA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330185" y="2602993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0,59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2865454" y="2547366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48F8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125032" y="2602993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0,95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3660301" y="2547366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9D9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3919878" y="2602993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0,75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4455147" y="2547366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CBC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4714725" y="2602993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0,20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5249994" y="2547366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5509571" y="2602993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FFFFFF"/>
                  </a:solidFill>
                  <a:latin typeface="IBM Plex Sans Medium"/>
                </a:rPr>
                <a:t>2,02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6044840" y="2547366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9FBBD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272033" y="2602993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−0,59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6839687" y="2547366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AA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099264" y="2602993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0,58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7634533" y="2547366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D0D7D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7861725" y="2602993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−0,14</a:t>
              </a:r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8429379" y="2547366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D9DDD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656572" y="2602993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−0,07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9224226" y="2547366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D9DDD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9451418" y="2602993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−0,07</a:t>
              </a:r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10019072" y="2547366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DFE0D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10246265" y="2602993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−0,03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10813919" y="2547366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CCC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11073496" y="2602993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0,19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831342" y="2865060"/>
              <a:ext cx="1118108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Đồ uống &amp; thuốc lá</a:t>
              </a:r>
            </a:p>
          </p:txBody>
        </p:sp>
        <p:sp>
          <p:nvSpPr>
            <p:cNvPr id="55" name="Rounded Rectangle 54"/>
            <p:cNvSpPr/>
            <p:nvPr/>
          </p:nvSpPr>
          <p:spPr>
            <a:xfrm>
              <a:off x="2070608" y="282181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4C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2330185" y="287744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0,12</a:t>
              </a:r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2865454" y="282181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6D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3125032" y="287744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0,10</a:t>
              </a:r>
            </a:p>
          </p:txBody>
        </p:sp>
        <p:sp>
          <p:nvSpPr>
            <p:cNvPr id="59" name="Rounded Rectangle 58"/>
            <p:cNvSpPr/>
            <p:nvPr/>
          </p:nvSpPr>
          <p:spPr>
            <a:xfrm>
              <a:off x="3660301" y="282181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BD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3919878" y="287744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0,06</a:t>
              </a:r>
            </a:p>
          </p:txBody>
        </p:sp>
        <p:sp>
          <p:nvSpPr>
            <p:cNvPr id="61" name="Rounded Rectangle 60"/>
            <p:cNvSpPr/>
            <p:nvPr/>
          </p:nvSpPr>
          <p:spPr>
            <a:xfrm>
              <a:off x="4455147" y="282181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AA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4714725" y="287744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0,58</a:t>
              </a:r>
            </a:p>
          </p:txBody>
        </p:sp>
        <p:sp>
          <p:nvSpPr>
            <p:cNvPr id="63" name="Rounded Rectangle 62"/>
            <p:cNvSpPr/>
            <p:nvPr/>
          </p:nvSpPr>
          <p:spPr>
            <a:xfrm>
              <a:off x="5249994" y="282181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47E7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5509571" y="287744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FFFFFF"/>
                  </a:solidFill>
                  <a:latin typeface="IBM Plex Sans Medium"/>
                </a:rPr>
                <a:t>1,18</a:t>
              </a:r>
            </a:p>
          </p:txBody>
        </p:sp>
        <p:sp>
          <p:nvSpPr>
            <p:cNvPr id="65" name="Rounded Rectangle 64"/>
            <p:cNvSpPr/>
            <p:nvPr/>
          </p:nvSpPr>
          <p:spPr>
            <a:xfrm>
              <a:off x="6044840" y="282181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BCB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6304418" y="287744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0,37</a:t>
              </a:r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6839687" y="282181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4969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7099264" y="287744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0,85</a:t>
              </a:r>
            </a:p>
          </p:txBody>
        </p:sp>
        <p:sp>
          <p:nvSpPr>
            <p:cNvPr id="69" name="Rounded Rectangle 68"/>
            <p:cNvSpPr/>
            <p:nvPr/>
          </p:nvSpPr>
          <p:spPr>
            <a:xfrm>
              <a:off x="7634533" y="282181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CAC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7894110" y="287744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0,21</a:t>
              </a:r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8429379" y="282181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3C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8688957" y="287744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0,13</a:t>
              </a:r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9224226" y="282181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CDC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9483803" y="287744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0,18</a:t>
              </a:r>
            </a:p>
          </p:txBody>
        </p:sp>
        <p:sp>
          <p:nvSpPr>
            <p:cNvPr id="75" name="Rounded Rectangle 74"/>
            <p:cNvSpPr/>
            <p:nvPr/>
          </p:nvSpPr>
          <p:spPr>
            <a:xfrm>
              <a:off x="10019072" y="282181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4C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10278650" y="287744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0,12</a:t>
              </a:r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10813919" y="282181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BEB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11073496" y="287744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0,35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852805" y="3139509"/>
              <a:ext cx="109664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May mặc, giày dép</a:t>
              </a:r>
            </a:p>
          </p:txBody>
        </p:sp>
        <p:sp>
          <p:nvSpPr>
            <p:cNvPr id="80" name="Rounded Rectangle 79"/>
            <p:cNvSpPr/>
            <p:nvPr/>
          </p:nvSpPr>
          <p:spPr>
            <a:xfrm>
              <a:off x="2070608" y="309626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CDC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2330185" y="315189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0,18</a:t>
              </a:r>
            </a:p>
          </p:txBody>
        </p:sp>
        <p:sp>
          <p:nvSpPr>
            <p:cNvPr id="82" name="Rounded Rectangle 81"/>
            <p:cNvSpPr/>
            <p:nvPr/>
          </p:nvSpPr>
          <p:spPr>
            <a:xfrm>
              <a:off x="2865454" y="309626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4C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3125032" y="315189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0,12</a:t>
              </a:r>
            </a:p>
          </p:txBody>
        </p:sp>
        <p:sp>
          <p:nvSpPr>
            <p:cNvPr id="84" name="Rounded Rectangle 83"/>
            <p:cNvSpPr/>
            <p:nvPr/>
          </p:nvSpPr>
          <p:spPr>
            <a:xfrm>
              <a:off x="3660301" y="309626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CBC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3919878" y="315189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0,20</a:t>
              </a:r>
            </a:p>
          </p:txBody>
        </p:sp>
        <p:sp>
          <p:nvSpPr>
            <p:cNvPr id="86" name="Rounded Rectangle 85"/>
            <p:cNvSpPr/>
            <p:nvPr/>
          </p:nvSpPr>
          <p:spPr>
            <a:xfrm>
              <a:off x="4455147" y="309626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C7C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4714725" y="315189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0,25</a:t>
              </a:r>
            </a:p>
          </p:txBody>
        </p:sp>
        <p:sp>
          <p:nvSpPr>
            <p:cNvPr id="88" name="Rounded Rectangle 87"/>
            <p:cNvSpPr/>
            <p:nvPr/>
          </p:nvSpPr>
          <p:spPr>
            <a:xfrm>
              <a:off x="5249994" y="309626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ADA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5509571" y="315189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0,55</a:t>
              </a:r>
            </a:p>
          </p:txBody>
        </p:sp>
        <p:sp>
          <p:nvSpPr>
            <p:cNvPr id="90" name="Rounded Rectangle 89"/>
            <p:cNvSpPr/>
            <p:nvPr/>
          </p:nvSpPr>
          <p:spPr>
            <a:xfrm>
              <a:off x="6044840" y="309626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E2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6304418" y="315189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0,01</a:t>
              </a:r>
            </a:p>
          </p:txBody>
        </p:sp>
        <p:sp>
          <p:nvSpPr>
            <p:cNvPr id="92" name="Rounded Rectangle 91"/>
            <p:cNvSpPr/>
            <p:nvPr/>
          </p:nvSpPr>
          <p:spPr>
            <a:xfrm>
              <a:off x="6839687" y="309626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AFA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7099264" y="315189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0,52</a:t>
              </a:r>
            </a:p>
          </p:txBody>
        </p:sp>
        <p:sp>
          <p:nvSpPr>
            <p:cNvPr id="94" name="Rounded Rectangle 93"/>
            <p:cNvSpPr/>
            <p:nvPr/>
          </p:nvSpPr>
          <p:spPr>
            <a:xfrm>
              <a:off x="7634533" y="309626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3C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7894110" y="315189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0,13</a:t>
              </a:r>
            </a:p>
          </p:txBody>
        </p:sp>
        <p:sp>
          <p:nvSpPr>
            <p:cNvPr id="96" name="Rounded Rectangle 95"/>
            <p:cNvSpPr/>
            <p:nvPr/>
          </p:nvSpPr>
          <p:spPr>
            <a:xfrm>
              <a:off x="8429379" y="309626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D6DBD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8656572" y="3151892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−0,09</a:t>
              </a:r>
            </a:p>
          </p:txBody>
        </p:sp>
        <p:sp>
          <p:nvSpPr>
            <p:cNvPr id="98" name="Rounded Rectangle 97"/>
            <p:cNvSpPr/>
            <p:nvPr/>
          </p:nvSpPr>
          <p:spPr>
            <a:xfrm>
              <a:off x="9224226" y="309626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CFC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9483803" y="315189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0,16</a:t>
              </a:r>
            </a:p>
          </p:txBody>
        </p:sp>
        <p:sp>
          <p:nvSpPr>
            <p:cNvPr id="100" name="Rounded Rectangle 99"/>
            <p:cNvSpPr/>
            <p:nvPr/>
          </p:nvSpPr>
          <p:spPr>
            <a:xfrm>
              <a:off x="10019072" y="309626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5C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10278650" y="315189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0,11</a:t>
              </a:r>
            </a:p>
          </p:txBody>
        </p:sp>
        <p:sp>
          <p:nvSpPr>
            <p:cNvPr id="102" name="Rounded Rectangle 101"/>
            <p:cNvSpPr/>
            <p:nvPr/>
          </p:nvSpPr>
          <p:spPr>
            <a:xfrm>
              <a:off x="10813919" y="3096265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DD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11073496" y="3151892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0,04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916813" y="3413959"/>
              <a:ext cx="1032637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Nhà ở, điện, nước</a:t>
              </a:r>
            </a:p>
          </p:txBody>
        </p:sp>
        <p:sp>
          <p:nvSpPr>
            <p:cNvPr id="105" name="Rounded Rectangle 104"/>
            <p:cNvSpPr/>
            <p:nvPr/>
          </p:nvSpPr>
          <p:spPr>
            <a:xfrm>
              <a:off x="2070608" y="3370714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E2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2330185" y="3426341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0,01</a:t>
              </a:r>
            </a:p>
          </p:txBody>
        </p:sp>
        <p:sp>
          <p:nvSpPr>
            <p:cNvPr id="107" name="Rounded Rectangle 106"/>
            <p:cNvSpPr/>
            <p:nvPr/>
          </p:nvSpPr>
          <p:spPr>
            <a:xfrm>
              <a:off x="2865454" y="3370714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D5DAD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3092647" y="3426341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−0,10</a:t>
              </a:r>
            </a:p>
          </p:txBody>
        </p:sp>
        <p:sp>
          <p:nvSpPr>
            <p:cNvPr id="109" name="Rounded Rectangle 108"/>
            <p:cNvSpPr/>
            <p:nvPr/>
          </p:nvSpPr>
          <p:spPr>
            <a:xfrm>
              <a:off x="3660301" y="3370714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BD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3919878" y="3426341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0,06</a:t>
              </a:r>
            </a:p>
          </p:txBody>
        </p:sp>
        <p:sp>
          <p:nvSpPr>
            <p:cNvPr id="111" name="Rounded Rectangle 110"/>
            <p:cNvSpPr/>
            <p:nvPr/>
          </p:nvSpPr>
          <p:spPr>
            <a:xfrm>
              <a:off x="4455147" y="3370714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A19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4714725" y="3426341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0,70</a:t>
              </a:r>
            </a:p>
          </p:txBody>
        </p:sp>
        <p:sp>
          <p:nvSpPr>
            <p:cNvPr id="113" name="Rounded Rectangle 112"/>
            <p:cNvSpPr/>
            <p:nvPr/>
          </p:nvSpPr>
          <p:spPr>
            <a:xfrm>
              <a:off x="5249994" y="3370714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ACA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5509571" y="3426341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0,56</a:t>
              </a:r>
            </a:p>
          </p:txBody>
        </p:sp>
        <p:sp>
          <p:nvSpPr>
            <p:cNvPr id="115" name="Rounded Rectangle 114"/>
            <p:cNvSpPr/>
            <p:nvPr/>
          </p:nvSpPr>
          <p:spPr>
            <a:xfrm>
              <a:off x="6044840" y="3370714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9C9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6304418" y="3426341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0,77</a:t>
              </a:r>
            </a:p>
          </p:txBody>
        </p:sp>
        <p:sp>
          <p:nvSpPr>
            <p:cNvPr id="117" name="Rounded Rectangle 116"/>
            <p:cNvSpPr/>
            <p:nvPr/>
          </p:nvSpPr>
          <p:spPr>
            <a:xfrm>
              <a:off x="6839687" y="3370714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7099264" y="3426341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FFFFFF"/>
                  </a:solidFill>
                  <a:latin typeface="IBM Plex Sans Medium"/>
                </a:rPr>
                <a:t>2,59</a:t>
              </a:r>
            </a:p>
          </p:txBody>
        </p:sp>
        <p:sp>
          <p:nvSpPr>
            <p:cNvPr id="119" name="Rounded Rectangle 118"/>
            <p:cNvSpPr/>
            <p:nvPr/>
          </p:nvSpPr>
          <p:spPr>
            <a:xfrm>
              <a:off x="7634533" y="3370714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48E8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7894110" y="3426341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0,96</a:t>
              </a:r>
            </a:p>
          </p:txBody>
        </p:sp>
        <p:sp>
          <p:nvSpPr>
            <p:cNvPr id="121" name="Rounded Rectangle 120"/>
            <p:cNvSpPr/>
            <p:nvPr/>
          </p:nvSpPr>
          <p:spPr>
            <a:xfrm>
              <a:off x="8429379" y="3370714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B4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TextBox 121"/>
            <p:cNvSpPr txBox="1"/>
            <p:nvPr/>
          </p:nvSpPr>
          <p:spPr>
            <a:xfrm>
              <a:off x="8688957" y="3426341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0,46</a:t>
              </a:r>
            </a:p>
          </p:txBody>
        </p:sp>
        <p:sp>
          <p:nvSpPr>
            <p:cNvPr id="123" name="Rounded Rectangle 122"/>
            <p:cNvSpPr/>
            <p:nvPr/>
          </p:nvSpPr>
          <p:spPr>
            <a:xfrm>
              <a:off x="9224226" y="3370714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D9DDD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9451418" y="3426341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−0,07</a:t>
              </a:r>
            </a:p>
          </p:txBody>
        </p:sp>
        <p:sp>
          <p:nvSpPr>
            <p:cNvPr id="125" name="Rounded Rectangle 124"/>
            <p:cNvSpPr/>
            <p:nvPr/>
          </p:nvSpPr>
          <p:spPr>
            <a:xfrm>
              <a:off x="10019072" y="3370714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6D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6" name="TextBox 125"/>
            <p:cNvSpPr txBox="1"/>
            <p:nvPr/>
          </p:nvSpPr>
          <p:spPr>
            <a:xfrm>
              <a:off x="10278650" y="3426341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0,10</a:t>
              </a:r>
            </a:p>
          </p:txBody>
        </p:sp>
        <p:sp>
          <p:nvSpPr>
            <p:cNvPr id="127" name="Rounded Rectangle 126"/>
            <p:cNvSpPr/>
            <p:nvPr/>
          </p:nvSpPr>
          <p:spPr>
            <a:xfrm>
              <a:off x="10813919" y="3370714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C4B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TextBox 127"/>
            <p:cNvSpPr txBox="1"/>
            <p:nvPr/>
          </p:nvSpPr>
          <p:spPr>
            <a:xfrm>
              <a:off x="11073496" y="3426341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0,28</a:t>
              </a:r>
            </a:p>
          </p:txBody>
        </p:sp>
        <p:sp>
          <p:nvSpPr>
            <p:cNvPr id="129" name="TextBox 128"/>
            <p:cNvSpPr txBox="1"/>
            <p:nvPr/>
          </p:nvSpPr>
          <p:spPr>
            <a:xfrm>
              <a:off x="997585" y="3688408"/>
              <a:ext cx="95186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Thiết bị gia đình</a:t>
              </a:r>
            </a:p>
          </p:txBody>
        </p:sp>
        <p:sp>
          <p:nvSpPr>
            <p:cNvPr id="130" name="Rounded Rectangle 129"/>
            <p:cNvSpPr/>
            <p:nvPr/>
          </p:nvSpPr>
          <p:spPr>
            <a:xfrm>
              <a:off x="2070608" y="364516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CBC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2330185" y="370079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0,20</a:t>
              </a:r>
            </a:p>
          </p:txBody>
        </p:sp>
        <p:sp>
          <p:nvSpPr>
            <p:cNvPr id="132" name="Rounded Rectangle 131"/>
            <p:cNvSpPr/>
            <p:nvPr/>
          </p:nvSpPr>
          <p:spPr>
            <a:xfrm>
              <a:off x="2865454" y="364516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CEC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3125032" y="370079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0,17</a:t>
              </a:r>
            </a:p>
          </p:txBody>
        </p:sp>
        <p:sp>
          <p:nvSpPr>
            <p:cNvPr id="134" name="Rounded Rectangle 133"/>
            <p:cNvSpPr/>
            <p:nvPr/>
          </p:nvSpPr>
          <p:spPr>
            <a:xfrm>
              <a:off x="3660301" y="364516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CFC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3919878" y="370079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0,16</a:t>
              </a:r>
            </a:p>
          </p:txBody>
        </p:sp>
        <p:sp>
          <p:nvSpPr>
            <p:cNvPr id="136" name="Rounded Rectangle 135"/>
            <p:cNvSpPr/>
            <p:nvPr/>
          </p:nvSpPr>
          <p:spPr>
            <a:xfrm>
              <a:off x="4455147" y="364516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C6C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4714725" y="370079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0,26</a:t>
              </a:r>
            </a:p>
          </p:txBody>
        </p:sp>
        <p:sp>
          <p:nvSpPr>
            <p:cNvPr id="138" name="Rounded Rectangle 137"/>
            <p:cNvSpPr/>
            <p:nvPr/>
          </p:nvSpPr>
          <p:spPr>
            <a:xfrm>
              <a:off x="5249994" y="364516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ABA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TextBox 138"/>
            <p:cNvSpPr txBox="1"/>
            <p:nvPr/>
          </p:nvSpPr>
          <p:spPr>
            <a:xfrm>
              <a:off x="5509571" y="370079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0,57</a:t>
              </a:r>
            </a:p>
          </p:txBody>
        </p:sp>
        <p:sp>
          <p:nvSpPr>
            <p:cNvPr id="140" name="Rounded Rectangle 139"/>
            <p:cNvSpPr/>
            <p:nvPr/>
          </p:nvSpPr>
          <p:spPr>
            <a:xfrm>
              <a:off x="6044840" y="364516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BFB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1" name="TextBox 140"/>
            <p:cNvSpPr txBox="1"/>
            <p:nvPr/>
          </p:nvSpPr>
          <p:spPr>
            <a:xfrm>
              <a:off x="6304418" y="370079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0,33</a:t>
              </a:r>
            </a:p>
          </p:txBody>
        </p:sp>
        <p:sp>
          <p:nvSpPr>
            <p:cNvPr id="142" name="Rounded Rectangle 141"/>
            <p:cNvSpPr/>
            <p:nvPr/>
          </p:nvSpPr>
          <p:spPr>
            <a:xfrm>
              <a:off x="6839687" y="364516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9B9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3" name="TextBox 142"/>
            <p:cNvSpPr txBox="1"/>
            <p:nvPr/>
          </p:nvSpPr>
          <p:spPr>
            <a:xfrm>
              <a:off x="7099264" y="370079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0,78</a:t>
              </a:r>
            </a:p>
          </p:txBody>
        </p:sp>
        <p:sp>
          <p:nvSpPr>
            <p:cNvPr id="144" name="Rounded Rectangle 143"/>
            <p:cNvSpPr/>
            <p:nvPr/>
          </p:nvSpPr>
          <p:spPr>
            <a:xfrm>
              <a:off x="7634533" y="364516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CEC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5" name="TextBox 144"/>
            <p:cNvSpPr txBox="1"/>
            <p:nvPr/>
          </p:nvSpPr>
          <p:spPr>
            <a:xfrm>
              <a:off x="7894110" y="370079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0,17</a:t>
              </a:r>
            </a:p>
          </p:txBody>
        </p:sp>
        <p:sp>
          <p:nvSpPr>
            <p:cNvPr id="146" name="Rounded Rectangle 145"/>
            <p:cNvSpPr/>
            <p:nvPr/>
          </p:nvSpPr>
          <p:spPr>
            <a:xfrm>
              <a:off x="8429379" y="364516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CEC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7" name="TextBox 146"/>
            <p:cNvSpPr txBox="1"/>
            <p:nvPr/>
          </p:nvSpPr>
          <p:spPr>
            <a:xfrm>
              <a:off x="8688957" y="370079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0,17</a:t>
              </a:r>
            </a:p>
          </p:txBody>
        </p:sp>
        <p:sp>
          <p:nvSpPr>
            <p:cNvPr id="148" name="Rounded Rectangle 147"/>
            <p:cNvSpPr/>
            <p:nvPr/>
          </p:nvSpPr>
          <p:spPr>
            <a:xfrm>
              <a:off x="9224226" y="364516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2C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TextBox 148"/>
            <p:cNvSpPr txBox="1"/>
            <p:nvPr/>
          </p:nvSpPr>
          <p:spPr>
            <a:xfrm>
              <a:off x="9483803" y="370079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0,14</a:t>
              </a:r>
            </a:p>
          </p:txBody>
        </p:sp>
        <p:sp>
          <p:nvSpPr>
            <p:cNvPr id="150" name="Rounded Rectangle 149"/>
            <p:cNvSpPr/>
            <p:nvPr/>
          </p:nvSpPr>
          <p:spPr>
            <a:xfrm>
              <a:off x="10019072" y="364516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CCC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1" name="TextBox 150"/>
            <p:cNvSpPr txBox="1"/>
            <p:nvPr/>
          </p:nvSpPr>
          <p:spPr>
            <a:xfrm>
              <a:off x="10278650" y="370079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0,19</a:t>
              </a:r>
            </a:p>
          </p:txBody>
        </p:sp>
        <p:sp>
          <p:nvSpPr>
            <p:cNvPr id="152" name="Rounded Rectangle 151"/>
            <p:cNvSpPr/>
            <p:nvPr/>
          </p:nvSpPr>
          <p:spPr>
            <a:xfrm>
              <a:off x="10813919" y="364516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8D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3" name="TextBox 152"/>
            <p:cNvSpPr txBox="1"/>
            <p:nvPr/>
          </p:nvSpPr>
          <p:spPr>
            <a:xfrm>
              <a:off x="11073496" y="370079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0,08</a:t>
              </a:r>
            </a:p>
          </p:txBody>
        </p:sp>
        <p:sp>
          <p:nvSpPr>
            <p:cNvPr id="154" name="TextBox 153"/>
            <p:cNvSpPr txBox="1"/>
            <p:nvPr/>
          </p:nvSpPr>
          <p:spPr>
            <a:xfrm>
              <a:off x="1203706" y="3962857"/>
              <a:ext cx="745744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Thuốc &amp; y tế</a:t>
              </a:r>
            </a:p>
          </p:txBody>
        </p:sp>
        <p:sp>
          <p:nvSpPr>
            <p:cNvPr id="155" name="Rounded Rectangle 154"/>
            <p:cNvSpPr/>
            <p:nvPr/>
          </p:nvSpPr>
          <p:spPr>
            <a:xfrm>
              <a:off x="2070608" y="391961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DD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6" name="TextBox 155"/>
            <p:cNvSpPr txBox="1"/>
            <p:nvPr/>
          </p:nvSpPr>
          <p:spPr>
            <a:xfrm>
              <a:off x="2330185" y="397524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0,04</a:t>
              </a:r>
            </a:p>
          </p:txBody>
        </p:sp>
        <p:sp>
          <p:nvSpPr>
            <p:cNvPr id="157" name="Rounded Rectangle 156"/>
            <p:cNvSpPr/>
            <p:nvPr/>
          </p:nvSpPr>
          <p:spPr>
            <a:xfrm>
              <a:off x="2865454" y="391961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BD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8" name="TextBox 157"/>
            <p:cNvSpPr txBox="1"/>
            <p:nvPr/>
          </p:nvSpPr>
          <p:spPr>
            <a:xfrm>
              <a:off x="3125032" y="397524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0,06</a:t>
              </a:r>
            </a:p>
          </p:txBody>
        </p:sp>
        <p:sp>
          <p:nvSpPr>
            <p:cNvPr id="159" name="Rounded Rectangle 158"/>
            <p:cNvSpPr/>
            <p:nvPr/>
          </p:nvSpPr>
          <p:spPr>
            <a:xfrm>
              <a:off x="3660301" y="391961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F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0" name="TextBox 159"/>
            <p:cNvSpPr txBox="1"/>
            <p:nvPr/>
          </p:nvSpPr>
          <p:spPr>
            <a:xfrm>
              <a:off x="3919878" y="397524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0,03</a:t>
              </a:r>
            </a:p>
          </p:txBody>
        </p:sp>
        <p:sp>
          <p:nvSpPr>
            <p:cNvPr id="161" name="Rounded Rectangle 160"/>
            <p:cNvSpPr/>
            <p:nvPr/>
          </p:nvSpPr>
          <p:spPr>
            <a:xfrm>
              <a:off x="4455147" y="391961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CCC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2" name="TextBox 161"/>
            <p:cNvSpPr txBox="1"/>
            <p:nvPr/>
          </p:nvSpPr>
          <p:spPr>
            <a:xfrm>
              <a:off x="4714725" y="397524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0,19</a:t>
              </a:r>
            </a:p>
          </p:txBody>
        </p:sp>
        <p:sp>
          <p:nvSpPr>
            <p:cNvPr id="163" name="Rounded Rectangle 162"/>
            <p:cNvSpPr/>
            <p:nvPr/>
          </p:nvSpPr>
          <p:spPr>
            <a:xfrm>
              <a:off x="5249994" y="391961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2C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4" name="TextBox 163"/>
            <p:cNvSpPr txBox="1"/>
            <p:nvPr/>
          </p:nvSpPr>
          <p:spPr>
            <a:xfrm>
              <a:off x="5509571" y="397524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0,14</a:t>
              </a:r>
            </a:p>
          </p:txBody>
        </p:sp>
        <p:sp>
          <p:nvSpPr>
            <p:cNvPr id="165" name="Rounded Rectangle 164"/>
            <p:cNvSpPr/>
            <p:nvPr/>
          </p:nvSpPr>
          <p:spPr>
            <a:xfrm>
              <a:off x="6044840" y="391961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BBB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6" name="TextBox 165"/>
            <p:cNvSpPr txBox="1"/>
            <p:nvPr/>
          </p:nvSpPr>
          <p:spPr>
            <a:xfrm>
              <a:off x="6304418" y="397524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0,38</a:t>
              </a:r>
            </a:p>
          </p:txBody>
        </p:sp>
        <p:sp>
          <p:nvSpPr>
            <p:cNvPr id="167" name="Rounded Rectangle 166"/>
            <p:cNvSpPr/>
            <p:nvPr/>
          </p:nvSpPr>
          <p:spPr>
            <a:xfrm>
              <a:off x="6839687" y="391961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3C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8" name="TextBox 167"/>
            <p:cNvSpPr txBox="1"/>
            <p:nvPr/>
          </p:nvSpPr>
          <p:spPr>
            <a:xfrm>
              <a:off x="7099264" y="397524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0,13</a:t>
              </a:r>
            </a:p>
          </p:txBody>
        </p:sp>
        <p:sp>
          <p:nvSpPr>
            <p:cNvPr id="169" name="Rounded Rectangle 168"/>
            <p:cNvSpPr/>
            <p:nvPr/>
          </p:nvSpPr>
          <p:spPr>
            <a:xfrm>
              <a:off x="7634533" y="391961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6D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0" name="TextBox 169"/>
            <p:cNvSpPr txBox="1"/>
            <p:nvPr/>
          </p:nvSpPr>
          <p:spPr>
            <a:xfrm>
              <a:off x="7894110" y="397524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0,10</a:t>
              </a:r>
            </a:p>
          </p:txBody>
        </p:sp>
        <p:sp>
          <p:nvSpPr>
            <p:cNvPr id="171" name="Rounded Rectangle 170"/>
            <p:cNvSpPr/>
            <p:nvPr/>
          </p:nvSpPr>
          <p:spPr>
            <a:xfrm>
              <a:off x="8429379" y="391961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F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2" name="TextBox 171"/>
            <p:cNvSpPr txBox="1"/>
            <p:nvPr/>
          </p:nvSpPr>
          <p:spPr>
            <a:xfrm>
              <a:off x="8688957" y="397524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0,03</a:t>
              </a:r>
            </a:p>
          </p:txBody>
        </p:sp>
        <p:sp>
          <p:nvSpPr>
            <p:cNvPr id="173" name="Rounded Rectangle 172"/>
            <p:cNvSpPr/>
            <p:nvPr/>
          </p:nvSpPr>
          <p:spPr>
            <a:xfrm>
              <a:off x="9224226" y="391961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9D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4" name="TextBox 173"/>
            <p:cNvSpPr txBox="1"/>
            <p:nvPr/>
          </p:nvSpPr>
          <p:spPr>
            <a:xfrm>
              <a:off x="9483803" y="397524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0,07</a:t>
              </a:r>
            </a:p>
          </p:txBody>
        </p:sp>
        <p:sp>
          <p:nvSpPr>
            <p:cNvPr id="175" name="Rounded Rectangle 174"/>
            <p:cNvSpPr/>
            <p:nvPr/>
          </p:nvSpPr>
          <p:spPr>
            <a:xfrm>
              <a:off x="10019072" y="391961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C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6" name="TextBox 175"/>
            <p:cNvSpPr txBox="1"/>
            <p:nvPr/>
          </p:nvSpPr>
          <p:spPr>
            <a:xfrm>
              <a:off x="10278650" y="397524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0,05</a:t>
              </a:r>
            </a:p>
          </p:txBody>
        </p:sp>
        <p:sp>
          <p:nvSpPr>
            <p:cNvPr id="177" name="Rounded Rectangle 176"/>
            <p:cNvSpPr/>
            <p:nvPr/>
          </p:nvSpPr>
          <p:spPr>
            <a:xfrm>
              <a:off x="10813919" y="3919613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C8C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8" name="TextBox 177"/>
            <p:cNvSpPr txBox="1"/>
            <p:nvPr/>
          </p:nvSpPr>
          <p:spPr>
            <a:xfrm>
              <a:off x="11073496" y="3975240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0,24</a:t>
              </a:r>
            </a:p>
          </p:txBody>
        </p:sp>
        <p:sp>
          <p:nvSpPr>
            <p:cNvPr id="179" name="TextBox 178"/>
            <p:cNvSpPr txBox="1"/>
            <p:nvPr/>
          </p:nvSpPr>
          <p:spPr>
            <a:xfrm>
              <a:off x="1294384" y="4237307"/>
              <a:ext cx="65506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Giao thông</a:t>
              </a:r>
            </a:p>
          </p:txBody>
        </p:sp>
        <p:sp>
          <p:nvSpPr>
            <p:cNvPr id="180" name="Rounded Rectangle 179"/>
            <p:cNvSpPr/>
            <p:nvPr/>
          </p:nvSpPr>
          <p:spPr>
            <a:xfrm>
              <a:off x="2070608" y="4194062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8BB0D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1" name="TextBox 180"/>
            <p:cNvSpPr txBox="1"/>
            <p:nvPr/>
          </p:nvSpPr>
          <p:spPr>
            <a:xfrm>
              <a:off x="2297800" y="4249689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−0,81</a:t>
              </a:r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2865454" y="4194062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4868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3" name="TextBox 182"/>
            <p:cNvSpPr txBox="1"/>
            <p:nvPr/>
          </p:nvSpPr>
          <p:spPr>
            <a:xfrm>
              <a:off x="3125032" y="4249689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1,07</a:t>
              </a:r>
            </a:p>
          </p:txBody>
        </p:sp>
        <p:sp>
          <p:nvSpPr>
            <p:cNvPr id="184" name="Rounded Rectangle 183"/>
            <p:cNvSpPr/>
            <p:nvPr/>
          </p:nvSpPr>
          <p:spPr>
            <a:xfrm>
              <a:off x="3660301" y="4194062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73A2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5" name="TextBox 184"/>
            <p:cNvSpPr txBox="1"/>
            <p:nvPr/>
          </p:nvSpPr>
          <p:spPr>
            <a:xfrm>
              <a:off x="3887493" y="4249689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−1,08</a:t>
              </a:r>
            </a:p>
          </p:txBody>
        </p:sp>
        <p:sp>
          <p:nvSpPr>
            <p:cNvPr id="186" name="Rounded Rectangle 185"/>
            <p:cNvSpPr/>
            <p:nvPr/>
          </p:nvSpPr>
          <p:spPr>
            <a:xfrm>
              <a:off x="4455147" y="4194062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7" name="TextBox 186"/>
            <p:cNvSpPr txBox="1"/>
            <p:nvPr/>
          </p:nvSpPr>
          <p:spPr>
            <a:xfrm>
              <a:off x="4682340" y="4249689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FFFFFF"/>
                  </a:solidFill>
                  <a:latin typeface="IBM Plex Sans Medium"/>
                </a:rPr>
                <a:t>−2,32</a:t>
              </a:r>
            </a:p>
          </p:txBody>
        </p:sp>
        <p:sp>
          <p:nvSpPr>
            <p:cNvPr id="188" name="Rounded Rectangle 187"/>
            <p:cNvSpPr/>
            <p:nvPr/>
          </p:nvSpPr>
          <p:spPr>
            <a:xfrm>
              <a:off x="5249994" y="4194062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47B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9" name="TextBox 188"/>
            <p:cNvSpPr txBox="1"/>
            <p:nvPr/>
          </p:nvSpPr>
          <p:spPr>
            <a:xfrm>
              <a:off x="5509571" y="4249689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FFFFFF"/>
                  </a:solidFill>
                  <a:latin typeface="IBM Plex Sans Medium"/>
                </a:rPr>
                <a:t>1,23</a:t>
              </a:r>
            </a:p>
          </p:txBody>
        </p:sp>
        <p:sp>
          <p:nvSpPr>
            <p:cNvPr id="190" name="Rounded Rectangle 189"/>
            <p:cNvSpPr/>
            <p:nvPr/>
          </p:nvSpPr>
          <p:spPr>
            <a:xfrm>
              <a:off x="6044840" y="4194062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1" name="TextBox 190"/>
            <p:cNvSpPr txBox="1"/>
            <p:nvPr/>
          </p:nvSpPr>
          <p:spPr>
            <a:xfrm>
              <a:off x="6272033" y="4249689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FFFFFF"/>
                  </a:solidFill>
                  <a:latin typeface="IBM Plex Sans Medium"/>
                </a:rPr>
                <a:t>12,85</a:t>
              </a:r>
            </a:p>
          </p:txBody>
        </p:sp>
        <p:sp>
          <p:nvSpPr>
            <p:cNvPr id="192" name="Rounded Rectangle 191"/>
            <p:cNvSpPr/>
            <p:nvPr/>
          </p:nvSpPr>
          <p:spPr>
            <a:xfrm>
              <a:off x="6839687" y="4194062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8BB0D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3" name="TextBox 192"/>
            <p:cNvSpPr txBox="1"/>
            <p:nvPr/>
          </p:nvSpPr>
          <p:spPr>
            <a:xfrm>
              <a:off x="7066879" y="4249689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−0,81</a:t>
              </a:r>
            </a:p>
          </p:txBody>
        </p:sp>
        <p:sp>
          <p:nvSpPr>
            <p:cNvPr id="194" name="Rounded Rectangle 193"/>
            <p:cNvSpPr/>
            <p:nvPr/>
          </p:nvSpPr>
          <p:spPr>
            <a:xfrm>
              <a:off x="7634533" y="4194062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979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5" name="TextBox 194"/>
            <p:cNvSpPr txBox="1"/>
            <p:nvPr/>
          </p:nvSpPr>
          <p:spPr>
            <a:xfrm>
              <a:off x="7894110" y="4249689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0,83</a:t>
              </a:r>
            </a:p>
          </p:txBody>
        </p:sp>
        <p:sp>
          <p:nvSpPr>
            <p:cNvPr id="196" name="Rounded Rectangle 195"/>
            <p:cNvSpPr/>
            <p:nvPr/>
          </p:nvSpPr>
          <p:spPr>
            <a:xfrm>
              <a:off x="8429379" y="4194062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7" name="TextBox 196"/>
            <p:cNvSpPr txBox="1"/>
            <p:nvPr/>
          </p:nvSpPr>
          <p:spPr>
            <a:xfrm>
              <a:off x="8656572" y="4249689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FFFFFF"/>
                  </a:solidFill>
                  <a:latin typeface="IBM Plex Sans Medium"/>
                </a:rPr>
                <a:t>−4,85</a:t>
              </a:r>
            </a:p>
          </p:txBody>
        </p:sp>
        <p:sp>
          <p:nvSpPr>
            <p:cNvPr id="198" name="Rounded Rectangle 197"/>
            <p:cNvSpPr/>
            <p:nvPr/>
          </p:nvSpPr>
          <p:spPr>
            <a:xfrm>
              <a:off x="9224226" y="4194062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9" name="TextBox 198"/>
            <p:cNvSpPr txBox="1"/>
            <p:nvPr/>
          </p:nvSpPr>
          <p:spPr>
            <a:xfrm>
              <a:off x="9451418" y="4249689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FFFFFF"/>
                  </a:solidFill>
                  <a:latin typeface="IBM Plex Sans Medium"/>
                </a:rPr>
                <a:t>−2,02</a:t>
              </a:r>
            </a:p>
          </p:txBody>
        </p:sp>
        <p:sp>
          <p:nvSpPr>
            <p:cNvPr id="200" name="Rounded Rectangle 199"/>
            <p:cNvSpPr/>
            <p:nvPr/>
          </p:nvSpPr>
          <p:spPr>
            <a:xfrm>
              <a:off x="10019072" y="4194062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1" name="TextBox 200"/>
            <p:cNvSpPr txBox="1"/>
            <p:nvPr/>
          </p:nvSpPr>
          <p:spPr>
            <a:xfrm>
              <a:off x="10278650" y="4249689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FFFFFF"/>
                  </a:solidFill>
                  <a:latin typeface="IBM Plex Sans Medium"/>
                </a:rPr>
                <a:t>4,09</a:t>
              </a:r>
            </a:p>
          </p:txBody>
        </p:sp>
        <p:sp>
          <p:nvSpPr>
            <p:cNvPr id="202" name="Rounded Rectangle 201"/>
            <p:cNvSpPr/>
            <p:nvPr/>
          </p:nvSpPr>
          <p:spPr>
            <a:xfrm>
              <a:off x="10813919" y="4194062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3" name="TextBox 202"/>
            <p:cNvSpPr txBox="1"/>
            <p:nvPr/>
          </p:nvSpPr>
          <p:spPr>
            <a:xfrm>
              <a:off x="11073496" y="4249689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FFFFFF"/>
                  </a:solidFill>
                  <a:latin typeface="IBM Plex Sans Medium"/>
                </a:rPr>
                <a:t>3,97</a:t>
              </a:r>
            </a:p>
          </p:txBody>
        </p:sp>
        <p:sp>
          <p:nvSpPr>
            <p:cNvPr id="204" name="TextBox 203"/>
            <p:cNvSpPr txBox="1"/>
            <p:nvPr/>
          </p:nvSpPr>
          <p:spPr>
            <a:xfrm>
              <a:off x="669036" y="4511756"/>
              <a:ext cx="1280414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Bưu chính, viễn thông</a:t>
              </a:r>
            </a:p>
          </p:txBody>
        </p:sp>
        <p:sp>
          <p:nvSpPr>
            <p:cNvPr id="205" name="Rounded Rectangle 204"/>
            <p:cNvSpPr/>
            <p:nvPr/>
          </p:nvSpPr>
          <p:spPr>
            <a:xfrm>
              <a:off x="2070608" y="4468511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F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6" name="TextBox 205"/>
            <p:cNvSpPr txBox="1"/>
            <p:nvPr/>
          </p:nvSpPr>
          <p:spPr>
            <a:xfrm>
              <a:off x="2330185" y="452413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0,03</a:t>
              </a:r>
            </a:p>
          </p:txBody>
        </p:sp>
        <p:sp>
          <p:nvSpPr>
            <p:cNvPr id="207" name="Rounded Rectangle 206"/>
            <p:cNvSpPr/>
            <p:nvPr/>
          </p:nvSpPr>
          <p:spPr>
            <a:xfrm>
              <a:off x="2865454" y="4468511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DBDDD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8" name="TextBox 207"/>
            <p:cNvSpPr txBox="1"/>
            <p:nvPr/>
          </p:nvSpPr>
          <p:spPr>
            <a:xfrm>
              <a:off x="3092647" y="4524138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−0,06</a:t>
              </a:r>
            </a:p>
          </p:txBody>
        </p:sp>
        <p:sp>
          <p:nvSpPr>
            <p:cNvPr id="209" name="Rounded Rectangle 208"/>
            <p:cNvSpPr/>
            <p:nvPr/>
          </p:nvSpPr>
          <p:spPr>
            <a:xfrm>
              <a:off x="3660301" y="4468511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E0D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0" name="TextBox 209"/>
            <p:cNvSpPr txBox="1"/>
            <p:nvPr/>
          </p:nvSpPr>
          <p:spPr>
            <a:xfrm>
              <a:off x="3919878" y="452413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0,02</a:t>
              </a:r>
            </a:p>
          </p:txBody>
        </p:sp>
        <p:sp>
          <p:nvSpPr>
            <p:cNvPr id="211" name="Rounded Rectangle 210"/>
            <p:cNvSpPr/>
            <p:nvPr/>
          </p:nvSpPr>
          <p:spPr>
            <a:xfrm>
              <a:off x="4455147" y="4468511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CED6D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2" name="TextBox 211"/>
            <p:cNvSpPr txBox="1"/>
            <p:nvPr/>
          </p:nvSpPr>
          <p:spPr>
            <a:xfrm>
              <a:off x="4682340" y="4524138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−0,15</a:t>
              </a:r>
            </a:p>
          </p:txBody>
        </p:sp>
        <p:sp>
          <p:nvSpPr>
            <p:cNvPr id="213" name="Rounded Rectangle 212"/>
            <p:cNvSpPr/>
            <p:nvPr/>
          </p:nvSpPr>
          <p:spPr>
            <a:xfrm>
              <a:off x="5249994" y="4468511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E2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4" name="TextBox 213"/>
            <p:cNvSpPr txBox="1"/>
            <p:nvPr/>
          </p:nvSpPr>
          <p:spPr>
            <a:xfrm>
              <a:off x="5509571" y="452413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0,01</a:t>
              </a:r>
            </a:p>
          </p:txBody>
        </p:sp>
        <p:sp>
          <p:nvSpPr>
            <p:cNvPr id="215" name="Rounded Rectangle 214"/>
            <p:cNvSpPr/>
            <p:nvPr/>
          </p:nvSpPr>
          <p:spPr>
            <a:xfrm>
              <a:off x="6044840" y="4468511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CDC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6" name="TextBox 215"/>
            <p:cNvSpPr txBox="1"/>
            <p:nvPr/>
          </p:nvSpPr>
          <p:spPr>
            <a:xfrm>
              <a:off x="6304418" y="452413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0,18</a:t>
              </a:r>
            </a:p>
          </p:txBody>
        </p:sp>
        <p:sp>
          <p:nvSpPr>
            <p:cNvPr id="217" name="Rounded Rectangle 216"/>
            <p:cNvSpPr/>
            <p:nvPr/>
          </p:nvSpPr>
          <p:spPr>
            <a:xfrm>
              <a:off x="6839687" y="4468511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CEC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8" name="TextBox 217"/>
            <p:cNvSpPr txBox="1"/>
            <p:nvPr/>
          </p:nvSpPr>
          <p:spPr>
            <a:xfrm>
              <a:off x="7099264" y="452413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0,17</a:t>
              </a:r>
            </a:p>
          </p:txBody>
        </p:sp>
        <p:sp>
          <p:nvSpPr>
            <p:cNvPr id="219" name="Rounded Rectangle 218"/>
            <p:cNvSpPr/>
            <p:nvPr/>
          </p:nvSpPr>
          <p:spPr>
            <a:xfrm>
              <a:off x="7634533" y="4468511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DD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0" name="TextBox 219"/>
            <p:cNvSpPr txBox="1"/>
            <p:nvPr/>
          </p:nvSpPr>
          <p:spPr>
            <a:xfrm>
              <a:off x="7894110" y="452413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0,04</a:t>
              </a:r>
            </a:p>
          </p:txBody>
        </p:sp>
        <p:sp>
          <p:nvSpPr>
            <p:cNvPr id="221" name="Rounded Rectangle 220"/>
            <p:cNvSpPr/>
            <p:nvPr/>
          </p:nvSpPr>
          <p:spPr>
            <a:xfrm>
              <a:off x="8429379" y="4468511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DD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2" name="TextBox 221"/>
            <p:cNvSpPr txBox="1"/>
            <p:nvPr/>
          </p:nvSpPr>
          <p:spPr>
            <a:xfrm>
              <a:off x="8688957" y="452413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0,04</a:t>
              </a:r>
            </a:p>
          </p:txBody>
        </p:sp>
        <p:sp>
          <p:nvSpPr>
            <p:cNvPr id="223" name="Rounded Rectangle 222"/>
            <p:cNvSpPr/>
            <p:nvPr/>
          </p:nvSpPr>
          <p:spPr>
            <a:xfrm>
              <a:off x="9224226" y="4468511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6D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4" name="TextBox 223"/>
            <p:cNvSpPr txBox="1"/>
            <p:nvPr/>
          </p:nvSpPr>
          <p:spPr>
            <a:xfrm>
              <a:off x="9483803" y="452413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0,10</a:t>
              </a:r>
            </a:p>
          </p:txBody>
        </p:sp>
        <p:sp>
          <p:nvSpPr>
            <p:cNvPr id="225" name="Rounded Rectangle 224"/>
            <p:cNvSpPr/>
            <p:nvPr/>
          </p:nvSpPr>
          <p:spPr>
            <a:xfrm>
              <a:off x="10019072" y="4468511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8D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6" name="TextBox 225"/>
            <p:cNvSpPr txBox="1"/>
            <p:nvPr/>
          </p:nvSpPr>
          <p:spPr>
            <a:xfrm>
              <a:off x="10278650" y="452413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0,08</a:t>
              </a:r>
            </a:p>
          </p:txBody>
        </p:sp>
        <p:sp>
          <p:nvSpPr>
            <p:cNvPr id="227" name="Rounded Rectangle 226"/>
            <p:cNvSpPr/>
            <p:nvPr/>
          </p:nvSpPr>
          <p:spPr>
            <a:xfrm>
              <a:off x="10813919" y="4468511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D0D7D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8" name="TextBox 227"/>
            <p:cNvSpPr txBox="1"/>
            <p:nvPr/>
          </p:nvSpPr>
          <p:spPr>
            <a:xfrm>
              <a:off x="11041111" y="4524138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−0,14</a:t>
              </a:r>
            </a:p>
          </p:txBody>
        </p:sp>
        <p:sp>
          <p:nvSpPr>
            <p:cNvPr id="229" name="TextBox 228"/>
            <p:cNvSpPr txBox="1"/>
            <p:nvPr/>
          </p:nvSpPr>
          <p:spPr>
            <a:xfrm>
              <a:off x="1414272" y="4786205"/>
              <a:ext cx="535178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Giáo dục</a:t>
              </a:r>
            </a:p>
          </p:txBody>
        </p:sp>
        <p:sp>
          <p:nvSpPr>
            <p:cNvPr id="230" name="Rounded Rectangle 229"/>
            <p:cNvSpPr/>
            <p:nvPr/>
          </p:nvSpPr>
          <p:spPr>
            <a:xfrm>
              <a:off x="2070608" y="474296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B0A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1" name="TextBox 230"/>
            <p:cNvSpPr txBox="1"/>
            <p:nvPr/>
          </p:nvSpPr>
          <p:spPr>
            <a:xfrm>
              <a:off x="2330185" y="479858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0,51</a:t>
              </a:r>
            </a:p>
          </p:txBody>
        </p:sp>
        <p:sp>
          <p:nvSpPr>
            <p:cNvPr id="232" name="Rounded Rectangle 231"/>
            <p:cNvSpPr/>
            <p:nvPr/>
          </p:nvSpPr>
          <p:spPr>
            <a:xfrm>
              <a:off x="2865454" y="474296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C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3" name="TextBox 232"/>
            <p:cNvSpPr txBox="1"/>
            <p:nvPr/>
          </p:nvSpPr>
          <p:spPr>
            <a:xfrm>
              <a:off x="3125032" y="479858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0,05</a:t>
              </a:r>
            </a:p>
          </p:txBody>
        </p:sp>
        <p:sp>
          <p:nvSpPr>
            <p:cNvPr id="234" name="Rounded Rectangle 233"/>
            <p:cNvSpPr/>
            <p:nvPr/>
          </p:nvSpPr>
          <p:spPr>
            <a:xfrm>
              <a:off x="3660301" y="474296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E2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5" name="TextBox 234"/>
            <p:cNvSpPr txBox="1"/>
            <p:nvPr/>
          </p:nvSpPr>
          <p:spPr>
            <a:xfrm>
              <a:off x="3919878" y="479858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0,01</a:t>
              </a:r>
            </a:p>
          </p:txBody>
        </p:sp>
        <p:sp>
          <p:nvSpPr>
            <p:cNvPr id="236" name="Rounded Rectangle 235"/>
            <p:cNvSpPr/>
            <p:nvPr/>
          </p:nvSpPr>
          <p:spPr>
            <a:xfrm>
              <a:off x="4455147" y="474296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C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7" name="TextBox 236"/>
            <p:cNvSpPr txBox="1"/>
            <p:nvPr/>
          </p:nvSpPr>
          <p:spPr>
            <a:xfrm>
              <a:off x="4714725" y="479858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0,05</a:t>
              </a:r>
            </a:p>
          </p:txBody>
        </p:sp>
        <p:sp>
          <p:nvSpPr>
            <p:cNvPr id="238" name="Rounded Rectangle 237"/>
            <p:cNvSpPr/>
            <p:nvPr/>
          </p:nvSpPr>
          <p:spPr>
            <a:xfrm>
              <a:off x="5249994" y="474296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7D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9" name="TextBox 238"/>
            <p:cNvSpPr txBox="1"/>
            <p:nvPr/>
          </p:nvSpPr>
          <p:spPr>
            <a:xfrm>
              <a:off x="5509571" y="479858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0,09</a:t>
              </a:r>
            </a:p>
          </p:txBody>
        </p:sp>
        <p:sp>
          <p:nvSpPr>
            <p:cNvPr id="240" name="Rounded Rectangle 239"/>
            <p:cNvSpPr/>
            <p:nvPr/>
          </p:nvSpPr>
          <p:spPr>
            <a:xfrm>
              <a:off x="6044840" y="474296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6D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1" name="TextBox 240"/>
            <p:cNvSpPr txBox="1"/>
            <p:nvPr/>
          </p:nvSpPr>
          <p:spPr>
            <a:xfrm>
              <a:off x="6304418" y="479858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0,10</a:t>
              </a:r>
            </a:p>
          </p:txBody>
        </p:sp>
        <p:sp>
          <p:nvSpPr>
            <p:cNvPr id="242" name="Rounded Rectangle 241"/>
            <p:cNvSpPr/>
            <p:nvPr/>
          </p:nvSpPr>
          <p:spPr>
            <a:xfrm>
              <a:off x="6839687" y="474296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8D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3" name="TextBox 242"/>
            <p:cNvSpPr txBox="1"/>
            <p:nvPr/>
          </p:nvSpPr>
          <p:spPr>
            <a:xfrm>
              <a:off x="7099264" y="479858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0,08</a:t>
              </a:r>
            </a:p>
          </p:txBody>
        </p:sp>
        <p:sp>
          <p:nvSpPr>
            <p:cNvPr id="244" name="Rounded Rectangle 243"/>
            <p:cNvSpPr/>
            <p:nvPr/>
          </p:nvSpPr>
          <p:spPr>
            <a:xfrm>
              <a:off x="7634533" y="474296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F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5" name="TextBox 244"/>
            <p:cNvSpPr txBox="1"/>
            <p:nvPr/>
          </p:nvSpPr>
          <p:spPr>
            <a:xfrm>
              <a:off x="7894110" y="479858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0,03</a:t>
              </a:r>
            </a:p>
          </p:txBody>
        </p:sp>
        <p:sp>
          <p:nvSpPr>
            <p:cNvPr id="246" name="Rounded Rectangle 245"/>
            <p:cNvSpPr/>
            <p:nvPr/>
          </p:nvSpPr>
          <p:spPr>
            <a:xfrm>
              <a:off x="8429379" y="474296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E2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7" name="TextBox 246"/>
            <p:cNvSpPr txBox="1"/>
            <p:nvPr/>
          </p:nvSpPr>
          <p:spPr>
            <a:xfrm>
              <a:off x="8688957" y="479858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0,01</a:t>
              </a:r>
            </a:p>
          </p:txBody>
        </p:sp>
        <p:sp>
          <p:nvSpPr>
            <p:cNvPr id="248" name="Rounded Rectangle 247"/>
            <p:cNvSpPr/>
            <p:nvPr/>
          </p:nvSpPr>
          <p:spPr>
            <a:xfrm>
              <a:off x="9224226" y="474296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C8C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9" name="TextBox 248"/>
            <p:cNvSpPr txBox="1"/>
            <p:nvPr/>
          </p:nvSpPr>
          <p:spPr>
            <a:xfrm>
              <a:off x="9483803" y="479858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0,24</a:t>
              </a:r>
            </a:p>
          </p:txBody>
        </p:sp>
        <p:sp>
          <p:nvSpPr>
            <p:cNvPr id="250" name="Rounded Rectangle 249"/>
            <p:cNvSpPr/>
            <p:nvPr/>
          </p:nvSpPr>
          <p:spPr>
            <a:xfrm>
              <a:off x="10019072" y="474296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B3A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1" name="TextBox 250"/>
            <p:cNvSpPr txBox="1"/>
            <p:nvPr/>
          </p:nvSpPr>
          <p:spPr>
            <a:xfrm>
              <a:off x="10278650" y="479858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0,47</a:t>
              </a:r>
            </a:p>
          </p:txBody>
        </p:sp>
        <p:sp>
          <p:nvSpPr>
            <p:cNvPr id="252" name="Rounded Rectangle 251"/>
            <p:cNvSpPr/>
            <p:nvPr/>
          </p:nvSpPr>
          <p:spPr>
            <a:xfrm>
              <a:off x="10813919" y="474296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46F6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3" name="TextBox 252"/>
            <p:cNvSpPr txBox="1"/>
            <p:nvPr/>
          </p:nvSpPr>
          <p:spPr>
            <a:xfrm>
              <a:off x="11073496" y="4798588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FFFFFF"/>
                  </a:solidFill>
                  <a:latin typeface="IBM Plex Sans Medium"/>
                </a:rPr>
                <a:t>1,41</a:t>
              </a:r>
            </a:p>
          </p:txBody>
        </p:sp>
        <p:sp>
          <p:nvSpPr>
            <p:cNvPr id="254" name="TextBox 253"/>
            <p:cNvSpPr txBox="1"/>
            <p:nvPr/>
          </p:nvSpPr>
          <p:spPr>
            <a:xfrm>
              <a:off x="1023747" y="5060654"/>
              <a:ext cx="92570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Văn hoá, giải trí</a:t>
              </a:r>
            </a:p>
          </p:txBody>
        </p:sp>
        <p:sp>
          <p:nvSpPr>
            <p:cNvPr id="255" name="Rounded Rectangle 254"/>
            <p:cNvSpPr/>
            <p:nvPr/>
          </p:nvSpPr>
          <p:spPr>
            <a:xfrm>
              <a:off x="2070608" y="501741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BD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6" name="TextBox 255"/>
            <p:cNvSpPr txBox="1"/>
            <p:nvPr/>
          </p:nvSpPr>
          <p:spPr>
            <a:xfrm>
              <a:off x="2330185" y="5073037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0,06</a:t>
              </a:r>
            </a:p>
          </p:txBody>
        </p:sp>
        <p:sp>
          <p:nvSpPr>
            <p:cNvPr id="257" name="Rounded Rectangle 256"/>
            <p:cNvSpPr/>
            <p:nvPr/>
          </p:nvSpPr>
          <p:spPr>
            <a:xfrm>
              <a:off x="2865454" y="501741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E2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8" name="TextBox 257"/>
            <p:cNvSpPr txBox="1"/>
            <p:nvPr/>
          </p:nvSpPr>
          <p:spPr>
            <a:xfrm>
              <a:off x="3125032" y="5073037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0,01</a:t>
              </a:r>
            </a:p>
          </p:txBody>
        </p:sp>
        <p:sp>
          <p:nvSpPr>
            <p:cNvPr id="259" name="Rounded Rectangle 258"/>
            <p:cNvSpPr/>
            <p:nvPr/>
          </p:nvSpPr>
          <p:spPr>
            <a:xfrm>
              <a:off x="3660301" y="501741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D2D9D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0" name="TextBox 259"/>
            <p:cNvSpPr txBox="1"/>
            <p:nvPr/>
          </p:nvSpPr>
          <p:spPr>
            <a:xfrm>
              <a:off x="3887493" y="5073037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−0,12</a:t>
              </a:r>
            </a:p>
          </p:txBody>
        </p:sp>
        <p:sp>
          <p:nvSpPr>
            <p:cNvPr id="261" name="Rounded Rectangle 260"/>
            <p:cNvSpPr/>
            <p:nvPr/>
          </p:nvSpPr>
          <p:spPr>
            <a:xfrm>
              <a:off x="4455147" y="501741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9D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2" name="TextBox 261"/>
            <p:cNvSpPr txBox="1"/>
            <p:nvPr/>
          </p:nvSpPr>
          <p:spPr>
            <a:xfrm>
              <a:off x="4714725" y="5073037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0,07</a:t>
              </a:r>
            </a:p>
          </p:txBody>
        </p:sp>
        <p:sp>
          <p:nvSpPr>
            <p:cNvPr id="263" name="Rounded Rectangle 262"/>
            <p:cNvSpPr/>
            <p:nvPr/>
          </p:nvSpPr>
          <p:spPr>
            <a:xfrm>
              <a:off x="5249994" y="501741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4727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4" name="TextBox 263"/>
            <p:cNvSpPr txBox="1"/>
            <p:nvPr/>
          </p:nvSpPr>
          <p:spPr>
            <a:xfrm>
              <a:off x="5509571" y="5073037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FFFFFF"/>
                  </a:solidFill>
                  <a:latin typeface="IBM Plex Sans Medium"/>
                </a:rPr>
                <a:t>1,36</a:t>
              </a:r>
            </a:p>
          </p:txBody>
        </p:sp>
        <p:sp>
          <p:nvSpPr>
            <p:cNvPr id="265" name="Rounded Rectangle 264"/>
            <p:cNvSpPr/>
            <p:nvPr/>
          </p:nvSpPr>
          <p:spPr>
            <a:xfrm>
              <a:off x="6044840" y="501741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DCDED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6" name="TextBox 265"/>
            <p:cNvSpPr txBox="1"/>
            <p:nvPr/>
          </p:nvSpPr>
          <p:spPr>
            <a:xfrm>
              <a:off x="6272033" y="5073037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−0,05</a:t>
              </a:r>
            </a:p>
          </p:txBody>
        </p:sp>
        <p:sp>
          <p:nvSpPr>
            <p:cNvPr id="267" name="Rounded Rectangle 266"/>
            <p:cNvSpPr/>
            <p:nvPr/>
          </p:nvSpPr>
          <p:spPr>
            <a:xfrm>
              <a:off x="6839687" y="501741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A6A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8" name="TextBox 267"/>
            <p:cNvSpPr txBox="1"/>
            <p:nvPr/>
          </p:nvSpPr>
          <p:spPr>
            <a:xfrm>
              <a:off x="7099264" y="5073037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0,63</a:t>
              </a:r>
            </a:p>
          </p:txBody>
        </p:sp>
        <p:sp>
          <p:nvSpPr>
            <p:cNvPr id="269" name="Rounded Rectangle 268"/>
            <p:cNvSpPr/>
            <p:nvPr/>
          </p:nvSpPr>
          <p:spPr>
            <a:xfrm>
              <a:off x="7634533" y="501741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B3A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0" name="TextBox 269"/>
            <p:cNvSpPr txBox="1"/>
            <p:nvPr/>
          </p:nvSpPr>
          <p:spPr>
            <a:xfrm>
              <a:off x="7894110" y="5073037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0,48</a:t>
              </a:r>
            </a:p>
          </p:txBody>
        </p:sp>
        <p:sp>
          <p:nvSpPr>
            <p:cNvPr id="271" name="Rounded Rectangle 270"/>
            <p:cNvSpPr/>
            <p:nvPr/>
          </p:nvSpPr>
          <p:spPr>
            <a:xfrm>
              <a:off x="8429379" y="501741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A4A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2" name="TextBox 271"/>
            <p:cNvSpPr txBox="1"/>
            <p:nvPr/>
          </p:nvSpPr>
          <p:spPr>
            <a:xfrm>
              <a:off x="8688957" y="5073037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0,66</a:t>
              </a:r>
            </a:p>
          </p:txBody>
        </p:sp>
        <p:sp>
          <p:nvSpPr>
            <p:cNvPr id="273" name="Rounded Rectangle 272"/>
            <p:cNvSpPr/>
            <p:nvPr/>
          </p:nvSpPr>
          <p:spPr>
            <a:xfrm>
              <a:off x="9224226" y="501741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AFA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4" name="TextBox 273"/>
            <p:cNvSpPr txBox="1"/>
            <p:nvPr/>
          </p:nvSpPr>
          <p:spPr>
            <a:xfrm>
              <a:off x="9483803" y="5073037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0,52</a:t>
              </a:r>
            </a:p>
          </p:txBody>
        </p:sp>
        <p:sp>
          <p:nvSpPr>
            <p:cNvPr id="275" name="Rounded Rectangle 274"/>
            <p:cNvSpPr/>
            <p:nvPr/>
          </p:nvSpPr>
          <p:spPr>
            <a:xfrm>
              <a:off x="10019072" y="501741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F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6" name="TextBox 275"/>
            <p:cNvSpPr txBox="1"/>
            <p:nvPr/>
          </p:nvSpPr>
          <p:spPr>
            <a:xfrm>
              <a:off x="10278650" y="5073037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0,03</a:t>
              </a:r>
            </a:p>
          </p:txBody>
        </p:sp>
        <p:sp>
          <p:nvSpPr>
            <p:cNvPr id="277" name="Rounded Rectangle 276"/>
            <p:cNvSpPr/>
            <p:nvPr/>
          </p:nvSpPr>
          <p:spPr>
            <a:xfrm>
              <a:off x="10813919" y="5017410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BFCE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8" name="TextBox 277"/>
            <p:cNvSpPr txBox="1"/>
            <p:nvPr/>
          </p:nvSpPr>
          <p:spPr>
            <a:xfrm>
              <a:off x="11041111" y="5073037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−0,28</a:t>
              </a:r>
            </a:p>
          </p:txBody>
        </p:sp>
        <p:sp>
          <p:nvSpPr>
            <p:cNvPr id="279" name="TextBox 278"/>
            <p:cNvSpPr txBox="1"/>
            <p:nvPr/>
          </p:nvSpPr>
          <p:spPr>
            <a:xfrm>
              <a:off x="834517" y="5335104"/>
              <a:ext cx="111493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Hàng hoá, DV khác</a:t>
              </a:r>
            </a:p>
          </p:txBody>
        </p:sp>
        <p:sp>
          <p:nvSpPr>
            <p:cNvPr id="280" name="Rounded Rectangle 279"/>
            <p:cNvSpPr/>
            <p:nvPr/>
          </p:nvSpPr>
          <p:spPr>
            <a:xfrm>
              <a:off x="2070608" y="5291859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B7B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1" name="TextBox 280"/>
            <p:cNvSpPr txBox="1"/>
            <p:nvPr/>
          </p:nvSpPr>
          <p:spPr>
            <a:xfrm>
              <a:off x="2330185" y="5347486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0,43</a:t>
              </a:r>
            </a:p>
          </p:txBody>
        </p:sp>
        <p:sp>
          <p:nvSpPr>
            <p:cNvPr id="282" name="Rounded Rectangle 281"/>
            <p:cNvSpPr/>
            <p:nvPr/>
          </p:nvSpPr>
          <p:spPr>
            <a:xfrm>
              <a:off x="2865454" y="5291859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C2B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3" name="TextBox 282"/>
            <p:cNvSpPr txBox="1"/>
            <p:nvPr/>
          </p:nvSpPr>
          <p:spPr>
            <a:xfrm>
              <a:off x="3125032" y="5347486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0,30</a:t>
              </a:r>
            </a:p>
          </p:txBody>
        </p:sp>
        <p:sp>
          <p:nvSpPr>
            <p:cNvPr id="284" name="Rounded Rectangle 283"/>
            <p:cNvSpPr/>
            <p:nvPr/>
          </p:nvSpPr>
          <p:spPr>
            <a:xfrm>
              <a:off x="3660301" y="5291859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CCC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5" name="TextBox 284"/>
            <p:cNvSpPr txBox="1"/>
            <p:nvPr/>
          </p:nvSpPr>
          <p:spPr>
            <a:xfrm>
              <a:off x="3919878" y="5347486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0,19</a:t>
              </a:r>
            </a:p>
          </p:txBody>
        </p:sp>
        <p:sp>
          <p:nvSpPr>
            <p:cNvPr id="286" name="Rounded Rectangle 285"/>
            <p:cNvSpPr/>
            <p:nvPr/>
          </p:nvSpPr>
          <p:spPr>
            <a:xfrm>
              <a:off x="4455147" y="5291859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B8B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7" name="TextBox 286"/>
            <p:cNvSpPr txBox="1"/>
            <p:nvPr/>
          </p:nvSpPr>
          <p:spPr>
            <a:xfrm>
              <a:off x="4714725" y="5347486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0,41</a:t>
              </a:r>
            </a:p>
          </p:txBody>
        </p:sp>
        <p:sp>
          <p:nvSpPr>
            <p:cNvPr id="288" name="Rounded Rectangle 287"/>
            <p:cNvSpPr/>
            <p:nvPr/>
          </p:nvSpPr>
          <p:spPr>
            <a:xfrm>
              <a:off x="5249994" y="5291859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4767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9" name="TextBox 288"/>
            <p:cNvSpPr txBox="1"/>
            <p:nvPr/>
          </p:nvSpPr>
          <p:spPr>
            <a:xfrm>
              <a:off x="5509571" y="5347486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FFFFFF"/>
                  </a:solidFill>
                  <a:latin typeface="IBM Plex Sans Medium"/>
                </a:rPr>
                <a:t>1,30</a:t>
              </a:r>
            </a:p>
          </p:txBody>
        </p:sp>
        <p:sp>
          <p:nvSpPr>
            <p:cNvPr id="290" name="Rounded Rectangle 289"/>
            <p:cNvSpPr/>
            <p:nvPr/>
          </p:nvSpPr>
          <p:spPr>
            <a:xfrm>
              <a:off x="6044840" y="5291859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3C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1" name="TextBox 290"/>
            <p:cNvSpPr txBox="1"/>
            <p:nvPr/>
          </p:nvSpPr>
          <p:spPr>
            <a:xfrm>
              <a:off x="6304418" y="5347486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0,13</a:t>
              </a:r>
            </a:p>
          </p:txBody>
        </p:sp>
        <p:sp>
          <p:nvSpPr>
            <p:cNvPr id="292" name="Rounded Rectangle 291"/>
            <p:cNvSpPr/>
            <p:nvPr/>
          </p:nvSpPr>
          <p:spPr>
            <a:xfrm>
              <a:off x="6839687" y="5291859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5A6A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3" name="TextBox 292"/>
            <p:cNvSpPr txBox="1"/>
            <p:nvPr/>
          </p:nvSpPr>
          <p:spPr>
            <a:xfrm>
              <a:off x="7099264" y="5347486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0,64</a:t>
              </a:r>
            </a:p>
          </p:txBody>
        </p:sp>
        <p:sp>
          <p:nvSpPr>
            <p:cNvPr id="294" name="Rounded Rectangle 293"/>
            <p:cNvSpPr/>
            <p:nvPr/>
          </p:nvSpPr>
          <p:spPr>
            <a:xfrm>
              <a:off x="7634533" y="5291859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2C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5" name="TextBox 294"/>
            <p:cNvSpPr txBox="1"/>
            <p:nvPr/>
          </p:nvSpPr>
          <p:spPr>
            <a:xfrm>
              <a:off x="7894110" y="5347486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0,14</a:t>
              </a:r>
            </a:p>
          </p:txBody>
        </p:sp>
        <p:sp>
          <p:nvSpPr>
            <p:cNvPr id="296" name="Rounded Rectangle 295"/>
            <p:cNvSpPr/>
            <p:nvPr/>
          </p:nvSpPr>
          <p:spPr>
            <a:xfrm>
              <a:off x="8429379" y="5291859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DBDDD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7" name="TextBox 296"/>
            <p:cNvSpPr txBox="1"/>
            <p:nvPr/>
          </p:nvSpPr>
          <p:spPr>
            <a:xfrm>
              <a:off x="8656572" y="5347486"/>
              <a:ext cx="31760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−0,06</a:t>
              </a:r>
            </a:p>
          </p:txBody>
        </p:sp>
        <p:sp>
          <p:nvSpPr>
            <p:cNvPr id="298" name="Rounded Rectangle 297"/>
            <p:cNvSpPr/>
            <p:nvPr/>
          </p:nvSpPr>
          <p:spPr>
            <a:xfrm>
              <a:off x="9224226" y="5291859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34B4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9" name="TextBox 298"/>
            <p:cNvSpPr txBox="1"/>
            <p:nvPr/>
          </p:nvSpPr>
          <p:spPr>
            <a:xfrm>
              <a:off x="9483803" y="5347486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FFFFFF"/>
                  </a:solidFill>
                  <a:latin typeface="IBM Plex Sans Medium"/>
                </a:rPr>
                <a:t>1,96</a:t>
              </a:r>
            </a:p>
          </p:txBody>
        </p:sp>
        <p:sp>
          <p:nvSpPr>
            <p:cNvPr id="300" name="Rounded Rectangle 299"/>
            <p:cNvSpPr/>
            <p:nvPr/>
          </p:nvSpPr>
          <p:spPr>
            <a:xfrm>
              <a:off x="10019072" y="5291859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0C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0278650" y="5347486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0,15</a:t>
              </a:r>
            </a:p>
          </p:txBody>
        </p:sp>
        <p:sp>
          <p:nvSpPr>
            <p:cNvPr id="302" name="Rounded Rectangle 301"/>
            <p:cNvSpPr/>
            <p:nvPr/>
          </p:nvSpPr>
          <p:spPr>
            <a:xfrm>
              <a:off x="10813919" y="5291859"/>
              <a:ext cx="771986" cy="251589"/>
            </a:xfrm>
            <a:prstGeom prst="roundRect">
              <a:avLst>
                <a:gd name="adj" fmla="val 10903"/>
              </a:avLst>
            </a:prstGeom>
            <a:solidFill>
              <a:srgbClr val="E6D6D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11073496" y="5347486"/>
              <a:ext cx="25283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50" b="0" i="0" lang="vi-VN">
                  <a:solidFill>
                    <a:srgbClr val="16181D"/>
                  </a:solidFill>
                  <a:latin typeface="IBM Plex Sans Medium"/>
                </a:rPr>
                <a:t>0,10</a:t>
              </a:r>
            </a:p>
          </p:txBody>
        </p:sp>
      </p:grpSp>
      <p:sp>
        <p:nvSpPr>
          <p:cNvPr id="304" name="TextBox 303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Giao thông biến động mạnh nhất: +12,85% tháng 3/2026 rồi −4,85% tháng 6/2026.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Màu được giới hạn ở ±2% để các nhóm khác vẫn đọc được; con số trong ô là giá trị thật.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306" name="TextBox 305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NSO — Thông cáo báo chí tình hình giá hằng tháng (Biểu 1 – Cả nước), T10/2025–T9/2026.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2 · TÍN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Tín dụng tăng 19,07% năm 2025, nhanh hơn huy động 3,65 điểm %</a:t>
            </a:r>
          </a:p>
        </p:txBody>
      </p:sp>
      <p:grpSp>
        <p:nvGrpSpPr>
          <p:cNvPr id="5" name="Chart · line"/>
          <p:cNvGrpSpPr/>
          <p:nvPr/>
        </p:nvGrpSpPr>
        <p:grpSpPr>
          <a:xfrm>
            <a:off x="585216" y="1900619"/>
            <a:ext cx="10878134" cy="3581615"/>
            <a:chOff x="585216" y="1900619"/>
            <a:chExt cx="10878134" cy="3581615"/>
          </a:xfrm>
        </p:grpSpPr>
        <p:cxnSp>
          <p:nvCxnSpPr>
            <p:cNvPr id="6" name="Connector 5"/>
            <p:cNvCxnSpPr/>
            <p:nvPr/>
          </p:nvCxnSpPr>
          <p:spPr>
            <a:xfrm>
              <a:off x="594360" y="1987296"/>
              <a:ext cx="237744" cy="0"/>
            </a:xfrm>
            <a:prstGeom prst="line">
              <a:avLst/>
            </a:prstGeom>
            <a:ln w="28575" cap="rnd">
              <a:solidFill>
                <a:srgbClr val="C9CCD2"/>
              </a:solidFill>
              <a:round/>
            </a:ln>
          </p:spPr>
        </p:cxnSp>
        <p:sp>
          <p:nvSpPr>
            <p:cNvPr id="7" name="TextBox 6"/>
            <p:cNvSpPr txBox="1"/>
            <p:nvPr/>
          </p:nvSpPr>
          <p:spPr>
            <a:xfrm>
              <a:off x="905256" y="1900619"/>
              <a:ext cx="603371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Huy động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1755515" y="1987296"/>
              <a:ext cx="237744" cy="0"/>
            </a:xfrm>
            <a:prstGeom prst="line">
              <a:avLst/>
            </a:prstGeom>
            <a:ln w="28575" cap="rnd">
              <a:solidFill>
                <a:srgbClr val="C9CCD2"/>
              </a:solidFill>
              <a:round/>
            </a:ln>
          </p:spPr>
        </p:cxnSp>
        <p:sp>
          <p:nvSpPr>
            <p:cNvPr id="9" name="TextBox 8"/>
            <p:cNvSpPr txBox="1"/>
            <p:nvPr/>
          </p:nvSpPr>
          <p:spPr>
            <a:xfrm>
              <a:off x="2066411" y="1900619"/>
              <a:ext cx="216122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M2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2529421" y="1987296"/>
              <a:ext cx="237744" cy="0"/>
            </a:xfrm>
            <a:prstGeom prst="line">
              <a:avLst/>
            </a:prstGeom>
            <a:ln w="28575" cap="rnd">
              <a:solidFill>
                <a:srgbClr val="2A78D6"/>
              </a:solidFill>
              <a:round/>
            </a:ln>
          </p:spPr>
        </p:cxnSp>
        <p:sp>
          <p:nvSpPr>
            <p:cNvPr id="11" name="TextBox 10"/>
            <p:cNvSpPr txBox="1"/>
            <p:nvPr/>
          </p:nvSpPr>
          <p:spPr>
            <a:xfrm>
              <a:off x="2840317" y="1900619"/>
              <a:ext cx="553898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Tín dụng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61416" y="5161432"/>
              <a:ext cx="1036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0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856488" y="4489247"/>
              <a:ext cx="9490532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661416" y="4406697"/>
              <a:ext cx="1036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5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856488" y="3734511"/>
              <a:ext cx="9490532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6" name="TextBox 15"/>
            <p:cNvSpPr txBox="1"/>
            <p:nvPr/>
          </p:nvSpPr>
          <p:spPr>
            <a:xfrm>
              <a:off x="585216" y="3651961"/>
              <a:ext cx="1798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10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856488" y="2979776"/>
              <a:ext cx="9490532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8" name="TextBox 17"/>
            <p:cNvSpPr txBox="1"/>
            <p:nvPr/>
          </p:nvSpPr>
          <p:spPr>
            <a:xfrm>
              <a:off x="585216" y="2897226"/>
              <a:ext cx="1798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15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856488" y="2225040"/>
              <a:ext cx="9490532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20" name="TextBox 19"/>
            <p:cNvSpPr txBox="1"/>
            <p:nvPr/>
          </p:nvSpPr>
          <p:spPr>
            <a:xfrm>
              <a:off x="585216" y="2142490"/>
              <a:ext cx="1798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20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856488" y="5243982"/>
              <a:ext cx="9490532" cy="0"/>
            </a:xfrm>
            <a:prstGeom prst="line">
              <a:avLst/>
            </a:prstGeom>
            <a:ln w="12700" cap="flat">
              <a:solidFill>
                <a:srgbClr val="C3C2B7"/>
              </a:solidFill>
              <a:round/>
            </a:ln>
          </p:spPr>
        </p:cxnSp>
        <p:sp>
          <p:nvSpPr>
            <p:cNvPr id="22" name="TextBox 21"/>
            <p:cNvSpPr txBox="1"/>
            <p:nvPr/>
          </p:nvSpPr>
          <p:spPr>
            <a:xfrm>
              <a:off x="800100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2015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727208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2016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654315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2017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581423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2018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08530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435638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2020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362746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2021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289853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2022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216961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2023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144069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2024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071176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2025</a:t>
              </a:r>
            </a:p>
          </p:txBody>
        </p:sp>
        <p:sp>
          <p:nvSpPr>
            <p:cNvPr id="33" name="Freeform 32"/>
            <p:cNvSpPr/>
            <p:nvPr/>
          </p:nvSpPr>
          <p:spPr>
            <a:xfrm>
              <a:off x="966216" y="2564671"/>
              <a:ext cx="9271076" cy="1775138"/>
            </a:xfrm>
            <a:custGeom>
              <a:avLst/>
              <a:gdLst/>
              <a:ahLst/>
              <a:cxnLst/>
              <a:rect l="l" t="t" r="r" b="b"/>
              <a:pathLst>
                <a:path w="9271076" h="1775138">
                  <a:moveTo>
                    <a:pt x="0" y="627940"/>
                  </a:moveTo>
                  <a:lnTo>
                    <a:pt x="927108" y="0"/>
                  </a:lnTo>
                  <a:lnTo>
                    <a:pt x="1854215" y="476993"/>
                  </a:lnTo>
                  <a:lnTo>
                    <a:pt x="2781323" y="824171"/>
                  </a:lnTo>
                  <a:lnTo>
                    <a:pt x="3708430" y="484540"/>
                  </a:lnTo>
                  <a:lnTo>
                    <a:pt x="4635538" y="671715"/>
                  </a:lnTo>
                  <a:lnTo>
                    <a:pt x="5562646" y="1124556"/>
                  </a:lnTo>
                  <a:lnTo>
                    <a:pt x="6489753" y="1775138"/>
                  </a:lnTo>
                  <a:lnTo>
                    <a:pt x="7416861" y="686809"/>
                  </a:lnTo>
                  <a:lnTo>
                    <a:pt x="8343969" y="1070215"/>
                  </a:lnTo>
                  <a:lnTo>
                    <a:pt x="9271076" y="351707"/>
                  </a:lnTo>
                </a:path>
              </a:pathLst>
            </a:custGeom>
            <a:noFill/>
            <a:ln w="22225" cap="rnd">
              <a:solidFill>
                <a:srgbClr val="C9CCD2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Freeform 33"/>
            <p:cNvSpPr/>
            <p:nvPr/>
          </p:nvSpPr>
          <p:spPr>
            <a:xfrm>
              <a:off x="966216" y="2545048"/>
              <a:ext cx="9271076" cy="1763062"/>
            </a:xfrm>
            <a:custGeom>
              <a:avLst/>
              <a:gdLst/>
              <a:ahLst/>
              <a:cxnLst/>
              <a:rect l="l" t="t" r="r" b="b"/>
              <a:pathLst>
                <a:path w="9271076" h="1763062">
                  <a:moveTo>
                    <a:pt x="0" y="448313"/>
                  </a:moveTo>
                  <a:lnTo>
                    <a:pt x="927108" y="0"/>
                  </a:lnTo>
                  <a:lnTo>
                    <a:pt x="1854215" y="546428"/>
                  </a:lnTo>
                  <a:lnTo>
                    <a:pt x="2781323" y="781906"/>
                  </a:lnTo>
                  <a:lnTo>
                    <a:pt x="3708430" y="464917"/>
                  </a:lnTo>
                  <a:lnTo>
                    <a:pt x="4635538" y="510201"/>
                  </a:lnTo>
                  <a:lnTo>
                    <a:pt x="5562646" y="1083800"/>
                  </a:lnTo>
                  <a:lnTo>
                    <a:pt x="6489753" y="1763062"/>
                  </a:lnTo>
                  <a:lnTo>
                    <a:pt x="7416861" y="812095"/>
                  </a:lnTo>
                  <a:lnTo>
                    <a:pt x="8343969" y="892097"/>
                  </a:lnTo>
                  <a:lnTo>
                    <a:pt x="9271076" y="329065"/>
                  </a:lnTo>
                </a:path>
              </a:pathLst>
            </a:custGeom>
            <a:noFill/>
            <a:ln w="22225" cap="rnd">
              <a:solidFill>
                <a:srgbClr val="C9CCD2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966216" y="2365421"/>
              <a:ext cx="9271076" cy="1037007"/>
            </a:xfrm>
            <a:custGeom>
              <a:avLst/>
              <a:gdLst/>
              <a:ahLst/>
              <a:cxnLst/>
              <a:rect l="l" t="t" r="r" b="b"/>
              <a:pathLst>
                <a:path w="9271076" h="1037007">
                  <a:moveTo>
                    <a:pt x="0" y="161513"/>
                  </a:moveTo>
                  <a:lnTo>
                    <a:pt x="927108" y="123776"/>
                  </a:lnTo>
                  <a:lnTo>
                    <a:pt x="1854215" y="119248"/>
                  </a:lnTo>
                  <a:lnTo>
                    <a:pt x="2781323" y="781906"/>
                  </a:lnTo>
                  <a:lnTo>
                    <a:pt x="3708430" y="818133"/>
                  </a:lnTo>
                  <a:lnTo>
                    <a:pt x="4635538" y="1037007"/>
                  </a:lnTo>
                  <a:lnTo>
                    <a:pt x="5562646" y="825681"/>
                  </a:lnTo>
                  <a:lnTo>
                    <a:pt x="6489753" y="735112"/>
                  </a:lnTo>
                  <a:lnTo>
                    <a:pt x="7416861" y="798510"/>
                  </a:lnTo>
                  <a:lnTo>
                    <a:pt x="8343969" y="600769"/>
                  </a:lnTo>
                  <a:lnTo>
                    <a:pt x="9271076" y="0"/>
                  </a:lnTo>
                </a:path>
              </a:pathLst>
            </a:custGeom>
            <a:noFill/>
            <a:ln w="28575" cap="rnd">
              <a:solidFill>
                <a:srgbClr val="2A78D6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10187000" y="2315129"/>
              <a:ext cx="100584" cy="100584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383596" y="2282871"/>
              <a:ext cx="1032637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Tín dụng </a:t>
              </a:r>
              <a:r>
                <a:rPr sz="1000" b="0" i="0" lang="vi-VN">
                  <a:solidFill>
                    <a:srgbClr val="16181D"/>
                  </a:solidFill>
                  <a:latin typeface="IBM Plex Sans SemiBold"/>
                </a:rPr>
                <a:t>19,07%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383596" y="2791563"/>
              <a:ext cx="71094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5B6170"/>
                  </a:solidFill>
                  <a:latin typeface="IBM Plex Sans Medium"/>
                </a:rPr>
                <a:t>M2 </a:t>
              </a:r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15,70%</a:t>
              </a:r>
            </a:p>
          </p:txBody>
        </p:sp>
        <p:cxnSp>
          <p:nvCxnSpPr>
            <p:cNvPr id="39" name="Connector 38"/>
            <p:cNvCxnSpPr/>
            <p:nvPr/>
          </p:nvCxnSpPr>
          <p:spPr>
            <a:xfrm>
              <a:off x="10310444" y="2916378"/>
              <a:ext cx="54864" cy="149759"/>
            </a:xfrm>
            <a:prstGeom prst="line">
              <a:avLst/>
            </a:prstGeom>
            <a:ln w="6350" cap="rnd">
              <a:solidFill>
                <a:srgbClr val="8A8F99"/>
              </a:solidFill>
              <a:round/>
            </a:ln>
          </p:spPr>
        </p:cxnSp>
        <p:sp>
          <p:nvSpPr>
            <p:cNvPr id="40" name="TextBox 39"/>
            <p:cNvSpPr txBox="1"/>
            <p:nvPr/>
          </p:nvSpPr>
          <p:spPr>
            <a:xfrm>
              <a:off x="10383596" y="2983587"/>
              <a:ext cx="1079754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5B6170"/>
                  </a:solidFill>
                  <a:latin typeface="IBM Plex Sans Medium"/>
                </a:rPr>
                <a:t>Huy động </a:t>
              </a:r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15,42%</a:t>
              </a:r>
            </a:p>
          </p:txBody>
        </p:sp>
        <p:cxnSp>
          <p:nvCxnSpPr>
            <p:cNvPr id="41" name="Connector 40"/>
            <p:cNvCxnSpPr/>
            <p:nvPr/>
          </p:nvCxnSpPr>
          <p:spPr>
            <a:xfrm>
              <a:off x="7455969" y="4339809"/>
              <a:ext cx="331353" cy="289933"/>
            </a:xfrm>
            <a:prstGeom prst="line">
              <a:avLst/>
            </a:prstGeom>
            <a:ln w="9525" cap="rnd">
              <a:solidFill>
                <a:srgbClr val="5B6170"/>
              </a:solidFill>
              <a:round/>
            </a:ln>
          </p:spPr>
        </p:cxnSp>
        <p:sp>
          <p:nvSpPr>
            <p:cNvPr id="42" name="Oval 41"/>
            <p:cNvSpPr/>
            <p:nvPr/>
          </p:nvSpPr>
          <p:spPr>
            <a:xfrm>
              <a:off x="7423965" y="4307805"/>
              <a:ext cx="64008" cy="64008"/>
            </a:xfrm>
            <a:prstGeom prst="ellipse">
              <a:avLst/>
            </a:prstGeom>
            <a:solidFill>
              <a:srgbClr val="16181D"/>
            </a:solidFill>
            <a:ln w="9525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858305" y="4659849"/>
              <a:ext cx="1658855" cy="1666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05000"/>
                </a:lnSpc>
              </a:pPr>
              <a:r>
                <a:rPr sz="1050" b="0" i="0" lang="vi-VN">
                  <a:solidFill>
                    <a:srgbClr val="16181D"/>
                  </a:solidFill>
                  <a:latin typeface="IBM Plex Sans SemiBold"/>
                </a:rPr>
                <a:t>2022: huy động chỉ 5,99%</a:t>
              </a:r>
            </a:p>
          </p:txBody>
        </p:sp>
      </p:grpSp>
      <p:sp>
        <p:nvSpPr>
          <p:cNvPr id="44" name="TextBox 43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Khoảng cách tín dụng − huy động lớn nhất năm 2022 (8,21 điểm %), năm 2025 là 3,65 điểm %.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Tín dụng nhanh hơn huy động trong 9/11 năm 2015–2025.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46" name="TextBox 45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NHNN; IMF FSI (tiền gửi khách hàng); tăng trưởng cuối năm so với cuối năm trước.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2 · SỨC KHOẺ NGÂN HÀNG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Nợ xấu 4,21% năm 2025, gấp 1,5 lần năm 2015; ROE lên 19,9%</a:t>
            </a:r>
          </a:p>
        </p:txBody>
      </p:sp>
      <p:grpSp>
        <p:nvGrpSpPr>
          <p:cNvPr id="5" name="Chart · spark_table"/>
          <p:cNvGrpSpPr/>
          <p:nvPr/>
        </p:nvGrpSpPr>
        <p:grpSpPr>
          <a:xfrm>
            <a:off x="594360" y="1913001"/>
            <a:ext cx="11002975" cy="3623589"/>
            <a:chOff x="594360" y="1913001"/>
            <a:chExt cx="11002975" cy="3623589"/>
          </a:xfrm>
        </p:grpSpPr>
        <p:sp>
          <p:nvSpPr>
            <p:cNvPr id="6" name="TextBox 5"/>
            <p:cNvSpPr txBox="1"/>
            <p:nvPr/>
          </p:nvSpPr>
          <p:spPr>
            <a:xfrm>
              <a:off x="594360" y="1913001"/>
              <a:ext cx="581254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 spc="60">
                  <a:solidFill>
                    <a:srgbClr val="5B6170"/>
                  </a:solidFill>
                  <a:latin typeface="IBM Plex Sans SemiBold"/>
                </a:rPr>
                <a:t>CHỈ TIÊU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472532" y="1913001"/>
              <a:ext cx="1394765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 spc="60">
                  <a:solidFill>
                    <a:srgbClr val="5B6170"/>
                  </a:solidFill>
                  <a:latin typeface="IBM Plex Sans SemiBold"/>
                </a:rPr>
                <a:t>DIỄN BIẾN 2015–2025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193128" y="1913001"/>
              <a:ext cx="332232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00" b="0" i="0" lang="vi-VN" spc="60">
                  <a:solidFill>
                    <a:srgbClr val="5B6170"/>
                  </a:solidFill>
                  <a:latin typeface="IBM Plex Sans SemiBold"/>
                </a:rPr>
                <a:t>2025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758221" y="1913001"/>
              <a:ext cx="793394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00" b="0" i="0" lang="vi-VN" spc="60">
                  <a:solidFill>
                    <a:srgbClr val="5B6170"/>
                  </a:solidFill>
                  <a:latin typeface="IBM Plex Sans SemiBold"/>
                </a:rPr>
                <a:t>SO VỚI 2015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594360" y="2151888"/>
              <a:ext cx="11002975" cy="0"/>
            </a:xfrm>
            <a:prstGeom prst="line">
              <a:avLst/>
            </a:prstGeom>
            <a:ln w="12700" cap="flat">
              <a:solidFill>
                <a:srgbClr val="16181D"/>
              </a:solidFill>
              <a:round/>
            </a:ln>
          </p:spPr>
        </p:cxnSp>
        <p:sp>
          <p:nvSpPr>
            <p:cNvPr id="11" name="TextBox 10"/>
            <p:cNvSpPr txBox="1"/>
            <p:nvPr/>
          </p:nvSpPr>
          <p:spPr>
            <a:xfrm>
              <a:off x="667512" y="2261175"/>
              <a:ext cx="950709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Nợ xấu / dư nợ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67512" y="2454472"/>
              <a:ext cx="565239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50" b="0" i="0" lang="vi-VN">
                  <a:solidFill>
                    <a:srgbClr val="8A8F99"/>
                  </a:solidFill>
                  <a:latin typeface="IBM Plex Sans"/>
                </a:rPr>
                <a:t>IMF FSI, %</a:t>
              </a:r>
            </a:p>
          </p:txBody>
        </p:sp>
        <p:sp>
          <p:nvSpPr>
            <p:cNvPr id="13" name="Freeform 12"/>
            <p:cNvSpPr/>
            <p:nvPr/>
          </p:nvSpPr>
          <p:spPr>
            <a:xfrm>
              <a:off x="4472532" y="2270760"/>
              <a:ext cx="3055211" cy="296730"/>
            </a:xfrm>
            <a:custGeom>
              <a:avLst/>
              <a:gdLst/>
              <a:ahLst/>
              <a:cxnLst/>
              <a:rect l="l" t="t" r="r" b="b"/>
              <a:pathLst>
                <a:path w="3055211" h="296730">
                  <a:moveTo>
                    <a:pt x="0" y="206387"/>
                  </a:moveTo>
                  <a:lnTo>
                    <a:pt x="305521" y="215733"/>
                  </a:lnTo>
                  <a:lnTo>
                    <a:pt x="611042" y="257010"/>
                  </a:lnTo>
                  <a:lnTo>
                    <a:pt x="916563" y="255453"/>
                  </a:lnTo>
                  <a:lnTo>
                    <a:pt x="1222084" y="283490"/>
                  </a:lnTo>
                  <a:lnTo>
                    <a:pt x="1527605" y="275702"/>
                  </a:lnTo>
                  <a:lnTo>
                    <a:pt x="1833127" y="296730"/>
                  </a:lnTo>
                  <a:lnTo>
                    <a:pt x="2138648" y="240655"/>
                  </a:lnTo>
                  <a:lnTo>
                    <a:pt x="2444169" y="0"/>
                  </a:lnTo>
                  <a:lnTo>
                    <a:pt x="2749690" y="43614"/>
                  </a:lnTo>
                  <a:lnTo>
                    <a:pt x="3055211" y="93458"/>
                  </a:lnTo>
                </a:path>
              </a:pathLst>
            </a:custGeom>
            <a:noFill/>
            <a:ln w="19050" cap="rnd">
              <a:solidFill>
                <a:srgbClr val="5B6170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6273655" y="2535486"/>
              <a:ext cx="64008" cy="64008"/>
            </a:xfrm>
            <a:prstGeom prst="ellipse">
              <a:avLst/>
            </a:prstGeom>
            <a:solidFill>
              <a:srgbClr val="C9CCD2"/>
            </a:solidFill>
            <a:ln w="63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7482023" y="2318498"/>
              <a:ext cx="91440" cy="91440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031736" y="2320065"/>
              <a:ext cx="493624" cy="1981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200" b="0" i="0" lang="vi-VN">
                  <a:solidFill>
                    <a:srgbClr val="16181D"/>
                  </a:solidFill>
                  <a:latin typeface="IBM Plex Sans SemiBold"/>
                </a:rPr>
                <a:t>4,21%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898772" y="2332448"/>
              <a:ext cx="652844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50" b="0" i="0" lang="vi-VN">
                  <a:solidFill>
                    <a:srgbClr val="5B6170"/>
                  </a:solidFill>
                  <a:latin typeface="IBM Plex Sans"/>
                </a:rPr>
                <a:t>+1,45 đ.%</a:t>
              </a:r>
            </a:p>
          </p:txBody>
        </p:sp>
        <p:sp>
          <p:nvSpPr>
            <p:cNvPr id="18" name="Isosceles Triangle 17"/>
            <p:cNvSpPr/>
            <p:nvPr/>
          </p:nvSpPr>
          <p:spPr>
            <a:xfrm>
              <a:off x="10738752" y="2375874"/>
              <a:ext cx="100584" cy="86502"/>
            </a:xfrm>
            <a:prstGeom prst="triangle">
              <a:avLst/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94360" y="2658930"/>
              <a:ext cx="11002975" cy="479610"/>
            </a:xfrm>
            <a:prstGeom prst="rect">
              <a:avLst/>
            </a:prstGeom>
            <a:solidFill>
              <a:srgbClr val="F6F5F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7512" y="2740785"/>
              <a:ext cx="1559242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Hệ số an toàn vốn (CAR)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67512" y="2934082"/>
              <a:ext cx="565239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50" b="0" i="0" lang="vi-VN">
                  <a:solidFill>
                    <a:srgbClr val="8A8F99"/>
                  </a:solidFill>
                  <a:latin typeface="IBM Plex Sans"/>
                </a:rPr>
                <a:t>IMF FSI, %</a:t>
              </a:r>
            </a:p>
          </p:txBody>
        </p:sp>
        <p:sp>
          <p:nvSpPr>
            <p:cNvPr id="22" name="Freeform 21"/>
            <p:cNvSpPr/>
            <p:nvPr/>
          </p:nvSpPr>
          <p:spPr>
            <a:xfrm>
              <a:off x="4472532" y="2750370"/>
              <a:ext cx="3055211" cy="296730"/>
            </a:xfrm>
            <a:custGeom>
              <a:avLst/>
              <a:gdLst/>
              <a:ahLst/>
              <a:cxnLst/>
              <a:rect l="l" t="t" r="r" b="b"/>
              <a:pathLst>
                <a:path w="3055211" h="296730">
                  <a:moveTo>
                    <a:pt x="0" y="0"/>
                  </a:moveTo>
                  <a:lnTo>
                    <a:pt x="305521" y="23666"/>
                  </a:lnTo>
                  <a:lnTo>
                    <a:pt x="611042" y="121969"/>
                  </a:lnTo>
                  <a:lnTo>
                    <a:pt x="916563" y="149275"/>
                  </a:lnTo>
                  <a:lnTo>
                    <a:pt x="1222084" y="178402"/>
                  </a:lnTo>
                  <a:lnTo>
                    <a:pt x="1527605" y="296730"/>
                  </a:lnTo>
                  <a:lnTo>
                    <a:pt x="1833127" y="265783"/>
                  </a:lnTo>
                  <a:lnTo>
                    <a:pt x="2138648" y="222092"/>
                  </a:lnTo>
                  <a:lnTo>
                    <a:pt x="2444169" y="187504"/>
                  </a:lnTo>
                  <a:lnTo>
                    <a:pt x="2749690" y="80099"/>
                  </a:lnTo>
                  <a:lnTo>
                    <a:pt x="3055211" y="129251"/>
                  </a:lnTo>
                </a:path>
              </a:pathLst>
            </a:custGeom>
            <a:noFill/>
            <a:ln w="19050" cap="rnd">
              <a:solidFill>
                <a:srgbClr val="5B6170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5968133" y="3015096"/>
              <a:ext cx="64008" cy="64008"/>
            </a:xfrm>
            <a:prstGeom prst="ellipse">
              <a:avLst/>
            </a:prstGeom>
            <a:solidFill>
              <a:srgbClr val="C9CCD2"/>
            </a:solidFill>
            <a:ln w="63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7482023" y="2833901"/>
              <a:ext cx="91440" cy="91440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940296" y="2799675"/>
              <a:ext cx="585064" cy="1981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200" b="0" i="0" lang="vi-VN">
                  <a:solidFill>
                    <a:srgbClr val="16181D"/>
                  </a:solidFill>
                  <a:latin typeface="IBM Plex Sans SemiBold"/>
                </a:rPr>
                <a:t>12,06%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898772" y="2812058"/>
              <a:ext cx="652844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50" b="0" i="0" lang="vi-VN">
                  <a:solidFill>
                    <a:srgbClr val="5B6170"/>
                  </a:solidFill>
                  <a:latin typeface="IBM Plex Sans"/>
                </a:rPr>
                <a:t>−0,71 đ.%</a:t>
              </a:r>
            </a:p>
          </p:txBody>
        </p:sp>
        <p:sp>
          <p:nvSpPr>
            <p:cNvPr id="27" name="Isosceles Triangle 26"/>
            <p:cNvSpPr/>
            <p:nvPr/>
          </p:nvSpPr>
          <p:spPr>
            <a:xfrm rot="10800000">
              <a:off x="10738752" y="2855484"/>
              <a:ext cx="100584" cy="86502"/>
            </a:xfrm>
            <a:prstGeom prst="triangle">
              <a:avLst/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67512" y="3220395"/>
              <a:ext cx="1183450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Dự phòng / nợ xấu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67512" y="3413692"/>
              <a:ext cx="565239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50" b="0" i="0" lang="vi-VN">
                  <a:solidFill>
                    <a:srgbClr val="8A8F99"/>
                  </a:solidFill>
                  <a:latin typeface="IBM Plex Sans"/>
                </a:rPr>
                <a:t>IMF FSI, %</a:t>
              </a:r>
            </a:p>
          </p:txBody>
        </p:sp>
        <p:sp>
          <p:nvSpPr>
            <p:cNvPr id="30" name="Freeform 29"/>
            <p:cNvSpPr/>
            <p:nvPr/>
          </p:nvSpPr>
          <p:spPr>
            <a:xfrm>
              <a:off x="4472532" y="3229980"/>
              <a:ext cx="3055211" cy="296730"/>
            </a:xfrm>
            <a:custGeom>
              <a:avLst/>
              <a:gdLst/>
              <a:ahLst/>
              <a:cxnLst/>
              <a:rect l="l" t="t" r="r" b="b"/>
              <a:pathLst>
                <a:path w="3055211" h="296730">
                  <a:moveTo>
                    <a:pt x="0" y="248979"/>
                  </a:moveTo>
                  <a:lnTo>
                    <a:pt x="305521" y="242018"/>
                  </a:lnTo>
                  <a:lnTo>
                    <a:pt x="611042" y="296730"/>
                  </a:lnTo>
                  <a:lnTo>
                    <a:pt x="916563" y="195028"/>
                  </a:lnTo>
                  <a:lnTo>
                    <a:pt x="1222084" y="175449"/>
                  </a:lnTo>
                  <a:lnTo>
                    <a:pt x="1527605" y="262358"/>
                  </a:lnTo>
                  <a:lnTo>
                    <a:pt x="1833127" y="49491"/>
                  </a:lnTo>
                  <a:lnTo>
                    <a:pt x="2138648" y="196007"/>
                  </a:lnTo>
                  <a:lnTo>
                    <a:pt x="2444169" y="19362"/>
                  </a:lnTo>
                  <a:lnTo>
                    <a:pt x="2749690" y="0"/>
                  </a:lnTo>
                  <a:lnTo>
                    <a:pt x="3055211" y="20123"/>
                  </a:lnTo>
                </a:path>
              </a:pathLst>
            </a:custGeom>
            <a:noFill/>
            <a:ln w="19050" cap="rnd">
              <a:solidFill>
                <a:srgbClr val="5B6170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5051570" y="3494706"/>
              <a:ext cx="64008" cy="64008"/>
            </a:xfrm>
            <a:prstGeom prst="ellipse">
              <a:avLst/>
            </a:prstGeom>
            <a:solidFill>
              <a:srgbClr val="C9CCD2"/>
            </a:solidFill>
            <a:ln w="63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7482023" y="3204383"/>
              <a:ext cx="91440" cy="91440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9031736" y="3279285"/>
              <a:ext cx="493624" cy="1981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200" b="0" i="0" lang="vi-VN">
                  <a:solidFill>
                    <a:srgbClr val="16181D"/>
                  </a:solidFill>
                  <a:latin typeface="IBM Plex Sans SemiBold"/>
                </a:rPr>
                <a:t>66,8%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0898772" y="3291668"/>
              <a:ext cx="652844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50" b="0" i="0" lang="vi-VN">
                  <a:solidFill>
                    <a:srgbClr val="5B6170"/>
                  </a:solidFill>
                  <a:latin typeface="IBM Plex Sans"/>
                </a:rPr>
                <a:t>+21,0 đ.%</a:t>
              </a:r>
            </a:p>
          </p:txBody>
        </p:sp>
        <p:sp>
          <p:nvSpPr>
            <p:cNvPr id="35" name="Isosceles Triangle 34"/>
            <p:cNvSpPr/>
            <p:nvPr/>
          </p:nvSpPr>
          <p:spPr>
            <a:xfrm>
              <a:off x="10738752" y="3335094"/>
              <a:ext cx="100584" cy="86502"/>
            </a:xfrm>
            <a:prstGeom prst="triangle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594360" y="3618150"/>
              <a:ext cx="11002975" cy="479610"/>
            </a:xfrm>
            <a:prstGeom prst="rect">
              <a:avLst/>
            </a:prstGeom>
            <a:solidFill>
              <a:srgbClr val="F6F5F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67512" y="3700005"/>
              <a:ext cx="310464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ROA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67512" y="3893302"/>
              <a:ext cx="565239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50" b="0" i="0" lang="vi-VN">
                  <a:solidFill>
                    <a:srgbClr val="8A8F99"/>
                  </a:solidFill>
                  <a:latin typeface="IBM Plex Sans"/>
                </a:rPr>
                <a:t>IMF FSI, %</a:t>
              </a:r>
            </a:p>
          </p:txBody>
        </p:sp>
        <p:cxnSp>
          <p:nvCxnSpPr>
            <p:cNvPr id="39" name="Connector 38"/>
            <p:cNvCxnSpPr/>
            <p:nvPr/>
          </p:nvCxnSpPr>
          <p:spPr>
            <a:xfrm>
              <a:off x="4472532" y="3887858"/>
              <a:ext cx="3055211" cy="0"/>
            </a:xfrm>
            <a:prstGeom prst="line">
              <a:avLst/>
            </a:prstGeom>
            <a:ln w="6350" cap="flat">
              <a:solidFill>
                <a:srgbClr val="C3C2B7"/>
              </a:solidFill>
              <a:round/>
            </a:ln>
          </p:spPr>
        </p:cxnSp>
        <p:sp>
          <p:nvSpPr>
            <p:cNvPr id="40" name="Freeform 39"/>
            <p:cNvSpPr/>
            <p:nvPr/>
          </p:nvSpPr>
          <p:spPr>
            <a:xfrm>
              <a:off x="4472532" y="3709590"/>
              <a:ext cx="3055211" cy="296730"/>
            </a:xfrm>
            <a:custGeom>
              <a:avLst/>
              <a:gdLst/>
              <a:ahLst/>
              <a:cxnLst/>
              <a:rect l="l" t="t" r="r" b="b"/>
              <a:pathLst>
                <a:path w="3055211" h="296730">
                  <a:moveTo>
                    <a:pt x="0" y="104661"/>
                  </a:moveTo>
                  <a:lnTo>
                    <a:pt x="305521" y="98910"/>
                  </a:lnTo>
                  <a:lnTo>
                    <a:pt x="611042" y="86259"/>
                  </a:lnTo>
                  <a:lnTo>
                    <a:pt x="916563" y="46005"/>
                  </a:lnTo>
                  <a:lnTo>
                    <a:pt x="1222084" y="39104"/>
                  </a:lnTo>
                  <a:lnTo>
                    <a:pt x="1527605" y="40254"/>
                  </a:lnTo>
                  <a:lnTo>
                    <a:pt x="1833127" y="1150"/>
                  </a:lnTo>
                  <a:lnTo>
                    <a:pt x="2138648" y="0"/>
                  </a:lnTo>
                  <a:lnTo>
                    <a:pt x="2444169" y="296730"/>
                  </a:lnTo>
                  <a:lnTo>
                    <a:pt x="2749690" y="13802"/>
                  </a:lnTo>
                  <a:lnTo>
                    <a:pt x="3055211" y="6901"/>
                  </a:lnTo>
                </a:path>
              </a:pathLst>
            </a:custGeom>
            <a:noFill/>
            <a:ln w="19050" cap="rnd">
              <a:solidFill>
                <a:srgbClr val="5B6170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6884697" y="3974316"/>
              <a:ext cx="64008" cy="64008"/>
            </a:xfrm>
            <a:prstGeom prst="ellipse">
              <a:avLst/>
            </a:prstGeom>
            <a:solidFill>
              <a:srgbClr val="C9CCD2"/>
            </a:solidFill>
            <a:ln w="63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7482023" y="3670771"/>
              <a:ext cx="91440" cy="91440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9031736" y="3758895"/>
              <a:ext cx="493624" cy="1981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200" b="0" i="0" lang="vi-VN">
                  <a:solidFill>
                    <a:srgbClr val="16181D"/>
                  </a:solidFill>
                  <a:latin typeface="IBM Plex Sans SemiBold"/>
                </a:rPr>
                <a:t>1,49%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0898772" y="3771278"/>
              <a:ext cx="652844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50" b="0" i="0" lang="vi-VN">
                  <a:solidFill>
                    <a:srgbClr val="5B6170"/>
                  </a:solidFill>
                  <a:latin typeface="IBM Plex Sans"/>
                </a:rPr>
                <a:t>+0,85 đ.%</a:t>
              </a:r>
            </a:p>
          </p:txBody>
        </p:sp>
        <p:sp>
          <p:nvSpPr>
            <p:cNvPr id="45" name="Isosceles Triangle 44"/>
            <p:cNvSpPr/>
            <p:nvPr/>
          </p:nvSpPr>
          <p:spPr>
            <a:xfrm>
              <a:off x="10738752" y="3814704"/>
              <a:ext cx="100584" cy="86502"/>
            </a:xfrm>
            <a:prstGeom prst="triangle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667512" y="4179615"/>
              <a:ext cx="301104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ROE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667512" y="4372912"/>
              <a:ext cx="565239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50" b="0" i="0" lang="vi-VN">
                  <a:solidFill>
                    <a:srgbClr val="8A8F99"/>
                  </a:solidFill>
                  <a:latin typeface="IBM Plex Sans"/>
                </a:rPr>
                <a:t>IMF FSI, %</a:t>
              </a:r>
            </a:p>
          </p:txBody>
        </p:sp>
        <p:cxnSp>
          <p:nvCxnSpPr>
            <p:cNvPr id="48" name="Connector 47"/>
            <p:cNvCxnSpPr/>
            <p:nvPr/>
          </p:nvCxnSpPr>
          <p:spPr>
            <a:xfrm>
              <a:off x="4472532" y="4337010"/>
              <a:ext cx="3055211" cy="0"/>
            </a:xfrm>
            <a:prstGeom prst="line">
              <a:avLst/>
            </a:prstGeom>
            <a:ln w="6350" cap="flat">
              <a:solidFill>
                <a:srgbClr val="C3C2B7"/>
              </a:solidFill>
              <a:round/>
            </a:ln>
          </p:spPr>
        </p:cxnSp>
        <p:sp>
          <p:nvSpPr>
            <p:cNvPr id="49" name="Freeform 48"/>
            <p:cNvSpPr/>
            <p:nvPr/>
          </p:nvSpPr>
          <p:spPr>
            <a:xfrm>
              <a:off x="4472532" y="4189200"/>
              <a:ext cx="3055211" cy="296730"/>
            </a:xfrm>
            <a:custGeom>
              <a:avLst/>
              <a:gdLst/>
              <a:ahLst/>
              <a:cxnLst/>
              <a:rect l="l" t="t" r="r" b="b"/>
              <a:pathLst>
                <a:path w="3055211" h="296730">
                  <a:moveTo>
                    <a:pt x="0" y="106097"/>
                  </a:moveTo>
                  <a:lnTo>
                    <a:pt x="305521" y="97651"/>
                  </a:lnTo>
                  <a:lnTo>
                    <a:pt x="611042" y="86834"/>
                  </a:lnTo>
                  <a:lnTo>
                    <a:pt x="916563" y="56679"/>
                  </a:lnTo>
                  <a:lnTo>
                    <a:pt x="1222084" y="56012"/>
                  </a:lnTo>
                  <a:lnTo>
                    <a:pt x="1527605" y="59569"/>
                  </a:lnTo>
                  <a:lnTo>
                    <a:pt x="1833127" y="37119"/>
                  </a:lnTo>
                  <a:lnTo>
                    <a:pt x="2138648" y="40231"/>
                  </a:lnTo>
                  <a:lnTo>
                    <a:pt x="2444169" y="296730"/>
                  </a:lnTo>
                  <a:lnTo>
                    <a:pt x="2749690" y="11262"/>
                  </a:lnTo>
                  <a:lnTo>
                    <a:pt x="3055211" y="0"/>
                  </a:lnTo>
                </a:path>
              </a:pathLst>
            </a:custGeom>
            <a:noFill/>
            <a:ln w="19050" cap="rnd">
              <a:solidFill>
                <a:srgbClr val="5B6170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6884697" y="4453926"/>
              <a:ext cx="64008" cy="64008"/>
            </a:xfrm>
            <a:prstGeom prst="ellipse">
              <a:avLst/>
            </a:prstGeom>
            <a:solidFill>
              <a:srgbClr val="C9CCD2"/>
            </a:solidFill>
            <a:ln w="63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7482023" y="4143480"/>
              <a:ext cx="91440" cy="91440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031736" y="4238505"/>
              <a:ext cx="493624" cy="1981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200" b="0" i="0" lang="vi-VN">
                  <a:solidFill>
                    <a:srgbClr val="16181D"/>
                  </a:solidFill>
                  <a:latin typeface="IBM Plex Sans SemiBold"/>
                </a:rPr>
                <a:t>19,9%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10898772" y="4250888"/>
              <a:ext cx="652844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50" b="0" i="0" lang="vi-VN">
                  <a:solidFill>
                    <a:srgbClr val="5B6170"/>
                  </a:solidFill>
                  <a:latin typeface="IBM Plex Sans"/>
                </a:rPr>
                <a:t>+14,3 đ.%</a:t>
              </a:r>
            </a:p>
          </p:txBody>
        </p:sp>
        <p:sp>
          <p:nvSpPr>
            <p:cNvPr id="54" name="Isosceles Triangle 53"/>
            <p:cNvSpPr/>
            <p:nvPr/>
          </p:nvSpPr>
          <p:spPr>
            <a:xfrm>
              <a:off x="10738752" y="4294314"/>
              <a:ext cx="100584" cy="86502"/>
            </a:xfrm>
            <a:prstGeom prst="triangle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594360" y="4577370"/>
              <a:ext cx="11002975" cy="479610"/>
            </a:xfrm>
            <a:prstGeom prst="rect">
              <a:avLst/>
            </a:prstGeom>
            <a:solidFill>
              <a:srgbClr val="F6F5F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667512" y="4659225"/>
              <a:ext cx="1348994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Tăng trưởng tín dụng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667512" y="4852522"/>
              <a:ext cx="954830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50" b="0" i="0" lang="vi-VN">
                  <a:solidFill>
                    <a:srgbClr val="8A8F99"/>
                  </a:solidFill>
                  <a:latin typeface="IBM Plex Sans"/>
                </a:rPr>
                <a:t>NHNN, % cuối năm</a:t>
              </a:r>
            </a:p>
          </p:txBody>
        </p:sp>
        <p:sp>
          <p:nvSpPr>
            <p:cNvPr id="58" name="Freeform 57"/>
            <p:cNvSpPr/>
            <p:nvPr/>
          </p:nvSpPr>
          <p:spPr>
            <a:xfrm>
              <a:off x="4472532" y="4668810"/>
              <a:ext cx="3055211" cy="296730"/>
            </a:xfrm>
            <a:custGeom>
              <a:avLst/>
              <a:gdLst/>
              <a:ahLst/>
              <a:cxnLst/>
              <a:rect l="l" t="t" r="r" b="b"/>
              <a:pathLst>
                <a:path w="3055211" h="296730">
                  <a:moveTo>
                    <a:pt x="0" y="46216"/>
                  </a:moveTo>
                  <a:lnTo>
                    <a:pt x="305521" y="35418"/>
                  </a:lnTo>
                  <a:lnTo>
                    <a:pt x="611042" y="34122"/>
                  </a:lnTo>
                  <a:lnTo>
                    <a:pt x="916563" y="223736"/>
                  </a:lnTo>
                  <a:lnTo>
                    <a:pt x="1222084" y="234102"/>
                  </a:lnTo>
                  <a:lnTo>
                    <a:pt x="1527605" y="296730"/>
                  </a:lnTo>
                  <a:lnTo>
                    <a:pt x="1833127" y="236261"/>
                  </a:lnTo>
                  <a:lnTo>
                    <a:pt x="2138648" y="210346"/>
                  </a:lnTo>
                  <a:lnTo>
                    <a:pt x="2444169" y="228487"/>
                  </a:lnTo>
                  <a:lnTo>
                    <a:pt x="2749690" y="171905"/>
                  </a:lnTo>
                  <a:lnTo>
                    <a:pt x="3055211" y="0"/>
                  </a:lnTo>
                </a:path>
              </a:pathLst>
            </a:custGeom>
            <a:noFill/>
            <a:ln w="19050" cap="rnd">
              <a:solidFill>
                <a:srgbClr val="5B6170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Oval 58"/>
            <p:cNvSpPr/>
            <p:nvPr/>
          </p:nvSpPr>
          <p:spPr>
            <a:xfrm>
              <a:off x="5968133" y="4933536"/>
              <a:ext cx="64008" cy="64008"/>
            </a:xfrm>
            <a:prstGeom prst="ellipse">
              <a:avLst/>
            </a:prstGeom>
            <a:solidFill>
              <a:srgbClr val="C9CCD2"/>
            </a:solidFill>
            <a:ln w="63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7482023" y="4623090"/>
              <a:ext cx="91440" cy="91440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8940296" y="4718115"/>
              <a:ext cx="585064" cy="1981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200" b="0" i="0" lang="vi-VN">
                  <a:solidFill>
                    <a:srgbClr val="16181D"/>
                  </a:solidFill>
                  <a:latin typeface="IBM Plex Sans SemiBold"/>
                </a:rPr>
                <a:t>19,07%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10898772" y="4730498"/>
              <a:ext cx="652844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50" b="0" i="0" lang="vi-VN">
                  <a:solidFill>
                    <a:srgbClr val="5B6170"/>
                  </a:solidFill>
                  <a:latin typeface="IBM Plex Sans"/>
                </a:rPr>
                <a:t>+1,07 đ.%</a:t>
              </a:r>
            </a:p>
          </p:txBody>
        </p:sp>
        <p:sp>
          <p:nvSpPr>
            <p:cNvPr id="63" name="Isosceles Triangle 62"/>
            <p:cNvSpPr/>
            <p:nvPr/>
          </p:nvSpPr>
          <p:spPr>
            <a:xfrm>
              <a:off x="10738752" y="4773924"/>
              <a:ext cx="100584" cy="86502"/>
            </a:xfrm>
            <a:prstGeom prst="triangle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667512" y="5138835"/>
              <a:ext cx="1411719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Tăng trưởng huy động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667512" y="5332132"/>
              <a:ext cx="954830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50" b="0" i="0" lang="vi-VN">
                  <a:solidFill>
                    <a:srgbClr val="8A8F99"/>
                  </a:solidFill>
                  <a:latin typeface="IBM Plex Sans"/>
                </a:rPr>
                <a:t>NHNN, % cuối năm</a:t>
              </a:r>
            </a:p>
          </p:txBody>
        </p:sp>
        <p:sp>
          <p:nvSpPr>
            <p:cNvPr id="66" name="Freeform 65"/>
            <p:cNvSpPr/>
            <p:nvPr/>
          </p:nvSpPr>
          <p:spPr>
            <a:xfrm>
              <a:off x="4472532" y="5148420"/>
              <a:ext cx="3055211" cy="296730"/>
            </a:xfrm>
            <a:custGeom>
              <a:avLst/>
              <a:gdLst/>
              <a:ahLst/>
              <a:cxnLst/>
              <a:rect l="l" t="t" r="r" b="b"/>
              <a:pathLst>
                <a:path w="3055211" h="296730">
                  <a:moveTo>
                    <a:pt x="0" y="104966"/>
                  </a:moveTo>
                  <a:lnTo>
                    <a:pt x="305521" y="0"/>
                  </a:lnTo>
                  <a:lnTo>
                    <a:pt x="611042" y="79734"/>
                  </a:lnTo>
                  <a:lnTo>
                    <a:pt x="916563" y="137768"/>
                  </a:lnTo>
                  <a:lnTo>
                    <a:pt x="1222084" y="80996"/>
                  </a:lnTo>
                  <a:lnTo>
                    <a:pt x="1527605" y="112283"/>
                  </a:lnTo>
                  <a:lnTo>
                    <a:pt x="1833127" y="187980"/>
                  </a:lnTo>
                  <a:lnTo>
                    <a:pt x="2138648" y="296730"/>
                  </a:lnTo>
                  <a:lnTo>
                    <a:pt x="2444169" y="114807"/>
                  </a:lnTo>
                  <a:lnTo>
                    <a:pt x="2749690" y="178896"/>
                  </a:lnTo>
                  <a:lnTo>
                    <a:pt x="3055211" y="58791"/>
                  </a:lnTo>
                </a:path>
              </a:pathLst>
            </a:custGeom>
            <a:noFill/>
            <a:ln w="19050" cap="rnd">
              <a:solidFill>
                <a:srgbClr val="5B6170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6579176" y="5413146"/>
              <a:ext cx="64008" cy="64008"/>
            </a:xfrm>
            <a:prstGeom prst="ellipse">
              <a:avLst/>
            </a:prstGeom>
            <a:solidFill>
              <a:srgbClr val="C9CCD2"/>
            </a:solidFill>
            <a:ln w="63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Oval 67"/>
            <p:cNvSpPr/>
            <p:nvPr/>
          </p:nvSpPr>
          <p:spPr>
            <a:xfrm>
              <a:off x="7482023" y="5161491"/>
              <a:ext cx="91440" cy="91440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8940296" y="5197725"/>
              <a:ext cx="585064" cy="1981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200" b="0" i="0" lang="vi-VN">
                  <a:solidFill>
                    <a:srgbClr val="16181D"/>
                  </a:solidFill>
                  <a:latin typeface="IBM Plex Sans SemiBold"/>
                </a:rPr>
                <a:t>15,42%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0898772" y="5210108"/>
              <a:ext cx="652844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50" b="0" i="0" lang="vi-VN">
                  <a:solidFill>
                    <a:srgbClr val="5B6170"/>
                  </a:solidFill>
                  <a:latin typeface="IBM Plex Sans"/>
                </a:rPr>
                <a:t>+1,83 đ.%</a:t>
              </a:r>
            </a:p>
          </p:txBody>
        </p:sp>
        <p:sp>
          <p:nvSpPr>
            <p:cNvPr id="71" name="Isosceles Triangle 70"/>
            <p:cNvSpPr/>
            <p:nvPr/>
          </p:nvSpPr>
          <p:spPr>
            <a:xfrm>
              <a:off x="10738752" y="5253534"/>
              <a:ext cx="100584" cy="86502"/>
            </a:xfrm>
            <a:prstGeom prst="triangle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2" name="Connector 71"/>
            <p:cNvCxnSpPr/>
            <p:nvPr/>
          </p:nvCxnSpPr>
          <p:spPr>
            <a:xfrm>
              <a:off x="594360" y="5536590"/>
              <a:ext cx="11002975" cy="0"/>
            </a:xfrm>
            <a:prstGeom prst="line">
              <a:avLst/>
            </a:prstGeom>
            <a:ln w="9525" cap="flat">
              <a:solidFill>
                <a:srgbClr val="DEDBD2"/>
              </a:solidFill>
              <a:round/>
            </a:ln>
          </p:spPr>
        </p:cxnSp>
      </p:grpSp>
      <p:sp>
        <p:nvSpPr>
          <p:cNvPr id="73" name="TextBox 72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Nợ xấu theo IMF FSI tăng vọt lên 5,41% năm 2023 rồi giảm còn 4,21%; ROE âm năm 2023 (−20,1%).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Số IMF FSI gồm các tổ chức nhận tiền gửi; khác số nợ xấu nội bảng của NHNN. Chấm xám: điểm thấp nhất.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75" name="TextBox 74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IMF Financial Soundness Indicators (FSIC, Việt Nam, 2015–2025); NHNN.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2 · LÃI SUẤT HUY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Mô hình: lãi suất 12 tháng có thể lên 7,08% vào 3/2027 (khoảng 80%: 6,71–7,46%)</a:t>
            </a:r>
          </a:p>
        </p:txBody>
      </p:sp>
      <p:grpSp>
        <p:nvGrpSpPr>
          <p:cNvPr id="5" name="Chart · fan"/>
          <p:cNvGrpSpPr/>
          <p:nvPr/>
        </p:nvGrpSpPr>
        <p:grpSpPr>
          <a:xfrm>
            <a:off x="585216" y="1900619"/>
            <a:ext cx="10920679" cy="3368255"/>
            <a:chOff x="585216" y="1900619"/>
            <a:chExt cx="10920679" cy="3368255"/>
          </a:xfrm>
        </p:grpSpPr>
        <p:cxnSp>
          <p:nvCxnSpPr>
            <p:cNvPr id="6" name="Connector 5"/>
            <p:cNvCxnSpPr/>
            <p:nvPr/>
          </p:nvCxnSpPr>
          <p:spPr>
            <a:xfrm>
              <a:off x="594360" y="1987296"/>
              <a:ext cx="237744" cy="0"/>
            </a:xfrm>
            <a:prstGeom prst="line">
              <a:avLst/>
            </a:prstGeom>
            <a:ln w="28575" cap="rnd">
              <a:solidFill>
                <a:srgbClr val="16181D"/>
              </a:solidFill>
              <a:round/>
            </a:ln>
          </p:spPr>
        </p:cxnSp>
        <p:sp>
          <p:nvSpPr>
            <p:cNvPr id="7" name="TextBox 6"/>
            <p:cNvSpPr txBox="1"/>
            <p:nvPr/>
          </p:nvSpPr>
          <p:spPr>
            <a:xfrm>
              <a:off x="905256" y="1900619"/>
              <a:ext cx="1403337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Vietcombank 12 tháng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555481" y="1987296"/>
              <a:ext cx="237744" cy="0"/>
            </a:xfrm>
            <a:prstGeom prst="line">
              <a:avLst/>
            </a:prstGeom>
            <a:ln w="28575" cap="flat">
              <a:solidFill>
                <a:srgbClr val="2A78D6"/>
              </a:solidFill>
              <a:prstDash val="dash"/>
              <a:round/>
            </a:ln>
          </p:spPr>
        </p:cxnSp>
        <p:sp>
          <p:nvSpPr>
            <p:cNvPr id="9" name="TextBox 8"/>
            <p:cNvSpPr txBox="1"/>
            <p:nvPr/>
          </p:nvSpPr>
          <p:spPr>
            <a:xfrm>
              <a:off x="2866377" y="1900619"/>
              <a:ext cx="856469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Mô hình cơ sở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969734" y="1923288"/>
              <a:ext cx="237744" cy="128016"/>
            </a:xfrm>
            <a:prstGeom prst="rect">
              <a:avLst/>
            </a:prstGeom>
            <a:solidFill>
              <a:srgbClr val="2A78D6">
                <a:alpha val="2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280630" y="1900619"/>
              <a:ext cx="807796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Khoảng 80%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780288" y="5030622"/>
              <a:ext cx="9401759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3" name="TextBox 12"/>
            <p:cNvSpPr txBox="1"/>
            <p:nvPr/>
          </p:nvSpPr>
          <p:spPr>
            <a:xfrm>
              <a:off x="585216" y="4948072"/>
              <a:ext cx="1036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4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780288" y="4329227"/>
              <a:ext cx="9401759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5" name="TextBox 14"/>
            <p:cNvSpPr txBox="1"/>
            <p:nvPr/>
          </p:nvSpPr>
          <p:spPr>
            <a:xfrm>
              <a:off x="585216" y="4246677"/>
              <a:ext cx="1036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5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780288" y="3627831"/>
              <a:ext cx="9401759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7" name="TextBox 16"/>
            <p:cNvSpPr txBox="1"/>
            <p:nvPr/>
          </p:nvSpPr>
          <p:spPr>
            <a:xfrm>
              <a:off x="585216" y="3545281"/>
              <a:ext cx="1036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6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780288" y="2926436"/>
              <a:ext cx="9401759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9" name="TextBox 18"/>
            <p:cNvSpPr txBox="1"/>
            <p:nvPr/>
          </p:nvSpPr>
          <p:spPr>
            <a:xfrm>
              <a:off x="585216" y="2843886"/>
              <a:ext cx="1036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7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780288" y="2225040"/>
              <a:ext cx="9401759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21" name="TextBox 20"/>
            <p:cNvSpPr txBox="1"/>
            <p:nvPr/>
          </p:nvSpPr>
          <p:spPr>
            <a:xfrm>
              <a:off x="585216" y="2142490"/>
              <a:ext cx="1036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8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8129909" y="2225040"/>
              <a:ext cx="3375986" cy="2805582"/>
            </a:xfrm>
            <a:prstGeom prst="rect">
              <a:avLst/>
            </a:prstGeom>
            <a:solidFill>
              <a:srgbClr val="F1EF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203061" y="2261616"/>
              <a:ext cx="200700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 spc="80">
                  <a:solidFill>
                    <a:srgbClr val="5B6170"/>
                  </a:solidFill>
                  <a:latin typeface="IBM Plex Sans SemiBold"/>
                </a:rPr>
                <a:t>MÔ HÌNH, KHÔNG PHẢI DỰ BÁO</a:t>
              </a:r>
            </a:p>
          </p:txBody>
        </p:sp>
        <p:sp>
          <p:nvSpPr>
            <p:cNvPr id="24" name="Freeform 23"/>
            <p:cNvSpPr/>
            <p:nvPr/>
          </p:nvSpPr>
          <p:spPr>
            <a:xfrm>
              <a:off x="7953326" y="2604635"/>
              <a:ext cx="2118993" cy="1093336"/>
            </a:xfrm>
            <a:custGeom>
              <a:avLst/>
              <a:gdLst/>
              <a:ahLst/>
              <a:cxnLst/>
              <a:rect l="l" t="t" r="r" b="b"/>
              <a:pathLst>
                <a:path w="2118993" h="1093336">
                  <a:moveTo>
                    <a:pt x="0" y="1093336"/>
                  </a:moveTo>
                  <a:lnTo>
                    <a:pt x="353166" y="865312"/>
                  </a:lnTo>
                  <a:lnTo>
                    <a:pt x="706331" y="690314"/>
                  </a:lnTo>
                  <a:lnTo>
                    <a:pt x="1059497" y="515386"/>
                  </a:lnTo>
                  <a:lnTo>
                    <a:pt x="1412662" y="334285"/>
                  </a:lnTo>
                  <a:lnTo>
                    <a:pt x="1765828" y="168686"/>
                  </a:lnTo>
                  <a:lnTo>
                    <a:pt x="2118993" y="0"/>
                  </a:lnTo>
                  <a:lnTo>
                    <a:pt x="2118993" y="525346"/>
                  </a:lnTo>
                  <a:lnTo>
                    <a:pt x="1765828" y="648230"/>
                  </a:lnTo>
                  <a:lnTo>
                    <a:pt x="1412662" y="763189"/>
                  </a:lnTo>
                  <a:lnTo>
                    <a:pt x="1059497" y="886845"/>
                  </a:lnTo>
                  <a:lnTo>
                    <a:pt x="706331" y="993597"/>
                  </a:lnTo>
                  <a:lnTo>
                    <a:pt x="353166" y="1079729"/>
                  </a:lnTo>
                  <a:lnTo>
                    <a:pt x="0" y="1093336"/>
                  </a:lnTo>
                  <a:close/>
                </a:path>
              </a:pathLst>
            </a:custGeom>
            <a:solidFill>
              <a:srgbClr val="2A78D6">
                <a:alpha val="20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37680" y="5103774"/>
              <a:ext cx="30467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1/25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444011" y="5103774"/>
              <a:ext cx="30467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3/25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150342" y="5103774"/>
              <a:ext cx="30467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5/25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2856673" y="5103774"/>
              <a:ext cx="30467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7/25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563004" y="5103774"/>
              <a:ext cx="30467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9/25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231235" y="5103774"/>
              <a:ext cx="38087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11/25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975666" y="5103774"/>
              <a:ext cx="30467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1/26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681997" y="5103774"/>
              <a:ext cx="30467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3/26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388328" y="5103774"/>
              <a:ext cx="30467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5/26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094659" y="5103774"/>
              <a:ext cx="30467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7/26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800990" y="5103774"/>
              <a:ext cx="30467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9/26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469221" y="5103774"/>
              <a:ext cx="38087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11/26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213652" y="5103774"/>
              <a:ext cx="30467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1/27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919983" y="5103774"/>
              <a:ext cx="30467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3/27</a:t>
              </a:r>
            </a:p>
          </p:txBody>
        </p:sp>
        <p:sp>
          <p:nvSpPr>
            <p:cNvPr id="39" name="Freeform 38"/>
            <p:cNvSpPr/>
            <p:nvPr/>
          </p:nvSpPr>
          <p:spPr>
            <a:xfrm>
              <a:off x="890016" y="4609785"/>
              <a:ext cx="2825324" cy="0"/>
            </a:xfrm>
            <a:custGeom>
              <a:avLst/>
              <a:gdLst/>
              <a:ahLst/>
              <a:cxnLst/>
              <a:rect l="l" t="t" r="r" b="b"/>
              <a:pathLst>
                <a:path w="2825324" h="0">
                  <a:moveTo>
                    <a:pt x="0" y="0"/>
                  </a:moveTo>
                  <a:lnTo>
                    <a:pt x="353166" y="0"/>
                  </a:lnTo>
                  <a:lnTo>
                    <a:pt x="706331" y="0"/>
                  </a:lnTo>
                  <a:lnTo>
                    <a:pt x="1059497" y="0"/>
                  </a:lnTo>
                  <a:lnTo>
                    <a:pt x="1412662" y="0"/>
                  </a:lnTo>
                  <a:lnTo>
                    <a:pt x="1765828" y="0"/>
                  </a:lnTo>
                  <a:lnTo>
                    <a:pt x="2118993" y="0"/>
                  </a:lnTo>
                  <a:lnTo>
                    <a:pt x="2472159" y="0"/>
                  </a:lnTo>
                  <a:lnTo>
                    <a:pt x="2825324" y="0"/>
                  </a:lnTo>
                </a:path>
              </a:pathLst>
            </a:custGeom>
            <a:noFill/>
            <a:ln w="28575" cap="rnd">
              <a:solidFill>
                <a:srgbClr val="16181D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Freeform 39"/>
            <p:cNvSpPr/>
            <p:nvPr/>
          </p:nvSpPr>
          <p:spPr>
            <a:xfrm>
              <a:off x="5128002" y="3697971"/>
              <a:ext cx="2825324" cy="490977"/>
            </a:xfrm>
            <a:custGeom>
              <a:avLst/>
              <a:gdLst/>
              <a:ahLst/>
              <a:cxnLst/>
              <a:rect l="l" t="t" r="r" b="b"/>
              <a:pathLst>
                <a:path w="2825324" h="490977">
                  <a:moveTo>
                    <a:pt x="0" y="490977"/>
                  </a:moveTo>
                  <a:lnTo>
                    <a:pt x="353166" y="280558"/>
                  </a:lnTo>
                  <a:lnTo>
                    <a:pt x="706331" y="0"/>
                  </a:lnTo>
                  <a:lnTo>
                    <a:pt x="1059497" y="0"/>
                  </a:lnTo>
                  <a:lnTo>
                    <a:pt x="1412662" y="0"/>
                  </a:lnTo>
                  <a:lnTo>
                    <a:pt x="1765828" y="0"/>
                  </a:lnTo>
                  <a:lnTo>
                    <a:pt x="2118993" y="0"/>
                  </a:lnTo>
                  <a:lnTo>
                    <a:pt x="2472159" y="0"/>
                  </a:lnTo>
                  <a:lnTo>
                    <a:pt x="2825324" y="0"/>
                  </a:lnTo>
                </a:path>
              </a:pathLst>
            </a:custGeom>
            <a:noFill/>
            <a:ln w="28575" cap="rnd">
              <a:solidFill>
                <a:srgbClr val="16181D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7903034" y="3647679"/>
              <a:ext cx="100584" cy="100584"/>
            </a:xfrm>
            <a:prstGeom prst="ellipse">
              <a:avLst/>
            </a:prstGeom>
            <a:solidFill>
              <a:srgbClr val="16181D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Freeform 41"/>
            <p:cNvSpPr/>
            <p:nvPr/>
          </p:nvSpPr>
          <p:spPr>
            <a:xfrm>
              <a:off x="7953326" y="2867308"/>
              <a:ext cx="2118993" cy="830663"/>
            </a:xfrm>
            <a:custGeom>
              <a:avLst/>
              <a:gdLst/>
              <a:ahLst/>
              <a:cxnLst/>
              <a:rect l="l" t="t" r="r" b="b"/>
              <a:pathLst>
                <a:path w="2118993" h="830663">
                  <a:moveTo>
                    <a:pt x="0" y="830663"/>
                  </a:moveTo>
                  <a:lnTo>
                    <a:pt x="353166" y="709812"/>
                  </a:lnTo>
                  <a:lnTo>
                    <a:pt x="706331" y="579283"/>
                  </a:lnTo>
                  <a:lnTo>
                    <a:pt x="1059497" y="438442"/>
                  </a:lnTo>
                  <a:lnTo>
                    <a:pt x="1412662" y="286029"/>
                  </a:lnTo>
                  <a:lnTo>
                    <a:pt x="1765828" y="145750"/>
                  </a:lnTo>
                  <a:lnTo>
                    <a:pt x="2118993" y="0"/>
                  </a:lnTo>
                </a:path>
              </a:pathLst>
            </a:custGeom>
            <a:noFill/>
            <a:ln w="28575" cap="rnd">
              <a:solidFill>
                <a:srgbClr val="2A78D6"/>
              </a:solidFill>
              <a:prstDash val="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10022027" y="2817016"/>
              <a:ext cx="100584" cy="100584"/>
            </a:xfrm>
            <a:prstGeom prst="ellipse">
              <a:avLst/>
            </a:prstGeom>
            <a:solidFill>
              <a:srgbClr val="FFFFFF"/>
            </a:solidFill>
            <a:ln w="22225" cap="rnd">
              <a:solidFill>
                <a:srgbClr val="2A78D6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0218623" y="2784758"/>
              <a:ext cx="1244600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Mô hình cơ sở </a:t>
              </a:r>
              <a:r>
                <a:rPr sz="1000" b="0" i="0" lang="vi-VN">
                  <a:solidFill>
                    <a:srgbClr val="16181D"/>
                  </a:solidFill>
                  <a:latin typeface="IBM Plex Sans SemiBold"/>
                </a:rPr>
                <a:t>7,08%</a:t>
              </a:r>
            </a:p>
          </p:txBody>
        </p:sp>
      </p:grpSp>
      <p:sp>
        <p:nvSpPr>
          <p:cNvPr id="45" name="TextBox 44"/>
          <p:cNvSpPr txBox="1"/>
          <p:nvPr/>
        </p:nvSpPr>
        <p:spPr>
          <a:xfrm>
            <a:off x="594360" y="5560974"/>
            <a:ext cx="9631375" cy="6935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Lãi suất niêm yết 12 tháng của Vietcombank lên 5,9% từ tháng 3/2026, từ 4,6% suốt 2025; mô hình đưa đường cơ sở lên 7,08% sau sáu tháng.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Tháng 10–12/2025 chưa có số liệu (để trống). Khoảng 80% = cơ sở ± 1,28 × sai số chuẩn × √tháng.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47" name="TextBox 46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Vietcombank (lãi suất niêm yết); mô hình cấu trúc v2 của Vietnam Dashboard (7/10/2026) — minh hoạ, không phải dự báo chính thức.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2 · ĐỘ NHẠY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VN-Index, lợi suất 12 tháng là biến số tác động lớn nhất: chênh 0,93 điểm % lãi suất 12 tháng vào 3/2027</a:t>
            </a:r>
          </a:p>
        </p:txBody>
      </p:sp>
      <p:grpSp>
        <p:nvGrpSpPr>
          <p:cNvPr id="5" name="Chart · tornado"/>
          <p:cNvGrpSpPr/>
          <p:nvPr/>
        </p:nvGrpSpPr>
        <p:grpSpPr>
          <a:xfrm>
            <a:off x="594360" y="994020"/>
            <a:ext cx="10682614" cy="4516535"/>
            <a:chOff x="594360" y="994020"/>
            <a:chExt cx="10682614" cy="4516535"/>
          </a:xfrm>
        </p:grpSpPr>
        <p:sp>
          <p:nvSpPr>
            <p:cNvPr id="6" name="Rounded Rectangle 5"/>
            <p:cNvSpPr/>
            <p:nvPr/>
          </p:nvSpPr>
          <p:spPr>
            <a:xfrm>
              <a:off x="594360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95528" y="1900619"/>
              <a:ext cx="1012355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Biến ở mức thấp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054771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255939" y="1900619"/>
              <a:ext cx="950214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Biến ở mức cao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3353613" y="2444496"/>
              <a:ext cx="0" cy="2836062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1" name="TextBox 10"/>
            <p:cNvSpPr txBox="1"/>
            <p:nvPr/>
          </p:nvSpPr>
          <p:spPr>
            <a:xfrm>
              <a:off x="3195177" y="5353710"/>
              <a:ext cx="31687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6,6%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4647767" y="2444496"/>
              <a:ext cx="0" cy="2836062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3" name="TextBox 12"/>
            <p:cNvSpPr txBox="1"/>
            <p:nvPr/>
          </p:nvSpPr>
          <p:spPr>
            <a:xfrm>
              <a:off x="4489331" y="5353710"/>
              <a:ext cx="31687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6,8%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5941921" y="2444496"/>
              <a:ext cx="0" cy="2836062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5" name="TextBox 14"/>
            <p:cNvSpPr txBox="1"/>
            <p:nvPr/>
          </p:nvSpPr>
          <p:spPr>
            <a:xfrm>
              <a:off x="5783486" y="5353710"/>
              <a:ext cx="31687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7,0%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7236076" y="2444496"/>
              <a:ext cx="0" cy="2836062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7" name="TextBox 16"/>
            <p:cNvSpPr txBox="1"/>
            <p:nvPr/>
          </p:nvSpPr>
          <p:spPr>
            <a:xfrm>
              <a:off x="7077640" y="5353710"/>
              <a:ext cx="31687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7,2%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8530230" y="2444496"/>
              <a:ext cx="0" cy="2836062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9" name="TextBox 18"/>
            <p:cNvSpPr txBox="1"/>
            <p:nvPr/>
          </p:nvSpPr>
          <p:spPr>
            <a:xfrm>
              <a:off x="8371794" y="5353710"/>
              <a:ext cx="31687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7,4%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9824385" y="2444496"/>
              <a:ext cx="0" cy="2836062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21" name="TextBox 20"/>
            <p:cNvSpPr txBox="1"/>
            <p:nvPr/>
          </p:nvSpPr>
          <p:spPr>
            <a:xfrm>
              <a:off x="9665949" y="5353710"/>
              <a:ext cx="31687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7,6%</a:t>
              </a:r>
            </a:p>
          </p:txBody>
        </p:sp>
        <p:cxnSp>
          <p:nvCxnSpPr>
            <p:cNvPr id="22" name="Connector 21"/>
            <p:cNvCxnSpPr/>
            <p:nvPr/>
          </p:nvCxnSpPr>
          <p:spPr>
            <a:xfrm>
              <a:off x="11118539" y="2444496"/>
              <a:ext cx="0" cy="2836062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23" name="TextBox 22"/>
            <p:cNvSpPr txBox="1"/>
            <p:nvPr/>
          </p:nvSpPr>
          <p:spPr>
            <a:xfrm>
              <a:off x="10960103" y="5353710"/>
              <a:ext cx="31687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7,8%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44892" y="2586507"/>
              <a:ext cx="1701908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VN-Index, lợi suất 12 tháng</a:t>
              </a:r>
            </a:p>
          </p:txBody>
        </p:sp>
        <p:sp>
          <p:nvSpPr>
            <p:cNvPr id="25" name="Round Same Side Corner Rectangle 24"/>
            <p:cNvSpPr/>
            <p:nvPr/>
          </p:nvSpPr>
          <p:spPr>
            <a:xfrm rot="16200000">
              <a:off x="5061134" y="1351206"/>
              <a:ext cx="208590" cy="2643957"/>
            </a:xfrm>
            <a:prstGeom prst="round2SameRect">
              <a:avLst>
                <a:gd name="adj1" fmla="val 24110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392086" y="2594762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6,68%</a:t>
              </a:r>
            </a:p>
          </p:txBody>
        </p:sp>
        <p:sp>
          <p:nvSpPr>
            <p:cNvPr id="27" name="Round Same Side Corner Rectangle 26"/>
            <p:cNvSpPr/>
            <p:nvPr/>
          </p:nvSpPr>
          <p:spPr>
            <a:xfrm rot="5400000">
              <a:off x="8062278" y="994020"/>
              <a:ext cx="208590" cy="3358331"/>
            </a:xfrm>
            <a:prstGeom prst="round2SameRect">
              <a:avLst>
                <a:gd name="adj1" fmla="val 24110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900602" y="2594762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7,60%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09384" y="2934157"/>
              <a:ext cx="2037417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NHNN thay đổi lãi suất điều hành</a:t>
              </a:r>
            </a:p>
          </p:txBody>
        </p:sp>
        <p:sp>
          <p:nvSpPr>
            <p:cNvPr id="30" name="Round Same Side Corner Rectangle 29"/>
            <p:cNvSpPr/>
            <p:nvPr/>
          </p:nvSpPr>
          <p:spPr>
            <a:xfrm rot="16200000">
              <a:off x="5473969" y="2111691"/>
              <a:ext cx="208590" cy="1818287"/>
            </a:xfrm>
            <a:prstGeom prst="round2SameRect">
              <a:avLst>
                <a:gd name="adj1" fmla="val 24110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217756" y="2942412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6,80%</a:t>
              </a:r>
            </a:p>
          </p:txBody>
        </p:sp>
        <p:sp>
          <p:nvSpPr>
            <p:cNvPr id="32" name="Round Same Side Corner Rectangle 31"/>
            <p:cNvSpPr/>
            <p:nvPr/>
          </p:nvSpPr>
          <p:spPr>
            <a:xfrm rot="5400000">
              <a:off x="7292256" y="2111691"/>
              <a:ext cx="208590" cy="1818287"/>
            </a:xfrm>
            <a:prstGeom prst="round2SameRect">
              <a:avLst>
                <a:gd name="adj1" fmla="val 24110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360558" y="2942412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7,37%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03504" y="3281807"/>
              <a:ext cx="2143296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Tỷ giá trung tâm, thay đổi 12 tháng</a:t>
              </a:r>
            </a:p>
          </p:txBody>
        </p:sp>
        <p:sp>
          <p:nvSpPr>
            <p:cNvPr id="35" name="Round Same Side Corner Rectangle 34"/>
            <p:cNvSpPr/>
            <p:nvPr/>
          </p:nvSpPr>
          <p:spPr>
            <a:xfrm rot="16200000">
              <a:off x="5816920" y="2802292"/>
              <a:ext cx="208590" cy="1132385"/>
            </a:xfrm>
            <a:prstGeom prst="round2SameRect">
              <a:avLst>
                <a:gd name="adj1" fmla="val 24110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4903658" y="3290062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6,91%</a:t>
              </a:r>
            </a:p>
          </p:txBody>
        </p:sp>
        <p:sp>
          <p:nvSpPr>
            <p:cNvPr id="37" name="Round Same Side Corner Rectangle 36"/>
            <p:cNvSpPr/>
            <p:nvPr/>
          </p:nvSpPr>
          <p:spPr>
            <a:xfrm rot="5400000">
              <a:off x="7434613" y="2316984"/>
              <a:ext cx="208590" cy="2103001"/>
            </a:xfrm>
            <a:prstGeom prst="round2SameRect">
              <a:avLst>
                <a:gd name="adj1" fmla="val 24110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645272" y="3290062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7,41%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61136" y="3629457"/>
              <a:ext cx="1885664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Chênh lệch vàng SJC – thế giới</a:t>
              </a:r>
            </a:p>
          </p:txBody>
        </p:sp>
        <p:sp>
          <p:nvSpPr>
            <p:cNvPr id="40" name="Round Same Side Corner Rectangle 39"/>
            <p:cNvSpPr/>
            <p:nvPr/>
          </p:nvSpPr>
          <p:spPr>
            <a:xfrm rot="16200000">
              <a:off x="5763860" y="3096881"/>
              <a:ext cx="208590" cy="1238506"/>
            </a:xfrm>
            <a:prstGeom prst="round2SameRect">
              <a:avLst>
                <a:gd name="adj1" fmla="val 24110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797537" y="3637712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6,89%</a:t>
              </a:r>
            </a:p>
          </p:txBody>
        </p:sp>
        <p:sp>
          <p:nvSpPr>
            <p:cNvPr id="42" name="Round Same Side Corner Rectangle 41"/>
            <p:cNvSpPr/>
            <p:nvPr/>
          </p:nvSpPr>
          <p:spPr>
            <a:xfrm rot="5400000">
              <a:off x="7138899" y="2960348"/>
              <a:ext cx="208590" cy="1511572"/>
            </a:xfrm>
            <a:prstGeom prst="round2SameRect">
              <a:avLst>
                <a:gd name="adj1" fmla="val 24110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053844" y="3637712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7,32%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169975" y="3977107"/>
              <a:ext cx="1576826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Đà tăng giá căn hộ Hà Nội</a:t>
              </a:r>
            </a:p>
          </p:txBody>
        </p:sp>
        <p:sp>
          <p:nvSpPr>
            <p:cNvPr id="45" name="Round Same Side Corner Rectangle 44"/>
            <p:cNvSpPr/>
            <p:nvPr/>
          </p:nvSpPr>
          <p:spPr>
            <a:xfrm rot="16200000">
              <a:off x="5833097" y="3513769"/>
              <a:ext cx="208590" cy="1100031"/>
            </a:xfrm>
            <a:prstGeom prst="round2SameRect">
              <a:avLst>
                <a:gd name="adj1" fmla="val 24110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4936012" y="3985362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6,91%</a:t>
              </a:r>
            </a:p>
          </p:txBody>
        </p:sp>
        <p:sp>
          <p:nvSpPr>
            <p:cNvPr id="47" name="Round Same Side Corner Rectangle 46"/>
            <p:cNvSpPr/>
            <p:nvPr/>
          </p:nvSpPr>
          <p:spPr>
            <a:xfrm rot="5400000">
              <a:off x="6965482" y="3481415"/>
              <a:ext cx="208590" cy="1164739"/>
            </a:xfrm>
            <a:prstGeom prst="round2SameRect">
              <a:avLst>
                <a:gd name="adj1" fmla="val 24110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707010" y="3985362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7,26%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1582026" y="4324756"/>
              <a:ext cx="1164774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Lạm phát CPI (y/y)</a:t>
              </a:r>
            </a:p>
          </p:txBody>
        </p:sp>
        <p:sp>
          <p:nvSpPr>
            <p:cNvPr id="50" name="Round Same Side Corner Rectangle 49"/>
            <p:cNvSpPr/>
            <p:nvPr/>
          </p:nvSpPr>
          <p:spPr>
            <a:xfrm rot="16200000">
              <a:off x="5871922" y="3900243"/>
              <a:ext cx="208590" cy="1022382"/>
            </a:xfrm>
            <a:prstGeom prst="round2SameRect">
              <a:avLst>
                <a:gd name="adj1" fmla="val 24110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5013661" y="4333011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6,93%</a:t>
              </a:r>
            </a:p>
          </p:txBody>
        </p:sp>
        <p:sp>
          <p:nvSpPr>
            <p:cNvPr id="52" name="Round Same Side Corner Rectangle 51"/>
            <p:cNvSpPr/>
            <p:nvPr/>
          </p:nvSpPr>
          <p:spPr>
            <a:xfrm rot="5400000">
              <a:off x="6842537" y="3952009"/>
              <a:ext cx="208590" cy="918850"/>
            </a:xfrm>
            <a:prstGeom prst="round2SameRect">
              <a:avLst>
                <a:gd name="adj1" fmla="val 24110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7461121" y="4333011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7,23%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218381" y="4672406"/>
              <a:ext cx="1528420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Tín dụng khác tăng thêm</a:t>
              </a:r>
            </a:p>
          </p:txBody>
        </p:sp>
        <p:sp>
          <p:nvSpPr>
            <p:cNvPr id="55" name="Round Same Side Corner Rectangle 54"/>
            <p:cNvSpPr/>
            <p:nvPr/>
          </p:nvSpPr>
          <p:spPr>
            <a:xfrm rot="16200000">
              <a:off x="5922394" y="4298365"/>
              <a:ext cx="208590" cy="921438"/>
            </a:xfrm>
            <a:prstGeom prst="round2SameRect">
              <a:avLst>
                <a:gd name="adj1" fmla="val 24110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5114605" y="4680661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6,94%</a:t>
              </a:r>
            </a:p>
          </p:txBody>
        </p:sp>
        <p:sp>
          <p:nvSpPr>
            <p:cNvPr id="57" name="Round Same Side Corner Rectangle 56"/>
            <p:cNvSpPr/>
            <p:nvPr/>
          </p:nvSpPr>
          <p:spPr>
            <a:xfrm rot="5400000">
              <a:off x="6843832" y="4298365"/>
              <a:ext cx="208590" cy="921438"/>
            </a:xfrm>
            <a:prstGeom prst="round2SameRect">
              <a:avLst>
                <a:gd name="adj1" fmla="val 24110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7463709" y="4680661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7,23%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929811" y="5020056"/>
              <a:ext cx="1816989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Cán cân thương mại hàng hoá</a:t>
              </a:r>
            </a:p>
          </p:txBody>
        </p:sp>
        <p:sp>
          <p:nvSpPr>
            <p:cNvPr id="60" name="Round Same Side Corner Rectangle 59"/>
            <p:cNvSpPr/>
            <p:nvPr/>
          </p:nvSpPr>
          <p:spPr>
            <a:xfrm rot="5400000">
              <a:off x="6691121" y="4798725"/>
              <a:ext cx="208590" cy="616017"/>
            </a:xfrm>
            <a:prstGeom prst="round2SameRect">
              <a:avLst>
                <a:gd name="adj1" fmla="val 24110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158289" y="5028311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7,18%</a:t>
              </a:r>
            </a:p>
          </p:txBody>
        </p:sp>
        <p:sp>
          <p:nvSpPr>
            <p:cNvPr id="62" name="Round Same Side Corner Rectangle 61"/>
            <p:cNvSpPr/>
            <p:nvPr/>
          </p:nvSpPr>
          <p:spPr>
            <a:xfrm rot="16200000">
              <a:off x="5990337" y="4713958"/>
              <a:ext cx="208590" cy="785552"/>
            </a:xfrm>
            <a:prstGeom prst="round2SameRect">
              <a:avLst>
                <a:gd name="adj1" fmla="val 24110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5250492" y="5028311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6,96%</a:t>
              </a:r>
            </a:p>
          </p:txBody>
        </p:sp>
        <p:cxnSp>
          <p:nvCxnSpPr>
            <p:cNvPr id="64" name="Connector 63"/>
            <p:cNvCxnSpPr/>
            <p:nvPr/>
          </p:nvCxnSpPr>
          <p:spPr>
            <a:xfrm>
              <a:off x="6487408" y="2444496"/>
              <a:ext cx="0" cy="2854350"/>
            </a:xfrm>
            <a:prstGeom prst="line">
              <a:avLst/>
            </a:prstGeom>
            <a:ln w="15875" cap="flat">
              <a:solidFill>
                <a:srgbClr val="16181D"/>
              </a:solidFill>
              <a:round/>
            </a:ln>
          </p:spPr>
        </p:cxnSp>
        <p:sp>
          <p:nvSpPr>
            <p:cNvPr id="65" name="TextBox 64"/>
            <p:cNvSpPr txBox="1"/>
            <p:nvPr/>
          </p:nvSpPr>
          <p:spPr>
            <a:xfrm>
              <a:off x="5872283" y="2206752"/>
              <a:ext cx="1230249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16181D"/>
                  </a:solidFill>
                  <a:latin typeface="IBM Plex Sans SemiBold"/>
                </a:rPr>
                <a:t>Cơ sở 3/2027 7,08%</a:t>
              </a:r>
            </a:p>
          </p:txBody>
        </p:sp>
      </p:grpSp>
      <p:sp>
        <p:nvSpPr>
          <p:cNvPr id="66" name="TextBox 65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Mỗi thanh: lãi suất mô hình tháng 3/2027 khi một biến ở mức thấp hoặc cao, các biến khác giữ cơ sở (7,08%).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Cán cân thương mại tác động ngược chiều: thặng dư cao làm lãi suất mô hình thấp hơn.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68" name="TextBox 67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Vietnam Dashboard — mô hình cấu trúc v2, phân tích độ nhạy 21 biến (8 biến lớn nhất); minh hoạ, không phải dự báo.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2 · CƠ CHẾ TRUYỀN DẪN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Lãi suất điều hành đến lạm phát qua ba tầng: thị trường liên ngân hàng, lãi suất bán lẻ, rồi tín dụng</a:t>
            </a:r>
          </a:p>
        </p:txBody>
      </p:sp>
      <p:grpSp>
        <p:nvGrpSpPr>
          <p:cNvPr id="5" name="Chart · levers"/>
          <p:cNvGrpSpPr/>
          <p:nvPr/>
        </p:nvGrpSpPr>
        <p:grpSpPr>
          <a:xfrm>
            <a:off x="594360" y="1895856"/>
            <a:ext cx="11002975" cy="3512007"/>
            <a:chOff x="594360" y="1895856"/>
            <a:chExt cx="11002975" cy="3512007"/>
          </a:xfrm>
        </p:grpSpPr>
        <p:sp>
          <p:nvSpPr>
            <p:cNvPr id="6" name="TextBox 5"/>
            <p:cNvSpPr txBox="1"/>
            <p:nvPr/>
          </p:nvSpPr>
          <p:spPr>
            <a:xfrm>
              <a:off x="594360" y="1895856"/>
              <a:ext cx="1080364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 spc="100">
                  <a:solidFill>
                    <a:srgbClr val="C2362F"/>
                  </a:solidFill>
                  <a:latin typeface="IBM Plex Sans SemiBold"/>
                </a:rPr>
                <a:t>CÔNG CỤ NHNN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16554" y="1895856"/>
              <a:ext cx="1463497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 spc="100">
                  <a:solidFill>
                    <a:srgbClr val="C2362F"/>
                  </a:solidFill>
                  <a:latin typeface="IBM Plex Sans SemiBold"/>
                </a:rPr>
                <a:t>THỊ TRƯỜNG TIỀN TỆ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438748" y="1895856"/>
              <a:ext cx="851154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 spc="100">
                  <a:solidFill>
                    <a:srgbClr val="C2362F"/>
                  </a:solidFill>
                  <a:latin typeface="IBM Plex Sans SemiBold"/>
                </a:rPr>
                <a:t>NGÂN HÀNG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360941" y="1895856"/>
              <a:ext cx="61908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 spc="100">
                  <a:solidFill>
                    <a:srgbClr val="C2362F"/>
                  </a:solidFill>
                  <a:latin typeface="IBM Plex Sans SemiBold"/>
                </a:rPr>
                <a:t>KẾT QUẢ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2830754" y="2801823"/>
              <a:ext cx="667512" cy="548640"/>
            </a:xfrm>
            <a:prstGeom prst="line">
              <a:avLst/>
            </a:prstGeom>
            <a:ln w="15875" cap="rnd">
              <a:solidFill>
                <a:srgbClr val="16181D"/>
              </a:solidFill>
              <a:round/>
              <a:tailEnd type="triangle" w="med" len="med"/>
            </a:ln>
          </p:spPr>
        </p:cxnSp>
        <p:cxnSp>
          <p:nvCxnSpPr>
            <p:cNvPr id="11" name="Connector 10"/>
            <p:cNvCxnSpPr/>
            <p:nvPr/>
          </p:nvCxnSpPr>
          <p:spPr>
            <a:xfrm flipV="1">
              <a:off x="2830754" y="3350463"/>
              <a:ext cx="667512" cy="548640"/>
            </a:xfrm>
            <a:prstGeom prst="line">
              <a:avLst/>
            </a:prstGeom>
            <a:ln w="12700" cap="rnd">
              <a:solidFill>
                <a:srgbClr val="C9CCD2"/>
              </a:solidFill>
              <a:round/>
              <a:tailEnd type="triangle" w="med" len="med"/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2830754" y="3899103"/>
              <a:ext cx="667512" cy="548640"/>
            </a:xfrm>
            <a:prstGeom prst="line">
              <a:avLst/>
            </a:prstGeom>
            <a:ln w="12700" cap="rnd">
              <a:solidFill>
                <a:srgbClr val="C9CCD2"/>
              </a:solidFill>
              <a:round/>
              <a:tailEnd type="triangle" w="med" len="med"/>
            </a:ln>
          </p:spPr>
        </p:cxnSp>
        <p:cxnSp>
          <p:nvCxnSpPr>
            <p:cNvPr id="13" name="Connector 12"/>
            <p:cNvCxnSpPr/>
            <p:nvPr/>
          </p:nvCxnSpPr>
          <p:spPr>
            <a:xfrm flipV="1">
              <a:off x="2830754" y="4447743"/>
              <a:ext cx="667512" cy="548640"/>
            </a:xfrm>
            <a:prstGeom prst="line">
              <a:avLst/>
            </a:prstGeom>
            <a:ln w="12700" cap="rnd">
              <a:solidFill>
                <a:srgbClr val="C9CCD2"/>
              </a:solidFill>
              <a:round/>
              <a:tailEnd type="triangle" w="med" len="med"/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5752948" y="3350463"/>
              <a:ext cx="667512" cy="0"/>
            </a:xfrm>
            <a:prstGeom prst="line">
              <a:avLst/>
            </a:prstGeom>
            <a:ln w="15875" cap="rnd">
              <a:solidFill>
                <a:srgbClr val="16181D"/>
              </a:solidFill>
              <a:round/>
              <a:tailEnd type="triangle" w="med" len="med"/>
            </a:ln>
          </p:spPr>
        </p:cxnSp>
        <p:cxnSp>
          <p:nvCxnSpPr>
            <p:cNvPr id="15" name="Connector 14"/>
            <p:cNvCxnSpPr/>
            <p:nvPr/>
          </p:nvCxnSpPr>
          <p:spPr>
            <a:xfrm flipV="1">
              <a:off x="5752948" y="3350463"/>
              <a:ext cx="667512" cy="1097280"/>
            </a:xfrm>
            <a:prstGeom prst="line">
              <a:avLst/>
            </a:prstGeom>
            <a:ln w="12700" cap="rnd">
              <a:solidFill>
                <a:srgbClr val="C9CCD2"/>
              </a:solidFill>
              <a:round/>
              <a:tailEnd type="triangle" w="med" len="med"/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7556944" y="3761943"/>
              <a:ext cx="0" cy="256032"/>
            </a:xfrm>
            <a:prstGeom prst="line">
              <a:avLst/>
            </a:prstGeom>
            <a:ln w="15875" cap="rnd">
              <a:solidFill>
                <a:srgbClr val="16181D"/>
              </a:solidFill>
              <a:round/>
              <a:tailEnd type="triangle" w="med" len="med"/>
            </a:ln>
          </p:spPr>
        </p:cxnSp>
        <p:cxnSp>
          <p:nvCxnSpPr>
            <p:cNvPr id="17" name="Connector 16"/>
            <p:cNvCxnSpPr/>
            <p:nvPr/>
          </p:nvCxnSpPr>
          <p:spPr>
            <a:xfrm flipV="1">
              <a:off x="8675141" y="3350463"/>
              <a:ext cx="667512" cy="1097280"/>
            </a:xfrm>
            <a:prstGeom prst="line">
              <a:avLst/>
            </a:prstGeom>
            <a:ln w="15875" cap="rnd">
              <a:solidFill>
                <a:srgbClr val="16181D"/>
              </a:solidFill>
              <a:round/>
              <a:tailEnd type="triangle" w="med" len="med"/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8675141" y="4447743"/>
              <a:ext cx="667512" cy="0"/>
            </a:xfrm>
            <a:prstGeom prst="line">
              <a:avLst/>
            </a:prstGeom>
            <a:ln w="15875" cap="rnd">
              <a:solidFill>
                <a:srgbClr val="16181D"/>
              </a:solidFill>
              <a:round/>
              <a:tailEnd type="triangle" w="med" len="med"/>
            </a:ln>
          </p:spPr>
        </p:cxnSp>
        <p:sp>
          <p:nvSpPr>
            <p:cNvPr id="19" name="Rounded Rectangle 18"/>
            <p:cNvSpPr/>
            <p:nvPr/>
          </p:nvSpPr>
          <p:spPr>
            <a:xfrm>
              <a:off x="594360" y="2390343"/>
              <a:ext cx="2236394" cy="822960"/>
            </a:xfrm>
            <a:prstGeom prst="roundRect">
              <a:avLst>
                <a:gd name="adj" fmla="val 6666"/>
              </a:avLst>
            </a:prstGeom>
            <a:solidFill>
              <a:srgbClr val="FAF8F3"/>
            </a:solidFill>
            <a:ln w="15875" cap="rnd">
              <a:solidFill>
                <a:srgbClr val="16181D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04088" y="2445207"/>
              <a:ext cx="2016938" cy="7132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00" b="0" i="0" lang="vi-VN">
                  <a:solidFill>
                    <a:srgbClr val="16181D"/>
                  </a:solidFill>
                  <a:latin typeface="IBM Plex Sans SemiBold"/>
                </a:rPr>
                <a:t>Lãi suất điều hành</a:t>
              </a:r>
            </a:p>
            <a:p>
              <a:pPr algn="l">
                <a:lnSpc>
                  <a:spcPct val="100000"/>
                </a:lnSpc>
                <a:spcBef>
                  <a:spcPts val="200"/>
                </a:spcBef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tái cấp vốn, tái chiết khấu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594360" y="3487623"/>
              <a:ext cx="2236394" cy="822960"/>
            </a:xfrm>
            <a:prstGeom prst="roundRect">
              <a:avLst>
                <a:gd name="adj" fmla="val 6666"/>
              </a:avLst>
            </a:prstGeom>
            <a:solidFill>
              <a:srgbClr val="FFFFFF"/>
            </a:solidFill>
            <a:ln w="9525" cap="rnd">
              <a:solidFill>
                <a:srgbClr val="C9CCD2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04088" y="3542487"/>
              <a:ext cx="2016938" cy="7132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00" b="0" i="0" lang="vi-VN">
                  <a:solidFill>
                    <a:srgbClr val="5B6170"/>
                  </a:solidFill>
                  <a:latin typeface="IBM Plex Sans SemiBold"/>
                </a:rPr>
                <a:t>Thị trường mở (OMO)</a:t>
              </a:r>
            </a:p>
            <a:p>
              <a:pPr algn="l">
                <a:lnSpc>
                  <a:spcPct val="100000"/>
                </a:lnSpc>
                <a:spcBef>
                  <a:spcPts val="200"/>
                </a:spcBef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bơm / hút, tín phiếu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594360" y="4584903"/>
              <a:ext cx="2236394" cy="822960"/>
            </a:xfrm>
            <a:prstGeom prst="roundRect">
              <a:avLst>
                <a:gd name="adj" fmla="val 6666"/>
              </a:avLst>
            </a:prstGeom>
            <a:solidFill>
              <a:srgbClr val="FFFFFF"/>
            </a:solidFill>
            <a:ln w="9525" cap="rnd">
              <a:solidFill>
                <a:srgbClr val="C9CCD2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04088" y="4639767"/>
              <a:ext cx="2016938" cy="7132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00" b="0" i="0" lang="vi-VN">
                  <a:solidFill>
                    <a:srgbClr val="5B6170"/>
                  </a:solidFill>
                  <a:latin typeface="IBM Plex Sans SemiBold"/>
                </a:rPr>
                <a:t>Mua bán ngoại tệ</a:t>
              </a:r>
            </a:p>
            <a:p>
              <a:pPr algn="l">
                <a:lnSpc>
                  <a:spcPct val="100000"/>
                </a:lnSpc>
                <a:spcBef>
                  <a:spcPts val="200"/>
                </a:spcBef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dự trữ, tỷ giá trung tâm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516554" y="2938983"/>
              <a:ext cx="2236394" cy="822960"/>
            </a:xfrm>
            <a:prstGeom prst="roundRect">
              <a:avLst>
                <a:gd name="adj" fmla="val 6666"/>
              </a:avLst>
            </a:prstGeom>
            <a:solidFill>
              <a:srgbClr val="FAF8F3"/>
            </a:solidFill>
            <a:ln w="15875" cap="rnd">
              <a:solidFill>
                <a:srgbClr val="16181D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626282" y="2993847"/>
              <a:ext cx="2016938" cy="7132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00" b="0" i="0" lang="vi-VN">
                  <a:solidFill>
                    <a:srgbClr val="16181D"/>
                  </a:solidFill>
                  <a:latin typeface="IBM Plex Sans SemiBold"/>
                </a:rPr>
                <a:t>Lãi suất liên ngân hàng</a:t>
              </a:r>
            </a:p>
            <a:p>
              <a:pPr algn="l">
                <a:lnSpc>
                  <a:spcPct val="100000"/>
                </a:lnSpc>
                <a:spcBef>
                  <a:spcPts val="200"/>
                </a:spcBef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chi phí vốn ngắn hạn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3516554" y="4036263"/>
              <a:ext cx="2236394" cy="822960"/>
            </a:xfrm>
            <a:prstGeom prst="roundRect">
              <a:avLst>
                <a:gd name="adj" fmla="val 6666"/>
              </a:avLst>
            </a:prstGeom>
            <a:solidFill>
              <a:srgbClr val="FFFFFF"/>
            </a:solidFill>
            <a:ln w="9525" cap="rnd">
              <a:solidFill>
                <a:srgbClr val="C9CCD2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626282" y="4091127"/>
              <a:ext cx="2016938" cy="7132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00" b="0" i="0" lang="vi-VN">
                  <a:solidFill>
                    <a:srgbClr val="5B6170"/>
                  </a:solidFill>
                  <a:latin typeface="IBM Plex Sans SemiBold"/>
                </a:rPr>
                <a:t>Thanh khoản hệ thống</a:t>
              </a:r>
            </a:p>
            <a:p>
              <a:pPr algn="l">
                <a:lnSpc>
                  <a:spcPct val="100000"/>
                </a:lnSpc>
                <a:spcBef>
                  <a:spcPts val="200"/>
                </a:spcBef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LDR, tiền gửi KBNN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6438748" y="2938983"/>
              <a:ext cx="2236394" cy="822960"/>
            </a:xfrm>
            <a:prstGeom prst="roundRect">
              <a:avLst>
                <a:gd name="adj" fmla="val 6666"/>
              </a:avLst>
            </a:prstGeom>
            <a:solidFill>
              <a:srgbClr val="FAF8F3"/>
            </a:solidFill>
            <a:ln w="15875" cap="rnd">
              <a:solidFill>
                <a:srgbClr val="16181D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548476" y="2993847"/>
              <a:ext cx="2016938" cy="7132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00" b="0" i="0" lang="vi-VN">
                  <a:solidFill>
                    <a:srgbClr val="16181D"/>
                  </a:solidFill>
                  <a:latin typeface="IBM Plex Sans SemiBold"/>
                </a:rPr>
                <a:t>Lãi suất huy động, cho vay</a:t>
              </a:r>
            </a:p>
            <a:p>
              <a:pPr algn="l">
                <a:lnSpc>
                  <a:spcPct val="100000"/>
                </a:lnSpc>
                <a:spcBef>
                  <a:spcPts val="200"/>
                </a:spcBef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niêm yết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438748" y="4036263"/>
              <a:ext cx="2236394" cy="822960"/>
            </a:xfrm>
            <a:prstGeom prst="roundRect">
              <a:avLst>
                <a:gd name="adj" fmla="val 6666"/>
              </a:avLst>
            </a:prstGeom>
            <a:solidFill>
              <a:srgbClr val="FAF8F3"/>
            </a:solidFill>
            <a:ln w="15875" cap="rnd">
              <a:solidFill>
                <a:srgbClr val="16181D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548476" y="4091127"/>
              <a:ext cx="2016938" cy="7132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00" b="0" i="0" lang="vi-VN">
                  <a:solidFill>
                    <a:srgbClr val="16181D"/>
                  </a:solidFill>
                  <a:latin typeface="IBM Plex Sans SemiBold"/>
                </a:rPr>
                <a:t>Tín dụng</a:t>
              </a:r>
            </a:p>
            <a:p>
              <a:pPr algn="l">
                <a:lnSpc>
                  <a:spcPct val="100000"/>
                </a:lnSpc>
                <a:spcBef>
                  <a:spcPts val="200"/>
                </a:spcBef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trong chỉ tiêu NHNN giao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360941" y="2938983"/>
              <a:ext cx="2236394" cy="822960"/>
            </a:xfrm>
            <a:prstGeom prst="roundRect">
              <a:avLst>
                <a:gd name="adj" fmla="val 6666"/>
              </a:avLst>
            </a:prstGeom>
            <a:solidFill>
              <a:srgbClr val="FAF8F3"/>
            </a:solidFill>
            <a:ln w="15875" cap="rnd">
              <a:solidFill>
                <a:srgbClr val="16181D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470669" y="2993847"/>
              <a:ext cx="2016938" cy="7132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00" b="0" i="0" lang="vi-VN">
                  <a:solidFill>
                    <a:srgbClr val="16181D"/>
                  </a:solidFill>
                  <a:latin typeface="IBM Plex Sans SemiBold"/>
                </a:rPr>
                <a:t>Lạm phát (CPI)</a:t>
              </a:r>
            </a:p>
            <a:p>
              <a:pPr algn="l">
                <a:lnSpc>
                  <a:spcPct val="100000"/>
                </a:lnSpc>
                <a:spcBef>
                  <a:spcPts val="200"/>
                </a:spcBef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giá tiêu dùng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9360941" y="4036263"/>
              <a:ext cx="2236394" cy="822960"/>
            </a:xfrm>
            <a:prstGeom prst="roundRect">
              <a:avLst>
                <a:gd name="adj" fmla="val 6666"/>
              </a:avLst>
            </a:prstGeom>
            <a:solidFill>
              <a:srgbClr val="FAF8F3"/>
            </a:solidFill>
            <a:ln w="15875" cap="rnd">
              <a:solidFill>
                <a:srgbClr val="16181D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470669" y="4091127"/>
              <a:ext cx="2016938" cy="7132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00" b="0" i="0" lang="vi-VN">
                  <a:solidFill>
                    <a:srgbClr val="16181D"/>
                  </a:solidFill>
                  <a:latin typeface="IBM Plex Sans SemiBold"/>
                </a:rPr>
                <a:t>Tăng trưởng GDP</a:t>
              </a:r>
            </a:p>
            <a:p>
              <a:pPr algn="l">
                <a:lnSpc>
                  <a:spcPct val="100000"/>
                </a:lnSpc>
                <a:spcBef>
                  <a:spcPts val="200"/>
                </a:spcBef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đầu tư, tiêu dùng</a:t>
              </a:r>
            </a:p>
          </p:txBody>
        </p:sp>
      </p:grpSp>
      <p:sp>
        <p:nvSpPr>
          <p:cNvPr id="37" name="TextBox 36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Đường đậm: kênh lãi suất — từ lãi suất điều hành qua liên ngân hàng, lãi suất bán lẻ tới tín dụng, CPI và GDP.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Sơ đồ định tính, không đo độ mạnh của từng kênh; chỉ tiêu tín dụng giới hạn trực tiếp dư nợ.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39" name="TextBox 38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Vietnam Dashboard — Hệ thống tài chính, Chương 7 (các đòn bẩy cung tiền); khung minh hoạ.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2 · NHẬN ĐỊNH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8412480" cy="5157216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960120"/>
            <a:ext cx="54864" cy="5157216"/>
          </a:xfrm>
          <a:prstGeom prst="rect">
            <a:avLst/>
          </a:prstGeom>
          <a:solidFill>
            <a:srgbClr val="1618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914400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80000"/>
              </a:lnSpc>
            </a:pPr>
            <a:r>
              <a:rPr sz="9600" b="1" i="0" lang="vi-VN">
                <a:solidFill>
                  <a:srgbClr val="C2362F"/>
                </a:solidFill>
                <a:latin typeface="Newsreader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783080"/>
            <a:ext cx="7498080" cy="222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2300" b="0" i="0" lang="vi-VN">
                <a:solidFill>
                  <a:srgbClr val="16181D"/>
                </a:solidFill>
                <a:latin typeface="Newsreader Medium"/>
              </a:rPr>
              <a:t>Tín dụng tăng nhanh hơn huy động trong 9/11 năm 2015–2025, trừ 2019 (13,65% so với 14,54%) và 2020 (12,2% so với 13,3%); khoảng chênh mở rộng từ 2021, lớn nhất năm 2022 (14,2% so với 5,99%) và 2024 (15,09% so với 10,66%).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195572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 lang="vi-VN">
                <a:solidFill>
                  <a:srgbClr val="16181D"/>
                </a:solidFill>
                <a:latin typeface="IBM Plex Sans SemiBold"/>
              </a:rPr>
              <a:t>— Vietnam Dashboard</a:t>
            </a:r>
          </a:p>
          <a:p>
            <a:pPr algn="l">
              <a:lnSpc>
                <a:spcPct val="120000"/>
              </a:lnSpc>
            </a:pPr>
            <a:r>
              <a:rPr sz="1050" b="0" i="0" lang="vi-VN">
                <a:solidFill>
                  <a:srgbClr val="5B6170"/>
                </a:solidFill>
                <a:latin typeface="IBM Plex Sans"/>
              </a:rPr>
              <a:t>Phân tích Hệ thống tài chính · 6/10/2026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372600" y="1143000"/>
            <a:ext cx="0" cy="914400"/>
          </a:xfrm>
          <a:prstGeom prst="line">
            <a:avLst/>
          </a:prstGeom>
          <a:ln w="31750" cap="flat">
            <a:solidFill>
              <a:srgbClr val="16181D"/>
            </a:solidFill>
            <a:round/>
          </a:ln>
        </p:spPr>
      </p:cxnSp>
      <p:sp>
        <p:nvSpPr>
          <p:cNvPr id="10" name="TextBox 9"/>
          <p:cNvSpPr txBox="1"/>
          <p:nvPr/>
        </p:nvSpPr>
        <p:spPr>
          <a:xfrm>
            <a:off x="9555480" y="1143000"/>
            <a:ext cx="204185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 lang="vi-VN" spc="60">
                <a:solidFill>
                  <a:srgbClr val="5B6170"/>
                </a:solidFill>
                <a:latin typeface="IBM Plex Sans SemiBold"/>
              </a:rPr>
              <a:t>NĂM TÍN DỤNG NHANH HƠN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5480" y="1380744"/>
            <a:ext cx="204185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sz="2400" b="1" i="0" lang="vi-VN">
                <a:solidFill>
                  <a:srgbClr val="16181D"/>
                </a:solidFill>
                <a:latin typeface="IBM Plex Sans"/>
              </a:rPr>
              <a:t>9/11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1801368"/>
            <a:ext cx="2041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 lang="vi-VN">
                <a:solidFill>
                  <a:srgbClr val="8A8F99"/>
                </a:solidFill>
                <a:latin typeface="IBM Plex Sans"/>
              </a:rPr>
              <a:t>2015–2025, NHNN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72600" y="2377440"/>
            <a:ext cx="0" cy="914400"/>
          </a:xfrm>
          <a:prstGeom prst="line">
            <a:avLst/>
          </a:prstGeom>
          <a:ln w="31750" cap="flat">
            <a:solidFill>
              <a:srgbClr val="16181D"/>
            </a:solidFill>
            <a:round/>
          </a:ln>
        </p:spPr>
      </p:cxnSp>
      <p:sp>
        <p:nvSpPr>
          <p:cNvPr id="14" name="TextBox 13"/>
          <p:cNvSpPr txBox="1"/>
          <p:nvPr/>
        </p:nvSpPr>
        <p:spPr>
          <a:xfrm>
            <a:off x="9555480" y="2377440"/>
            <a:ext cx="204185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 lang="vi-VN" spc="60">
                <a:solidFill>
                  <a:srgbClr val="5B6170"/>
                </a:solidFill>
                <a:latin typeface="IBM Plex Sans SemiBold"/>
              </a:rPr>
              <a:t>CHÊNH LỆCH 2022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55480" y="2615184"/>
            <a:ext cx="204185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sz="2400" b="1" i="0" lang="vi-VN">
                <a:solidFill>
                  <a:srgbClr val="16181D"/>
                </a:solidFill>
                <a:latin typeface="IBM Plex Sans"/>
              </a:rPr>
              <a:t>8,21 đ.%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55480" y="3035808"/>
            <a:ext cx="2041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 lang="vi-VN">
                <a:solidFill>
                  <a:srgbClr val="8A8F99"/>
                </a:solidFill>
                <a:latin typeface="IBM Plex Sans"/>
              </a:rPr>
              <a:t>14,2% so với 5,99%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372600" y="3611880"/>
            <a:ext cx="0" cy="914400"/>
          </a:xfrm>
          <a:prstGeom prst="line">
            <a:avLst/>
          </a:prstGeom>
          <a:ln w="31750" cap="flat">
            <a:solidFill>
              <a:srgbClr val="16181D"/>
            </a:solidFill>
            <a:round/>
          </a:ln>
        </p:spPr>
      </p:cxnSp>
      <p:sp>
        <p:nvSpPr>
          <p:cNvPr id="18" name="TextBox 17"/>
          <p:cNvSpPr txBox="1"/>
          <p:nvPr/>
        </p:nvSpPr>
        <p:spPr>
          <a:xfrm>
            <a:off x="9555480" y="3611880"/>
            <a:ext cx="204185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 lang="vi-VN" spc="60">
                <a:solidFill>
                  <a:srgbClr val="5B6170"/>
                </a:solidFill>
                <a:latin typeface="IBM Plex Sans SemiBold"/>
              </a:rPr>
              <a:t>CHO VAY VƯỢT TIỀN GỬI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5480" y="3849624"/>
            <a:ext cx="204185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sz="2400" b="1" i="0" lang="vi-VN">
                <a:solidFill>
                  <a:srgbClr val="16181D"/>
                </a:solidFill>
                <a:latin typeface="IBM Plex Sans"/>
              </a:rPr>
              <a:t>2023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4270248"/>
            <a:ext cx="2041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 lang="vi-VN">
                <a:solidFill>
                  <a:srgbClr val="8A8F99"/>
                </a:solidFill>
                <a:latin typeface="IBM Plex Sans"/>
              </a:rPr>
              <a:t>13,30 so với 13,26 triệu tỷ (IMF FSI)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5408574"/>
            <a:ext cx="7589520" cy="446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 i="0" lang="vi-VN">
                <a:solidFill>
                  <a:srgbClr val="16181D"/>
                </a:solidFill>
                <a:latin typeface="IBM Plex Sans"/>
              </a:rPr>
              <a:t>Nguyên nhân chính theo phân tích: cầu vốn từ mục tiêu tăng trưởng cao và chỉ tiêu tín dụng nới rộng.</a:t>
            </a:r>
          </a:p>
          <a:p>
            <a:pPr algn="l">
              <a:lnSpc>
                <a:spcPct val="112000"/>
              </a:lnSpc>
            </a:pPr>
            <a:r>
              <a:rPr sz="1100" b="0" i="0" lang="vi-VN">
                <a:solidFill>
                  <a:srgbClr val="5B6170"/>
                </a:solidFill>
                <a:latin typeface="IBM Plex Sans"/>
              </a:rPr>
              <a:t>Trích nguyên văn; các con số bên phải tính lại từ chuỗi NHNN và IMF FSI của dashboard.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23" name="TextBox 22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Vietnam Dashboard — FINSYS.analysis (6/10/2026), dựa trên NHNN, IMF FSI.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56692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146304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sz="12000" b="1" i="0" lang="vi-VN">
                <a:solidFill>
                  <a:srgbClr val="C2362F"/>
                </a:solidFill>
                <a:latin typeface="Newsreader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154680"/>
            <a:ext cx="658368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800" b="1" i="0" lang="vi-VN">
                <a:solidFill>
                  <a:srgbClr val="16181D"/>
                </a:solidFill>
                <a:latin typeface="Newsreader"/>
              </a:rPr>
              <a:t>Ngân sách và cán cân thanh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45008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 lang="vi-VN">
                <a:solidFill>
                  <a:srgbClr val="5B6170"/>
                </a:solidFill>
                <a:latin typeface="IBM Plex Sans"/>
              </a:rPr>
              <a:t>Chi ngân sách theo nhóm, cơ cấu thu chi, dòng tiền ngân sách và các dòng tiền qua biên giới.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0" y="1600200"/>
            <a:ext cx="36420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lang="vi-VN" spc="120">
                <a:solidFill>
                  <a:srgbClr val="5B6170"/>
                </a:solidFill>
                <a:latin typeface="IBM Plex Sans SemiBold"/>
              </a:rPr>
              <a:t>TRONG CHƯƠNG NÀY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955280" y="196596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8" name="TextBox 7"/>
          <p:cNvSpPr txBox="1"/>
          <p:nvPr/>
        </p:nvSpPr>
        <p:spPr>
          <a:xfrm>
            <a:off x="7955280" y="205740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Chi ngân sách 2018–2026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80" y="244983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0" name="TextBox 9"/>
          <p:cNvSpPr txBox="1"/>
          <p:nvPr/>
        </p:nvSpPr>
        <p:spPr>
          <a:xfrm>
            <a:off x="7955280" y="254127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Cầu nối chi 2025 → 2026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55280" y="293370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2" name="TextBox 11"/>
          <p:cNvSpPr txBox="1"/>
          <p:nvPr/>
        </p:nvSpPr>
        <p:spPr>
          <a:xfrm>
            <a:off x="7955280" y="302514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Cơ cấu thu và chi: biểu đồ ô vuông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955280" y="341757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4" name="TextBox 13"/>
          <p:cNvSpPr txBox="1"/>
          <p:nvPr/>
        </p:nvSpPr>
        <p:spPr>
          <a:xfrm>
            <a:off x="7955280" y="350901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Từ nguồn thu đến khoản chi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55280" y="390144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7955280" y="399288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Cán cân thanh toán 2025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55280" y="438531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8" name="TextBox 17"/>
          <p:cNvSpPr txBox="1"/>
          <p:nvPr/>
        </p:nvSpPr>
        <p:spPr>
          <a:xfrm>
            <a:off x="7955280" y="447675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Sáu dòng tiền, 2015–2025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20" name="TextBox 19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3 · CHI NGÂN SÁCH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Chi thường xuyên chiếm 58–65% tổng chi mỗi năm 2018–2024; dự toán 2026 là 3.159 nghìn tỷ</a:t>
            </a:r>
          </a:p>
        </p:txBody>
      </p:sp>
      <p:grpSp>
        <p:nvGrpSpPr>
          <p:cNvPr id="5" name="Chart · stacked"/>
          <p:cNvGrpSpPr/>
          <p:nvPr/>
        </p:nvGrpSpPr>
        <p:grpSpPr>
          <a:xfrm>
            <a:off x="585216" y="1900619"/>
            <a:ext cx="11012119" cy="3581615"/>
            <a:chOff x="585216" y="1900619"/>
            <a:chExt cx="11012119" cy="3581615"/>
          </a:xfrm>
        </p:grpSpPr>
        <p:sp>
          <p:nvSpPr>
            <p:cNvPr id="6" name="Rounded Rectangle 5"/>
            <p:cNvSpPr/>
            <p:nvPr/>
          </p:nvSpPr>
          <p:spPr>
            <a:xfrm>
              <a:off x="594360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95528" y="1900619"/>
              <a:ext cx="1082897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Chi thường xuyên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125313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326481" y="1900619"/>
              <a:ext cx="1054494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Đầu tư phát triển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3627863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829031" y="1900619"/>
              <a:ext cx="406679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Trả lãi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482598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683766" y="1900619"/>
              <a:ext cx="333870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Khác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264525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E8E9EB"/>
            </a:solidFill>
            <a:ln w="12700" cap="rnd">
              <a:solidFill>
                <a:srgbClr val="8A8F99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465693" y="1900619"/>
              <a:ext cx="1690440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Ước tính (ƯT) / dự toán (DT)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94360" y="2389632"/>
              <a:ext cx="77329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Nghìn tỷ đồng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48360" y="5161432"/>
              <a:ext cx="1036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0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1043432" y="4608119"/>
              <a:ext cx="10553903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9" name="TextBox 18"/>
            <p:cNvSpPr txBox="1"/>
            <p:nvPr/>
          </p:nvSpPr>
          <p:spPr>
            <a:xfrm>
              <a:off x="585216" y="4525569"/>
              <a:ext cx="3667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1.000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1043432" y="3972255"/>
              <a:ext cx="10553903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21" name="TextBox 20"/>
            <p:cNvSpPr txBox="1"/>
            <p:nvPr/>
          </p:nvSpPr>
          <p:spPr>
            <a:xfrm>
              <a:off x="585216" y="3889705"/>
              <a:ext cx="3667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2.000</a:t>
              </a:r>
            </a:p>
          </p:txBody>
        </p:sp>
        <p:cxnSp>
          <p:nvCxnSpPr>
            <p:cNvPr id="22" name="Connector 21"/>
            <p:cNvCxnSpPr/>
            <p:nvPr/>
          </p:nvCxnSpPr>
          <p:spPr>
            <a:xfrm>
              <a:off x="1043432" y="3336392"/>
              <a:ext cx="10553903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23" name="TextBox 22"/>
            <p:cNvSpPr txBox="1"/>
            <p:nvPr/>
          </p:nvSpPr>
          <p:spPr>
            <a:xfrm>
              <a:off x="585216" y="3253842"/>
              <a:ext cx="3667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3.000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>
              <a:off x="1043432" y="2700528"/>
              <a:ext cx="10553903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25" name="TextBox 24"/>
            <p:cNvSpPr txBox="1"/>
            <p:nvPr/>
          </p:nvSpPr>
          <p:spPr>
            <a:xfrm>
              <a:off x="585216" y="2617978"/>
              <a:ext cx="3667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4.000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474312" y="4661506"/>
              <a:ext cx="310896" cy="582477"/>
            </a:xfrm>
            <a:prstGeom prst="rect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1474312" y="4411418"/>
              <a:ext cx="310896" cy="229971"/>
            </a:xfrm>
            <a:prstGeom prst="rect">
              <a:avLst/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1474312" y="4343645"/>
              <a:ext cx="310896" cy="47656"/>
            </a:xfrm>
            <a:prstGeom prst="rect">
              <a:avLst/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 Same Side Corner Rectangle 28"/>
            <p:cNvSpPr/>
            <p:nvPr/>
          </p:nvSpPr>
          <p:spPr>
            <a:xfrm>
              <a:off x="1474312" y="4323528"/>
              <a:ext cx="310896" cy="771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453227" y="4128677"/>
              <a:ext cx="35306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1.435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2646968" y="4621622"/>
              <a:ext cx="310896" cy="622360"/>
            </a:xfrm>
            <a:prstGeom prst="rect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2646968" y="4353386"/>
              <a:ext cx="310896" cy="248119"/>
            </a:xfrm>
            <a:prstGeom prst="rect">
              <a:avLst/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646968" y="4285308"/>
              <a:ext cx="310896" cy="47962"/>
            </a:xfrm>
            <a:prstGeom prst="rect">
              <a:avLst/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 Same Side Corner Rectangle 33"/>
            <p:cNvSpPr/>
            <p:nvPr/>
          </p:nvSpPr>
          <p:spPr>
            <a:xfrm>
              <a:off x="2646968" y="4265191"/>
              <a:ext cx="310896" cy="7896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625883" y="4070522"/>
              <a:ext cx="35306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1.527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819624" y="4609625"/>
              <a:ext cx="310896" cy="634357"/>
            </a:xfrm>
            <a:prstGeom prst="rect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819624" y="4243093"/>
              <a:ext cx="310896" cy="346415"/>
            </a:xfrm>
            <a:prstGeom prst="rect">
              <a:avLst/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3819624" y="4175395"/>
              <a:ext cx="310896" cy="47581"/>
            </a:xfrm>
            <a:prstGeom prst="rect">
              <a:avLst/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798539" y="3954393"/>
              <a:ext cx="35306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1.710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4992280" y="4579189"/>
              <a:ext cx="310896" cy="664794"/>
            </a:xfrm>
            <a:prstGeom prst="rect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992280" y="4235793"/>
              <a:ext cx="310896" cy="323279"/>
            </a:xfrm>
            <a:prstGeom prst="rect">
              <a:avLst/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992280" y="4171076"/>
              <a:ext cx="310896" cy="44600"/>
            </a:xfrm>
            <a:prstGeom prst="rect">
              <a:avLst/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 Same Side Corner Rectangle 42"/>
            <p:cNvSpPr/>
            <p:nvPr/>
          </p:nvSpPr>
          <p:spPr>
            <a:xfrm>
              <a:off x="4992280" y="4150959"/>
              <a:ext cx="310896" cy="6912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971195" y="3955306"/>
              <a:ext cx="35306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1.708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6164936" y="4596399"/>
              <a:ext cx="310896" cy="647584"/>
            </a:xfrm>
            <a:prstGeom prst="rect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6164936" y="4204936"/>
              <a:ext cx="310896" cy="371346"/>
            </a:xfrm>
            <a:prstGeom prst="rect">
              <a:avLst/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6164936" y="4143839"/>
              <a:ext cx="310896" cy="40980"/>
            </a:xfrm>
            <a:prstGeom prst="rect">
              <a:avLst/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ound Same Side Corner Rectangle 47"/>
            <p:cNvSpPr/>
            <p:nvPr/>
          </p:nvSpPr>
          <p:spPr>
            <a:xfrm>
              <a:off x="6164936" y="4123723"/>
              <a:ext cx="310896" cy="6996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143850" y="3928154"/>
              <a:ext cx="35306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1.751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7337592" y="4543650"/>
              <a:ext cx="310896" cy="700333"/>
            </a:xfrm>
            <a:prstGeom prst="rect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7337592" y="4083387"/>
              <a:ext cx="310896" cy="440146"/>
            </a:xfrm>
            <a:prstGeom prst="rect">
              <a:avLst/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337592" y="4026589"/>
              <a:ext cx="310896" cy="36680"/>
            </a:xfrm>
            <a:prstGeom prst="rect">
              <a:avLst/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 Same Side Corner Rectangle 52"/>
            <p:cNvSpPr/>
            <p:nvPr/>
          </p:nvSpPr>
          <p:spPr>
            <a:xfrm>
              <a:off x="7337592" y="4006473"/>
              <a:ext cx="310896" cy="589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7316506" y="3809806"/>
              <a:ext cx="35306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1.937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8510247" y="4414386"/>
              <a:ext cx="310896" cy="829596"/>
            </a:xfrm>
            <a:prstGeom prst="rect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510247" y="3956016"/>
              <a:ext cx="310896" cy="438253"/>
            </a:xfrm>
            <a:prstGeom prst="rect">
              <a:avLst/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8510247" y="3890795"/>
              <a:ext cx="310896" cy="45104"/>
            </a:xfrm>
            <a:prstGeom prst="rect">
              <a:avLst/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ound Same Side Corner Rectangle 57"/>
            <p:cNvSpPr/>
            <p:nvPr/>
          </p:nvSpPr>
          <p:spPr>
            <a:xfrm>
              <a:off x="8510247" y="3870678"/>
              <a:ext cx="310896" cy="7166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8489162" y="3675279"/>
              <a:ext cx="35306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2.148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682903" y="4266545"/>
              <a:ext cx="310896" cy="977438"/>
            </a:xfrm>
            <a:prstGeom prst="rect">
              <a:avLst/>
            </a:prstGeom>
            <a:solidFill>
              <a:srgbClr val="C3D9F4"/>
            </a:solidFill>
            <a:ln w="12700" cap="rnd">
              <a:solidFill>
                <a:srgbClr val="2A78D6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9682903" y="3801092"/>
              <a:ext cx="310896" cy="445335"/>
            </a:xfrm>
            <a:prstGeom prst="rect">
              <a:avLst/>
            </a:prstGeom>
            <a:solidFill>
              <a:srgbClr val="F9D5C6"/>
            </a:solidFill>
            <a:ln w="12700" cap="rnd">
              <a:solidFill>
                <a:srgbClr val="EB6834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9682903" y="3731529"/>
              <a:ext cx="310896" cy="49447"/>
            </a:xfrm>
            <a:prstGeom prst="rect">
              <a:avLst/>
            </a:prstGeom>
            <a:solidFill>
              <a:srgbClr val="BFE9DA"/>
            </a:solidFill>
            <a:ln w="12700" cap="rnd">
              <a:solidFill>
                <a:srgbClr val="1BAF7A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ound Same Side Corner Rectangle 62"/>
            <p:cNvSpPr/>
            <p:nvPr/>
          </p:nvSpPr>
          <p:spPr>
            <a:xfrm>
              <a:off x="9682903" y="3711412"/>
              <a:ext cx="310896" cy="5544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0F1F2"/>
            </a:solidFill>
            <a:ln w="12700" cap="rnd">
              <a:solidFill>
                <a:srgbClr val="C9CCD2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9661818" y="3514391"/>
              <a:ext cx="35306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2.402</a:t>
              </a:r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0855559" y="4103766"/>
              <a:ext cx="310896" cy="1140216"/>
            </a:xfrm>
            <a:prstGeom prst="rect">
              <a:avLst/>
            </a:prstGeom>
            <a:solidFill>
              <a:srgbClr val="C3D9F4"/>
            </a:solidFill>
            <a:ln w="12700" cap="rnd">
              <a:solidFill>
                <a:srgbClr val="2A78D6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0855559" y="3391455"/>
              <a:ext cx="310896" cy="692195"/>
            </a:xfrm>
            <a:prstGeom prst="rect">
              <a:avLst/>
            </a:prstGeom>
            <a:solidFill>
              <a:srgbClr val="F9D5C6"/>
            </a:solidFill>
            <a:ln w="12700" cap="rnd">
              <a:solidFill>
                <a:srgbClr val="EB6834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10855559" y="3314432"/>
              <a:ext cx="310896" cy="56906"/>
            </a:xfrm>
            <a:prstGeom prst="rect">
              <a:avLst/>
            </a:prstGeom>
            <a:solidFill>
              <a:srgbClr val="BFE9DA"/>
            </a:solidFill>
            <a:ln w="12700" cap="rnd">
              <a:solidFill>
                <a:srgbClr val="1BAF7A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ound Same Side Corner Rectangle 67"/>
            <p:cNvSpPr/>
            <p:nvPr/>
          </p:nvSpPr>
          <p:spPr>
            <a:xfrm>
              <a:off x="10855559" y="3235222"/>
              <a:ext cx="310896" cy="5909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0F1F2"/>
            </a:solidFill>
            <a:ln w="12700" cap="rnd">
              <a:solidFill>
                <a:srgbClr val="C9CCD2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10834474" y="3032657"/>
              <a:ext cx="35306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3.159</a:t>
              </a:r>
            </a:p>
          </p:txBody>
        </p:sp>
        <p:cxnSp>
          <p:nvCxnSpPr>
            <p:cNvPr id="70" name="Connector 69"/>
            <p:cNvCxnSpPr/>
            <p:nvPr/>
          </p:nvCxnSpPr>
          <p:spPr>
            <a:xfrm>
              <a:off x="1043432" y="5243982"/>
              <a:ext cx="10553903" cy="0"/>
            </a:xfrm>
            <a:prstGeom prst="line">
              <a:avLst/>
            </a:prstGeom>
            <a:ln w="12700" cap="flat">
              <a:solidFill>
                <a:srgbClr val="C3C2B7"/>
              </a:solidFill>
              <a:round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1463644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2018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2636300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2019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3808956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2020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4981612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2021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6154268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2022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7326924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2023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8499579" y="5317134"/>
              <a:ext cx="3322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2024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9577874" y="5317134"/>
              <a:ext cx="520954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2025 ƯT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10750975" y="5317134"/>
              <a:ext cx="52006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2026 DT</a:t>
              </a:r>
            </a:p>
          </p:txBody>
        </p:sp>
      </p:grpSp>
      <p:sp>
        <p:nvSpPr>
          <p:cNvPr id="80" name="TextBox 79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Chi đầu tư phát triển dự toán 1.120 nghìn tỷ năm 2026, gấp 1,5 lần ước 2025.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Dự toán là kế hoạch Quốc hội giao, không phải số thực chi; 2018–2024 là quyết toán.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82" name="TextBox 81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Bộ Tài chính, Nghị quyết Quốc hội — quyết toán 2018–2024, ước thực hiện 2025 (1/2026), dự toán 2026.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3 · CẦU NỐI CHI NGÂN SÁCH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Chi ngân sách dự toán 2026 tăng 758 nghìn tỷ so với ước 2025; đầu tư phát triển góp 51%</a:t>
            </a:r>
          </a:p>
        </p:txBody>
      </p:sp>
      <p:grpSp>
        <p:nvGrpSpPr>
          <p:cNvPr id="5" name="Chart · waterfall"/>
          <p:cNvGrpSpPr/>
          <p:nvPr/>
        </p:nvGrpSpPr>
        <p:grpSpPr>
          <a:xfrm>
            <a:off x="585216" y="1900619"/>
            <a:ext cx="11012119" cy="3635971"/>
            <a:chOff x="585216" y="1900619"/>
            <a:chExt cx="11012119" cy="3635971"/>
          </a:xfrm>
        </p:grpSpPr>
        <p:sp>
          <p:nvSpPr>
            <p:cNvPr id="6" name="Rounded Rectangle 5"/>
            <p:cNvSpPr/>
            <p:nvPr/>
          </p:nvSpPr>
          <p:spPr>
            <a:xfrm>
              <a:off x="594360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16181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95528" y="1900619"/>
              <a:ext cx="328403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Tổng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70819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71987" y="1900619"/>
              <a:ext cx="326669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Tăng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145544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346712" y="1900619"/>
              <a:ext cx="347605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Giảm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2941206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D0D1D2"/>
            </a:solidFill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142374" y="1900619"/>
              <a:ext cx="1171708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Dự toán (kế hoạch)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94360" y="2325624"/>
              <a:ext cx="77329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Nghìn tỷ đồng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48360" y="4969408"/>
              <a:ext cx="1036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0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1043432" y="4448099"/>
              <a:ext cx="10553903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7" name="TextBox 16"/>
            <p:cNvSpPr txBox="1"/>
            <p:nvPr/>
          </p:nvSpPr>
          <p:spPr>
            <a:xfrm>
              <a:off x="585216" y="4365549"/>
              <a:ext cx="3667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1.000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1043432" y="3844239"/>
              <a:ext cx="10553903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9" name="TextBox 18"/>
            <p:cNvSpPr txBox="1"/>
            <p:nvPr/>
          </p:nvSpPr>
          <p:spPr>
            <a:xfrm>
              <a:off x="585216" y="3761689"/>
              <a:ext cx="3667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2.000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1043432" y="3240380"/>
              <a:ext cx="10553903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21" name="TextBox 20"/>
            <p:cNvSpPr txBox="1"/>
            <p:nvPr/>
          </p:nvSpPr>
          <p:spPr>
            <a:xfrm>
              <a:off x="585216" y="3157830"/>
              <a:ext cx="3667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3.000</a:t>
              </a:r>
            </a:p>
          </p:txBody>
        </p:sp>
        <p:cxnSp>
          <p:nvCxnSpPr>
            <p:cNvPr id="22" name="Connector 21"/>
            <p:cNvCxnSpPr/>
            <p:nvPr/>
          </p:nvCxnSpPr>
          <p:spPr>
            <a:xfrm>
              <a:off x="1043432" y="2636520"/>
              <a:ext cx="10553903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23" name="TextBox 22"/>
            <p:cNvSpPr txBox="1"/>
            <p:nvPr/>
          </p:nvSpPr>
          <p:spPr>
            <a:xfrm>
              <a:off x="585216" y="2553970"/>
              <a:ext cx="36677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4.000</a:t>
              </a:r>
            </a:p>
          </p:txBody>
        </p:sp>
        <p:sp>
          <p:nvSpPr>
            <p:cNvPr id="24" name="Round Same Side Corner Rectangle 23"/>
            <p:cNvSpPr/>
            <p:nvPr/>
          </p:nvSpPr>
          <p:spPr>
            <a:xfrm>
              <a:off x="1728614" y="3601790"/>
              <a:ext cx="388620" cy="1450169"/>
            </a:xfrm>
            <a:prstGeom prst="round2SameRect">
              <a:avLst>
                <a:gd name="adj1" fmla="val 12941"/>
                <a:gd name="adj2" fmla="val 0"/>
              </a:avLst>
            </a:prstGeom>
            <a:solidFill>
              <a:srgbClr val="16181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737123" y="3390970"/>
              <a:ext cx="37160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1" i="0" lang="vi-VN">
                  <a:solidFill>
                    <a:srgbClr val="16181D"/>
                  </a:solidFill>
                  <a:latin typeface="IBM Plex Sans"/>
                </a:rPr>
                <a:t>2.402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70864" y="5125110"/>
              <a:ext cx="1704120" cy="4114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50" b="0" i="0" lang="vi-VN">
                  <a:solidFill>
                    <a:srgbClr val="16181D"/>
                  </a:solidFill>
                  <a:latin typeface="IBM Plex Sans Medium"/>
                </a:rPr>
                <a:t>Chi 2025 (ước tính)</a:t>
              </a:r>
            </a:p>
          </p:txBody>
        </p:sp>
        <p:sp>
          <p:nvSpPr>
            <p:cNvPr id="27" name="Round Same Side Corner Rectangle 26"/>
            <p:cNvSpPr/>
            <p:nvPr/>
          </p:nvSpPr>
          <p:spPr>
            <a:xfrm>
              <a:off x="3487598" y="3447204"/>
              <a:ext cx="388620" cy="154586"/>
            </a:xfrm>
            <a:prstGeom prst="round2SameRect">
              <a:avLst>
                <a:gd name="adj1" fmla="val 32533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8" name="Connector 27"/>
            <p:cNvCxnSpPr/>
            <p:nvPr/>
          </p:nvCxnSpPr>
          <p:spPr>
            <a:xfrm>
              <a:off x="2117234" y="3601790"/>
              <a:ext cx="1370364" cy="0"/>
            </a:xfrm>
            <a:prstGeom prst="line">
              <a:avLst/>
            </a:prstGeom>
            <a:ln w="9525" cap="flat">
              <a:solidFill>
                <a:srgbClr val="8A8F99"/>
              </a:solidFill>
              <a:prstDash val="sysDash"/>
              <a:round/>
            </a:ln>
          </p:spPr>
        </p:cxnSp>
        <p:sp>
          <p:nvSpPr>
            <p:cNvPr id="29" name="TextBox 28"/>
            <p:cNvSpPr txBox="1"/>
            <p:nvPr/>
          </p:nvSpPr>
          <p:spPr>
            <a:xfrm>
              <a:off x="3523412" y="3244639"/>
              <a:ext cx="316992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+256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829848" y="5125110"/>
              <a:ext cx="1704120" cy="4114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Chi thường xuyên</a:t>
              </a:r>
            </a:p>
          </p:txBody>
        </p:sp>
        <p:sp>
          <p:nvSpPr>
            <p:cNvPr id="31" name="Round Same Side Corner Rectangle 30"/>
            <p:cNvSpPr/>
            <p:nvPr/>
          </p:nvSpPr>
          <p:spPr>
            <a:xfrm>
              <a:off x="5246582" y="3212769"/>
              <a:ext cx="388620" cy="234435"/>
            </a:xfrm>
            <a:prstGeom prst="round2SameRect">
              <a:avLst>
                <a:gd name="adj1" fmla="val 21452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3876218" y="3447204"/>
              <a:ext cx="1370364" cy="0"/>
            </a:xfrm>
            <a:prstGeom prst="line">
              <a:avLst/>
            </a:prstGeom>
            <a:ln w="9525" cap="flat">
              <a:solidFill>
                <a:srgbClr val="8A8F99"/>
              </a:solidFill>
              <a:prstDash val="sysDash"/>
              <a:round/>
            </a:ln>
          </p:spPr>
        </p:cxnSp>
        <p:sp>
          <p:nvSpPr>
            <p:cNvPr id="33" name="TextBox 32"/>
            <p:cNvSpPr txBox="1"/>
            <p:nvPr/>
          </p:nvSpPr>
          <p:spPr>
            <a:xfrm>
              <a:off x="5282396" y="3010204"/>
              <a:ext cx="316992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+388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588832" y="5125110"/>
              <a:ext cx="1704120" cy="4114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Đầu tư phát triển</a:t>
              </a:r>
            </a:p>
          </p:txBody>
        </p:sp>
        <p:sp>
          <p:nvSpPr>
            <p:cNvPr id="35" name="Round Same Side Corner Rectangle 34"/>
            <p:cNvSpPr/>
            <p:nvPr/>
          </p:nvSpPr>
          <p:spPr>
            <a:xfrm>
              <a:off x="7005566" y="3205685"/>
              <a:ext cx="388620" cy="7084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5635202" y="3212769"/>
              <a:ext cx="1370364" cy="0"/>
            </a:xfrm>
            <a:prstGeom prst="line">
              <a:avLst/>
            </a:prstGeom>
            <a:ln w="9525" cap="flat">
              <a:solidFill>
                <a:srgbClr val="8A8F99"/>
              </a:solidFill>
              <a:prstDash val="sysDash"/>
              <a:round/>
            </a:ln>
          </p:spPr>
        </p:cxnSp>
        <p:sp>
          <p:nvSpPr>
            <p:cNvPr id="37" name="TextBox 36"/>
            <p:cNvSpPr txBox="1"/>
            <p:nvPr/>
          </p:nvSpPr>
          <p:spPr>
            <a:xfrm>
              <a:off x="7077575" y="3003120"/>
              <a:ext cx="244602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+12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347816" y="5125110"/>
              <a:ext cx="1704120" cy="4114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Trả lãi</a:t>
              </a:r>
            </a:p>
          </p:txBody>
        </p:sp>
        <p:sp>
          <p:nvSpPr>
            <p:cNvPr id="39" name="Round Same Side Corner Rectangle 38"/>
            <p:cNvSpPr/>
            <p:nvPr/>
          </p:nvSpPr>
          <p:spPr>
            <a:xfrm>
              <a:off x="8764549" y="3144302"/>
              <a:ext cx="388620" cy="61384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0" name="Connector 39"/>
            <p:cNvCxnSpPr/>
            <p:nvPr/>
          </p:nvCxnSpPr>
          <p:spPr>
            <a:xfrm>
              <a:off x="7394186" y="3205685"/>
              <a:ext cx="1370363" cy="0"/>
            </a:xfrm>
            <a:prstGeom prst="line">
              <a:avLst/>
            </a:prstGeom>
            <a:ln w="9525" cap="flat">
              <a:solidFill>
                <a:srgbClr val="8A8F99"/>
              </a:solidFill>
              <a:prstDash val="sysDash"/>
              <a:round/>
            </a:ln>
          </p:spPr>
        </p:cxnSp>
        <p:sp>
          <p:nvSpPr>
            <p:cNvPr id="41" name="TextBox 40"/>
            <p:cNvSpPr txBox="1"/>
            <p:nvPr/>
          </p:nvSpPr>
          <p:spPr>
            <a:xfrm>
              <a:off x="8800363" y="2941737"/>
              <a:ext cx="316992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+102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106799" y="5125110"/>
              <a:ext cx="1704120" cy="4114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Khác</a:t>
              </a:r>
            </a:p>
          </p:txBody>
        </p:sp>
        <p:sp>
          <p:nvSpPr>
            <p:cNvPr id="43" name="Round Same Side Corner Rectangle 42"/>
            <p:cNvSpPr/>
            <p:nvPr/>
          </p:nvSpPr>
          <p:spPr>
            <a:xfrm>
              <a:off x="10523533" y="3144302"/>
              <a:ext cx="388620" cy="1907656"/>
            </a:xfrm>
            <a:prstGeom prst="round2SameRect">
              <a:avLst>
                <a:gd name="adj1" fmla="val 12941"/>
                <a:gd name="adj2" fmla="val 0"/>
              </a:avLst>
            </a:prstGeom>
            <a:solidFill>
              <a:srgbClr val="CCCCCD"/>
            </a:solidFill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4" name="Connector 43"/>
            <p:cNvCxnSpPr/>
            <p:nvPr/>
          </p:nvCxnSpPr>
          <p:spPr>
            <a:xfrm>
              <a:off x="9153169" y="3144302"/>
              <a:ext cx="1370364" cy="0"/>
            </a:xfrm>
            <a:prstGeom prst="line">
              <a:avLst/>
            </a:prstGeom>
            <a:ln w="9525" cap="flat">
              <a:solidFill>
                <a:srgbClr val="8A8F99"/>
              </a:solidFill>
              <a:prstDash val="sysDash"/>
              <a:round/>
            </a:ln>
          </p:spPr>
        </p:cxnSp>
        <p:sp>
          <p:nvSpPr>
            <p:cNvPr id="45" name="TextBox 44"/>
            <p:cNvSpPr txBox="1"/>
            <p:nvPr/>
          </p:nvSpPr>
          <p:spPr>
            <a:xfrm>
              <a:off x="10532042" y="2933482"/>
              <a:ext cx="37160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1" i="0" lang="vi-VN">
                  <a:solidFill>
                    <a:srgbClr val="16181D"/>
                  </a:solidFill>
                  <a:latin typeface="IBM Plex Sans"/>
                </a:rPr>
                <a:t>3.159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865783" y="5125110"/>
              <a:ext cx="1704120" cy="4114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50" b="0" i="0" lang="vi-VN">
                  <a:solidFill>
                    <a:srgbClr val="16181D"/>
                  </a:solidFill>
                  <a:latin typeface="IBM Plex Sans Medium"/>
                </a:rPr>
                <a:t>Chi 2026 (dự toán)</a:t>
              </a:r>
            </a:p>
          </p:txBody>
        </p:sp>
        <p:cxnSp>
          <p:nvCxnSpPr>
            <p:cNvPr id="47" name="Connector 46"/>
            <p:cNvCxnSpPr/>
            <p:nvPr/>
          </p:nvCxnSpPr>
          <p:spPr>
            <a:xfrm>
              <a:off x="1043432" y="5051958"/>
              <a:ext cx="10553903" cy="0"/>
            </a:xfrm>
            <a:prstGeom prst="line">
              <a:avLst/>
            </a:prstGeom>
            <a:ln w="12700" cap="flat">
              <a:solidFill>
                <a:srgbClr val="C3C2B7"/>
              </a:solidFill>
              <a:round/>
            </a:ln>
          </p:spPr>
        </p:cxnSp>
      </p:grpSp>
      <p:sp>
        <p:nvSpPr>
          <p:cNvPr id="48" name="TextBox 47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Đầu tư phát triển tăng 388 nghìn tỷ, chi thường xuyên tăng 256 nghìn tỷ trong dự toán 2026.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So sánh dự toán với ước thực hiện: dự toán là kế hoạch, thực chi thường thấp hơn.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50" name="TextBox 49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Bộ Tài chính — ước thực hiện NSNN 2025 (1/2026); Nghị quyết Quốc hội về dự toán NSNN 2026. "Khác" = tổng chi trừ ba nhóm (≈, tính toán).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3 · CƠ CẤU THU CHI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Thu nội địa chiếm 86% thu, chi thường xuyên 65% chi ngân sách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77568"/>
            <a:ext cx="5227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 i="0" lang="vi-VN">
                <a:solidFill>
                  <a:srgbClr val="16181D"/>
                </a:solidFill>
                <a:latin typeface="IBM Plex Sans SemiBold"/>
              </a:rPr>
              <a:t>Thu ngân sách 2025 (ước tính) — mỗi ô 1%</a:t>
            </a:r>
          </a:p>
        </p:txBody>
      </p:sp>
      <p:grpSp>
        <p:nvGrpSpPr>
          <p:cNvPr id="6" name="Chart · waffle"/>
          <p:cNvGrpSpPr/>
          <p:nvPr/>
        </p:nvGrpSpPr>
        <p:grpSpPr>
          <a:xfrm>
            <a:off x="594360" y="2243328"/>
            <a:ext cx="5227168" cy="2576993"/>
            <a:chOff x="594360" y="2243328"/>
            <a:chExt cx="5227168" cy="2576993"/>
          </a:xfrm>
        </p:grpSpPr>
        <p:sp>
          <p:nvSpPr>
            <p:cNvPr id="7" name="Rounded Rectangle 6"/>
            <p:cNvSpPr/>
            <p:nvPr/>
          </p:nvSpPr>
          <p:spPr>
            <a:xfrm>
              <a:off x="594360" y="224332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55718" y="224332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117077" y="224332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378435" y="224332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1639794" y="224332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901152" y="224332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2162510" y="224332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2423869" y="224332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2685227" y="224332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2946585" y="224332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594360" y="2504686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55718" y="2504686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117077" y="2504686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378435" y="2504686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1639794" y="2504686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901152" y="2504686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162510" y="2504686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2423869" y="2504686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2685227" y="2504686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2946585" y="2504686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94360" y="276604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855718" y="276604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1117077" y="276604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1378435" y="276604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1639794" y="276604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901152" y="276604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2162510" y="276604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2423869" y="276604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2685227" y="276604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2946585" y="276604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594360" y="302740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855718" y="302740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117077" y="302740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1378435" y="302740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1639794" y="302740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1901152" y="302740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2162510" y="302740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2423869" y="302740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2685227" y="302740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2946585" y="302740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594360" y="3288762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855718" y="3288762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1117077" y="3288762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1378435" y="3288762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1639794" y="3288762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1901152" y="3288762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2162510" y="3288762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ounded Rectangle 53"/>
            <p:cNvSpPr/>
            <p:nvPr/>
          </p:nvSpPr>
          <p:spPr>
            <a:xfrm>
              <a:off x="2423869" y="3288762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ounded Rectangle 54"/>
            <p:cNvSpPr/>
            <p:nvPr/>
          </p:nvSpPr>
          <p:spPr>
            <a:xfrm>
              <a:off x="2685227" y="3288762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2946585" y="3288762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594360" y="3550120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855718" y="3550120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ounded Rectangle 58"/>
            <p:cNvSpPr/>
            <p:nvPr/>
          </p:nvSpPr>
          <p:spPr>
            <a:xfrm>
              <a:off x="1117077" y="3550120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1378435" y="3550120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ounded Rectangle 60"/>
            <p:cNvSpPr/>
            <p:nvPr/>
          </p:nvSpPr>
          <p:spPr>
            <a:xfrm>
              <a:off x="1639794" y="3550120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1901152" y="3550120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ounded Rectangle 62"/>
            <p:cNvSpPr/>
            <p:nvPr/>
          </p:nvSpPr>
          <p:spPr>
            <a:xfrm>
              <a:off x="2162510" y="3550120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ounded Rectangle 63"/>
            <p:cNvSpPr/>
            <p:nvPr/>
          </p:nvSpPr>
          <p:spPr>
            <a:xfrm>
              <a:off x="2423869" y="3550120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ounded Rectangle 64"/>
            <p:cNvSpPr/>
            <p:nvPr/>
          </p:nvSpPr>
          <p:spPr>
            <a:xfrm>
              <a:off x="2685227" y="3550120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ounded Rectangle 65"/>
            <p:cNvSpPr/>
            <p:nvPr/>
          </p:nvSpPr>
          <p:spPr>
            <a:xfrm>
              <a:off x="2946585" y="3550120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594360" y="381147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ounded Rectangle 67"/>
            <p:cNvSpPr/>
            <p:nvPr/>
          </p:nvSpPr>
          <p:spPr>
            <a:xfrm>
              <a:off x="855718" y="381147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ounded Rectangle 68"/>
            <p:cNvSpPr/>
            <p:nvPr/>
          </p:nvSpPr>
          <p:spPr>
            <a:xfrm>
              <a:off x="1117077" y="381147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ounded Rectangle 69"/>
            <p:cNvSpPr/>
            <p:nvPr/>
          </p:nvSpPr>
          <p:spPr>
            <a:xfrm>
              <a:off x="1378435" y="381147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1639794" y="381147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ounded Rectangle 71"/>
            <p:cNvSpPr/>
            <p:nvPr/>
          </p:nvSpPr>
          <p:spPr>
            <a:xfrm>
              <a:off x="1901152" y="381147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2162510" y="381147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2423869" y="381147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Rounded Rectangle 74"/>
            <p:cNvSpPr/>
            <p:nvPr/>
          </p:nvSpPr>
          <p:spPr>
            <a:xfrm>
              <a:off x="2685227" y="381147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Rounded Rectangle 75"/>
            <p:cNvSpPr/>
            <p:nvPr/>
          </p:nvSpPr>
          <p:spPr>
            <a:xfrm>
              <a:off x="2946585" y="381147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594360" y="4072837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ounded Rectangle 77"/>
            <p:cNvSpPr/>
            <p:nvPr/>
          </p:nvSpPr>
          <p:spPr>
            <a:xfrm>
              <a:off x="855718" y="4072837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Rounded Rectangle 78"/>
            <p:cNvSpPr/>
            <p:nvPr/>
          </p:nvSpPr>
          <p:spPr>
            <a:xfrm>
              <a:off x="1117077" y="4072837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Rounded Rectangle 79"/>
            <p:cNvSpPr/>
            <p:nvPr/>
          </p:nvSpPr>
          <p:spPr>
            <a:xfrm>
              <a:off x="1378435" y="4072837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Rounded Rectangle 80"/>
            <p:cNvSpPr/>
            <p:nvPr/>
          </p:nvSpPr>
          <p:spPr>
            <a:xfrm>
              <a:off x="1639794" y="4072837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ounded Rectangle 81"/>
            <p:cNvSpPr/>
            <p:nvPr/>
          </p:nvSpPr>
          <p:spPr>
            <a:xfrm>
              <a:off x="1901152" y="4072837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ounded Rectangle 82"/>
            <p:cNvSpPr/>
            <p:nvPr/>
          </p:nvSpPr>
          <p:spPr>
            <a:xfrm>
              <a:off x="2162510" y="4072837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ounded Rectangle 83"/>
            <p:cNvSpPr/>
            <p:nvPr/>
          </p:nvSpPr>
          <p:spPr>
            <a:xfrm>
              <a:off x="2423869" y="4072837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Rounded Rectangle 84"/>
            <p:cNvSpPr/>
            <p:nvPr/>
          </p:nvSpPr>
          <p:spPr>
            <a:xfrm>
              <a:off x="2685227" y="4072837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Rounded Rectangle 85"/>
            <p:cNvSpPr/>
            <p:nvPr/>
          </p:nvSpPr>
          <p:spPr>
            <a:xfrm>
              <a:off x="2946585" y="4072837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Rounded Rectangle 86"/>
            <p:cNvSpPr/>
            <p:nvPr/>
          </p:nvSpPr>
          <p:spPr>
            <a:xfrm>
              <a:off x="594360" y="433419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Rounded Rectangle 87"/>
            <p:cNvSpPr/>
            <p:nvPr/>
          </p:nvSpPr>
          <p:spPr>
            <a:xfrm>
              <a:off x="855718" y="433419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Rounded Rectangle 88"/>
            <p:cNvSpPr/>
            <p:nvPr/>
          </p:nvSpPr>
          <p:spPr>
            <a:xfrm>
              <a:off x="1117077" y="433419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Rounded Rectangle 89"/>
            <p:cNvSpPr/>
            <p:nvPr/>
          </p:nvSpPr>
          <p:spPr>
            <a:xfrm>
              <a:off x="1378435" y="433419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Rounded Rectangle 90"/>
            <p:cNvSpPr/>
            <p:nvPr/>
          </p:nvSpPr>
          <p:spPr>
            <a:xfrm>
              <a:off x="1639794" y="433419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Rounded Rectangle 91"/>
            <p:cNvSpPr/>
            <p:nvPr/>
          </p:nvSpPr>
          <p:spPr>
            <a:xfrm>
              <a:off x="1901152" y="433419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Rounded Rectangle 92"/>
            <p:cNvSpPr/>
            <p:nvPr/>
          </p:nvSpPr>
          <p:spPr>
            <a:xfrm>
              <a:off x="2162510" y="433419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Rounded Rectangle 93"/>
            <p:cNvSpPr/>
            <p:nvPr/>
          </p:nvSpPr>
          <p:spPr>
            <a:xfrm>
              <a:off x="2423869" y="433419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Rounded Rectangle 94"/>
            <p:cNvSpPr/>
            <p:nvPr/>
          </p:nvSpPr>
          <p:spPr>
            <a:xfrm>
              <a:off x="2685227" y="433419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Rounded Rectangle 95"/>
            <p:cNvSpPr/>
            <p:nvPr/>
          </p:nvSpPr>
          <p:spPr>
            <a:xfrm>
              <a:off x="2946585" y="433419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Rounded Rectangle 96"/>
            <p:cNvSpPr/>
            <p:nvPr/>
          </p:nvSpPr>
          <p:spPr>
            <a:xfrm>
              <a:off x="594360" y="459555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Rounded Rectangle 97"/>
            <p:cNvSpPr/>
            <p:nvPr/>
          </p:nvSpPr>
          <p:spPr>
            <a:xfrm>
              <a:off x="855718" y="459555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Rounded Rectangle 98"/>
            <p:cNvSpPr/>
            <p:nvPr/>
          </p:nvSpPr>
          <p:spPr>
            <a:xfrm>
              <a:off x="1117077" y="459555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Rounded Rectangle 99"/>
            <p:cNvSpPr/>
            <p:nvPr/>
          </p:nvSpPr>
          <p:spPr>
            <a:xfrm>
              <a:off x="1378435" y="459555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Rounded Rectangle 100"/>
            <p:cNvSpPr/>
            <p:nvPr/>
          </p:nvSpPr>
          <p:spPr>
            <a:xfrm>
              <a:off x="1639794" y="459555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Rounded Rectangle 101"/>
            <p:cNvSpPr/>
            <p:nvPr/>
          </p:nvSpPr>
          <p:spPr>
            <a:xfrm>
              <a:off x="1901152" y="459555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Rounded Rectangle 102"/>
            <p:cNvSpPr/>
            <p:nvPr/>
          </p:nvSpPr>
          <p:spPr>
            <a:xfrm>
              <a:off x="2162510" y="459555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Rounded Rectangle 103"/>
            <p:cNvSpPr/>
            <p:nvPr/>
          </p:nvSpPr>
          <p:spPr>
            <a:xfrm>
              <a:off x="2423869" y="459555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Rounded Rectangle 104"/>
            <p:cNvSpPr/>
            <p:nvPr/>
          </p:nvSpPr>
          <p:spPr>
            <a:xfrm>
              <a:off x="2685227" y="459555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Rounded Rectangle 105"/>
            <p:cNvSpPr/>
            <p:nvPr/>
          </p:nvSpPr>
          <p:spPr>
            <a:xfrm>
              <a:off x="2946585" y="459555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Rounded Rectangle 106"/>
            <p:cNvSpPr/>
            <p:nvPr/>
          </p:nvSpPr>
          <p:spPr>
            <a:xfrm>
              <a:off x="3619424" y="2362200"/>
              <a:ext cx="146304" cy="146304"/>
            </a:xfrm>
            <a:prstGeom prst="roundRect">
              <a:avLst>
                <a:gd name="adj" fmla="val 1875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3875456" y="2270252"/>
              <a:ext cx="569976" cy="3302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2000" b="1" i="0" lang="vi-VN">
                  <a:solidFill>
                    <a:srgbClr val="16181D"/>
                  </a:solidFill>
                  <a:latin typeface="Newsreader"/>
                </a:rPr>
                <a:t>86%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4527728" y="2343912"/>
              <a:ext cx="1293800" cy="2286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5000"/>
                </a:lnSpc>
              </a:pPr>
              <a:r>
                <a:rPr sz="1100" b="0" i="0" lang="vi-VN">
                  <a:solidFill>
                    <a:srgbClr val="5B6170"/>
                  </a:solidFill>
                  <a:latin typeface="IBM Plex Sans"/>
                </a:rPr>
                <a:t>Thu nội địa</a:t>
              </a:r>
            </a:p>
          </p:txBody>
        </p:sp>
        <p:sp>
          <p:nvSpPr>
            <p:cNvPr id="110" name="Rounded Rectangle 109"/>
            <p:cNvSpPr/>
            <p:nvPr/>
          </p:nvSpPr>
          <p:spPr>
            <a:xfrm>
              <a:off x="3619424" y="2929128"/>
              <a:ext cx="146304" cy="146304"/>
            </a:xfrm>
            <a:prstGeom prst="roundRect">
              <a:avLst>
                <a:gd name="adj" fmla="val 1875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3875456" y="2837180"/>
              <a:ext cx="569976" cy="3302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2000" b="1" i="0" lang="vi-VN">
                  <a:solidFill>
                    <a:srgbClr val="16181D"/>
                  </a:solidFill>
                  <a:latin typeface="Newsreader"/>
                </a:rPr>
                <a:t>12%</a:t>
              </a:r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4527728" y="2910840"/>
              <a:ext cx="1293800" cy="2286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5000"/>
                </a:lnSpc>
              </a:pPr>
              <a:r>
                <a:rPr sz="1100" b="0" i="0" lang="vi-VN">
                  <a:solidFill>
                    <a:srgbClr val="5B6170"/>
                  </a:solidFill>
                  <a:latin typeface="IBM Plex Sans"/>
                </a:rPr>
                <a:t>Xuất nhập khẩu</a:t>
              </a:r>
            </a:p>
          </p:txBody>
        </p:sp>
        <p:sp>
          <p:nvSpPr>
            <p:cNvPr id="113" name="Rounded Rectangle 112"/>
            <p:cNvSpPr/>
            <p:nvPr/>
          </p:nvSpPr>
          <p:spPr>
            <a:xfrm>
              <a:off x="3619424" y="3496056"/>
              <a:ext cx="146304" cy="146304"/>
            </a:xfrm>
            <a:prstGeom prst="roundRect">
              <a:avLst>
                <a:gd name="adj" fmla="val 18750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875456" y="3404108"/>
              <a:ext cx="408940" cy="3302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2000" b="1" i="0" lang="vi-VN">
                  <a:solidFill>
                    <a:srgbClr val="16181D"/>
                  </a:solidFill>
                  <a:latin typeface="Newsreader"/>
                </a:rPr>
                <a:t>2%</a:t>
              </a: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4527728" y="3477768"/>
              <a:ext cx="1293800" cy="2286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5000"/>
                </a:lnSpc>
              </a:pPr>
              <a:r>
                <a:rPr sz="1100" b="0" i="0" lang="vi-VN">
                  <a:solidFill>
                    <a:srgbClr val="5B6170"/>
                  </a:solidFill>
                  <a:latin typeface="IBM Plex Sans"/>
                </a:rPr>
                <a:t>Dầu thô</a:t>
              </a:r>
            </a:p>
          </p:txBody>
        </p:sp>
      </p:grpSp>
      <p:sp>
        <p:nvSpPr>
          <p:cNvPr id="116" name="TextBox 115"/>
          <p:cNvSpPr txBox="1"/>
          <p:nvPr/>
        </p:nvSpPr>
        <p:spPr>
          <a:xfrm>
            <a:off x="6370168" y="1877568"/>
            <a:ext cx="5227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 i="0" lang="vi-VN">
                <a:solidFill>
                  <a:srgbClr val="16181D"/>
                </a:solidFill>
                <a:latin typeface="IBM Plex Sans SemiBold"/>
              </a:rPr>
              <a:t>Chi ngân sách 2025 (ước tính) — mỗi ô 1%</a:t>
            </a:r>
          </a:p>
        </p:txBody>
      </p:sp>
      <p:grpSp>
        <p:nvGrpSpPr>
          <p:cNvPr id="117" name="Chart · waffle"/>
          <p:cNvGrpSpPr/>
          <p:nvPr/>
        </p:nvGrpSpPr>
        <p:grpSpPr>
          <a:xfrm>
            <a:off x="6370168" y="2243328"/>
            <a:ext cx="5227167" cy="2576993"/>
            <a:chOff x="6370168" y="2243328"/>
            <a:chExt cx="5227167" cy="2576993"/>
          </a:xfrm>
        </p:grpSpPr>
        <p:sp>
          <p:nvSpPr>
            <p:cNvPr id="118" name="Rounded Rectangle 117"/>
            <p:cNvSpPr/>
            <p:nvPr/>
          </p:nvSpPr>
          <p:spPr>
            <a:xfrm>
              <a:off x="6370168" y="224332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Rounded Rectangle 118"/>
            <p:cNvSpPr/>
            <p:nvPr/>
          </p:nvSpPr>
          <p:spPr>
            <a:xfrm>
              <a:off x="6631526" y="224332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" name="Rounded Rectangle 119"/>
            <p:cNvSpPr/>
            <p:nvPr/>
          </p:nvSpPr>
          <p:spPr>
            <a:xfrm>
              <a:off x="6892884" y="224332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Rounded Rectangle 120"/>
            <p:cNvSpPr/>
            <p:nvPr/>
          </p:nvSpPr>
          <p:spPr>
            <a:xfrm>
              <a:off x="7154243" y="224332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Rounded Rectangle 121"/>
            <p:cNvSpPr/>
            <p:nvPr/>
          </p:nvSpPr>
          <p:spPr>
            <a:xfrm>
              <a:off x="7415601" y="224332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Rounded Rectangle 122"/>
            <p:cNvSpPr/>
            <p:nvPr/>
          </p:nvSpPr>
          <p:spPr>
            <a:xfrm>
              <a:off x="7676959" y="224332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Rounded Rectangle 123"/>
            <p:cNvSpPr/>
            <p:nvPr/>
          </p:nvSpPr>
          <p:spPr>
            <a:xfrm>
              <a:off x="7938318" y="224332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" name="Rounded Rectangle 124"/>
            <p:cNvSpPr/>
            <p:nvPr/>
          </p:nvSpPr>
          <p:spPr>
            <a:xfrm>
              <a:off x="8199676" y="224332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6" name="Rounded Rectangle 125"/>
            <p:cNvSpPr/>
            <p:nvPr/>
          </p:nvSpPr>
          <p:spPr>
            <a:xfrm>
              <a:off x="8461035" y="224332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Rounded Rectangle 126"/>
            <p:cNvSpPr/>
            <p:nvPr/>
          </p:nvSpPr>
          <p:spPr>
            <a:xfrm>
              <a:off x="8722393" y="224332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Rounded Rectangle 127"/>
            <p:cNvSpPr/>
            <p:nvPr/>
          </p:nvSpPr>
          <p:spPr>
            <a:xfrm>
              <a:off x="6370168" y="2504686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Rounded Rectangle 128"/>
            <p:cNvSpPr/>
            <p:nvPr/>
          </p:nvSpPr>
          <p:spPr>
            <a:xfrm>
              <a:off x="6631526" y="2504686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Rounded Rectangle 129"/>
            <p:cNvSpPr/>
            <p:nvPr/>
          </p:nvSpPr>
          <p:spPr>
            <a:xfrm>
              <a:off x="6892884" y="2504686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" name="Rounded Rectangle 130"/>
            <p:cNvSpPr/>
            <p:nvPr/>
          </p:nvSpPr>
          <p:spPr>
            <a:xfrm>
              <a:off x="7154243" y="2504686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Rounded Rectangle 131"/>
            <p:cNvSpPr/>
            <p:nvPr/>
          </p:nvSpPr>
          <p:spPr>
            <a:xfrm>
              <a:off x="7415601" y="2504686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Rounded Rectangle 132"/>
            <p:cNvSpPr/>
            <p:nvPr/>
          </p:nvSpPr>
          <p:spPr>
            <a:xfrm>
              <a:off x="7676959" y="2504686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Rounded Rectangle 133"/>
            <p:cNvSpPr/>
            <p:nvPr/>
          </p:nvSpPr>
          <p:spPr>
            <a:xfrm>
              <a:off x="7938318" y="2504686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" name="Rounded Rectangle 134"/>
            <p:cNvSpPr/>
            <p:nvPr/>
          </p:nvSpPr>
          <p:spPr>
            <a:xfrm>
              <a:off x="8199676" y="2504686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6" name="Rounded Rectangle 135"/>
            <p:cNvSpPr/>
            <p:nvPr/>
          </p:nvSpPr>
          <p:spPr>
            <a:xfrm>
              <a:off x="8461035" y="2504686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Rounded Rectangle 136"/>
            <p:cNvSpPr/>
            <p:nvPr/>
          </p:nvSpPr>
          <p:spPr>
            <a:xfrm>
              <a:off x="8722393" y="2504686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8" name="Rounded Rectangle 137"/>
            <p:cNvSpPr/>
            <p:nvPr/>
          </p:nvSpPr>
          <p:spPr>
            <a:xfrm>
              <a:off x="6370168" y="276604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Rounded Rectangle 138"/>
            <p:cNvSpPr/>
            <p:nvPr/>
          </p:nvSpPr>
          <p:spPr>
            <a:xfrm>
              <a:off x="6631526" y="276604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0" name="Rounded Rectangle 139"/>
            <p:cNvSpPr/>
            <p:nvPr/>
          </p:nvSpPr>
          <p:spPr>
            <a:xfrm>
              <a:off x="6892884" y="276604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1" name="Rounded Rectangle 140"/>
            <p:cNvSpPr/>
            <p:nvPr/>
          </p:nvSpPr>
          <p:spPr>
            <a:xfrm>
              <a:off x="7154243" y="276604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2" name="Rounded Rectangle 141"/>
            <p:cNvSpPr/>
            <p:nvPr/>
          </p:nvSpPr>
          <p:spPr>
            <a:xfrm>
              <a:off x="7415601" y="276604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3" name="Rounded Rectangle 142"/>
            <p:cNvSpPr/>
            <p:nvPr/>
          </p:nvSpPr>
          <p:spPr>
            <a:xfrm>
              <a:off x="7676959" y="276604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4" name="Rounded Rectangle 143"/>
            <p:cNvSpPr/>
            <p:nvPr/>
          </p:nvSpPr>
          <p:spPr>
            <a:xfrm>
              <a:off x="7938318" y="276604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5" name="Rounded Rectangle 144"/>
            <p:cNvSpPr/>
            <p:nvPr/>
          </p:nvSpPr>
          <p:spPr>
            <a:xfrm>
              <a:off x="8199676" y="276604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6" name="Rounded Rectangle 145"/>
            <p:cNvSpPr/>
            <p:nvPr/>
          </p:nvSpPr>
          <p:spPr>
            <a:xfrm>
              <a:off x="8461035" y="276604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7" name="Rounded Rectangle 146"/>
            <p:cNvSpPr/>
            <p:nvPr/>
          </p:nvSpPr>
          <p:spPr>
            <a:xfrm>
              <a:off x="8722393" y="276604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8" name="Rounded Rectangle 147"/>
            <p:cNvSpPr/>
            <p:nvPr/>
          </p:nvSpPr>
          <p:spPr>
            <a:xfrm>
              <a:off x="6370168" y="302740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Rounded Rectangle 148"/>
            <p:cNvSpPr/>
            <p:nvPr/>
          </p:nvSpPr>
          <p:spPr>
            <a:xfrm>
              <a:off x="6631526" y="302740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0" name="Rounded Rectangle 149"/>
            <p:cNvSpPr/>
            <p:nvPr/>
          </p:nvSpPr>
          <p:spPr>
            <a:xfrm>
              <a:off x="6892884" y="302740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1" name="Rounded Rectangle 150"/>
            <p:cNvSpPr/>
            <p:nvPr/>
          </p:nvSpPr>
          <p:spPr>
            <a:xfrm>
              <a:off x="7154243" y="302740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2" name="Rounded Rectangle 151"/>
            <p:cNvSpPr/>
            <p:nvPr/>
          </p:nvSpPr>
          <p:spPr>
            <a:xfrm>
              <a:off x="7415601" y="302740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3" name="Rounded Rectangle 152"/>
            <p:cNvSpPr/>
            <p:nvPr/>
          </p:nvSpPr>
          <p:spPr>
            <a:xfrm>
              <a:off x="7676959" y="302740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4" name="Rounded Rectangle 153"/>
            <p:cNvSpPr/>
            <p:nvPr/>
          </p:nvSpPr>
          <p:spPr>
            <a:xfrm>
              <a:off x="7938318" y="302740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5" name="Rounded Rectangle 154"/>
            <p:cNvSpPr/>
            <p:nvPr/>
          </p:nvSpPr>
          <p:spPr>
            <a:xfrm>
              <a:off x="8199676" y="302740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6" name="Rounded Rectangle 155"/>
            <p:cNvSpPr/>
            <p:nvPr/>
          </p:nvSpPr>
          <p:spPr>
            <a:xfrm>
              <a:off x="8461035" y="302740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7" name="Rounded Rectangle 156"/>
            <p:cNvSpPr/>
            <p:nvPr/>
          </p:nvSpPr>
          <p:spPr>
            <a:xfrm>
              <a:off x="8722393" y="302740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8" name="Rounded Rectangle 157"/>
            <p:cNvSpPr/>
            <p:nvPr/>
          </p:nvSpPr>
          <p:spPr>
            <a:xfrm>
              <a:off x="6370168" y="3288762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9" name="Rounded Rectangle 158"/>
            <p:cNvSpPr/>
            <p:nvPr/>
          </p:nvSpPr>
          <p:spPr>
            <a:xfrm>
              <a:off x="6631526" y="3288762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0" name="Rounded Rectangle 159"/>
            <p:cNvSpPr/>
            <p:nvPr/>
          </p:nvSpPr>
          <p:spPr>
            <a:xfrm>
              <a:off x="6892884" y="3288762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1" name="Rounded Rectangle 160"/>
            <p:cNvSpPr/>
            <p:nvPr/>
          </p:nvSpPr>
          <p:spPr>
            <a:xfrm>
              <a:off x="7154243" y="3288762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2" name="Rounded Rectangle 161"/>
            <p:cNvSpPr/>
            <p:nvPr/>
          </p:nvSpPr>
          <p:spPr>
            <a:xfrm>
              <a:off x="7415601" y="3288762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3" name="Rounded Rectangle 162"/>
            <p:cNvSpPr/>
            <p:nvPr/>
          </p:nvSpPr>
          <p:spPr>
            <a:xfrm>
              <a:off x="7676959" y="3288762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4" name="Rounded Rectangle 163"/>
            <p:cNvSpPr/>
            <p:nvPr/>
          </p:nvSpPr>
          <p:spPr>
            <a:xfrm>
              <a:off x="7938318" y="3288762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5" name="Rounded Rectangle 164"/>
            <p:cNvSpPr/>
            <p:nvPr/>
          </p:nvSpPr>
          <p:spPr>
            <a:xfrm>
              <a:off x="8199676" y="3288762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6" name="Rounded Rectangle 165"/>
            <p:cNvSpPr/>
            <p:nvPr/>
          </p:nvSpPr>
          <p:spPr>
            <a:xfrm>
              <a:off x="8461035" y="3288762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7" name="Rounded Rectangle 166"/>
            <p:cNvSpPr/>
            <p:nvPr/>
          </p:nvSpPr>
          <p:spPr>
            <a:xfrm>
              <a:off x="8722393" y="3288762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8" name="Rounded Rectangle 167"/>
            <p:cNvSpPr/>
            <p:nvPr/>
          </p:nvSpPr>
          <p:spPr>
            <a:xfrm>
              <a:off x="6370168" y="3550120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9" name="Rounded Rectangle 168"/>
            <p:cNvSpPr/>
            <p:nvPr/>
          </p:nvSpPr>
          <p:spPr>
            <a:xfrm>
              <a:off x="6631526" y="3550120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0" name="Rounded Rectangle 169"/>
            <p:cNvSpPr/>
            <p:nvPr/>
          </p:nvSpPr>
          <p:spPr>
            <a:xfrm>
              <a:off x="6892884" y="3550120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1" name="Rounded Rectangle 170"/>
            <p:cNvSpPr/>
            <p:nvPr/>
          </p:nvSpPr>
          <p:spPr>
            <a:xfrm>
              <a:off x="7154243" y="3550120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2" name="Rounded Rectangle 171"/>
            <p:cNvSpPr/>
            <p:nvPr/>
          </p:nvSpPr>
          <p:spPr>
            <a:xfrm>
              <a:off x="7415601" y="3550120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3" name="Rounded Rectangle 172"/>
            <p:cNvSpPr/>
            <p:nvPr/>
          </p:nvSpPr>
          <p:spPr>
            <a:xfrm>
              <a:off x="7676959" y="3550120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4" name="Rounded Rectangle 173"/>
            <p:cNvSpPr/>
            <p:nvPr/>
          </p:nvSpPr>
          <p:spPr>
            <a:xfrm>
              <a:off x="7938318" y="3550120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5" name="Rounded Rectangle 174"/>
            <p:cNvSpPr/>
            <p:nvPr/>
          </p:nvSpPr>
          <p:spPr>
            <a:xfrm>
              <a:off x="8199676" y="3550120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6" name="Rounded Rectangle 175"/>
            <p:cNvSpPr/>
            <p:nvPr/>
          </p:nvSpPr>
          <p:spPr>
            <a:xfrm>
              <a:off x="8461035" y="3550120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7" name="Rounded Rectangle 176"/>
            <p:cNvSpPr/>
            <p:nvPr/>
          </p:nvSpPr>
          <p:spPr>
            <a:xfrm>
              <a:off x="8722393" y="3550120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8" name="Rounded Rectangle 177"/>
            <p:cNvSpPr/>
            <p:nvPr/>
          </p:nvSpPr>
          <p:spPr>
            <a:xfrm>
              <a:off x="6370168" y="381147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9" name="Rounded Rectangle 178"/>
            <p:cNvSpPr/>
            <p:nvPr/>
          </p:nvSpPr>
          <p:spPr>
            <a:xfrm>
              <a:off x="6631526" y="381147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0" name="Rounded Rectangle 179"/>
            <p:cNvSpPr/>
            <p:nvPr/>
          </p:nvSpPr>
          <p:spPr>
            <a:xfrm>
              <a:off x="6892884" y="381147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1" name="Rounded Rectangle 180"/>
            <p:cNvSpPr/>
            <p:nvPr/>
          </p:nvSpPr>
          <p:spPr>
            <a:xfrm>
              <a:off x="7154243" y="381147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7415601" y="381147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3" name="Rounded Rectangle 182"/>
            <p:cNvSpPr/>
            <p:nvPr/>
          </p:nvSpPr>
          <p:spPr>
            <a:xfrm>
              <a:off x="7676959" y="381147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4" name="Rounded Rectangle 183"/>
            <p:cNvSpPr/>
            <p:nvPr/>
          </p:nvSpPr>
          <p:spPr>
            <a:xfrm>
              <a:off x="7938318" y="381147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5" name="Rounded Rectangle 184"/>
            <p:cNvSpPr/>
            <p:nvPr/>
          </p:nvSpPr>
          <p:spPr>
            <a:xfrm>
              <a:off x="8199676" y="381147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6" name="Rounded Rectangle 185"/>
            <p:cNvSpPr/>
            <p:nvPr/>
          </p:nvSpPr>
          <p:spPr>
            <a:xfrm>
              <a:off x="8461035" y="381147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7" name="Rounded Rectangle 186"/>
            <p:cNvSpPr/>
            <p:nvPr/>
          </p:nvSpPr>
          <p:spPr>
            <a:xfrm>
              <a:off x="8722393" y="3811478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8" name="Rounded Rectangle 187"/>
            <p:cNvSpPr/>
            <p:nvPr/>
          </p:nvSpPr>
          <p:spPr>
            <a:xfrm>
              <a:off x="6370168" y="4072837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9" name="Rounded Rectangle 188"/>
            <p:cNvSpPr/>
            <p:nvPr/>
          </p:nvSpPr>
          <p:spPr>
            <a:xfrm>
              <a:off x="6631526" y="4072837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0" name="Rounded Rectangle 189"/>
            <p:cNvSpPr/>
            <p:nvPr/>
          </p:nvSpPr>
          <p:spPr>
            <a:xfrm>
              <a:off x="6892884" y="4072837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1" name="Rounded Rectangle 190"/>
            <p:cNvSpPr/>
            <p:nvPr/>
          </p:nvSpPr>
          <p:spPr>
            <a:xfrm>
              <a:off x="7154243" y="4072837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2" name="Rounded Rectangle 191"/>
            <p:cNvSpPr/>
            <p:nvPr/>
          </p:nvSpPr>
          <p:spPr>
            <a:xfrm>
              <a:off x="7415601" y="4072837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3" name="Rounded Rectangle 192"/>
            <p:cNvSpPr/>
            <p:nvPr/>
          </p:nvSpPr>
          <p:spPr>
            <a:xfrm>
              <a:off x="7676959" y="4072837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4" name="Rounded Rectangle 193"/>
            <p:cNvSpPr/>
            <p:nvPr/>
          </p:nvSpPr>
          <p:spPr>
            <a:xfrm>
              <a:off x="7938318" y="4072837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5" name="Rounded Rectangle 194"/>
            <p:cNvSpPr/>
            <p:nvPr/>
          </p:nvSpPr>
          <p:spPr>
            <a:xfrm>
              <a:off x="8199676" y="4072837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6" name="Rounded Rectangle 195"/>
            <p:cNvSpPr/>
            <p:nvPr/>
          </p:nvSpPr>
          <p:spPr>
            <a:xfrm>
              <a:off x="8461035" y="4072837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7" name="Rounded Rectangle 196"/>
            <p:cNvSpPr/>
            <p:nvPr/>
          </p:nvSpPr>
          <p:spPr>
            <a:xfrm>
              <a:off x="8722393" y="4072837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8" name="Rounded Rectangle 197"/>
            <p:cNvSpPr/>
            <p:nvPr/>
          </p:nvSpPr>
          <p:spPr>
            <a:xfrm>
              <a:off x="6370168" y="433419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9" name="Rounded Rectangle 198"/>
            <p:cNvSpPr/>
            <p:nvPr/>
          </p:nvSpPr>
          <p:spPr>
            <a:xfrm>
              <a:off x="6631526" y="433419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0" name="Rounded Rectangle 199"/>
            <p:cNvSpPr/>
            <p:nvPr/>
          </p:nvSpPr>
          <p:spPr>
            <a:xfrm>
              <a:off x="6892884" y="433419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1" name="Rounded Rectangle 200"/>
            <p:cNvSpPr/>
            <p:nvPr/>
          </p:nvSpPr>
          <p:spPr>
            <a:xfrm>
              <a:off x="7154243" y="433419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2" name="Rounded Rectangle 201"/>
            <p:cNvSpPr/>
            <p:nvPr/>
          </p:nvSpPr>
          <p:spPr>
            <a:xfrm>
              <a:off x="7415601" y="433419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3" name="Rounded Rectangle 202"/>
            <p:cNvSpPr/>
            <p:nvPr/>
          </p:nvSpPr>
          <p:spPr>
            <a:xfrm>
              <a:off x="7676959" y="433419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4" name="Rounded Rectangle 203"/>
            <p:cNvSpPr/>
            <p:nvPr/>
          </p:nvSpPr>
          <p:spPr>
            <a:xfrm>
              <a:off x="7938318" y="433419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5" name="Rounded Rectangle 204"/>
            <p:cNvSpPr/>
            <p:nvPr/>
          </p:nvSpPr>
          <p:spPr>
            <a:xfrm>
              <a:off x="8199676" y="433419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6" name="Rounded Rectangle 205"/>
            <p:cNvSpPr/>
            <p:nvPr/>
          </p:nvSpPr>
          <p:spPr>
            <a:xfrm>
              <a:off x="8461035" y="433419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7" name="Rounded Rectangle 206"/>
            <p:cNvSpPr/>
            <p:nvPr/>
          </p:nvSpPr>
          <p:spPr>
            <a:xfrm>
              <a:off x="8722393" y="4334195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8" name="Rounded Rectangle 207"/>
            <p:cNvSpPr/>
            <p:nvPr/>
          </p:nvSpPr>
          <p:spPr>
            <a:xfrm>
              <a:off x="6370168" y="459555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9" name="Rounded Rectangle 208"/>
            <p:cNvSpPr/>
            <p:nvPr/>
          </p:nvSpPr>
          <p:spPr>
            <a:xfrm>
              <a:off x="6631526" y="459555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0" name="Rounded Rectangle 209"/>
            <p:cNvSpPr/>
            <p:nvPr/>
          </p:nvSpPr>
          <p:spPr>
            <a:xfrm>
              <a:off x="6892884" y="459555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1" name="Rounded Rectangle 210"/>
            <p:cNvSpPr/>
            <p:nvPr/>
          </p:nvSpPr>
          <p:spPr>
            <a:xfrm>
              <a:off x="7154243" y="459555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2" name="Rounded Rectangle 211"/>
            <p:cNvSpPr/>
            <p:nvPr/>
          </p:nvSpPr>
          <p:spPr>
            <a:xfrm>
              <a:off x="7415601" y="459555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3" name="Rounded Rectangle 212"/>
            <p:cNvSpPr/>
            <p:nvPr/>
          </p:nvSpPr>
          <p:spPr>
            <a:xfrm>
              <a:off x="7676959" y="459555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4" name="Rounded Rectangle 213"/>
            <p:cNvSpPr/>
            <p:nvPr/>
          </p:nvSpPr>
          <p:spPr>
            <a:xfrm>
              <a:off x="7938318" y="459555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5" name="Rounded Rectangle 214"/>
            <p:cNvSpPr/>
            <p:nvPr/>
          </p:nvSpPr>
          <p:spPr>
            <a:xfrm>
              <a:off x="8199676" y="459555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6" name="Rounded Rectangle 215"/>
            <p:cNvSpPr/>
            <p:nvPr/>
          </p:nvSpPr>
          <p:spPr>
            <a:xfrm>
              <a:off x="8461035" y="459555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7" name="Rounded Rectangle 216"/>
            <p:cNvSpPr/>
            <p:nvPr/>
          </p:nvSpPr>
          <p:spPr>
            <a:xfrm>
              <a:off x="8722393" y="4595553"/>
              <a:ext cx="224768" cy="224768"/>
            </a:xfrm>
            <a:prstGeom prst="roundRect">
              <a:avLst>
                <a:gd name="adj" fmla="val 18000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8" name="Rounded Rectangle 217"/>
            <p:cNvSpPr/>
            <p:nvPr/>
          </p:nvSpPr>
          <p:spPr>
            <a:xfrm>
              <a:off x="9395231" y="2362200"/>
              <a:ext cx="146304" cy="146304"/>
            </a:xfrm>
            <a:prstGeom prst="roundRect">
              <a:avLst>
                <a:gd name="adj" fmla="val 1875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9" name="TextBox 218"/>
            <p:cNvSpPr txBox="1"/>
            <p:nvPr/>
          </p:nvSpPr>
          <p:spPr>
            <a:xfrm>
              <a:off x="9651263" y="2270252"/>
              <a:ext cx="797179" cy="3302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2000" b="1" i="0" lang="vi-VN">
                  <a:solidFill>
                    <a:srgbClr val="16181D"/>
                  </a:solidFill>
                  <a:latin typeface="Newsreader"/>
                </a:rPr>
                <a:t>64,7%</a:t>
              </a:r>
            </a:p>
          </p:txBody>
        </p:sp>
        <p:sp>
          <p:nvSpPr>
            <p:cNvPr id="220" name="TextBox 219"/>
            <p:cNvSpPr txBox="1"/>
            <p:nvPr/>
          </p:nvSpPr>
          <p:spPr>
            <a:xfrm>
              <a:off x="10530738" y="2343912"/>
              <a:ext cx="1066597" cy="4114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5000"/>
                </a:lnSpc>
              </a:pPr>
              <a:r>
                <a:rPr sz="1100" b="0" i="0" lang="vi-VN">
                  <a:solidFill>
                    <a:srgbClr val="5B6170"/>
                  </a:solidFill>
                  <a:latin typeface="IBM Plex Sans"/>
                </a:rPr>
                <a:t>Chi thường xuyên</a:t>
              </a:r>
            </a:p>
          </p:txBody>
        </p:sp>
        <p:sp>
          <p:nvSpPr>
            <p:cNvPr id="221" name="Rounded Rectangle 220"/>
            <p:cNvSpPr/>
            <p:nvPr/>
          </p:nvSpPr>
          <p:spPr>
            <a:xfrm>
              <a:off x="9395231" y="3020568"/>
              <a:ext cx="146304" cy="146304"/>
            </a:xfrm>
            <a:prstGeom prst="roundRect">
              <a:avLst>
                <a:gd name="adj" fmla="val 1875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2" name="TextBox 221"/>
            <p:cNvSpPr txBox="1"/>
            <p:nvPr/>
          </p:nvSpPr>
          <p:spPr>
            <a:xfrm>
              <a:off x="9651263" y="2928620"/>
              <a:ext cx="797179" cy="3302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2000" b="1" i="0" lang="vi-VN">
                  <a:solidFill>
                    <a:srgbClr val="16181D"/>
                  </a:solidFill>
                  <a:latin typeface="Newsreader"/>
                </a:rPr>
                <a:t>30,5%</a:t>
              </a:r>
            </a:p>
          </p:txBody>
        </p:sp>
        <p:sp>
          <p:nvSpPr>
            <p:cNvPr id="223" name="TextBox 222"/>
            <p:cNvSpPr txBox="1"/>
            <p:nvPr/>
          </p:nvSpPr>
          <p:spPr>
            <a:xfrm>
              <a:off x="10530738" y="3002280"/>
              <a:ext cx="1066597" cy="2286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5000"/>
                </a:lnSpc>
              </a:pPr>
              <a:r>
                <a:rPr sz="1100" b="0" i="0" lang="vi-VN">
                  <a:solidFill>
                    <a:srgbClr val="5B6170"/>
                  </a:solidFill>
                  <a:latin typeface="IBM Plex Sans"/>
                </a:rPr>
                <a:t>Đầu tư phát triển</a:t>
              </a:r>
            </a:p>
          </p:txBody>
        </p:sp>
        <p:sp>
          <p:nvSpPr>
            <p:cNvPr id="224" name="Rounded Rectangle 223"/>
            <p:cNvSpPr/>
            <p:nvPr/>
          </p:nvSpPr>
          <p:spPr>
            <a:xfrm>
              <a:off x="9395231" y="3587496"/>
              <a:ext cx="146304" cy="146304"/>
            </a:xfrm>
            <a:prstGeom prst="roundRect">
              <a:avLst>
                <a:gd name="adj" fmla="val 18750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5" name="TextBox 224"/>
            <p:cNvSpPr txBox="1"/>
            <p:nvPr/>
          </p:nvSpPr>
          <p:spPr>
            <a:xfrm>
              <a:off x="9651263" y="3495548"/>
              <a:ext cx="636143" cy="3302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2000" b="1" i="0" lang="vi-VN">
                  <a:solidFill>
                    <a:srgbClr val="16181D"/>
                  </a:solidFill>
                  <a:latin typeface="Newsreader"/>
                </a:rPr>
                <a:t>4,6%</a:t>
              </a:r>
            </a:p>
          </p:txBody>
        </p:sp>
        <p:sp>
          <p:nvSpPr>
            <p:cNvPr id="226" name="TextBox 225"/>
            <p:cNvSpPr txBox="1"/>
            <p:nvPr/>
          </p:nvSpPr>
          <p:spPr>
            <a:xfrm>
              <a:off x="10530738" y="3569208"/>
              <a:ext cx="1066597" cy="2286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5000"/>
                </a:lnSpc>
              </a:pPr>
              <a:r>
                <a:rPr sz="1100" b="0" i="0" lang="vi-VN">
                  <a:solidFill>
                    <a:srgbClr val="5B6170"/>
                  </a:solidFill>
                  <a:latin typeface="IBM Plex Sans"/>
                </a:rPr>
                <a:t>Trả lãi</a:t>
              </a:r>
            </a:p>
          </p:txBody>
        </p:sp>
        <p:sp>
          <p:nvSpPr>
            <p:cNvPr id="227" name="Rounded Rectangle 226"/>
            <p:cNvSpPr/>
            <p:nvPr/>
          </p:nvSpPr>
          <p:spPr>
            <a:xfrm>
              <a:off x="9395231" y="4154424"/>
              <a:ext cx="146304" cy="146304"/>
            </a:xfrm>
            <a:prstGeom prst="roundRect">
              <a:avLst>
                <a:gd name="adj" fmla="val 1875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8" name="TextBox 227"/>
            <p:cNvSpPr txBox="1"/>
            <p:nvPr/>
          </p:nvSpPr>
          <p:spPr>
            <a:xfrm>
              <a:off x="9651263" y="4062476"/>
              <a:ext cx="636143" cy="3302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2000" b="1" i="0" lang="vi-VN">
                  <a:solidFill>
                    <a:srgbClr val="16181D"/>
                  </a:solidFill>
                  <a:latin typeface="Newsreader"/>
                </a:rPr>
                <a:t>0,3%</a:t>
              </a:r>
            </a:p>
          </p:txBody>
        </p:sp>
        <p:sp>
          <p:nvSpPr>
            <p:cNvPr id="229" name="TextBox 228"/>
            <p:cNvSpPr txBox="1"/>
            <p:nvPr/>
          </p:nvSpPr>
          <p:spPr>
            <a:xfrm>
              <a:off x="10530738" y="4136136"/>
              <a:ext cx="1066597" cy="2286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5000"/>
                </a:lnSpc>
              </a:pPr>
              <a:r>
                <a:rPr sz="1100" b="0" i="0" lang="vi-VN">
                  <a:solidFill>
                    <a:srgbClr val="5B6170"/>
                  </a:solidFill>
                  <a:latin typeface="IBM Plex Sans"/>
                </a:rPr>
                <a:t>Khác</a:t>
              </a:r>
            </a:p>
          </p:txBody>
        </p:sp>
      </p:grpSp>
      <p:sp>
        <p:nvSpPr>
          <p:cNvPr id="230" name="TextBox 229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Thu ngân sách 2025 ước 2.647,7 nghìn tỷ từ ba nguồn chính; chi ước 2.401,5 nghìn tỷ.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Viện trợ 2025 chưa công bố nên không có ô; "Khác" nhỏ hơn 0,5% nên không đủ một ô. Ô làm tròn theo phần dư lớn nhất để tổng đúng 100.</a:t>
            </a:r>
          </a:p>
        </p:txBody>
      </p:sp>
      <p:cxnSp>
        <p:nvCxnSpPr>
          <p:cNvPr id="231" name="Connector 230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232" name="TextBox 231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Bộ Tài chính — ước thực hiện NSNN 2025 (công bố 1/2026).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3 · DÒNG TIỀN NGÂN SÁCH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Chi thường xuyên chiếm 61% chi ngân sách 2024; thu nội địa trả cho 80%</a:t>
            </a:r>
          </a:p>
        </p:txBody>
      </p:sp>
      <p:grpSp>
        <p:nvGrpSpPr>
          <p:cNvPr id="5" name="Chart · flow"/>
          <p:cNvGrpSpPr/>
          <p:nvPr/>
        </p:nvGrpSpPr>
        <p:grpSpPr>
          <a:xfrm>
            <a:off x="625475" y="1969008"/>
            <a:ext cx="10862132" cy="3515415"/>
            <a:chOff x="625475" y="1969008"/>
            <a:chExt cx="10862132" cy="3515415"/>
          </a:xfrm>
        </p:grpSpPr>
        <p:sp>
          <p:nvSpPr>
            <p:cNvPr id="6" name="Freeform 5"/>
            <p:cNvSpPr/>
            <p:nvPr/>
          </p:nvSpPr>
          <p:spPr>
            <a:xfrm>
              <a:off x="2088261" y="1969008"/>
              <a:ext cx="4018763" cy="2626562"/>
            </a:xfrm>
            <a:custGeom>
              <a:avLst/>
              <a:gdLst/>
              <a:ahLst/>
              <a:cxnLst/>
              <a:rect l="l" t="t" r="r" b="b"/>
              <a:pathLst>
                <a:path w="4018763" h="2626562">
                  <a:moveTo>
                    <a:pt x="0" y="0"/>
                  </a:moveTo>
                  <a:lnTo>
                    <a:pt x="167448" y="1482"/>
                  </a:lnTo>
                  <a:lnTo>
                    <a:pt x="334897" y="5757"/>
                  </a:lnTo>
                  <a:lnTo>
                    <a:pt x="502345" y="12573"/>
                  </a:lnTo>
                  <a:lnTo>
                    <a:pt x="669794" y="21675"/>
                  </a:lnTo>
                  <a:lnTo>
                    <a:pt x="837242" y="32808"/>
                  </a:lnTo>
                  <a:lnTo>
                    <a:pt x="1004691" y="45720"/>
                  </a:lnTo>
                  <a:lnTo>
                    <a:pt x="1172139" y="60156"/>
                  </a:lnTo>
                  <a:lnTo>
                    <a:pt x="1339588" y="75861"/>
                  </a:lnTo>
                  <a:lnTo>
                    <a:pt x="1507036" y="92583"/>
                  </a:lnTo>
                  <a:lnTo>
                    <a:pt x="1674484" y="110067"/>
                  </a:lnTo>
                  <a:lnTo>
                    <a:pt x="1841933" y="128058"/>
                  </a:lnTo>
                  <a:lnTo>
                    <a:pt x="2009381" y="146304"/>
                  </a:lnTo>
                  <a:lnTo>
                    <a:pt x="2176830" y="164550"/>
                  </a:lnTo>
                  <a:lnTo>
                    <a:pt x="2344278" y="182541"/>
                  </a:lnTo>
                  <a:lnTo>
                    <a:pt x="2511727" y="200025"/>
                  </a:lnTo>
                  <a:lnTo>
                    <a:pt x="2679175" y="216747"/>
                  </a:lnTo>
                  <a:lnTo>
                    <a:pt x="2846624" y="232452"/>
                  </a:lnTo>
                  <a:lnTo>
                    <a:pt x="3014072" y="246888"/>
                  </a:lnTo>
                  <a:lnTo>
                    <a:pt x="3181520" y="259800"/>
                  </a:lnTo>
                  <a:lnTo>
                    <a:pt x="3348969" y="270933"/>
                  </a:lnTo>
                  <a:lnTo>
                    <a:pt x="3516417" y="280035"/>
                  </a:lnTo>
                  <a:lnTo>
                    <a:pt x="3683866" y="286851"/>
                  </a:lnTo>
                  <a:lnTo>
                    <a:pt x="3851314" y="291126"/>
                  </a:lnTo>
                  <a:lnTo>
                    <a:pt x="4018763" y="292608"/>
                  </a:lnTo>
                  <a:lnTo>
                    <a:pt x="4018763" y="2626562"/>
                  </a:lnTo>
                  <a:lnTo>
                    <a:pt x="3851314" y="2625081"/>
                  </a:lnTo>
                  <a:lnTo>
                    <a:pt x="3683866" y="2620805"/>
                  </a:lnTo>
                  <a:lnTo>
                    <a:pt x="3516417" y="2613989"/>
                  </a:lnTo>
                  <a:lnTo>
                    <a:pt x="3348969" y="2604888"/>
                  </a:lnTo>
                  <a:lnTo>
                    <a:pt x="3181520" y="2593754"/>
                  </a:lnTo>
                  <a:lnTo>
                    <a:pt x="3014072" y="2580842"/>
                  </a:lnTo>
                  <a:lnTo>
                    <a:pt x="2846624" y="2566407"/>
                  </a:lnTo>
                  <a:lnTo>
                    <a:pt x="2679175" y="2550701"/>
                  </a:lnTo>
                  <a:lnTo>
                    <a:pt x="2511727" y="2533979"/>
                  </a:lnTo>
                  <a:lnTo>
                    <a:pt x="2344278" y="2516496"/>
                  </a:lnTo>
                  <a:lnTo>
                    <a:pt x="2176830" y="2498504"/>
                  </a:lnTo>
                  <a:lnTo>
                    <a:pt x="2009381" y="2480258"/>
                  </a:lnTo>
                  <a:lnTo>
                    <a:pt x="1841933" y="2462013"/>
                  </a:lnTo>
                  <a:lnTo>
                    <a:pt x="1674484" y="2444021"/>
                  </a:lnTo>
                  <a:lnTo>
                    <a:pt x="1507036" y="2426537"/>
                  </a:lnTo>
                  <a:lnTo>
                    <a:pt x="1339588" y="2409816"/>
                  </a:lnTo>
                  <a:lnTo>
                    <a:pt x="1172139" y="2394110"/>
                  </a:lnTo>
                  <a:lnTo>
                    <a:pt x="1004691" y="2379674"/>
                  </a:lnTo>
                  <a:lnTo>
                    <a:pt x="837242" y="2366763"/>
                  </a:lnTo>
                  <a:lnTo>
                    <a:pt x="669794" y="2355629"/>
                  </a:lnTo>
                  <a:lnTo>
                    <a:pt x="502345" y="2346527"/>
                  </a:lnTo>
                  <a:lnTo>
                    <a:pt x="334897" y="2339712"/>
                  </a:lnTo>
                  <a:lnTo>
                    <a:pt x="167448" y="2335436"/>
                  </a:lnTo>
                  <a:lnTo>
                    <a:pt x="0" y="2333954"/>
                  </a:lnTo>
                  <a:close/>
                </a:path>
              </a:pathLst>
            </a:custGeom>
            <a:solidFill>
              <a:srgbClr val="2A78D6">
                <a:alpha val="30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Freeform 6"/>
            <p:cNvSpPr/>
            <p:nvPr/>
          </p:nvSpPr>
          <p:spPr>
            <a:xfrm>
              <a:off x="2088261" y="4449266"/>
              <a:ext cx="4018763" cy="514623"/>
            </a:xfrm>
            <a:custGeom>
              <a:avLst/>
              <a:gdLst/>
              <a:ahLst/>
              <a:cxnLst/>
              <a:rect l="l" t="t" r="r" b="b"/>
              <a:pathLst>
                <a:path w="4018763" h="514623">
                  <a:moveTo>
                    <a:pt x="0" y="0"/>
                  </a:moveTo>
                  <a:lnTo>
                    <a:pt x="167448" y="741"/>
                  </a:lnTo>
                  <a:lnTo>
                    <a:pt x="334897" y="2879"/>
                  </a:lnTo>
                  <a:lnTo>
                    <a:pt x="502345" y="6287"/>
                  </a:lnTo>
                  <a:lnTo>
                    <a:pt x="669794" y="10838"/>
                  </a:lnTo>
                  <a:lnTo>
                    <a:pt x="837242" y="16404"/>
                  </a:lnTo>
                  <a:lnTo>
                    <a:pt x="1004691" y="22860"/>
                  </a:lnTo>
                  <a:lnTo>
                    <a:pt x="1172139" y="30078"/>
                  </a:lnTo>
                  <a:lnTo>
                    <a:pt x="1339588" y="37931"/>
                  </a:lnTo>
                  <a:lnTo>
                    <a:pt x="1507036" y="46292"/>
                  </a:lnTo>
                  <a:lnTo>
                    <a:pt x="1674484" y="55034"/>
                  </a:lnTo>
                  <a:lnTo>
                    <a:pt x="1841933" y="64029"/>
                  </a:lnTo>
                  <a:lnTo>
                    <a:pt x="2009381" y="73152"/>
                  </a:lnTo>
                  <a:lnTo>
                    <a:pt x="2176830" y="82275"/>
                  </a:lnTo>
                  <a:lnTo>
                    <a:pt x="2344278" y="91271"/>
                  </a:lnTo>
                  <a:lnTo>
                    <a:pt x="2511727" y="100013"/>
                  </a:lnTo>
                  <a:lnTo>
                    <a:pt x="2679175" y="108374"/>
                  </a:lnTo>
                  <a:lnTo>
                    <a:pt x="2846624" y="116226"/>
                  </a:lnTo>
                  <a:lnTo>
                    <a:pt x="3014072" y="123444"/>
                  </a:lnTo>
                  <a:lnTo>
                    <a:pt x="3181520" y="129900"/>
                  </a:lnTo>
                  <a:lnTo>
                    <a:pt x="3348969" y="135467"/>
                  </a:lnTo>
                  <a:lnTo>
                    <a:pt x="3516417" y="140018"/>
                  </a:lnTo>
                  <a:lnTo>
                    <a:pt x="3683866" y="143426"/>
                  </a:lnTo>
                  <a:lnTo>
                    <a:pt x="3851314" y="145563"/>
                  </a:lnTo>
                  <a:lnTo>
                    <a:pt x="4018763" y="146304"/>
                  </a:lnTo>
                  <a:lnTo>
                    <a:pt x="4018763" y="514623"/>
                  </a:lnTo>
                  <a:lnTo>
                    <a:pt x="3851314" y="513882"/>
                  </a:lnTo>
                  <a:lnTo>
                    <a:pt x="3683866" y="511744"/>
                  </a:lnTo>
                  <a:lnTo>
                    <a:pt x="3516417" y="508336"/>
                  </a:lnTo>
                  <a:lnTo>
                    <a:pt x="3348969" y="503785"/>
                  </a:lnTo>
                  <a:lnTo>
                    <a:pt x="3181520" y="498219"/>
                  </a:lnTo>
                  <a:lnTo>
                    <a:pt x="3014072" y="491763"/>
                  </a:lnTo>
                  <a:lnTo>
                    <a:pt x="2846624" y="484545"/>
                  </a:lnTo>
                  <a:lnTo>
                    <a:pt x="2679175" y="476692"/>
                  </a:lnTo>
                  <a:lnTo>
                    <a:pt x="2511727" y="468331"/>
                  </a:lnTo>
                  <a:lnTo>
                    <a:pt x="2344278" y="459589"/>
                  </a:lnTo>
                  <a:lnTo>
                    <a:pt x="2176830" y="450594"/>
                  </a:lnTo>
                  <a:lnTo>
                    <a:pt x="2009381" y="441471"/>
                  </a:lnTo>
                  <a:lnTo>
                    <a:pt x="1841933" y="432348"/>
                  </a:lnTo>
                  <a:lnTo>
                    <a:pt x="1674484" y="423352"/>
                  </a:lnTo>
                  <a:lnTo>
                    <a:pt x="1507036" y="414610"/>
                  </a:lnTo>
                  <a:lnTo>
                    <a:pt x="1339588" y="406249"/>
                  </a:lnTo>
                  <a:lnTo>
                    <a:pt x="1172139" y="398397"/>
                  </a:lnTo>
                  <a:lnTo>
                    <a:pt x="1004691" y="391179"/>
                  </a:lnTo>
                  <a:lnTo>
                    <a:pt x="837242" y="384723"/>
                  </a:lnTo>
                  <a:lnTo>
                    <a:pt x="669794" y="379156"/>
                  </a:lnTo>
                  <a:lnTo>
                    <a:pt x="502345" y="374605"/>
                  </a:lnTo>
                  <a:lnTo>
                    <a:pt x="334897" y="371197"/>
                  </a:lnTo>
                  <a:lnTo>
                    <a:pt x="167448" y="369060"/>
                  </a:lnTo>
                  <a:lnTo>
                    <a:pt x="0" y="368319"/>
                  </a:lnTo>
                  <a:close/>
                </a:path>
              </a:pathLst>
            </a:custGeom>
            <a:solidFill>
              <a:srgbClr val="EB6834">
                <a:alpha val="30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Freeform 7"/>
            <p:cNvSpPr/>
            <p:nvPr/>
          </p:nvSpPr>
          <p:spPr>
            <a:xfrm>
              <a:off x="2088261" y="4963889"/>
              <a:ext cx="4018763" cy="79411"/>
            </a:xfrm>
            <a:custGeom>
              <a:avLst/>
              <a:gdLst/>
              <a:ahLst/>
              <a:cxnLst/>
              <a:rect l="l" t="t" r="r" b="b"/>
              <a:pathLst>
                <a:path w="4018763" h="79411">
                  <a:moveTo>
                    <a:pt x="0" y="0"/>
                  </a:moveTo>
                  <a:lnTo>
                    <a:pt x="167448" y="0"/>
                  </a:lnTo>
                  <a:lnTo>
                    <a:pt x="334897" y="0"/>
                  </a:lnTo>
                  <a:lnTo>
                    <a:pt x="502345" y="0"/>
                  </a:lnTo>
                  <a:lnTo>
                    <a:pt x="669794" y="0"/>
                  </a:lnTo>
                  <a:lnTo>
                    <a:pt x="837242" y="0"/>
                  </a:lnTo>
                  <a:lnTo>
                    <a:pt x="1004691" y="0"/>
                  </a:lnTo>
                  <a:lnTo>
                    <a:pt x="1172139" y="0"/>
                  </a:lnTo>
                  <a:lnTo>
                    <a:pt x="1339588" y="0"/>
                  </a:lnTo>
                  <a:lnTo>
                    <a:pt x="1507036" y="0"/>
                  </a:lnTo>
                  <a:lnTo>
                    <a:pt x="1674484" y="0"/>
                  </a:lnTo>
                  <a:lnTo>
                    <a:pt x="1841933" y="0"/>
                  </a:lnTo>
                  <a:lnTo>
                    <a:pt x="2009381" y="0"/>
                  </a:lnTo>
                  <a:lnTo>
                    <a:pt x="2176830" y="0"/>
                  </a:lnTo>
                  <a:lnTo>
                    <a:pt x="2344278" y="0"/>
                  </a:lnTo>
                  <a:lnTo>
                    <a:pt x="2511727" y="0"/>
                  </a:lnTo>
                  <a:lnTo>
                    <a:pt x="2679175" y="0"/>
                  </a:lnTo>
                  <a:lnTo>
                    <a:pt x="2846624" y="0"/>
                  </a:lnTo>
                  <a:lnTo>
                    <a:pt x="3014072" y="0"/>
                  </a:lnTo>
                  <a:lnTo>
                    <a:pt x="3181520" y="0"/>
                  </a:lnTo>
                  <a:lnTo>
                    <a:pt x="3348969" y="0"/>
                  </a:lnTo>
                  <a:lnTo>
                    <a:pt x="3516417" y="0"/>
                  </a:lnTo>
                  <a:lnTo>
                    <a:pt x="3683866" y="0"/>
                  </a:lnTo>
                  <a:lnTo>
                    <a:pt x="3851314" y="0"/>
                  </a:lnTo>
                  <a:lnTo>
                    <a:pt x="4018763" y="0"/>
                  </a:lnTo>
                  <a:lnTo>
                    <a:pt x="4018763" y="79411"/>
                  </a:lnTo>
                  <a:lnTo>
                    <a:pt x="3851314" y="79411"/>
                  </a:lnTo>
                  <a:lnTo>
                    <a:pt x="3683866" y="79411"/>
                  </a:lnTo>
                  <a:lnTo>
                    <a:pt x="3516417" y="79411"/>
                  </a:lnTo>
                  <a:lnTo>
                    <a:pt x="3348969" y="79411"/>
                  </a:lnTo>
                  <a:lnTo>
                    <a:pt x="3181520" y="79411"/>
                  </a:lnTo>
                  <a:lnTo>
                    <a:pt x="3014072" y="79411"/>
                  </a:lnTo>
                  <a:lnTo>
                    <a:pt x="2846624" y="79411"/>
                  </a:lnTo>
                  <a:lnTo>
                    <a:pt x="2679175" y="79411"/>
                  </a:lnTo>
                  <a:lnTo>
                    <a:pt x="2511727" y="79411"/>
                  </a:lnTo>
                  <a:lnTo>
                    <a:pt x="2344278" y="79411"/>
                  </a:lnTo>
                  <a:lnTo>
                    <a:pt x="2176830" y="79411"/>
                  </a:lnTo>
                  <a:lnTo>
                    <a:pt x="2009381" y="79411"/>
                  </a:lnTo>
                  <a:lnTo>
                    <a:pt x="1841933" y="79411"/>
                  </a:lnTo>
                  <a:lnTo>
                    <a:pt x="1674484" y="79411"/>
                  </a:lnTo>
                  <a:lnTo>
                    <a:pt x="1507036" y="79411"/>
                  </a:lnTo>
                  <a:lnTo>
                    <a:pt x="1339588" y="79411"/>
                  </a:lnTo>
                  <a:lnTo>
                    <a:pt x="1172139" y="79411"/>
                  </a:lnTo>
                  <a:lnTo>
                    <a:pt x="1004691" y="79411"/>
                  </a:lnTo>
                  <a:lnTo>
                    <a:pt x="837242" y="79411"/>
                  </a:lnTo>
                  <a:lnTo>
                    <a:pt x="669794" y="79411"/>
                  </a:lnTo>
                  <a:lnTo>
                    <a:pt x="502345" y="79411"/>
                  </a:lnTo>
                  <a:lnTo>
                    <a:pt x="334897" y="79411"/>
                  </a:lnTo>
                  <a:lnTo>
                    <a:pt x="167448" y="79411"/>
                  </a:lnTo>
                  <a:lnTo>
                    <a:pt x="0" y="79411"/>
                  </a:lnTo>
                  <a:close/>
                </a:path>
              </a:pathLst>
            </a:custGeom>
            <a:solidFill>
              <a:srgbClr val="EDA100">
                <a:alpha val="30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Freeform 8"/>
            <p:cNvSpPr/>
            <p:nvPr/>
          </p:nvSpPr>
          <p:spPr>
            <a:xfrm>
              <a:off x="2088261" y="5043300"/>
              <a:ext cx="4018763" cy="150704"/>
            </a:xfrm>
            <a:custGeom>
              <a:avLst/>
              <a:gdLst/>
              <a:ahLst/>
              <a:cxnLst/>
              <a:rect l="l" t="t" r="r" b="b"/>
              <a:pathLst>
                <a:path w="4018763" h="150704">
                  <a:moveTo>
                    <a:pt x="0" y="146304"/>
                  </a:moveTo>
                  <a:lnTo>
                    <a:pt x="167448" y="145563"/>
                  </a:lnTo>
                  <a:lnTo>
                    <a:pt x="334897" y="143426"/>
                  </a:lnTo>
                  <a:lnTo>
                    <a:pt x="502345" y="140018"/>
                  </a:lnTo>
                  <a:lnTo>
                    <a:pt x="669794" y="135467"/>
                  </a:lnTo>
                  <a:lnTo>
                    <a:pt x="837242" y="129900"/>
                  </a:lnTo>
                  <a:lnTo>
                    <a:pt x="1004691" y="123444"/>
                  </a:lnTo>
                  <a:lnTo>
                    <a:pt x="1172139" y="116226"/>
                  </a:lnTo>
                  <a:lnTo>
                    <a:pt x="1339588" y="108374"/>
                  </a:lnTo>
                  <a:lnTo>
                    <a:pt x="1507036" y="100013"/>
                  </a:lnTo>
                  <a:lnTo>
                    <a:pt x="1674484" y="91271"/>
                  </a:lnTo>
                  <a:lnTo>
                    <a:pt x="1841933" y="82275"/>
                  </a:lnTo>
                  <a:lnTo>
                    <a:pt x="2009381" y="73152"/>
                  </a:lnTo>
                  <a:lnTo>
                    <a:pt x="2176830" y="64029"/>
                  </a:lnTo>
                  <a:lnTo>
                    <a:pt x="2344278" y="55034"/>
                  </a:lnTo>
                  <a:lnTo>
                    <a:pt x="2511727" y="46292"/>
                  </a:lnTo>
                  <a:lnTo>
                    <a:pt x="2679175" y="37931"/>
                  </a:lnTo>
                  <a:lnTo>
                    <a:pt x="2846624" y="30078"/>
                  </a:lnTo>
                  <a:lnTo>
                    <a:pt x="3014072" y="22860"/>
                  </a:lnTo>
                  <a:lnTo>
                    <a:pt x="3181520" y="16404"/>
                  </a:lnTo>
                  <a:lnTo>
                    <a:pt x="3348969" y="10838"/>
                  </a:lnTo>
                  <a:lnTo>
                    <a:pt x="3516417" y="6287"/>
                  </a:lnTo>
                  <a:lnTo>
                    <a:pt x="3683866" y="2879"/>
                  </a:lnTo>
                  <a:lnTo>
                    <a:pt x="3851314" y="741"/>
                  </a:lnTo>
                  <a:lnTo>
                    <a:pt x="4018763" y="0"/>
                  </a:lnTo>
                  <a:lnTo>
                    <a:pt x="4018763" y="4400"/>
                  </a:lnTo>
                  <a:lnTo>
                    <a:pt x="3851314" y="5140"/>
                  </a:lnTo>
                  <a:lnTo>
                    <a:pt x="3683866" y="7278"/>
                  </a:lnTo>
                  <a:lnTo>
                    <a:pt x="3516417" y="10686"/>
                  </a:lnTo>
                  <a:lnTo>
                    <a:pt x="3348969" y="15237"/>
                  </a:lnTo>
                  <a:lnTo>
                    <a:pt x="3181520" y="20804"/>
                  </a:lnTo>
                  <a:lnTo>
                    <a:pt x="3014072" y="27260"/>
                  </a:lnTo>
                  <a:lnTo>
                    <a:pt x="2846624" y="34477"/>
                  </a:lnTo>
                  <a:lnTo>
                    <a:pt x="2679175" y="42330"/>
                  </a:lnTo>
                  <a:lnTo>
                    <a:pt x="2511727" y="50691"/>
                  </a:lnTo>
                  <a:lnTo>
                    <a:pt x="2344278" y="59433"/>
                  </a:lnTo>
                  <a:lnTo>
                    <a:pt x="2176830" y="68429"/>
                  </a:lnTo>
                  <a:lnTo>
                    <a:pt x="2009381" y="77552"/>
                  </a:lnTo>
                  <a:lnTo>
                    <a:pt x="1841933" y="86674"/>
                  </a:lnTo>
                  <a:lnTo>
                    <a:pt x="1674484" y="95670"/>
                  </a:lnTo>
                  <a:lnTo>
                    <a:pt x="1507036" y="104412"/>
                  </a:lnTo>
                  <a:lnTo>
                    <a:pt x="1339588" y="112773"/>
                  </a:lnTo>
                  <a:lnTo>
                    <a:pt x="1172139" y="120626"/>
                  </a:lnTo>
                  <a:lnTo>
                    <a:pt x="1004691" y="127844"/>
                  </a:lnTo>
                  <a:lnTo>
                    <a:pt x="837242" y="134299"/>
                  </a:lnTo>
                  <a:lnTo>
                    <a:pt x="669794" y="139866"/>
                  </a:lnTo>
                  <a:lnTo>
                    <a:pt x="502345" y="144417"/>
                  </a:lnTo>
                  <a:lnTo>
                    <a:pt x="334897" y="147825"/>
                  </a:lnTo>
                  <a:lnTo>
                    <a:pt x="167448" y="149963"/>
                  </a:lnTo>
                  <a:lnTo>
                    <a:pt x="0" y="150704"/>
                  </a:lnTo>
                  <a:close/>
                </a:path>
              </a:pathLst>
            </a:custGeom>
            <a:solidFill>
              <a:srgbClr val="1BAF7A">
                <a:alpha val="30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Freeform 9"/>
            <p:cNvSpPr/>
            <p:nvPr/>
          </p:nvSpPr>
          <p:spPr>
            <a:xfrm>
              <a:off x="2088261" y="5047700"/>
              <a:ext cx="4018763" cy="415738"/>
            </a:xfrm>
            <a:custGeom>
              <a:avLst/>
              <a:gdLst/>
              <a:ahLst/>
              <a:cxnLst/>
              <a:rect l="l" t="t" r="r" b="b"/>
              <a:pathLst>
                <a:path w="4018763" h="415738">
                  <a:moveTo>
                    <a:pt x="0" y="292608"/>
                  </a:moveTo>
                  <a:lnTo>
                    <a:pt x="167448" y="291126"/>
                  </a:lnTo>
                  <a:lnTo>
                    <a:pt x="334897" y="286850"/>
                  </a:lnTo>
                  <a:lnTo>
                    <a:pt x="502345" y="280035"/>
                  </a:lnTo>
                  <a:lnTo>
                    <a:pt x="669794" y="270933"/>
                  </a:lnTo>
                  <a:lnTo>
                    <a:pt x="837242" y="259799"/>
                  </a:lnTo>
                  <a:lnTo>
                    <a:pt x="1004691" y="246888"/>
                  </a:lnTo>
                  <a:lnTo>
                    <a:pt x="1172139" y="232452"/>
                  </a:lnTo>
                  <a:lnTo>
                    <a:pt x="1339588" y="216746"/>
                  </a:lnTo>
                  <a:lnTo>
                    <a:pt x="1507036" y="200025"/>
                  </a:lnTo>
                  <a:lnTo>
                    <a:pt x="1674484" y="182541"/>
                  </a:lnTo>
                  <a:lnTo>
                    <a:pt x="1841933" y="164549"/>
                  </a:lnTo>
                  <a:lnTo>
                    <a:pt x="2009381" y="146304"/>
                  </a:lnTo>
                  <a:lnTo>
                    <a:pt x="2176830" y="128058"/>
                  </a:lnTo>
                  <a:lnTo>
                    <a:pt x="2344278" y="110066"/>
                  </a:lnTo>
                  <a:lnTo>
                    <a:pt x="2511727" y="92583"/>
                  </a:lnTo>
                  <a:lnTo>
                    <a:pt x="2679175" y="75861"/>
                  </a:lnTo>
                  <a:lnTo>
                    <a:pt x="2846624" y="60155"/>
                  </a:lnTo>
                  <a:lnTo>
                    <a:pt x="3014072" y="45720"/>
                  </a:lnTo>
                  <a:lnTo>
                    <a:pt x="3181520" y="32808"/>
                  </a:lnTo>
                  <a:lnTo>
                    <a:pt x="3348969" y="21674"/>
                  </a:lnTo>
                  <a:lnTo>
                    <a:pt x="3516417" y="12573"/>
                  </a:lnTo>
                  <a:lnTo>
                    <a:pt x="3683866" y="5757"/>
                  </a:lnTo>
                  <a:lnTo>
                    <a:pt x="3851314" y="1481"/>
                  </a:lnTo>
                  <a:lnTo>
                    <a:pt x="4018763" y="0"/>
                  </a:lnTo>
                  <a:lnTo>
                    <a:pt x="4018763" y="123130"/>
                  </a:lnTo>
                  <a:lnTo>
                    <a:pt x="3851314" y="124612"/>
                  </a:lnTo>
                  <a:lnTo>
                    <a:pt x="3683866" y="128888"/>
                  </a:lnTo>
                  <a:lnTo>
                    <a:pt x="3516417" y="135703"/>
                  </a:lnTo>
                  <a:lnTo>
                    <a:pt x="3348969" y="144805"/>
                  </a:lnTo>
                  <a:lnTo>
                    <a:pt x="3181520" y="155939"/>
                  </a:lnTo>
                  <a:lnTo>
                    <a:pt x="3014072" y="168850"/>
                  </a:lnTo>
                  <a:lnTo>
                    <a:pt x="2846624" y="183286"/>
                  </a:lnTo>
                  <a:lnTo>
                    <a:pt x="2679175" y="198992"/>
                  </a:lnTo>
                  <a:lnTo>
                    <a:pt x="2511727" y="215713"/>
                  </a:lnTo>
                  <a:lnTo>
                    <a:pt x="2344278" y="233197"/>
                  </a:lnTo>
                  <a:lnTo>
                    <a:pt x="2176830" y="251189"/>
                  </a:lnTo>
                  <a:lnTo>
                    <a:pt x="2009381" y="269434"/>
                  </a:lnTo>
                  <a:lnTo>
                    <a:pt x="1841933" y="287680"/>
                  </a:lnTo>
                  <a:lnTo>
                    <a:pt x="1674484" y="305672"/>
                  </a:lnTo>
                  <a:lnTo>
                    <a:pt x="1507036" y="323155"/>
                  </a:lnTo>
                  <a:lnTo>
                    <a:pt x="1339588" y="339877"/>
                  </a:lnTo>
                  <a:lnTo>
                    <a:pt x="1172139" y="355583"/>
                  </a:lnTo>
                  <a:lnTo>
                    <a:pt x="1004691" y="370018"/>
                  </a:lnTo>
                  <a:lnTo>
                    <a:pt x="837242" y="382930"/>
                  </a:lnTo>
                  <a:lnTo>
                    <a:pt x="669794" y="394064"/>
                  </a:lnTo>
                  <a:lnTo>
                    <a:pt x="502345" y="403165"/>
                  </a:lnTo>
                  <a:lnTo>
                    <a:pt x="334897" y="409981"/>
                  </a:lnTo>
                  <a:lnTo>
                    <a:pt x="167448" y="414257"/>
                  </a:lnTo>
                  <a:lnTo>
                    <a:pt x="0" y="415738"/>
                  </a:lnTo>
                  <a:close/>
                </a:path>
              </a:pathLst>
            </a:custGeom>
            <a:solidFill>
              <a:srgbClr val="E34948">
                <a:alpha val="30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6225896" y="2042160"/>
              <a:ext cx="4018762" cy="2007515"/>
            </a:xfrm>
            <a:custGeom>
              <a:avLst/>
              <a:gdLst/>
              <a:ahLst/>
              <a:cxnLst/>
              <a:rect l="l" t="t" r="r" b="b"/>
              <a:pathLst>
                <a:path w="4018762" h="2007515">
                  <a:moveTo>
                    <a:pt x="0" y="219456"/>
                  </a:moveTo>
                  <a:lnTo>
                    <a:pt x="167448" y="218345"/>
                  </a:lnTo>
                  <a:lnTo>
                    <a:pt x="334896" y="215138"/>
                  </a:lnTo>
                  <a:lnTo>
                    <a:pt x="502345" y="210026"/>
                  </a:lnTo>
                  <a:lnTo>
                    <a:pt x="669793" y="203200"/>
                  </a:lnTo>
                  <a:lnTo>
                    <a:pt x="837242" y="194850"/>
                  </a:lnTo>
                  <a:lnTo>
                    <a:pt x="1004690" y="185166"/>
                  </a:lnTo>
                  <a:lnTo>
                    <a:pt x="1172139" y="174339"/>
                  </a:lnTo>
                  <a:lnTo>
                    <a:pt x="1339587" y="162560"/>
                  </a:lnTo>
                  <a:lnTo>
                    <a:pt x="1507036" y="150019"/>
                  </a:lnTo>
                  <a:lnTo>
                    <a:pt x="1674484" y="136906"/>
                  </a:lnTo>
                  <a:lnTo>
                    <a:pt x="1841932" y="123412"/>
                  </a:lnTo>
                  <a:lnTo>
                    <a:pt x="2009381" y="109728"/>
                  </a:lnTo>
                  <a:lnTo>
                    <a:pt x="2176829" y="96044"/>
                  </a:lnTo>
                  <a:lnTo>
                    <a:pt x="2344278" y="82550"/>
                  </a:lnTo>
                  <a:lnTo>
                    <a:pt x="2511726" y="69437"/>
                  </a:lnTo>
                  <a:lnTo>
                    <a:pt x="2679175" y="56896"/>
                  </a:lnTo>
                  <a:lnTo>
                    <a:pt x="2846623" y="45117"/>
                  </a:lnTo>
                  <a:lnTo>
                    <a:pt x="3014072" y="34290"/>
                  </a:lnTo>
                  <a:lnTo>
                    <a:pt x="3181520" y="24606"/>
                  </a:lnTo>
                  <a:lnTo>
                    <a:pt x="3348968" y="16256"/>
                  </a:lnTo>
                  <a:lnTo>
                    <a:pt x="3516417" y="9430"/>
                  </a:lnTo>
                  <a:lnTo>
                    <a:pt x="3683865" y="4318"/>
                  </a:lnTo>
                  <a:lnTo>
                    <a:pt x="3851314" y="1111"/>
                  </a:lnTo>
                  <a:lnTo>
                    <a:pt x="4018762" y="0"/>
                  </a:lnTo>
                  <a:lnTo>
                    <a:pt x="4018762" y="1788059"/>
                  </a:lnTo>
                  <a:lnTo>
                    <a:pt x="3851314" y="1789170"/>
                  </a:lnTo>
                  <a:lnTo>
                    <a:pt x="3683865" y="1792377"/>
                  </a:lnTo>
                  <a:lnTo>
                    <a:pt x="3516417" y="1797488"/>
                  </a:lnTo>
                  <a:lnTo>
                    <a:pt x="3348968" y="1804315"/>
                  </a:lnTo>
                  <a:lnTo>
                    <a:pt x="3181520" y="1812665"/>
                  </a:lnTo>
                  <a:lnTo>
                    <a:pt x="3014072" y="1822349"/>
                  </a:lnTo>
                  <a:lnTo>
                    <a:pt x="2846623" y="1833175"/>
                  </a:lnTo>
                  <a:lnTo>
                    <a:pt x="2679175" y="1844955"/>
                  </a:lnTo>
                  <a:lnTo>
                    <a:pt x="2511726" y="1857496"/>
                  </a:lnTo>
                  <a:lnTo>
                    <a:pt x="2344278" y="1870609"/>
                  </a:lnTo>
                  <a:lnTo>
                    <a:pt x="2176829" y="1884102"/>
                  </a:lnTo>
                  <a:lnTo>
                    <a:pt x="2009381" y="1897787"/>
                  </a:lnTo>
                  <a:lnTo>
                    <a:pt x="1841932" y="1911471"/>
                  </a:lnTo>
                  <a:lnTo>
                    <a:pt x="1674484" y="1924965"/>
                  </a:lnTo>
                  <a:lnTo>
                    <a:pt x="1507036" y="1938077"/>
                  </a:lnTo>
                  <a:lnTo>
                    <a:pt x="1339587" y="1950619"/>
                  </a:lnTo>
                  <a:lnTo>
                    <a:pt x="1172139" y="1962398"/>
                  </a:lnTo>
                  <a:lnTo>
                    <a:pt x="1004690" y="1973225"/>
                  </a:lnTo>
                  <a:lnTo>
                    <a:pt x="837242" y="1982908"/>
                  </a:lnTo>
                  <a:lnTo>
                    <a:pt x="669793" y="1991259"/>
                  </a:lnTo>
                  <a:lnTo>
                    <a:pt x="502345" y="1998085"/>
                  </a:lnTo>
                  <a:lnTo>
                    <a:pt x="334896" y="2003197"/>
                  </a:lnTo>
                  <a:lnTo>
                    <a:pt x="167448" y="2006403"/>
                  </a:lnTo>
                  <a:lnTo>
                    <a:pt x="0" y="2007515"/>
                  </a:lnTo>
                  <a:close/>
                </a:path>
              </a:pathLst>
            </a:custGeom>
            <a:solidFill>
              <a:srgbClr val="8A8F99">
                <a:alpha val="30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6225896" y="3976523"/>
              <a:ext cx="4018762" cy="1049258"/>
            </a:xfrm>
            <a:custGeom>
              <a:avLst/>
              <a:gdLst/>
              <a:ahLst/>
              <a:cxnLst/>
              <a:rect l="l" t="t" r="r" b="b"/>
              <a:pathLst>
                <a:path w="4018762" h="1049258">
                  <a:moveTo>
                    <a:pt x="0" y="73152"/>
                  </a:moveTo>
                  <a:lnTo>
                    <a:pt x="167448" y="72781"/>
                  </a:lnTo>
                  <a:lnTo>
                    <a:pt x="334896" y="71712"/>
                  </a:lnTo>
                  <a:lnTo>
                    <a:pt x="502345" y="70008"/>
                  </a:lnTo>
                  <a:lnTo>
                    <a:pt x="669793" y="67733"/>
                  </a:lnTo>
                  <a:lnTo>
                    <a:pt x="837242" y="64950"/>
                  </a:lnTo>
                  <a:lnTo>
                    <a:pt x="1004690" y="61722"/>
                  </a:lnTo>
                  <a:lnTo>
                    <a:pt x="1172139" y="58113"/>
                  </a:lnTo>
                  <a:lnTo>
                    <a:pt x="1339587" y="54186"/>
                  </a:lnTo>
                  <a:lnTo>
                    <a:pt x="1507036" y="50006"/>
                  </a:lnTo>
                  <a:lnTo>
                    <a:pt x="1674484" y="45635"/>
                  </a:lnTo>
                  <a:lnTo>
                    <a:pt x="1841932" y="41137"/>
                  </a:lnTo>
                  <a:lnTo>
                    <a:pt x="2009381" y="36576"/>
                  </a:lnTo>
                  <a:lnTo>
                    <a:pt x="2176829" y="32014"/>
                  </a:lnTo>
                  <a:lnTo>
                    <a:pt x="2344278" y="27516"/>
                  </a:lnTo>
                  <a:lnTo>
                    <a:pt x="2511726" y="23145"/>
                  </a:lnTo>
                  <a:lnTo>
                    <a:pt x="2679175" y="18965"/>
                  </a:lnTo>
                  <a:lnTo>
                    <a:pt x="2846623" y="15039"/>
                  </a:lnTo>
                  <a:lnTo>
                    <a:pt x="3014072" y="11430"/>
                  </a:lnTo>
                  <a:lnTo>
                    <a:pt x="3181520" y="8202"/>
                  </a:lnTo>
                  <a:lnTo>
                    <a:pt x="3348968" y="5418"/>
                  </a:lnTo>
                  <a:lnTo>
                    <a:pt x="3516417" y="3143"/>
                  </a:lnTo>
                  <a:lnTo>
                    <a:pt x="3683865" y="1439"/>
                  </a:lnTo>
                  <a:lnTo>
                    <a:pt x="3851314" y="370"/>
                  </a:lnTo>
                  <a:lnTo>
                    <a:pt x="4018762" y="0"/>
                  </a:lnTo>
                  <a:lnTo>
                    <a:pt x="4018762" y="976106"/>
                  </a:lnTo>
                  <a:lnTo>
                    <a:pt x="3851314" y="976477"/>
                  </a:lnTo>
                  <a:lnTo>
                    <a:pt x="3683865" y="977545"/>
                  </a:lnTo>
                  <a:lnTo>
                    <a:pt x="3516417" y="979249"/>
                  </a:lnTo>
                  <a:lnTo>
                    <a:pt x="3348968" y="981525"/>
                  </a:lnTo>
                  <a:lnTo>
                    <a:pt x="3181520" y="984308"/>
                  </a:lnTo>
                  <a:lnTo>
                    <a:pt x="3014072" y="987536"/>
                  </a:lnTo>
                  <a:lnTo>
                    <a:pt x="2846623" y="991145"/>
                  </a:lnTo>
                  <a:lnTo>
                    <a:pt x="2679175" y="995071"/>
                  </a:lnTo>
                  <a:lnTo>
                    <a:pt x="2511726" y="999252"/>
                  </a:lnTo>
                  <a:lnTo>
                    <a:pt x="2344278" y="1003623"/>
                  </a:lnTo>
                  <a:lnTo>
                    <a:pt x="2176829" y="1008121"/>
                  </a:lnTo>
                  <a:lnTo>
                    <a:pt x="2009381" y="1012682"/>
                  </a:lnTo>
                  <a:lnTo>
                    <a:pt x="1841932" y="1017244"/>
                  </a:lnTo>
                  <a:lnTo>
                    <a:pt x="1674484" y="1021741"/>
                  </a:lnTo>
                  <a:lnTo>
                    <a:pt x="1507036" y="1026112"/>
                  </a:lnTo>
                  <a:lnTo>
                    <a:pt x="1339587" y="1030293"/>
                  </a:lnTo>
                  <a:lnTo>
                    <a:pt x="1172139" y="1034219"/>
                  </a:lnTo>
                  <a:lnTo>
                    <a:pt x="1004690" y="1037828"/>
                  </a:lnTo>
                  <a:lnTo>
                    <a:pt x="837242" y="1041056"/>
                  </a:lnTo>
                  <a:lnTo>
                    <a:pt x="669793" y="1043839"/>
                  </a:lnTo>
                  <a:lnTo>
                    <a:pt x="502345" y="1046115"/>
                  </a:lnTo>
                  <a:lnTo>
                    <a:pt x="334896" y="1047819"/>
                  </a:lnTo>
                  <a:lnTo>
                    <a:pt x="167448" y="1048888"/>
                  </a:lnTo>
                  <a:lnTo>
                    <a:pt x="0" y="1049258"/>
                  </a:lnTo>
                  <a:close/>
                </a:path>
              </a:pathLst>
            </a:custGeom>
            <a:solidFill>
              <a:srgbClr val="8A8F99">
                <a:alpha val="30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6225896" y="5025781"/>
              <a:ext cx="4018762" cy="212042"/>
            </a:xfrm>
            <a:custGeom>
              <a:avLst/>
              <a:gdLst/>
              <a:ahLst/>
              <a:cxnLst/>
              <a:rect l="l" t="t" r="r" b="b"/>
              <a:pathLst>
                <a:path w="4018762" h="212042">
                  <a:moveTo>
                    <a:pt x="0" y="0"/>
                  </a:moveTo>
                  <a:lnTo>
                    <a:pt x="167448" y="371"/>
                  </a:lnTo>
                  <a:lnTo>
                    <a:pt x="334896" y="1439"/>
                  </a:lnTo>
                  <a:lnTo>
                    <a:pt x="502345" y="3143"/>
                  </a:lnTo>
                  <a:lnTo>
                    <a:pt x="669793" y="5419"/>
                  </a:lnTo>
                  <a:lnTo>
                    <a:pt x="837242" y="8202"/>
                  </a:lnTo>
                  <a:lnTo>
                    <a:pt x="1004690" y="11430"/>
                  </a:lnTo>
                  <a:lnTo>
                    <a:pt x="1172139" y="15039"/>
                  </a:lnTo>
                  <a:lnTo>
                    <a:pt x="1339587" y="18965"/>
                  </a:lnTo>
                  <a:lnTo>
                    <a:pt x="1507036" y="23146"/>
                  </a:lnTo>
                  <a:lnTo>
                    <a:pt x="1674484" y="27517"/>
                  </a:lnTo>
                  <a:lnTo>
                    <a:pt x="1841932" y="32015"/>
                  </a:lnTo>
                  <a:lnTo>
                    <a:pt x="2009381" y="36576"/>
                  </a:lnTo>
                  <a:lnTo>
                    <a:pt x="2176829" y="41138"/>
                  </a:lnTo>
                  <a:lnTo>
                    <a:pt x="2344278" y="45635"/>
                  </a:lnTo>
                  <a:lnTo>
                    <a:pt x="2511726" y="50006"/>
                  </a:lnTo>
                  <a:lnTo>
                    <a:pt x="2679175" y="54187"/>
                  </a:lnTo>
                  <a:lnTo>
                    <a:pt x="2846623" y="58113"/>
                  </a:lnTo>
                  <a:lnTo>
                    <a:pt x="3014072" y="61722"/>
                  </a:lnTo>
                  <a:lnTo>
                    <a:pt x="3181520" y="64950"/>
                  </a:lnTo>
                  <a:lnTo>
                    <a:pt x="3348968" y="67733"/>
                  </a:lnTo>
                  <a:lnTo>
                    <a:pt x="3516417" y="70009"/>
                  </a:lnTo>
                  <a:lnTo>
                    <a:pt x="3683865" y="71713"/>
                  </a:lnTo>
                  <a:lnTo>
                    <a:pt x="3851314" y="72782"/>
                  </a:lnTo>
                  <a:lnTo>
                    <a:pt x="4018762" y="73152"/>
                  </a:lnTo>
                  <a:lnTo>
                    <a:pt x="4018762" y="212042"/>
                  </a:lnTo>
                  <a:lnTo>
                    <a:pt x="3851314" y="211671"/>
                  </a:lnTo>
                  <a:lnTo>
                    <a:pt x="3683865" y="210602"/>
                  </a:lnTo>
                  <a:lnTo>
                    <a:pt x="3516417" y="208898"/>
                  </a:lnTo>
                  <a:lnTo>
                    <a:pt x="3348968" y="206623"/>
                  </a:lnTo>
                  <a:lnTo>
                    <a:pt x="3181520" y="203840"/>
                  </a:lnTo>
                  <a:lnTo>
                    <a:pt x="3014072" y="200612"/>
                  </a:lnTo>
                  <a:lnTo>
                    <a:pt x="2846623" y="197003"/>
                  </a:lnTo>
                  <a:lnTo>
                    <a:pt x="2679175" y="193076"/>
                  </a:lnTo>
                  <a:lnTo>
                    <a:pt x="2511726" y="188896"/>
                  </a:lnTo>
                  <a:lnTo>
                    <a:pt x="2344278" y="184525"/>
                  </a:lnTo>
                  <a:lnTo>
                    <a:pt x="2176829" y="180027"/>
                  </a:lnTo>
                  <a:lnTo>
                    <a:pt x="2009381" y="175466"/>
                  </a:lnTo>
                  <a:lnTo>
                    <a:pt x="1841932" y="170904"/>
                  </a:lnTo>
                  <a:lnTo>
                    <a:pt x="1674484" y="166406"/>
                  </a:lnTo>
                  <a:lnTo>
                    <a:pt x="1507036" y="162035"/>
                  </a:lnTo>
                  <a:lnTo>
                    <a:pt x="1339587" y="157855"/>
                  </a:lnTo>
                  <a:lnTo>
                    <a:pt x="1172139" y="153929"/>
                  </a:lnTo>
                  <a:lnTo>
                    <a:pt x="1004690" y="150320"/>
                  </a:lnTo>
                  <a:lnTo>
                    <a:pt x="837242" y="147092"/>
                  </a:lnTo>
                  <a:lnTo>
                    <a:pt x="669793" y="144308"/>
                  </a:lnTo>
                  <a:lnTo>
                    <a:pt x="502345" y="142033"/>
                  </a:lnTo>
                  <a:lnTo>
                    <a:pt x="334896" y="140329"/>
                  </a:lnTo>
                  <a:lnTo>
                    <a:pt x="167448" y="139260"/>
                  </a:lnTo>
                  <a:lnTo>
                    <a:pt x="0" y="138890"/>
                  </a:lnTo>
                  <a:close/>
                </a:path>
              </a:pathLst>
            </a:custGeom>
            <a:solidFill>
              <a:srgbClr val="8A8F99">
                <a:alpha val="30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6225896" y="5164671"/>
              <a:ext cx="4018762" cy="225615"/>
            </a:xfrm>
            <a:custGeom>
              <a:avLst/>
              <a:gdLst/>
              <a:ahLst/>
              <a:cxnLst/>
              <a:rect l="l" t="t" r="r" b="b"/>
              <a:pathLst>
                <a:path w="4018762" h="225615">
                  <a:moveTo>
                    <a:pt x="0" y="0"/>
                  </a:moveTo>
                  <a:lnTo>
                    <a:pt x="167448" y="1111"/>
                  </a:lnTo>
                  <a:lnTo>
                    <a:pt x="334896" y="4318"/>
                  </a:lnTo>
                  <a:lnTo>
                    <a:pt x="502345" y="9429"/>
                  </a:lnTo>
                  <a:lnTo>
                    <a:pt x="669793" y="16256"/>
                  </a:lnTo>
                  <a:lnTo>
                    <a:pt x="837242" y="24606"/>
                  </a:lnTo>
                  <a:lnTo>
                    <a:pt x="1004690" y="34290"/>
                  </a:lnTo>
                  <a:lnTo>
                    <a:pt x="1172139" y="45116"/>
                  </a:lnTo>
                  <a:lnTo>
                    <a:pt x="1339587" y="56896"/>
                  </a:lnTo>
                  <a:lnTo>
                    <a:pt x="1507036" y="69437"/>
                  </a:lnTo>
                  <a:lnTo>
                    <a:pt x="1674484" y="82550"/>
                  </a:lnTo>
                  <a:lnTo>
                    <a:pt x="1841932" y="96043"/>
                  </a:lnTo>
                  <a:lnTo>
                    <a:pt x="2009381" y="109728"/>
                  </a:lnTo>
                  <a:lnTo>
                    <a:pt x="2176829" y="123412"/>
                  </a:lnTo>
                  <a:lnTo>
                    <a:pt x="2344278" y="136906"/>
                  </a:lnTo>
                  <a:lnTo>
                    <a:pt x="2511726" y="150018"/>
                  </a:lnTo>
                  <a:lnTo>
                    <a:pt x="2679175" y="162560"/>
                  </a:lnTo>
                  <a:lnTo>
                    <a:pt x="2846623" y="174339"/>
                  </a:lnTo>
                  <a:lnTo>
                    <a:pt x="3014072" y="185166"/>
                  </a:lnTo>
                  <a:lnTo>
                    <a:pt x="3181520" y="194849"/>
                  </a:lnTo>
                  <a:lnTo>
                    <a:pt x="3348968" y="203200"/>
                  </a:lnTo>
                  <a:lnTo>
                    <a:pt x="3516417" y="210026"/>
                  </a:lnTo>
                  <a:lnTo>
                    <a:pt x="3683865" y="215138"/>
                  </a:lnTo>
                  <a:lnTo>
                    <a:pt x="3851314" y="218344"/>
                  </a:lnTo>
                  <a:lnTo>
                    <a:pt x="4018762" y="219456"/>
                  </a:lnTo>
                  <a:lnTo>
                    <a:pt x="4018762" y="225615"/>
                  </a:lnTo>
                  <a:lnTo>
                    <a:pt x="3851314" y="224504"/>
                  </a:lnTo>
                  <a:lnTo>
                    <a:pt x="3683865" y="221297"/>
                  </a:lnTo>
                  <a:lnTo>
                    <a:pt x="3516417" y="216186"/>
                  </a:lnTo>
                  <a:lnTo>
                    <a:pt x="3348968" y="209359"/>
                  </a:lnTo>
                  <a:lnTo>
                    <a:pt x="3181520" y="201009"/>
                  </a:lnTo>
                  <a:lnTo>
                    <a:pt x="3014072" y="191325"/>
                  </a:lnTo>
                  <a:lnTo>
                    <a:pt x="2846623" y="180499"/>
                  </a:lnTo>
                  <a:lnTo>
                    <a:pt x="2679175" y="168719"/>
                  </a:lnTo>
                  <a:lnTo>
                    <a:pt x="2511726" y="156178"/>
                  </a:lnTo>
                  <a:lnTo>
                    <a:pt x="2344278" y="143065"/>
                  </a:lnTo>
                  <a:lnTo>
                    <a:pt x="2176829" y="129572"/>
                  </a:lnTo>
                  <a:lnTo>
                    <a:pt x="2009381" y="115887"/>
                  </a:lnTo>
                  <a:lnTo>
                    <a:pt x="1841932" y="102203"/>
                  </a:lnTo>
                  <a:lnTo>
                    <a:pt x="1674484" y="88709"/>
                  </a:lnTo>
                  <a:lnTo>
                    <a:pt x="1507036" y="75597"/>
                  </a:lnTo>
                  <a:lnTo>
                    <a:pt x="1339587" y="63055"/>
                  </a:lnTo>
                  <a:lnTo>
                    <a:pt x="1172139" y="51276"/>
                  </a:lnTo>
                  <a:lnTo>
                    <a:pt x="1004690" y="40449"/>
                  </a:lnTo>
                  <a:lnTo>
                    <a:pt x="837242" y="30766"/>
                  </a:lnTo>
                  <a:lnTo>
                    <a:pt x="669793" y="22415"/>
                  </a:lnTo>
                  <a:lnTo>
                    <a:pt x="502345" y="15589"/>
                  </a:lnTo>
                  <a:lnTo>
                    <a:pt x="334896" y="10477"/>
                  </a:lnTo>
                  <a:lnTo>
                    <a:pt x="167448" y="7271"/>
                  </a:lnTo>
                  <a:lnTo>
                    <a:pt x="0" y="6159"/>
                  </a:lnTo>
                  <a:close/>
                </a:path>
              </a:pathLst>
            </a:custGeom>
            <a:solidFill>
              <a:srgbClr val="8A8F99">
                <a:alpha val="30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969389" y="1969008"/>
              <a:ext cx="118872" cy="2333954"/>
            </a:xfrm>
            <a:prstGeom prst="rect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212342" y="2961995"/>
              <a:ext cx="665607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Thu nội địa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393571" y="3144875"/>
              <a:ext cx="484378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1.723,6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969389" y="4449266"/>
              <a:ext cx="118872" cy="368318"/>
            </a:xfrm>
            <a:prstGeom prst="rect">
              <a:avLst/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04088" y="4459435"/>
              <a:ext cx="1173861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Thu xuất nhập khẩu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507744" y="4642315"/>
              <a:ext cx="37020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272,0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969389" y="4963889"/>
              <a:ext cx="118872" cy="79412"/>
            </a:xfrm>
            <a:prstGeom prst="rect">
              <a:avLst/>
            </a:prstGeom>
            <a:solidFill>
              <a:srgbClr val="EDA1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3498" y="4921044"/>
              <a:ext cx="814451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58,6  </a:t>
              </a:r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Dầu thô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969389" y="5189604"/>
              <a:ext cx="118872" cy="9144"/>
            </a:xfrm>
            <a:prstGeom prst="rect">
              <a:avLst/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137285" y="5109254"/>
              <a:ext cx="740664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3,2  </a:t>
              </a:r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Viện trợ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1969389" y="5340308"/>
              <a:ext cx="118872" cy="123131"/>
            </a:xfrm>
            <a:prstGeom prst="rect">
              <a:avLst/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25475" y="5319323"/>
              <a:ext cx="1252474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90,9  </a:t>
              </a:r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Chi vượt thu (≈)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107024" y="2261616"/>
              <a:ext cx="118872" cy="2909214"/>
            </a:xfrm>
            <a:prstGeom prst="rect">
              <a:avLst/>
            </a:prstGeom>
            <a:solidFill>
              <a:srgbClr val="16181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738470" y="2041652"/>
              <a:ext cx="855980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16181D"/>
                  </a:solidFill>
                  <a:latin typeface="IBM Plex Sans SemiBold"/>
                </a:rPr>
                <a:t>Tổng chi 2024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924271" y="5225694"/>
              <a:ext cx="484378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2.148,5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244658" y="2042160"/>
              <a:ext cx="118872" cy="1788059"/>
            </a:xfrm>
            <a:prstGeom prst="rect">
              <a:avLst/>
            </a:prstGeom>
            <a:solidFill>
              <a:srgbClr val="8A8F9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0454970" y="2762199"/>
              <a:ext cx="1032637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Chi thường xuyên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454970" y="2945079"/>
              <a:ext cx="484378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1.320,5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244658" y="3976523"/>
              <a:ext cx="118872" cy="976106"/>
            </a:xfrm>
            <a:prstGeom prst="rect">
              <a:avLst/>
            </a:prstGeom>
            <a:solidFill>
              <a:srgbClr val="8A8F9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0454970" y="4290586"/>
              <a:ext cx="100558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Đầu tư phát triển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0454970" y="4473466"/>
              <a:ext cx="37020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720,9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0244658" y="5098933"/>
              <a:ext cx="118872" cy="138890"/>
            </a:xfrm>
            <a:prstGeom prst="rect">
              <a:avLst/>
            </a:prstGeom>
            <a:solidFill>
              <a:srgbClr val="8A8F9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454970" y="5085828"/>
              <a:ext cx="388620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Trả lãi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907598" y="5085828"/>
              <a:ext cx="37020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102,6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244658" y="5384127"/>
              <a:ext cx="118872" cy="9144"/>
            </a:xfrm>
            <a:prstGeom prst="rect">
              <a:avLst/>
            </a:prstGeom>
            <a:solidFill>
              <a:srgbClr val="8A8F9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454970" y="5304657"/>
              <a:ext cx="319278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16181D"/>
                  </a:solidFill>
                  <a:latin typeface="IBM Plex Sans Medium"/>
                </a:rPr>
                <a:t>Khác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0838256" y="5304657"/>
              <a:ext cx="21780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4,5</a:t>
              </a:r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Tổng chi 2024 là 2.148,5 nghìn tỷ; tổng thu 2.057,5 nghìn tỷ, phần chi vượt thu ≈ 90,9 nghìn tỷ.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"Chi vượt thu" tính bằng chi trừ thu trên hai dòng này — không phải bội chi chính thức (2,8% GDP).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44" name="TextBox 43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Bộ Tài chính — quyết toán NSNN 2024 (nghìn tỷ đồng). Độ dày dải tỷ lệ với giá trị.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3 · CÁN CÂN THANH TOÁN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Lỗi và sai sót −25,9 tỷ USD năm 2025, bằng 78% thặng dư vãng lai</a:t>
            </a:r>
          </a:p>
        </p:txBody>
      </p:sp>
      <p:grpSp>
        <p:nvGrpSpPr>
          <p:cNvPr id="5" name="Chart · diverging"/>
          <p:cNvGrpSpPr/>
          <p:nvPr/>
        </p:nvGrpSpPr>
        <p:grpSpPr>
          <a:xfrm>
            <a:off x="594360" y="942341"/>
            <a:ext cx="7372807" cy="5344312"/>
            <a:chOff x="594360" y="942341"/>
            <a:chExt cx="7372807" cy="5344312"/>
          </a:xfrm>
        </p:grpSpPr>
        <p:sp>
          <p:nvSpPr>
            <p:cNvPr id="6" name="Rounded Rectangle 5"/>
            <p:cNvSpPr/>
            <p:nvPr/>
          </p:nvSpPr>
          <p:spPr>
            <a:xfrm>
              <a:off x="594360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95528" y="1900619"/>
              <a:ext cx="1415872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Tiền vào (ròng, tỷ USD)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458288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659456" y="1900619"/>
              <a:ext cx="1323727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Tiền ra (ròng, tỷ USD)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08240" y="2335403"/>
              <a:ext cx="1044308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Hàng hoá (ròng)</a:t>
              </a:r>
            </a:p>
          </p:txBody>
        </p:sp>
        <p:sp>
          <p:nvSpPr>
            <p:cNvPr id="11" name="Round Same Side Corner Rectangle 10"/>
            <p:cNvSpPr/>
            <p:nvPr/>
          </p:nvSpPr>
          <p:spPr>
            <a:xfrm rot="5400000">
              <a:off x="5918694" y="942341"/>
              <a:ext cx="260787" cy="2967733"/>
            </a:xfrm>
            <a:prstGeom prst="round2SameRect">
              <a:avLst>
                <a:gd name="adj1" fmla="val 19284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596962" y="2343658"/>
              <a:ext cx="37020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16181D"/>
                  </a:solidFill>
                  <a:latin typeface="IBM Plex Sans SemiBold"/>
                </a:rPr>
                <a:t>+41,9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477328" y="2756027"/>
              <a:ext cx="675221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FDI (ròng)</a:t>
              </a:r>
            </a:p>
          </p:txBody>
        </p:sp>
        <p:sp>
          <p:nvSpPr>
            <p:cNvPr id="14" name="Round Same Side Corner Rectangle 13"/>
            <p:cNvSpPr/>
            <p:nvPr/>
          </p:nvSpPr>
          <p:spPr>
            <a:xfrm rot="5400000">
              <a:off x="5188928" y="2092732"/>
              <a:ext cx="260787" cy="1508200"/>
            </a:xfrm>
            <a:prstGeom prst="round2SameRect">
              <a:avLst>
                <a:gd name="adj1" fmla="val 19284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137429" y="2764282"/>
              <a:ext cx="37020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16181D"/>
                  </a:solidFill>
                  <a:latin typeface="IBM Plex Sans SemiBold"/>
                </a:rPr>
                <a:t>+21,3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03504" y="3176651"/>
              <a:ext cx="1549044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Thu nhập thứ cấp (ròng)</a:t>
              </a:r>
            </a:p>
          </p:txBody>
        </p:sp>
        <p:sp>
          <p:nvSpPr>
            <p:cNvPr id="17" name="Round Same Side Corner Rectangle 16"/>
            <p:cNvSpPr/>
            <p:nvPr/>
          </p:nvSpPr>
          <p:spPr>
            <a:xfrm rot="5400000">
              <a:off x="4996985" y="2705299"/>
              <a:ext cx="260787" cy="1124314"/>
            </a:xfrm>
            <a:prstGeom prst="round2SameRect">
              <a:avLst>
                <a:gd name="adj1" fmla="val 19284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753543" y="3184906"/>
              <a:ext cx="37020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16181D"/>
                  </a:solidFill>
                  <a:latin typeface="IBM Plex Sans SemiBold"/>
                </a:rPr>
                <a:t>+15,9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07441" y="3597275"/>
              <a:ext cx="1445108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Đầu tư gián tiếp (ròng)</a:t>
              </a:r>
            </a:p>
          </p:txBody>
        </p:sp>
        <p:sp>
          <p:nvSpPr>
            <p:cNvPr id="20" name="Round Same Side Corner Rectangle 19"/>
            <p:cNvSpPr/>
            <p:nvPr/>
          </p:nvSpPr>
          <p:spPr>
            <a:xfrm rot="16200000">
              <a:off x="4260169" y="3513422"/>
              <a:ext cx="260787" cy="349316"/>
            </a:xfrm>
            <a:prstGeom prst="round2SameRect">
              <a:avLst>
                <a:gd name="adj1" fmla="val 19284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857892" y="3605530"/>
              <a:ext cx="29400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16181D"/>
                  </a:solidFill>
                  <a:latin typeface="IBM Plex Sans SemiBold"/>
                </a:rPr>
                <a:t>−4,9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240117" y="4017899"/>
              <a:ext cx="912432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Dịch vụ (ròng)</a:t>
              </a:r>
            </a:p>
          </p:txBody>
        </p:sp>
        <p:sp>
          <p:nvSpPr>
            <p:cNvPr id="23" name="Round Same Side Corner Rectangle 22"/>
            <p:cNvSpPr/>
            <p:nvPr/>
          </p:nvSpPr>
          <p:spPr>
            <a:xfrm rot="16200000">
              <a:off x="4072477" y="3746353"/>
              <a:ext cx="260787" cy="724701"/>
            </a:xfrm>
            <a:prstGeom prst="round2SameRect">
              <a:avLst>
                <a:gd name="adj1" fmla="val 19284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406307" y="4026154"/>
              <a:ext cx="37020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16181D"/>
                  </a:solidFill>
                  <a:latin typeface="IBM Plex Sans SemiBold"/>
                </a:rPr>
                <a:t>−10,2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69023" y="4438523"/>
              <a:ext cx="1483525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Thu nhập sơ cấp (ròng)</a:t>
              </a:r>
            </a:p>
          </p:txBody>
        </p:sp>
        <p:sp>
          <p:nvSpPr>
            <p:cNvPr id="26" name="Round Same Side Corner Rectangle 25"/>
            <p:cNvSpPr/>
            <p:nvPr/>
          </p:nvSpPr>
          <p:spPr>
            <a:xfrm rot="16200000">
              <a:off x="3924809" y="4019310"/>
              <a:ext cx="260787" cy="1020037"/>
            </a:xfrm>
            <a:prstGeom prst="round2SameRect">
              <a:avLst>
                <a:gd name="adj1" fmla="val 19284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110971" y="4446778"/>
              <a:ext cx="37020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16181D"/>
                  </a:solidFill>
                  <a:latin typeface="IBM Plex Sans SemiBold"/>
                </a:rPr>
                <a:t>−14,4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53173" y="4859147"/>
              <a:ext cx="1199375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Đầu tư khác (ròng)</a:t>
              </a:r>
            </a:p>
          </p:txBody>
        </p:sp>
        <p:sp>
          <p:nvSpPr>
            <p:cNvPr id="29" name="Round Same Side Corner Rectangle 28"/>
            <p:cNvSpPr/>
            <p:nvPr/>
          </p:nvSpPr>
          <p:spPr>
            <a:xfrm rot="16200000">
              <a:off x="3734602" y="4249726"/>
              <a:ext cx="260787" cy="1400452"/>
            </a:xfrm>
            <a:prstGeom prst="round2SameRect">
              <a:avLst>
                <a:gd name="adj1" fmla="val 19284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730556" y="4867402"/>
              <a:ext cx="37020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16181D"/>
                  </a:solidFill>
                  <a:latin typeface="IBM Plex Sans SemiBold"/>
                </a:rPr>
                <a:t>−19,8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309548" y="5279771"/>
              <a:ext cx="843001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Lỗi và sai sót</a:t>
              </a:r>
            </a:p>
          </p:txBody>
        </p:sp>
        <p:sp>
          <p:nvSpPr>
            <p:cNvPr id="32" name="Round Same Side Corner Rectangle 31"/>
            <p:cNvSpPr/>
            <p:nvPr/>
          </p:nvSpPr>
          <p:spPr>
            <a:xfrm rot="16200000">
              <a:off x="3518750" y="4454498"/>
              <a:ext cx="260787" cy="1832155"/>
            </a:xfrm>
            <a:prstGeom prst="round2SameRect">
              <a:avLst>
                <a:gd name="adj1" fmla="val 19284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298852" y="5288026"/>
              <a:ext cx="37020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16181D"/>
                  </a:solidFill>
                  <a:latin typeface="IBM Plex Sans SemiBold"/>
                </a:rPr>
                <a:t>−25,9</a:t>
              </a:r>
            </a:p>
          </p:txBody>
        </p:sp>
        <p:cxnSp>
          <p:nvCxnSpPr>
            <p:cNvPr id="34" name="Connector 33"/>
            <p:cNvCxnSpPr/>
            <p:nvPr/>
          </p:nvCxnSpPr>
          <p:spPr>
            <a:xfrm>
              <a:off x="4565221" y="2215896"/>
              <a:ext cx="0" cy="3364992"/>
            </a:xfrm>
            <a:prstGeom prst="line">
              <a:avLst/>
            </a:prstGeom>
            <a:ln w="12700" cap="flat">
              <a:solidFill>
                <a:srgbClr val="5B6170"/>
              </a:solidFill>
              <a:round/>
            </a:ln>
          </p:spPr>
        </p:cxnSp>
      </p:grpSp>
      <p:sp>
        <p:nvSpPr>
          <p:cNvPr id="35" name="Rectangle 34"/>
          <p:cNvSpPr/>
          <p:nvPr/>
        </p:nvSpPr>
        <p:spPr>
          <a:xfrm>
            <a:off x="8351215" y="1877568"/>
            <a:ext cx="3246120" cy="4285488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07247" y="2151888"/>
            <a:ext cx="2734056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 lang="vi-VN" spc="80">
                <a:solidFill>
                  <a:srgbClr val="5B6170"/>
                </a:solidFill>
                <a:latin typeface="IBM Plex Sans SemiBold"/>
              </a:rPr>
              <a:t>DỰ TRỮ NGOẠI HỐI 2025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07247" y="2444496"/>
            <a:ext cx="2734056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sz="4000" b="1" i="0" lang="vi-VN">
                <a:solidFill>
                  <a:srgbClr val="16181D"/>
                </a:solidFill>
                <a:latin typeface="IBM Plex Sans"/>
              </a:rPr>
              <a:t>+3,9</a:t>
            </a:r>
            <a:r>
              <a:rPr sz="1400" b="0" i="0" lang="vi-VN">
                <a:solidFill>
                  <a:srgbClr val="5B6170"/>
                </a:solidFill>
                <a:latin typeface="IBM Plex Sans SemiBold"/>
              </a:rPr>
              <a:t> tỷ USD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07247" y="3094736"/>
            <a:ext cx="2734056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 lang="vi-VN">
                <a:solidFill>
                  <a:srgbClr val="8A8F99"/>
                </a:solidFill>
                <a:latin typeface="IBM Plex Sans"/>
              </a:rPr>
              <a:t>Thặng dư vãng lai 33,1 tỷ USD nhưng dự trữ chỉ tăng 3,9 tỷ.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607247" y="3612896"/>
            <a:ext cx="2734056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40" name="TextBox 39"/>
          <p:cNvSpPr txBox="1"/>
          <p:nvPr/>
        </p:nvSpPr>
        <p:spPr>
          <a:xfrm>
            <a:off x="8607247" y="3750056"/>
            <a:ext cx="2734056" cy="6572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Hàng hoá ròng mang về 41,9 tỷ USD; lỗi và sai sót cùng đầu tư khác kéo ra 45,6 tỷ.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07247" y="4517009"/>
            <a:ext cx="2734056" cy="40309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50" b="0" i="0" lang="vi-VN">
                <a:solidFill>
                  <a:srgbClr val="5B6170"/>
                </a:solidFill>
                <a:latin typeface="IBM Plex Sans"/>
              </a:rPr>
              <a:t>Tổng các dòng bằng thay đổi dự trữ; dấu theo BPM6 của IMF.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43" name="TextBox 42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IMF Balance of Payments (BPM6) theo số NHNN, năm 2025.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3 · SÁU DÒNG TIỀN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Lỗi và sai sót âm cả 11/11 năm 2015–2025; FDI ròng dương mọi năm</a:t>
            </a:r>
          </a:p>
        </p:txBody>
      </p:sp>
      <p:grpSp>
        <p:nvGrpSpPr>
          <p:cNvPr id="5" name="Chart · multiples"/>
          <p:cNvGrpSpPr/>
          <p:nvPr/>
        </p:nvGrpSpPr>
        <p:grpSpPr>
          <a:xfrm>
            <a:off x="594360" y="1900619"/>
            <a:ext cx="11002975" cy="3593426"/>
            <a:chOff x="594360" y="1900619"/>
            <a:chExt cx="11002975" cy="3593426"/>
          </a:xfrm>
        </p:grpSpPr>
        <p:sp>
          <p:nvSpPr>
            <p:cNvPr id="6" name="Rounded Rectangle 5"/>
            <p:cNvSpPr/>
            <p:nvPr/>
          </p:nvSpPr>
          <p:spPr>
            <a:xfrm>
              <a:off x="594360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95528" y="1900619"/>
              <a:ext cx="1040359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Tiền vào (dương)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082775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283943" y="1900619"/>
              <a:ext cx="758723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Tiền ra (âm)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594360" y="2170176"/>
              <a:ext cx="3423818" cy="0"/>
            </a:xfrm>
            <a:prstGeom prst="line">
              <a:avLst/>
            </a:prstGeom>
            <a:ln w="15875" cap="flat">
              <a:solidFill>
                <a:srgbClr val="16181D"/>
              </a:solidFill>
              <a:round/>
            </a:ln>
          </p:spPr>
        </p:cxnSp>
        <p:sp>
          <p:nvSpPr>
            <p:cNvPr id="11" name="TextBox 10"/>
            <p:cNvSpPr txBox="1"/>
            <p:nvPr/>
          </p:nvSpPr>
          <p:spPr>
            <a:xfrm>
              <a:off x="594360" y="2225040"/>
              <a:ext cx="980059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Cán cân vãng lai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4360" y="2460498"/>
              <a:ext cx="1257681" cy="2971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800" b="0" i="0" lang="vi-VN">
                  <a:solidFill>
                    <a:srgbClr val="16181D"/>
                  </a:solidFill>
                  <a:latin typeface="IBM Plex Sans SemiBold"/>
                </a:rPr>
                <a:t>33,1</a:t>
              </a:r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 tỷ USD</a:t>
              </a:r>
              <a:r>
                <a:rPr sz="900" b="0" i="0" lang="vi-VN">
                  <a:solidFill>
                    <a:srgbClr val="8A8F99"/>
                  </a:solidFill>
                  <a:latin typeface="IBM Plex Sans"/>
                </a:rPr>
                <a:t>  2025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594360" y="2883408"/>
              <a:ext cx="3012338" cy="0"/>
            </a:xfrm>
            <a:prstGeom prst="line">
              <a:avLst/>
            </a:prstGeom>
            <a:ln w="6350" cap="flat">
              <a:solidFill>
                <a:srgbClr val="E1E0D9"/>
              </a:solidFill>
              <a:round/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3643274" y="2817368"/>
              <a:ext cx="237947" cy="1320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00" b="0" i="0" lang="vi-VN">
                  <a:solidFill>
                    <a:srgbClr val="8A8F99"/>
                  </a:solidFill>
                  <a:latin typeface="IBM Plex Sans"/>
                </a:rPr>
                <a:t>33,1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594360" y="3469335"/>
              <a:ext cx="3012338" cy="0"/>
            </a:xfrm>
            <a:prstGeom prst="line">
              <a:avLst/>
            </a:prstGeom>
            <a:ln w="6350" cap="flat">
              <a:solidFill>
                <a:srgbClr val="E1E0D9"/>
              </a:solidFill>
              <a:round/>
            </a:ln>
          </p:spPr>
        </p:cxnSp>
        <p:sp>
          <p:nvSpPr>
            <p:cNvPr id="16" name="TextBox 15"/>
            <p:cNvSpPr txBox="1"/>
            <p:nvPr/>
          </p:nvSpPr>
          <p:spPr>
            <a:xfrm>
              <a:off x="3643274" y="3403295"/>
              <a:ext cx="237947" cy="1320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00" b="0" i="0" lang="vi-VN">
                  <a:solidFill>
                    <a:srgbClr val="8A8F99"/>
                  </a:solidFill>
                  <a:latin typeface="IBM Plex Sans"/>
                </a:rPr>
                <a:t>−4,6</a:t>
              </a:r>
            </a:p>
          </p:txBody>
        </p:sp>
        <p:sp>
          <p:nvSpPr>
            <p:cNvPr id="17" name="Round Same Side Corner Rectangle 16"/>
            <p:cNvSpPr/>
            <p:nvPr/>
          </p:nvSpPr>
          <p:spPr>
            <a:xfrm rot="10800000">
              <a:off x="640914" y="3397528"/>
              <a:ext cx="180740" cy="3166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914763" y="3387830"/>
              <a:ext cx="180740" cy="969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 Same Side Corner Rectangle 18"/>
            <p:cNvSpPr/>
            <p:nvPr/>
          </p:nvSpPr>
          <p:spPr>
            <a:xfrm rot="10800000">
              <a:off x="1188612" y="3397528"/>
              <a:ext cx="180740" cy="25586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 Same Side Corner Rectangle 19"/>
            <p:cNvSpPr/>
            <p:nvPr/>
          </p:nvSpPr>
          <p:spPr>
            <a:xfrm>
              <a:off x="1462461" y="3305999"/>
              <a:ext cx="180740" cy="91528"/>
            </a:xfrm>
            <a:prstGeom prst="round2SameRect">
              <a:avLst>
                <a:gd name="adj1" fmla="val 29971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 Same Side Corner Rectangle 20"/>
            <p:cNvSpPr/>
            <p:nvPr/>
          </p:nvSpPr>
          <p:spPr>
            <a:xfrm>
              <a:off x="1736310" y="3194254"/>
              <a:ext cx="180740" cy="203274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 Same Side Corner Rectangle 21"/>
            <p:cNvSpPr/>
            <p:nvPr/>
          </p:nvSpPr>
          <p:spPr>
            <a:xfrm>
              <a:off x="2010159" y="3163858"/>
              <a:ext cx="180740" cy="233670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 Same Side Corner Rectangle 22"/>
            <p:cNvSpPr/>
            <p:nvPr/>
          </p:nvSpPr>
          <p:spPr>
            <a:xfrm rot="10800000">
              <a:off x="2284008" y="3397528"/>
              <a:ext cx="180740" cy="71808"/>
            </a:xfrm>
            <a:prstGeom prst="round2SameRect">
              <a:avLst>
                <a:gd name="adj1" fmla="val 38202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 Same Side Corner Rectangle 23"/>
            <p:cNvSpPr/>
            <p:nvPr/>
          </p:nvSpPr>
          <p:spPr>
            <a:xfrm>
              <a:off x="2557857" y="3375774"/>
              <a:ext cx="180740" cy="2175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 Same Side Corner Rectangle 24"/>
            <p:cNvSpPr/>
            <p:nvPr/>
          </p:nvSpPr>
          <p:spPr>
            <a:xfrm>
              <a:off x="2831706" y="2997326"/>
              <a:ext cx="180740" cy="400202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 Same Side Corner Rectangle 25"/>
            <p:cNvSpPr/>
            <p:nvPr/>
          </p:nvSpPr>
          <p:spPr>
            <a:xfrm>
              <a:off x="3105555" y="2929335"/>
              <a:ext cx="180740" cy="468192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 Same Side Corner Rectangle 26"/>
            <p:cNvSpPr/>
            <p:nvPr/>
          </p:nvSpPr>
          <p:spPr>
            <a:xfrm>
              <a:off x="3379404" y="2883408"/>
              <a:ext cx="180740" cy="514120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8" name="Connector 27"/>
            <p:cNvCxnSpPr/>
            <p:nvPr/>
          </p:nvCxnSpPr>
          <p:spPr>
            <a:xfrm>
              <a:off x="594360" y="3397528"/>
              <a:ext cx="3012338" cy="0"/>
            </a:xfrm>
            <a:prstGeom prst="line">
              <a:avLst/>
            </a:prstGeom>
            <a:ln w="9525" cap="flat">
              <a:solidFill>
                <a:srgbClr val="C3C2B7"/>
              </a:solidFill>
              <a:round/>
            </a:ln>
          </p:spPr>
        </p:cxnSp>
        <p:sp>
          <p:nvSpPr>
            <p:cNvPr id="29" name="TextBox 28"/>
            <p:cNvSpPr txBox="1"/>
            <p:nvPr/>
          </p:nvSpPr>
          <p:spPr>
            <a:xfrm>
              <a:off x="594360" y="3524199"/>
              <a:ext cx="28651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50" b="0" i="0" lang="vi-VN">
                  <a:solidFill>
                    <a:srgbClr val="8A8F99"/>
                  </a:solidFill>
                  <a:latin typeface="IBM Plex Sans"/>
                </a:rPr>
                <a:t>2015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320186" y="3524199"/>
              <a:ext cx="28651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850" b="0" i="0" lang="vi-VN">
                  <a:solidFill>
                    <a:srgbClr val="8A8F99"/>
                  </a:solidFill>
                  <a:latin typeface="IBM Plex Sans"/>
                </a:rPr>
                <a:t>2025</a:t>
              </a:r>
            </a:p>
          </p:txBody>
        </p:sp>
        <p:cxnSp>
          <p:nvCxnSpPr>
            <p:cNvPr id="31" name="Connector 30"/>
            <p:cNvCxnSpPr/>
            <p:nvPr/>
          </p:nvCxnSpPr>
          <p:spPr>
            <a:xfrm>
              <a:off x="4383938" y="2170176"/>
              <a:ext cx="3423819" cy="0"/>
            </a:xfrm>
            <a:prstGeom prst="line">
              <a:avLst/>
            </a:prstGeom>
            <a:ln w="15875" cap="flat">
              <a:solidFill>
                <a:srgbClr val="16181D"/>
              </a:solidFill>
              <a:round/>
            </a:ln>
          </p:spPr>
        </p:cxnSp>
        <p:sp>
          <p:nvSpPr>
            <p:cNvPr id="32" name="TextBox 31"/>
            <p:cNvSpPr txBox="1"/>
            <p:nvPr/>
          </p:nvSpPr>
          <p:spPr>
            <a:xfrm>
              <a:off x="4383938" y="2225040"/>
              <a:ext cx="537210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FDI ròng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4383938" y="2460498"/>
              <a:ext cx="1257681" cy="2971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800" b="0" i="0" lang="vi-VN">
                  <a:solidFill>
                    <a:srgbClr val="16181D"/>
                  </a:solidFill>
                  <a:latin typeface="IBM Plex Sans SemiBold"/>
                </a:rPr>
                <a:t>21,3</a:t>
              </a:r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 tỷ USD</a:t>
              </a:r>
              <a:r>
                <a:rPr sz="900" b="0" i="0" lang="vi-VN">
                  <a:solidFill>
                    <a:srgbClr val="8A8F99"/>
                  </a:solidFill>
                  <a:latin typeface="IBM Plex Sans"/>
                </a:rPr>
                <a:t>  2025</a:t>
              </a:r>
            </a:p>
          </p:txBody>
        </p:sp>
        <p:cxnSp>
          <p:nvCxnSpPr>
            <p:cNvPr id="34" name="Connector 33"/>
            <p:cNvCxnSpPr/>
            <p:nvPr/>
          </p:nvCxnSpPr>
          <p:spPr>
            <a:xfrm>
              <a:off x="4383938" y="2883408"/>
              <a:ext cx="3012339" cy="0"/>
            </a:xfrm>
            <a:prstGeom prst="line">
              <a:avLst/>
            </a:prstGeom>
            <a:ln w="6350" cap="flat">
              <a:solidFill>
                <a:srgbClr val="E1E0D9"/>
              </a:solidFill>
              <a:round/>
            </a:ln>
          </p:spPr>
        </p:cxnSp>
        <p:sp>
          <p:nvSpPr>
            <p:cNvPr id="35" name="TextBox 34"/>
            <p:cNvSpPr txBox="1"/>
            <p:nvPr/>
          </p:nvSpPr>
          <p:spPr>
            <a:xfrm>
              <a:off x="7432853" y="2817368"/>
              <a:ext cx="237947" cy="1320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00" b="0" i="0" lang="vi-VN">
                  <a:solidFill>
                    <a:srgbClr val="8A8F99"/>
                  </a:solidFill>
                  <a:latin typeface="IBM Plex Sans"/>
                </a:rPr>
                <a:t>21,3</a:t>
              </a:r>
            </a:p>
          </p:txBody>
        </p:sp>
        <p:sp>
          <p:nvSpPr>
            <p:cNvPr id="36" name="Round Same Side Corner Rectangle 35"/>
            <p:cNvSpPr/>
            <p:nvPr/>
          </p:nvSpPr>
          <p:spPr>
            <a:xfrm>
              <a:off x="4430493" y="3174858"/>
              <a:ext cx="180740" cy="294477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 Same Side Corner Rectangle 36"/>
            <p:cNvSpPr/>
            <p:nvPr/>
          </p:nvSpPr>
          <p:spPr>
            <a:xfrm>
              <a:off x="4704342" y="3150089"/>
              <a:ext cx="180740" cy="319246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 Same Side Corner Rectangle 37"/>
            <p:cNvSpPr/>
            <p:nvPr/>
          </p:nvSpPr>
          <p:spPr>
            <a:xfrm>
              <a:off x="4978191" y="3094496"/>
              <a:ext cx="180740" cy="374839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 Same Side Corner Rectangle 38"/>
            <p:cNvSpPr/>
            <p:nvPr/>
          </p:nvSpPr>
          <p:spPr>
            <a:xfrm>
              <a:off x="5252040" y="3059214"/>
              <a:ext cx="180740" cy="410122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ound Same Side Corner Rectangle 39"/>
            <p:cNvSpPr/>
            <p:nvPr/>
          </p:nvSpPr>
          <p:spPr>
            <a:xfrm>
              <a:off x="5525889" y="3039041"/>
              <a:ext cx="180740" cy="430295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 Same Side Corner Rectangle 40"/>
            <p:cNvSpPr/>
            <p:nvPr/>
          </p:nvSpPr>
          <p:spPr>
            <a:xfrm>
              <a:off x="5799737" y="3044958"/>
              <a:ext cx="180740" cy="424378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ound Same Side Corner Rectangle 41"/>
            <p:cNvSpPr/>
            <p:nvPr/>
          </p:nvSpPr>
          <p:spPr>
            <a:xfrm>
              <a:off x="6073586" y="3047132"/>
              <a:ext cx="180740" cy="422203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 Same Side Corner Rectangle 42"/>
            <p:cNvSpPr/>
            <p:nvPr/>
          </p:nvSpPr>
          <p:spPr>
            <a:xfrm>
              <a:off x="6347435" y="3050297"/>
              <a:ext cx="180740" cy="419038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ound Same Side Corner Rectangle 43"/>
            <p:cNvSpPr/>
            <p:nvPr/>
          </p:nvSpPr>
          <p:spPr>
            <a:xfrm>
              <a:off x="6621284" y="2917534"/>
              <a:ext cx="180740" cy="551801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 Same Side Corner Rectangle 44"/>
            <p:cNvSpPr/>
            <p:nvPr/>
          </p:nvSpPr>
          <p:spPr>
            <a:xfrm>
              <a:off x="6895133" y="2930745"/>
              <a:ext cx="180740" cy="538591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 Same Side Corner Rectangle 45"/>
            <p:cNvSpPr/>
            <p:nvPr/>
          </p:nvSpPr>
          <p:spPr>
            <a:xfrm>
              <a:off x="7168982" y="2883408"/>
              <a:ext cx="180740" cy="585927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7" name="Connector 46"/>
            <p:cNvCxnSpPr/>
            <p:nvPr/>
          </p:nvCxnSpPr>
          <p:spPr>
            <a:xfrm>
              <a:off x="4383938" y="3469335"/>
              <a:ext cx="3012339" cy="0"/>
            </a:xfrm>
            <a:prstGeom prst="line">
              <a:avLst/>
            </a:prstGeom>
            <a:ln w="9525" cap="flat">
              <a:solidFill>
                <a:srgbClr val="C3C2B7"/>
              </a:solidFill>
              <a:round/>
            </a:ln>
          </p:spPr>
        </p:cxnSp>
        <p:sp>
          <p:nvSpPr>
            <p:cNvPr id="48" name="TextBox 47"/>
            <p:cNvSpPr txBox="1"/>
            <p:nvPr/>
          </p:nvSpPr>
          <p:spPr>
            <a:xfrm>
              <a:off x="4383938" y="3524199"/>
              <a:ext cx="28651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50" b="0" i="0" lang="vi-VN">
                  <a:solidFill>
                    <a:srgbClr val="8A8F99"/>
                  </a:solidFill>
                  <a:latin typeface="IBM Plex Sans"/>
                </a:rPr>
                <a:t>2015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7109765" y="3524199"/>
              <a:ext cx="28651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850" b="0" i="0" lang="vi-VN">
                  <a:solidFill>
                    <a:srgbClr val="8A8F99"/>
                  </a:solidFill>
                  <a:latin typeface="IBM Plex Sans"/>
                </a:rPr>
                <a:t>2025</a:t>
              </a:r>
            </a:p>
          </p:txBody>
        </p:sp>
        <p:cxnSp>
          <p:nvCxnSpPr>
            <p:cNvPr id="50" name="Connector 49"/>
            <p:cNvCxnSpPr/>
            <p:nvPr/>
          </p:nvCxnSpPr>
          <p:spPr>
            <a:xfrm>
              <a:off x="8173517" y="2170176"/>
              <a:ext cx="3423818" cy="0"/>
            </a:xfrm>
            <a:prstGeom prst="line">
              <a:avLst/>
            </a:prstGeom>
            <a:ln w="15875" cap="flat">
              <a:solidFill>
                <a:srgbClr val="16181D"/>
              </a:solidFill>
              <a:round/>
            </a:ln>
          </p:spPr>
        </p:cxnSp>
        <p:sp>
          <p:nvSpPr>
            <p:cNvPr id="51" name="TextBox 50"/>
            <p:cNvSpPr txBox="1"/>
            <p:nvPr/>
          </p:nvSpPr>
          <p:spPr>
            <a:xfrm>
              <a:off x="8173517" y="2225040"/>
              <a:ext cx="124790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Đầu tư gián tiếp ròng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8173517" y="2460498"/>
              <a:ext cx="1257681" cy="2971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800" b="0" i="0" lang="vi-VN">
                  <a:solidFill>
                    <a:srgbClr val="16181D"/>
                  </a:solidFill>
                  <a:latin typeface="IBM Plex Sans SemiBold"/>
                </a:rPr>
                <a:t>−4,9</a:t>
              </a:r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 tỷ USD</a:t>
              </a:r>
              <a:r>
                <a:rPr sz="900" b="0" i="0" lang="vi-VN">
                  <a:solidFill>
                    <a:srgbClr val="8A8F99"/>
                  </a:solidFill>
                  <a:latin typeface="IBM Plex Sans"/>
                </a:rPr>
                <a:t>  2025</a:t>
              </a:r>
            </a:p>
          </p:txBody>
        </p:sp>
        <p:cxnSp>
          <p:nvCxnSpPr>
            <p:cNvPr id="53" name="Connector 52"/>
            <p:cNvCxnSpPr/>
            <p:nvPr/>
          </p:nvCxnSpPr>
          <p:spPr>
            <a:xfrm>
              <a:off x="8173517" y="2883408"/>
              <a:ext cx="3012338" cy="0"/>
            </a:xfrm>
            <a:prstGeom prst="line">
              <a:avLst/>
            </a:prstGeom>
            <a:ln w="6350" cap="flat">
              <a:solidFill>
                <a:srgbClr val="E1E0D9"/>
              </a:solidFill>
              <a:round/>
            </a:ln>
          </p:spPr>
        </p:cxnSp>
        <p:sp>
          <p:nvSpPr>
            <p:cNvPr id="54" name="TextBox 53"/>
            <p:cNvSpPr txBox="1"/>
            <p:nvPr/>
          </p:nvSpPr>
          <p:spPr>
            <a:xfrm>
              <a:off x="11222431" y="2817368"/>
              <a:ext cx="176987" cy="1320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00" b="0" i="0" lang="vi-VN">
                  <a:solidFill>
                    <a:srgbClr val="8A8F99"/>
                  </a:solidFill>
                  <a:latin typeface="IBM Plex Sans"/>
                </a:rPr>
                <a:t>3,0</a:t>
              </a:r>
            </a:p>
          </p:txBody>
        </p:sp>
        <p:cxnSp>
          <p:nvCxnSpPr>
            <p:cNvPr id="55" name="Connector 54"/>
            <p:cNvCxnSpPr/>
            <p:nvPr/>
          </p:nvCxnSpPr>
          <p:spPr>
            <a:xfrm>
              <a:off x="8173517" y="3469335"/>
              <a:ext cx="3012338" cy="0"/>
            </a:xfrm>
            <a:prstGeom prst="line">
              <a:avLst/>
            </a:prstGeom>
            <a:ln w="6350" cap="flat">
              <a:solidFill>
                <a:srgbClr val="E1E0D9"/>
              </a:solidFill>
              <a:round/>
            </a:ln>
          </p:spPr>
        </p:cxnSp>
        <p:sp>
          <p:nvSpPr>
            <p:cNvPr id="56" name="TextBox 55"/>
            <p:cNvSpPr txBox="1"/>
            <p:nvPr/>
          </p:nvSpPr>
          <p:spPr>
            <a:xfrm>
              <a:off x="11222431" y="3403295"/>
              <a:ext cx="237947" cy="1320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00" b="0" i="0" lang="vi-VN">
                  <a:solidFill>
                    <a:srgbClr val="8A8F99"/>
                  </a:solidFill>
                  <a:latin typeface="IBM Plex Sans"/>
                </a:rPr>
                <a:t>−5,7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8220071" y="3086074"/>
              <a:ext cx="180740" cy="4361"/>
            </a:xfrm>
            <a:prstGeom prst="rect">
              <a:avLst/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ound Same Side Corner Rectangle 57"/>
            <p:cNvSpPr/>
            <p:nvPr/>
          </p:nvSpPr>
          <p:spPr>
            <a:xfrm>
              <a:off x="8493920" y="3070779"/>
              <a:ext cx="180740" cy="15296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ound Same Side Corner Rectangle 58"/>
            <p:cNvSpPr/>
            <p:nvPr/>
          </p:nvSpPr>
          <p:spPr>
            <a:xfrm>
              <a:off x="8767769" y="2947274"/>
              <a:ext cx="180740" cy="138800"/>
            </a:xfrm>
            <a:prstGeom prst="round2SameRect">
              <a:avLst>
                <a:gd name="adj1" fmla="val 19763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ound Same Side Corner Rectangle 59"/>
            <p:cNvSpPr/>
            <p:nvPr/>
          </p:nvSpPr>
          <p:spPr>
            <a:xfrm>
              <a:off x="9041618" y="2883408"/>
              <a:ext cx="180740" cy="202666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ound Same Side Corner Rectangle 60"/>
            <p:cNvSpPr/>
            <p:nvPr/>
          </p:nvSpPr>
          <p:spPr>
            <a:xfrm>
              <a:off x="9315467" y="2885018"/>
              <a:ext cx="180740" cy="201056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ound Same Side Corner Rectangle 61"/>
            <p:cNvSpPr/>
            <p:nvPr/>
          </p:nvSpPr>
          <p:spPr>
            <a:xfrm rot="10800000">
              <a:off x="9589316" y="3086074"/>
              <a:ext cx="180740" cy="84260"/>
            </a:xfrm>
            <a:prstGeom prst="round2SameRect">
              <a:avLst>
                <a:gd name="adj1" fmla="val 32556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ound Same Side Corner Rectangle 62"/>
            <p:cNvSpPr/>
            <p:nvPr/>
          </p:nvSpPr>
          <p:spPr>
            <a:xfrm>
              <a:off x="9863165" y="3067223"/>
              <a:ext cx="180740" cy="18851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ound Same Side Corner Rectangle 63"/>
            <p:cNvSpPr/>
            <p:nvPr/>
          </p:nvSpPr>
          <p:spPr>
            <a:xfrm>
              <a:off x="10137014" y="2984640"/>
              <a:ext cx="180740" cy="101434"/>
            </a:xfrm>
            <a:prstGeom prst="round2SameRect">
              <a:avLst>
                <a:gd name="adj1" fmla="val 27044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ound Same Side Corner Rectangle 64"/>
            <p:cNvSpPr/>
            <p:nvPr/>
          </p:nvSpPr>
          <p:spPr>
            <a:xfrm rot="10800000">
              <a:off x="10410863" y="3086074"/>
              <a:ext cx="180740" cy="79765"/>
            </a:xfrm>
            <a:prstGeom prst="round2SameRect">
              <a:avLst>
                <a:gd name="adj1" fmla="val 34391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ound Same Side Corner Rectangle 65"/>
            <p:cNvSpPr/>
            <p:nvPr/>
          </p:nvSpPr>
          <p:spPr>
            <a:xfrm rot="10800000">
              <a:off x="10684712" y="3086074"/>
              <a:ext cx="180740" cy="383261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ound Same Side Corner Rectangle 66"/>
            <p:cNvSpPr/>
            <p:nvPr/>
          </p:nvSpPr>
          <p:spPr>
            <a:xfrm rot="10800000">
              <a:off x="10958561" y="3086074"/>
              <a:ext cx="180740" cy="330800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8" name="Connector 67"/>
            <p:cNvCxnSpPr/>
            <p:nvPr/>
          </p:nvCxnSpPr>
          <p:spPr>
            <a:xfrm>
              <a:off x="8173517" y="3086074"/>
              <a:ext cx="3012338" cy="0"/>
            </a:xfrm>
            <a:prstGeom prst="line">
              <a:avLst/>
            </a:prstGeom>
            <a:ln w="9525" cap="flat">
              <a:solidFill>
                <a:srgbClr val="C3C2B7"/>
              </a:solidFill>
              <a:round/>
            </a:ln>
          </p:spPr>
        </p:cxnSp>
        <p:sp>
          <p:nvSpPr>
            <p:cNvPr id="69" name="TextBox 68"/>
            <p:cNvSpPr txBox="1"/>
            <p:nvPr/>
          </p:nvSpPr>
          <p:spPr>
            <a:xfrm>
              <a:off x="8173517" y="3524199"/>
              <a:ext cx="28651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50" b="0" i="0" lang="vi-VN">
                  <a:solidFill>
                    <a:srgbClr val="8A8F99"/>
                  </a:solidFill>
                  <a:latin typeface="IBM Plex Sans"/>
                </a:rPr>
                <a:t>2015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0899343" y="3524199"/>
              <a:ext cx="28651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850" b="0" i="0" lang="vi-VN">
                  <a:solidFill>
                    <a:srgbClr val="8A8F99"/>
                  </a:solidFill>
                  <a:latin typeface="IBM Plex Sans"/>
                </a:rPr>
                <a:t>2025</a:t>
              </a:r>
            </a:p>
          </p:txBody>
        </p:sp>
        <p:cxnSp>
          <p:nvCxnSpPr>
            <p:cNvPr id="71" name="Connector 70"/>
            <p:cNvCxnSpPr/>
            <p:nvPr/>
          </p:nvCxnSpPr>
          <p:spPr>
            <a:xfrm>
              <a:off x="594360" y="3999687"/>
              <a:ext cx="3423818" cy="0"/>
            </a:xfrm>
            <a:prstGeom prst="line">
              <a:avLst/>
            </a:prstGeom>
            <a:ln w="15875" cap="flat">
              <a:solidFill>
                <a:srgbClr val="16181D"/>
              </a:solidFill>
              <a:round/>
            </a:ln>
          </p:spPr>
        </p:cxnSp>
        <p:sp>
          <p:nvSpPr>
            <p:cNvPr id="72" name="TextBox 71"/>
            <p:cNvSpPr txBox="1"/>
            <p:nvPr/>
          </p:nvSpPr>
          <p:spPr>
            <a:xfrm>
              <a:off x="594360" y="4054551"/>
              <a:ext cx="102082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Đầu tư khác ròng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594360" y="4290009"/>
              <a:ext cx="1394841" cy="2971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800" b="0" i="0" lang="vi-VN">
                  <a:solidFill>
                    <a:srgbClr val="16181D"/>
                  </a:solidFill>
                  <a:latin typeface="IBM Plex Sans SemiBold"/>
                </a:rPr>
                <a:t>−19,8</a:t>
              </a:r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 tỷ USD</a:t>
              </a:r>
              <a:r>
                <a:rPr sz="900" b="0" i="0" lang="vi-VN">
                  <a:solidFill>
                    <a:srgbClr val="8A8F99"/>
                  </a:solidFill>
                  <a:latin typeface="IBM Plex Sans"/>
                </a:rPr>
                <a:t>  2025</a:t>
              </a:r>
            </a:p>
          </p:txBody>
        </p:sp>
        <p:cxnSp>
          <p:nvCxnSpPr>
            <p:cNvPr id="74" name="Connector 73"/>
            <p:cNvCxnSpPr/>
            <p:nvPr/>
          </p:nvCxnSpPr>
          <p:spPr>
            <a:xfrm>
              <a:off x="594360" y="4712919"/>
              <a:ext cx="3012338" cy="0"/>
            </a:xfrm>
            <a:prstGeom prst="line">
              <a:avLst/>
            </a:prstGeom>
            <a:ln w="6350" cap="flat">
              <a:solidFill>
                <a:srgbClr val="E1E0D9"/>
              </a:solidFill>
              <a:round/>
            </a:ln>
          </p:spPr>
        </p:cxnSp>
        <p:sp>
          <p:nvSpPr>
            <p:cNvPr id="75" name="TextBox 74"/>
            <p:cNvSpPr txBox="1"/>
            <p:nvPr/>
          </p:nvSpPr>
          <p:spPr>
            <a:xfrm>
              <a:off x="3643274" y="4646879"/>
              <a:ext cx="237947" cy="1320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00" b="0" i="0" lang="vi-VN">
                  <a:solidFill>
                    <a:srgbClr val="8A8F99"/>
                  </a:solidFill>
                  <a:latin typeface="IBM Plex Sans"/>
                </a:rPr>
                <a:t>15,3</a:t>
              </a:r>
            </a:p>
          </p:txBody>
        </p:sp>
        <p:cxnSp>
          <p:nvCxnSpPr>
            <p:cNvPr id="76" name="Connector 75"/>
            <p:cNvCxnSpPr/>
            <p:nvPr/>
          </p:nvCxnSpPr>
          <p:spPr>
            <a:xfrm>
              <a:off x="594360" y="5298846"/>
              <a:ext cx="3012338" cy="0"/>
            </a:xfrm>
            <a:prstGeom prst="line">
              <a:avLst/>
            </a:prstGeom>
            <a:ln w="6350" cap="flat">
              <a:solidFill>
                <a:srgbClr val="E1E0D9"/>
              </a:solidFill>
              <a:round/>
            </a:ln>
          </p:spPr>
        </p:cxnSp>
        <p:sp>
          <p:nvSpPr>
            <p:cNvPr id="77" name="TextBox 76"/>
            <p:cNvSpPr txBox="1"/>
            <p:nvPr/>
          </p:nvSpPr>
          <p:spPr>
            <a:xfrm>
              <a:off x="3643274" y="5232806"/>
              <a:ext cx="298907" cy="1320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00" b="0" i="0" lang="vi-VN">
                  <a:solidFill>
                    <a:srgbClr val="8A8F99"/>
                  </a:solidFill>
                  <a:latin typeface="IBM Plex Sans"/>
                </a:rPr>
                <a:t>−21,9</a:t>
              </a:r>
            </a:p>
          </p:txBody>
        </p:sp>
        <p:sp>
          <p:nvSpPr>
            <p:cNvPr id="78" name="Round Same Side Corner Rectangle 77"/>
            <p:cNvSpPr/>
            <p:nvPr/>
          </p:nvSpPr>
          <p:spPr>
            <a:xfrm rot="10800000">
              <a:off x="640914" y="4953746"/>
              <a:ext cx="180740" cy="152446"/>
            </a:xfrm>
            <a:prstGeom prst="round2SameRect">
              <a:avLst>
                <a:gd name="adj1" fmla="val 17994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Round Same Side Corner Rectangle 78"/>
            <p:cNvSpPr/>
            <p:nvPr/>
          </p:nvSpPr>
          <p:spPr>
            <a:xfrm rot="10800000">
              <a:off x="914763" y="4953746"/>
              <a:ext cx="180740" cy="17361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Round Same Side Corner Rectangle 79"/>
            <p:cNvSpPr/>
            <p:nvPr/>
          </p:nvSpPr>
          <p:spPr>
            <a:xfrm>
              <a:off x="1188612" y="4885328"/>
              <a:ext cx="180740" cy="68418"/>
            </a:xfrm>
            <a:prstGeom prst="round2SameRect">
              <a:avLst>
                <a:gd name="adj1" fmla="val 40094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Round Same Side Corner Rectangle 80"/>
            <p:cNvSpPr/>
            <p:nvPr/>
          </p:nvSpPr>
          <p:spPr>
            <a:xfrm rot="10800000">
              <a:off x="1462461" y="4953746"/>
              <a:ext cx="180740" cy="149119"/>
            </a:xfrm>
            <a:prstGeom prst="round2SameRect">
              <a:avLst>
                <a:gd name="adj1" fmla="val 18396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ound Same Side Corner Rectangle 81"/>
            <p:cNvSpPr/>
            <p:nvPr/>
          </p:nvSpPr>
          <p:spPr>
            <a:xfrm>
              <a:off x="1736310" y="4942046"/>
              <a:ext cx="180740" cy="117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ound Same Side Corner Rectangle 82"/>
            <p:cNvSpPr/>
            <p:nvPr/>
          </p:nvSpPr>
          <p:spPr>
            <a:xfrm rot="10800000">
              <a:off x="2010159" y="4953746"/>
              <a:ext cx="180740" cy="89563"/>
            </a:xfrm>
            <a:prstGeom prst="round2SameRect">
              <a:avLst>
                <a:gd name="adj1" fmla="val 30628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ound Same Side Corner Rectangle 83"/>
            <p:cNvSpPr/>
            <p:nvPr/>
          </p:nvSpPr>
          <p:spPr>
            <a:xfrm>
              <a:off x="2284008" y="4712919"/>
              <a:ext cx="180740" cy="240826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Round Same Side Corner Rectangle 84"/>
            <p:cNvSpPr/>
            <p:nvPr/>
          </p:nvSpPr>
          <p:spPr>
            <a:xfrm rot="10800000">
              <a:off x="2557857" y="4953746"/>
              <a:ext cx="180740" cy="114603"/>
            </a:xfrm>
            <a:prstGeom prst="round2SameRect">
              <a:avLst>
                <a:gd name="adj1" fmla="val 23936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Round Same Side Corner Rectangle 85"/>
            <p:cNvSpPr/>
            <p:nvPr/>
          </p:nvSpPr>
          <p:spPr>
            <a:xfrm rot="10800000">
              <a:off x="2831706" y="4953746"/>
              <a:ext cx="180740" cy="342152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Round Same Side Corner Rectangle 86"/>
            <p:cNvSpPr/>
            <p:nvPr/>
          </p:nvSpPr>
          <p:spPr>
            <a:xfrm rot="10800000">
              <a:off x="3105555" y="4953746"/>
              <a:ext cx="180740" cy="345101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Round Same Side Corner Rectangle 87"/>
            <p:cNvSpPr/>
            <p:nvPr/>
          </p:nvSpPr>
          <p:spPr>
            <a:xfrm rot="10800000">
              <a:off x="3379404" y="4953746"/>
              <a:ext cx="180740" cy="311720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9" name="Connector 88"/>
            <p:cNvCxnSpPr/>
            <p:nvPr/>
          </p:nvCxnSpPr>
          <p:spPr>
            <a:xfrm>
              <a:off x="594360" y="4953746"/>
              <a:ext cx="3012338" cy="0"/>
            </a:xfrm>
            <a:prstGeom prst="line">
              <a:avLst/>
            </a:prstGeom>
            <a:ln w="9525" cap="flat">
              <a:solidFill>
                <a:srgbClr val="C3C2B7"/>
              </a:solidFill>
              <a:round/>
            </a:ln>
          </p:spPr>
        </p:cxnSp>
        <p:sp>
          <p:nvSpPr>
            <p:cNvPr id="90" name="TextBox 89"/>
            <p:cNvSpPr txBox="1"/>
            <p:nvPr/>
          </p:nvSpPr>
          <p:spPr>
            <a:xfrm>
              <a:off x="594360" y="5353710"/>
              <a:ext cx="28651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50" b="0" i="0" lang="vi-VN">
                  <a:solidFill>
                    <a:srgbClr val="8A8F99"/>
                  </a:solidFill>
                  <a:latin typeface="IBM Plex Sans"/>
                </a:rPr>
                <a:t>2015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3320186" y="5353710"/>
              <a:ext cx="28651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850" b="0" i="0" lang="vi-VN">
                  <a:solidFill>
                    <a:srgbClr val="8A8F99"/>
                  </a:solidFill>
                  <a:latin typeface="IBM Plex Sans"/>
                </a:rPr>
                <a:t>2025</a:t>
              </a:r>
            </a:p>
          </p:txBody>
        </p:sp>
        <p:cxnSp>
          <p:nvCxnSpPr>
            <p:cNvPr id="92" name="Connector 91"/>
            <p:cNvCxnSpPr/>
            <p:nvPr/>
          </p:nvCxnSpPr>
          <p:spPr>
            <a:xfrm>
              <a:off x="4383938" y="3999687"/>
              <a:ext cx="3423819" cy="0"/>
            </a:xfrm>
            <a:prstGeom prst="line">
              <a:avLst/>
            </a:prstGeom>
            <a:ln w="15875" cap="flat">
              <a:solidFill>
                <a:srgbClr val="16181D"/>
              </a:solidFill>
              <a:round/>
            </a:ln>
          </p:spPr>
        </p:cxnSp>
        <p:sp>
          <p:nvSpPr>
            <p:cNvPr id="93" name="TextBox 92"/>
            <p:cNvSpPr txBox="1"/>
            <p:nvPr/>
          </p:nvSpPr>
          <p:spPr>
            <a:xfrm>
              <a:off x="4383938" y="4054551"/>
              <a:ext cx="77914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Lỗi và sai sót</a:t>
              </a:r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4383938" y="4290009"/>
              <a:ext cx="1394841" cy="2971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800" b="0" i="0" lang="vi-VN">
                  <a:solidFill>
                    <a:srgbClr val="16181D"/>
                  </a:solidFill>
                  <a:latin typeface="IBM Plex Sans SemiBold"/>
                </a:rPr>
                <a:t>−25,9</a:t>
              </a:r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 tỷ USD</a:t>
              </a:r>
              <a:r>
                <a:rPr sz="900" b="0" i="0" lang="vi-VN">
                  <a:solidFill>
                    <a:srgbClr val="8A8F99"/>
                  </a:solidFill>
                  <a:latin typeface="IBM Plex Sans"/>
                </a:rPr>
                <a:t>  2025</a:t>
              </a:r>
            </a:p>
          </p:txBody>
        </p:sp>
        <p:cxnSp>
          <p:nvCxnSpPr>
            <p:cNvPr id="95" name="Connector 94"/>
            <p:cNvCxnSpPr/>
            <p:nvPr/>
          </p:nvCxnSpPr>
          <p:spPr>
            <a:xfrm>
              <a:off x="4383938" y="5298846"/>
              <a:ext cx="3012339" cy="0"/>
            </a:xfrm>
            <a:prstGeom prst="line">
              <a:avLst/>
            </a:prstGeom>
            <a:ln w="6350" cap="flat">
              <a:solidFill>
                <a:srgbClr val="E1E0D9"/>
              </a:solidFill>
              <a:round/>
            </a:ln>
          </p:spPr>
        </p:cxnSp>
        <p:sp>
          <p:nvSpPr>
            <p:cNvPr id="96" name="TextBox 95"/>
            <p:cNvSpPr txBox="1"/>
            <p:nvPr/>
          </p:nvSpPr>
          <p:spPr>
            <a:xfrm>
              <a:off x="7432853" y="5232806"/>
              <a:ext cx="298907" cy="1320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00" b="0" i="0" lang="vi-VN">
                  <a:solidFill>
                    <a:srgbClr val="8A8F99"/>
                  </a:solidFill>
                  <a:latin typeface="IBM Plex Sans"/>
                </a:rPr>
                <a:t>−33,6</a:t>
              </a:r>
            </a:p>
          </p:txBody>
        </p:sp>
        <p:sp>
          <p:nvSpPr>
            <p:cNvPr id="97" name="Round Same Side Corner Rectangle 96"/>
            <p:cNvSpPr/>
            <p:nvPr/>
          </p:nvSpPr>
          <p:spPr>
            <a:xfrm rot="10800000">
              <a:off x="4430493" y="4712919"/>
              <a:ext cx="180740" cy="86415"/>
            </a:xfrm>
            <a:prstGeom prst="round2SameRect">
              <a:avLst>
                <a:gd name="adj1" fmla="val 31744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Round Same Side Corner Rectangle 97"/>
            <p:cNvSpPr/>
            <p:nvPr/>
          </p:nvSpPr>
          <p:spPr>
            <a:xfrm rot="10800000">
              <a:off x="4704342" y="4712919"/>
              <a:ext cx="180740" cy="51626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Round Same Side Corner Rectangle 98"/>
            <p:cNvSpPr/>
            <p:nvPr/>
          </p:nvSpPr>
          <p:spPr>
            <a:xfrm rot="10800000">
              <a:off x="4978191" y="4712919"/>
              <a:ext cx="180740" cy="101701"/>
            </a:xfrm>
            <a:prstGeom prst="round2SameRect">
              <a:avLst>
                <a:gd name="adj1" fmla="val 26973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Round Same Side Corner Rectangle 99"/>
            <p:cNvSpPr/>
            <p:nvPr/>
          </p:nvSpPr>
          <p:spPr>
            <a:xfrm rot="10800000">
              <a:off x="5252040" y="4712919"/>
              <a:ext cx="180740" cy="145257"/>
            </a:xfrm>
            <a:prstGeom prst="round2SameRect">
              <a:avLst>
                <a:gd name="adj1" fmla="val 18885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Round Same Side Corner Rectangle 100"/>
            <p:cNvSpPr/>
            <p:nvPr/>
          </p:nvSpPr>
          <p:spPr>
            <a:xfrm rot="10800000">
              <a:off x="5525889" y="4712919"/>
              <a:ext cx="180740" cy="160717"/>
            </a:xfrm>
            <a:prstGeom prst="round2SameRect">
              <a:avLst>
                <a:gd name="adj1" fmla="val 17068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Round Same Side Corner Rectangle 101"/>
            <p:cNvSpPr/>
            <p:nvPr/>
          </p:nvSpPr>
          <p:spPr>
            <a:xfrm rot="10800000">
              <a:off x="5799737" y="4712919"/>
              <a:ext cx="180740" cy="120473"/>
            </a:xfrm>
            <a:prstGeom prst="round2SameRect">
              <a:avLst>
                <a:gd name="adj1" fmla="val 22770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Round Same Side Corner Rectangle 102"/>
            <p:cNvSpPr/>
            <p:nvPr/>
          </p:nvSpPr>
          <p:spPr>
            <a:xfrm rot="10800000">
              <a:off x="6073586" y="4712919"/>
              <a:ext cx="180740" cy="208753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Round Same Side Corner Rectangle 103"/>
            <p:cNvSpPr/>
            <p:nvPr/>
          </p:nvSpPr>
          <p:spPr>
            <a:xfrm rot="10800000">
              <a:off x="6347435" y="4712919"/>
              <a:ext cx="180740" cy="585927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Round Same Side Corner Rectangle 104"/>
            <p:cNvSpPr/>
            <p:nvPr/>
          </p:nvSpPr>
          <p:spPr>
            <a:xfrm rot="10800000">
              <a:off x="6621284" y="4712919"/>
              <a:ext cx="180740" cy="302349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Round Same Side Corner Rectangle 105"/>
            <p:cNvSpPr/>
            <p:nvPr/>
          </p:nvSpPr>
          <p:spPr>
            <a:xfrm rot="10800000">
              <a:off x="6895133" y="4712919"/>
              <a:ext cx="180740" cy="545770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Round Same Side Corner Rectangle 106"/>
            <p:cNvSpPr/>
            <p:nvPr/>
          </p:nvSpPr>
          <p:spPr>
            <a:xfrm rot="10800000">
              <a:off x="7168982" y="4712919"/>
              <a:ext cx="180740" cy="450779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8" name="Connector 107"/>
            <p:cNvCxnSpPr/>
            <p:nvPr/>
          </p:nvCxnSpPr>
          <p:spPr>
            <a:xfrm>
              <a:off x="4383938" y="4712919"/>
              <a:ext cx="3012339" cy="0"/>
            </a:xfrm>
            <a:prstGeom prst="line">
              <a:avLst/>
            </a:prstGeom>
            <a:ln w="9525" cap="flat">
              <a:solidFill>
                <a:srgbClr val="C3C2B7"/>
              </a:solidFill>
              <a:round/>
            </a:ln>
          </p:spPr>
        </p:cxnSp>
        <p:sp>
          <p:nvSpPr>
            <p:cNvPr id="109" name="TextBox 108"/>
            <p:cNvSpPr txBox="1"/>
            <p:nvPr/>
          </p:nvSpPr>
          <p:spPr>
            <a:xfrm>
              <a:off x="4383938" y="5353710"/>
              <a:ext cx="28651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50" b="0" i="0" lang="vi-VN">
                  <a:solidFill>
                    <a:srgbClr val="8A8F99"/>
                  </a:solidFill>
                  <a:latin typeface="IBM Plex Sans"/>
                </a:rPr>
                <a:t>2015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7109765" y="5353710"/>
              <a:ext cx="28651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850" b="0" i="0" lang="vi-VN">
                  <a:solidFill>
                    <a:srgbClr val="8A8F99"/>
                  </a:solidFill>
                  <a:latin typeface="IBM Plex Sans"/>
                </a:rPr>
                <a:t>2025</a:t>
              </a:r>
            </a:p>
          </p:txBody>
        </p:sp>
        <p:cxnSp>
          <p:nvCxnSpPr>
            <p:cNvPr id="111" name="Connector 110"/>
            <p:cNvCxnSpPr/>
            <p:nvPr/>
          </p:nvCxnSpPr>
          <p:spPr>
            <a:xfrm>
              <a:off x="8173517" y="3999687"/>
              <a:ext cx="3423818" cy="0"/>
            </a:xfrm>
            <a:prstGeom prst="line">
              <a:avLst/>
            </a:prstGeom>
            <a:ln w="15875" cap="flat">
              <a:solidFill>
                <a:srgbClr val="16181D"/>
              </a:solidFill>
              <a:round/>
            </a:ln>
          </p:spPr>
        </p:cxnSp>
        <p:sp>
          <p:nvSpPr>
            <p:cNvPr id="112" name="TextBox 111"/>
            <p:cNvSpPr txBox="1"/>
            <p:nvPr/>
          </p:nvSpPr>
          <p:spPr>
            <a:xfrm>
              <a:off x="8173517" y="4054551"/>
              <a:ext cx="909193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Thay đổi dự trữ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8173517" y="4290009"/>
              <a:ext cx="1120521" cy="2971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800" b="0" i="0" lang="vi-VN">
                  <a:solidFill>
                    <a:srgbClr val="16181D"/>
                  </a:solidFill>
                  <a:latin typeface="IBM Plex Sans SemiBold"/>
                </a:rPr>
                <a:t>3,9</a:t>
              </a:r>
              <a:r>
                <a:rPr sz="1000" b="0" i="0" lang="vi-VN">
                  <a:solidFill>
                    <a:srgbClr val="5B6170"/>
                  </a:solidFill>
                  <a:latin typeface="IBM Plex Sans"/>
                </a:rPr>
                <a:t> tỷ USD</a:t>
              </a:r>
              <a:r>
                <a:rPr sz="900" b="0" i="0" lang="vi-VN">
                  <a:solidFill>
                    <a:srgbClr val="8A8F99"/>
                  </a:solidFill>
                  <a:latin typeface="IBM Plex Sans"/>
                </a:rPr>
                <a:t>  2025</a:t>
              </a:r>
            </a:p>
          </p:txBody>
        </p:sp>
        <p:cxnSp>
          <p:nvCxnSpPr>
            <p:cNvPr id="114" name="Connector 113"/>
            <p:cNvCxnSpPr/>
            <p:nvPr/>
          </p:nvCxnSpPr>
          <p:spPr>
            <a:xfrm>
              <a:off x="8173517" y="4712919"/>
              <a:ext cx="3012338" cy="0"/>
            </a:xfrm>
            <a:prstGeom prst="line">
              <a:avLst/>
            </a:prstGeom>
            <a:ln w="6350" cap="flat">
              <a:solidFill>
                <a:srgbClr val="E1E0D9"/>
              </a:solidFill>
              <a:round/>
            </a:ln>
          </p:spPr>
        </p:cxnSp>
        <p:sp>
          <p:nvSpPr>
            <p:cNvPr id="115" name="TextBox 114"/>
            <p:cNvSpPr txBox="1"/>
            <p:nvPr/>
          </p:nvSpPr>
          <p:spPr>
            <a:xfrm>
              <a:off x="11222431" y="4646879"/>
              <a:ext cx="237947" cy="1320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00" b="0" i="0" lang="vi-VN">
                  <a:solidFill>
                    <a:srgbClr val="8A8F99"/>
                  </a:solidFill>
                  <a:latin typeface="IBM Plex Sans"/>
                </a:rPr>
                <a:t>23,3</a:t>
              </a:r>
            </a:p>
          </p:txBody>
        </p:sp>
        <p:cxnSp>
          <p:nvCxnSpPr>
            <p:cNvPr id="116" name="Connector 115"/>
            <p:cNvCxnSpPr/>
            <p:nvPr/>
          </p:nvCxnSpPr>
          <p:spPr>
            <a:xfrm>
              <a:off x="8173517" y="5298846"/>
              <a:ext cx="3012338" cy="0"/>
            </a:xfrm>
            <a:prstGeom prst="line">
              <a:avLst/>
            </a:prstGeom>
            <a:ln w="6350" cap="flat">
              <a:solidFill>
                <a:srgbClr val="E1E0D9"/>
              </a:solidFill>
              <a:round/>
            </a:ln>
          </p:spPr>
        </p:cxnSp>
        <p:sp>
          <p:nvSpPr>
            <p:cNvPr id="117" name="TextBox 116"/>
            <p:cNvSpPr txBox="1"/>
            <p:nvPr/>
          </p:nvSpPr>
          <p:spPr>
            <a:xfrm>
              <a:off x="11222431" y="5232806"/>
              <a:ext cx="298907" cy="1320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00" b="0" i="0" lang="vi-VN">
                  <a:solidFill>
                    <a:srgbClr val="8A8F99"/>
                  </a:solidFill>
                  <a:latin typeface="IBM Plex Sans"/>
                </a:rPr>
                <a:t>−22,7</a:t>
              </a:r>
            </a:p>
          </p:txBody>
        </p:sp>
        <p:sp>
          <p:nvSpPr>
            <p:cNvPr id="118" name="Round Same Side Corner Rectangle 117"/>
            <p:cNvSpPr/>
            <p:nvPr/>
          </p:nvSpPr>
          <p:spPr>
            <a:xfrm rot="10800000">
              <a:off x="8220071" y="5009125"/>
              <a:ext cx="180740" cy="76835"/>
            </a:xfrm>
            <a:prstGeom prst="round2SameRect">
              <a:avLst>
                <a:gd name="adj1" fmla="val 35702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Round Same Side Corner Rectangle 118"/>
            <p:cNvSpPr/>
            <p:nvPr/>
          </p:nvSpPr>
          <p:spPr>
            <a:xfrm>
              <a:off x="8493920" y="4902254"/>
              <a:ext cx="180740" cy="106870"/>
            </a:xfrm>
            <a:prstGeom prst="round2SameRect">
              <a:avLst>
                <a:gd name="adj1" fmla="val 25668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" name="Round Same Side Corner Rectangle 119"/>
            <p:cNvSpPr/>
            <p:nvPr/>
          </p:nvSpPr>
          <p:spPr>
            <a:xfrm>
              <a:off x="8767769" y="4849341"/>
              <a:ext cx="180740" cy="159783"/>
            </a:xfrm>
            <a:prstGeom prst="round2SameRect">
              <a:avLst>
                <a:gd name="adj1" fmla="val 17168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Round Same Side Corner Rectangle 120"/>
            <p:cNvSpPr/>
            <p:nvPr/>
          </p:nvSpPr>
          <p:spPr>
            <a:xfrm>
              <a:off x="9041618" y="4932303"/>
              <a:ext cx="180740" cy="76822"/>
            </a:xfrm>
            <a:prstGeom prst="round2SameRect">
              <a:avLst>
                <a:gd name="adj1" fmla="val 35708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Round Same Side Corner Rectangle 121"/>
            <p:cNvSpPr/>
            <p:nvPr/>
          </p:nvSpPr>
          <p:spPr>
            <a:xfrm>
              <a:off x="9315467" y="4712919"/>
              <a:ext cx="180740" cy="296205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Round Same Side Corner Rectangle 122"/>
            <p:cNvSpPr/>
            <p:nvPr/>
          </p:nvSpPr>
          <p:spPr>
            <a:xfrm>
              <a:off x="9589316" y="4797269"/>
              <a:ext cx="180740" cy="211856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Round Same Side Corner Rectangle 123"/>
            <p:cNvSpPr/>
            <p:nvPr/>
          </p:nvSpPr>
          <p:spPr>
            <a:xfrm>
              <a:off x="9863165" y="4827101"/>
              <a:ext cx="180740" cy="182024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" name="Round Same Side Corner Rectangle 124"/>
            <p:cNvSpPr/>
            <p:nvPr/>
          </p:nvSpPr>
          <p:spPr>
            <a:xfrm rot="10800000">
              <a:off x="10137014" y="5009125"/>
              <a:ext cx="180740" cy="289722"/>
            </a:xfrm>
            <a:prstGeom prst="round2SameRect">
              <a:avLst>
                <a:gd name="adj1" fmla="val 15177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6" name="Round Same Side Corner Rectangle 125"/>
            <p:cNvSpPr/>
            <p:nvPr/>
          </p:nvSpPr>
          <p:spPr>
            <a:xfrm>
              <a:off x="10410863" y="4937691"/>
              <a:ext cx="180740" cy="71434"/>
            </a:xfrm>
            <a:prstGeom prst="round2SameRect">
              <a:avLst>
                <a:gd name="adj1" fmla="val 38402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Round Same Side Corner Rectangle 126"/>
            <p:cNvSpPr/>
            <p:nvPr/>
          </p:nvSpPr>
          <p:spPr>
            <a:xfrm rot="10800000">
              <a:off x="10684712" y="5009125"/>
              <a:ext cx="180740" cy="116768"/>
            </a:xfrm>
            <a:prstGeom prst="round2SameRect">
              <a:avLst>
                <a:gd name="adj1" fmla="val 23492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Round Same Side Corner Rectangle 127"/>
            <p:cNvSpPr/>
            <p:nvPr/>
          </p:nvSpPr>
          <p:spPr>
            <a:xfrm>
              <a:off x="10958561" y="4959931"/>
              <a:ext cx="180740" cy="4919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29" name="Connector 128"/>
            <p:cNvCxnSpPr/>
            <p:nvPr/>
          </p:nvCxnSpPr>
          <p:spPr>
            <a:xfrm>
              <a:off x="8173517" y="5009125"/>
              <a:ext cx="3012338" cy="0"/>
            </a:xfrm>
            <a:prstGeom prst="line">
              <a:avLst/>
            </a:prstGeom>
            <a:ln w="9525" cap="flat">
              <a:solidFill>
                <a:srgbClr val="C3C2B7"/>
              </a:solidFill>
              <a:round/>
            </a:ln>
          </p:spPr>
        </p:cxnSp>
        <p:sp>
          <p:nvSpPr>
            <p:cNvPr id="130" name="TextBox 129"/>
            <p:cNvSpPr txBox="1"/>
            <p:nvPr/>
          </p:nvSpPr>
          <p:spPr>
            <a:xfrm>
              <a:off x="8173517" y="5353710"/>
              <a:ext cx="28651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50" b="0" i="0" lang="vi-VN">
                  <a:solidFill>
                    <a:srgbClr val="8A8F99"/>
                  </a:solidFill>
                  <a:latin typeface="IBM Plex Sans"/>
                </a:rPr>
                <a:t>2015</a:t>
              </a: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10899343" y="5353710"/>
              <a:ext cx="286512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850" b="0" i="0" lang="vi-VN">
                  <a:solidFill>
                    <a:srgbClr val="8A8F99"/>
                  </a:solidFill>
                  <a:latin typeface="IBM Plex Sans"/>
                </a:rPr>
                <a:t>2025</a:t>
              </a:r>
            </a:p>
          </p:txBody>
        </p:sp>
      </p:grpSp>
      <p:sp>
        <p:nvSpPr>
          <p:cNvPr id="132" name="TextBox 131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Lỗi và sai sót lớn nhất năm 2022 (−33,6 tỷ USD); dự trữ giảm 22,7 tỷ cùng năm.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Mỗi ô một thang đo riêng: so sánh hình dạng, không so độ cao giữa các ô.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34" name="TextBox 133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IMF Balance of Payments (BPM6) theo số NHNN, 2015–2025, tỷ USD.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56692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146304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sz="12000" b="1" i="0" lang="vi-VN">
                <a:solidFill>
                  <a:srgbClr val="C2362F"/>
                </a:solidFill>
                <a:latin typeface="Newsreader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154680"/>
            <a:ext cx="658368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800" b="1" i="0" lang="vi-VN">
                <a:solidFill>
                  <a:srgbClr val="16181D"/>
                </a:solidFill>
                <a:latin typeface="Newsreader"/>
              </a:rPr>
              <a:t>Vùng và dân số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709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 lang="vi-VN">
                <a:solidFill>
                  <a:srgbClr val="5B6170"/>
                </a:solidFill>
                <a:latin typeface="IBM Plex Sans"/>
              </a:rPr>
              <a:t>34 tỉnh, thành sau sắp xếp năm 2025: tăng trưởng, cơ cấu, thu nhập; tháp dân số hôm nay và năm 2050.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0" y="1600200"/>
            <a:ext cx="36420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lang="vi-VN" spc="120">
                <a:solidFill>
                  <a:srgbClr val="5B6170"/>
                </a:solidFill>
                <a:latin typeface="IBM Plex Sans SemiBold"/>
              </a:rPr>
              <a:t>TRONG CHƯƠNG NÀY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955280" y="196596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8" name="TextBox 7"/>
          <p:cNvSpPr txBox="1"/>
          <p:nvPr/>
        </p:nvSpPr>
        <p:spPr>
          <a:xfrm>
            <a:off x="7955280" y="205740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Bản đồ ô: tăng trưởng GRDP 2025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80" y="244983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0" name="TextBox 9"/>
          <p:cNvSpPr txBox="1"/>
          <p:nvPr/>
        </p:nvSpPr>
        <p:spPr>
          <a:xfrm>
            <a:off x="7955280" y="254127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Xếp hạng mười hai địa phương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55280" y="293370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2" name="TextBox 11"/>
          <p:cNvSpPr txBox="1"/>
          <p:nvPr/>
        </p:nvSpPr>
        <p:spPr>
          <a:xfrm>
            <a:off x="7955280" y="302514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Trước và sau: 2025 so với 9T/2026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955280" y="341757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4" name="TextBox 13"/>
          <p:cNvSpPr txBox="1"/>
          <p:nvPr/>
        </p:nvSpPr>
        <p:spPr>
          <a:xfrm>
            <a:off x="7955280" y="350901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Cơ cấu kinh tế tám địa phương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55280" y="390144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7955280" y="399288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Thu nhập và tăng trưởng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55280" y="438531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8" name="TextBox 17"/>
          <p:cNvSpPr txBox="1"/>
          <p:nvPr/>
        </p:nvSpPr>
        <p:spPr>
          <a:xfrm>
            <a:off x="7955280" y="447675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Tháp dân số 2025 và 2050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20" name="TextBox 19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4 · ĐỊA PHƯƠNG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499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19/34 tỉnh, thành tăng trưởng GRDP trên 8% năm 2025</a:t>
            </a:r>
          </a:p>
        </p:txBody>
      </p:sp>
      <p:grpSp>
        <p:nvGrpSpPr>
          <p:cNvPr id="5" name="Chart · tilemap"/>
          <p:cNvGrpSpPr/>
          <p:nvPr/>
        </p:nvGrpSpPr>
        <p:grpSpPr>
          <a:xfrm>
            <a:off x="594360" y="1482154"/>
            <a:ext cx="7372808" cy="4662614"/>
            <a:chOff x="594360" y="1482154"/>
            <a:chExt cx="7372808" cy="4662614"/>
          </a:xfrm>
        </p:grpSpPr>
        <p:sp>
          <p:nvSpPr>
            <p:cNvPr id="6" name="TextBox 5"/>
            <p:cNvSpPr txBox="1"/>
            <p:nvPr/>
          </p:nvSpPr>
          <p:spPr>
            <a:xfrm>
              <a:off x="594360" y="1482154"/>
              <a:ext cx="1596727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Tăng trưởng GRDP 2025 (%)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300815" y="1487424"/>
              <a:ext cx="237744" cy="146304"/>
            </a:xfrm>
            <a:prstGeom prst="roundRect">
              <a:avLst>
                <a:gd name="adj" fmla="val 18750"/>
              </a:avLst>
            </a:prstGeom>
            <a:solidFill>
              <a:srgbClr val="D6E3F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584279" y="1486281"/>
              <a:ext cx="465772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&lt; 7,00%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205499" y="1487424"/>
              <a:ext cx="237744" cy="146304"/>
            </a:xfrm>
            <a:prstGeom prst="roundRect">
              <a:avLst>
                <a:gd name="adj" fmla="val 18750"/>
              </a:avLst>
            </a:prstGeom>
            <a:solidFill>
              <a:srgbClr val="AFCBE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88963" y="1486281"/>
              <a:ext cx="67425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7,00–8,00%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318667" y="1487424"/>
              <a:ext cx="237744" cy="146304"/>
            </a:xfrm>
            <a:prstGeom prst="roundRect">
              <a:avLst>
                <a:gd name="adj" fmla="val 18750"/>
              </a:avLst>
            </a:prstGeom>
            <a:solidFill>
              <a:srgbClr val="82AFE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602131" y="1486281"/>
              <a:ext cx="67425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8,00–9,00%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431834" y="1487424"/>
              <a:ext cx="237744" cy="146304"/>
            </a:xfrm>
            <a:prstGeom prst="roundRect">
              <a:avLst>
                <a:gd name="adj" fmla="val 18750"/>
              </a:avLst>
            </a:prstGeom>
            <a:solidFill>
              <a:srgbClr val="5593D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715298" y="1486281"/>
              <a:ext cx="74283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9,00–10,00%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613582" y="1487424"/>
              <a:ext cx="237744" cy="146304"/>
            </a:xfrm>
            <a:prstGeom prst="roundRect">
              <a:avLst>
                <a:gd name="adj" fmla="val 1875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897046" y="1486281"/>
              <a:ext cx="534352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>
                  <a:solidFill>
                    <a:srgbClr val="5B6170"/>
                  </a:solidFill>
                  <a:latin typeface="IBM Plex Sans"/>
                </a:rPr>
                <a:t>≥ 10,00%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94360" y="1898904"/>
              <a:ext cx="694436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 spc="60">
                  <a:solidFill>
                    <a:srgbClr val="5B6170"/>
                  </a:solidFill>
                  <a:latin typeface="IBM Plex Sans SemiBold"/>
                </a:rPr>
                <a:t>MIỀN BẮC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315182" y="2154936"/>
              <a:ext cx="665958" cy="634492"/>
            </a:xfrm>
            <a:prstGeom prst="roundRect">
              <a:avLst>
                <a:gd name="adj" fmla="val 7205"/>
              </a:avLst>
            </a:prstGeom>
            <a:solidFill>
              <a:srgbClr val="AFCBE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360902" y="2228088"/>
              <a:ext cx="399478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Lai Châu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60902" y="2577719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7,52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2017715" y="2154936"/>
              <a:ext cx="665958" cy="634492"/>
            </a:xfrm>
            <a:prstGeom prst="roundRect">
              <a:avLst>
                <a:gd name="adj" fmla="val 7205"/>
              </a:avLst>
            </a:prstGeom>
            <a:solidFill>
              <a:srgbClr val="82AFE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063435" y="2228088"/>
              <a:ext cx="342519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Lào Cai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063435" y="2577719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8,14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2720249" y="2154936"/>
              <a:ext cx="665958" cy="634492"/>
            </a:xfrm>
            <a:prstGeom prst="roundRect">
              <a:avLst>
                <a:gd name="adj" fmla="val 7205"/>
              </a:avLst>
            </a:prstGeom>
            <a:solidFill>
              <a:srgbClr val="D6E3F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765969" y="2228088"/>
              <a:ext cx="598932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Tuyên Quang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765969" y="2577719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6,40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3422782" y="2154936"/>
              <a:ext cx="665958" cy="634492"/>
            </a:xfrm>
            <a:prstGeom prst="roundRect">
              <a:avLst>
                <a:gd name="adj" fmla="val 7205"/>
              </a:avLst>
            </a:prstGeom>
            <a:solidFill>
              <a:srgbClr val="AFCBE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68502" y="2228088"/>
              <a:ext cx="437674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Cao Bằng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468502" y="2577719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7,22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612648" y="2826004"/>
              <a:ext cx="665958" cy="634492"/>
            </a:xfrm>
            <a:prstGeom prst="roundRect">
              <a:avLst>
                <a:gd name="adj" fmla="val 7205"/>
              </a:avLst>
            </a:prstGeom>
            <a:solidFill>
              <a:srgbClr val="AFCBE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58368" y="2899156"/>
              <a:ext cx="444722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Điện Biên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58368" y="3248787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7,34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1315182" y="2826004"/>
              <a:ext cx="665958" cy="634492"/>
            </a:xfrm>
            <a:prstGeom prst="roundRect">
              <a:avLst>
                <a:gd name="adj" fmla="val 7205"/>
              </a:avLst>
            </a:prstGeom>
            <a:solidFill>
              <a:srgbClr val="82AFE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360902" y="2899156"/>
              <a:ext cx="316897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Sơn La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360902" y="3248787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8,03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2017715" y="2826004"/>
              <a:ext cx="665958" cy="634492"/>
            </a:xfrm>
            <a:prstGeom prst="roundRect">
              <a:avLst>
                <a:gd name="adj" fmla="val 7205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2063435" y="2899156"/>
              <a:ext cx="383858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FFFFFF"/>
                  </a:solidFill>
                  <a:latin typeface="IBM Plex Sans Medium"/>
                </a:rPr>
                <a:t>Phú Thọ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063435" y="3248787"/>
              <a:ext cx="35306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10,52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2720249" y="2826004"/>
              <a:ext cx="665958" cy="634492"/>
            </a:xfrm>
            <a:prstGeom prst="roundRect">
              <a:avLst>
                <a:gd name="adj" fmla="val 7205"/>
              </a:avLst>
            </a:prstGeom>
            <a:solidFill>
              <a:srgbClr val="D6E3F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2765969" y="2899156"/>
              <a:ext cx="569214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Thái Nguyên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2765969" y="3248787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6,33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3422782" y="2826004"/>
              <a:ext cx="665958" cy="634492"/>
            </a:xfrm>
            <a:prstGeom prst="roundRect">
              <a:avLst>
                <a:gd name="adj" fmla="val 7205"/>
              </a:avLst>
            </a:prstGeom>
            <a:solidFill>
              <a:srgbClr val="82AFE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3468502" y="2899156"/>
              <a:ext cx="423386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Lạng Sơn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3468502" y="3248787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8,06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2017715" y="3497072"/>
              <a:ext cx="665958" cy="634492"/>
            </a:xfrm>
            <a:prstGeom prst="roundRect">
              <a:avLst>
                <a:gd name="adj" fmla="val 7205"/>
              </a:avLst>
            </a:prstGeom>
            <a:solidFill>
              <a:srgbClr val="82AFE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2063435" y="3570224"/>
              <a:ext cx="316992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Hà Nội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2063435" y="3919855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8,16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2720249" y="3497072"/>
              <a:ext cx="665958" cy="634492"/>
            </a:xfrm>
            <a:prstGeom prst="roundRect">
              <a:avLst>
                <a:gd name="adj" fmla="val 7205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2765969" y="3570224"/>
              <a:ext cx="417195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FFFFFF"/>
                  </a:solidFill>
                  <a:latin typeface="IBM Plex Sans Medium"/>
                </a:rPr>
                <a:t>Bắc Ninh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2765969" y="3919855"/>
              <a:ext cx="35306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10,27</a:t>
              </a:r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3422782" y="3497072"/>
              <a:ext cx="665958" cy="634492"/>
            </a:xfrm>
            <a:prstGeom prst="roundRect">
              <a:avLst>
                <a:gd name="adj" fmla="val 7205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3468502" y="3570224"/>
              <a:ext cx="535400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FFFFFF"/>
                  </a:solidFill>
                  <a:latin typeface="IBM Plex Sans Medium"/>
                </a:rPr>
                <a:t>Quảng Ninh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468502" y="3919855"/>
              <a:ext cx="35306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11,89</a:t>
              </a:r>
            </a:p>
          </p:txBody>
        </p:sp>
        <p:sp>
          <p:nvSpPr>
            <p:cNvPr id="54" name="Rounded Rectangle 53"/>
            <p:cNvSpPr/>
            <p:nvPr/>
          </p:nvSpPr>
          <p:spPr>
            <a:xfrm>
              <a:off x="2017715" y="4168140"/>
              <a:ext cx="665958" cy="634492"/>
            </a:xfrm>
            <a:prstGeom prst="roundRect">
              <a:avLst>
                <a:gd name="adj" fmla="val 7205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2063435" y="4241292"/>
              <a:ext cx="452152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FFFFFF"/>
                  </a:solidFill>
                  <a:latin typeface="IBM Plex Sans Medium"/>
                </a:rPr>
                <a:t>Ninh Bình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2063435" y="4590923"/>
              <a:ext cx="35306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10,65</a:t>
              </a:r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2720249" y="4168140"/>
              <a:ext cx="665958" cy="634492"/>
            </a:xfrm>
            <a:prstGeom prst="roundRect">
              <a:avLst>
                <a:gd name="adj" fmla="val 7205"/>
              </a:avLst>
            </a:prstGeom>
            <a:solidFill>
              <a:srgbClr val="82AFE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2765969" y="4241292"/>
              <a:ext cx="446532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Hưng Yên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2765969" y="4590923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8,78</a:t>
              </a: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3422782" y="4168140"/>
              <a:ext cx="665958" cy="634492"/>
            </a:xfrm>
            <a:prstGeom prst="roundRect">
              <a:avLst>
                <a:gd name="adj" fmla="val 7205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3468502" y="4241292"/>
              <a:ext cx="470440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FFFFFF"/>
                  </a:solidFill>
                  <a:latin typeface="IBM Plex Sans Medium"/>
                </a:rPr>
                <a:t>Hải Phòng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3468502" y="4590923"/>
              <a:ext cx="35306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11,81</a:t>
              </a:r>
            </a:p>
          </p:txBody>
        </p:sp>
        <p:sp>
          <p:nvSpPr>
            <p:cNvPr id="63" name="Rounded Rectangle 62"/>
            <p:cNvSpPr/>
            <p:nvPr/>
          </p:nvSpPr>
          <p:spPr>
            <a:xfrm>
              <a:off x="2017715" y="4839208"/>
              <a:ext cx="665958" cy="634492"/>
            </a:xfrm>
            <a:prstGeom prst="roundRect">
              <a:avLst>
                <a:gd name="adj" fmla="val 7205"/>
              </a:avLst>
            </a:prstGeom>
            <a:solidFill>
              <a:srgbClr val="82AFE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063435" y="4912360"/>
              <a:ext cx="496729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Thanh Hóa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063435" y="5261991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8,27</a:t>
              </a:r>
            </a:p>
          </p:txBody>
        </p:sp>
        <p:sp>
          <p:nvSpPr>
            <p:cNvPr id="66" name="Rounded Rectangle 65"/>
            <p:cNvSpPr/>
            <p:nvPr/>
          </p:nvSpPr>
          <p:spPr>
            <a:xfrm>
              <a:off x="2017715" y="5510276"/>
              <a:ext cx="665958" cy="634492"/>
            </a:xfrm>
            <a:prstGeom prst="roundRect">
              <a:avLst>
                <a:gd name="adj" fmla="val 7205"/>
              </a:avLst>
            </a:prstGeom>
            <a:solidFill>
              <a:srgbClr val="82AFE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2063435" y="5583428"/>
              <a:ext cx="395383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Nghệ An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2063435" y="5933059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8,44</a:t>
              </a:r>
            </a:p>
          </p:txBody>
        </p:sp>
        <p:sp>
          <p:nvSpPr>
            <p:cNvPr id="69" name="Rounded Rectangle 68"/>
            <p:cNvSpPr/>
            <p:nvPr/>
          </p:nvSpPr>
          <p:spPr>
            <a:xfrm>
              <a:off x="2720249" y="5510276"/>
              <a:ext cx="665958" cy="634492"/>
            </a:xfrm>
            <a:prstGeom prst="roundRect">
              <a:avLst>
                <a:gd name="adj" fmla="val 7205"/>
              </a:avLst>
            </a:prstGeom>
            <a:solidFill>
              <a:srgbClr val="82AFE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2765969" y="5583428"/>
              <a:ext cx="360902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Hà Tĩnh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2765969" y="5933059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8,78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4472788" y="1898904"/>
              <a:ext cx="1838960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 spc="60">
                  <a:solidFill>
                    <a:srgbClr val="5B6170"/>
                  </a:solidFill>
                  <a:latin typeface="IBM Plex Sans SemiBold"/>
                </a:rPr>
                <a:t>MIỀN TRUNG VÀ MIỀN NAM</a:t>
              </a:r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5896143" y="2154936"/>
              <a:ext cx="665958" cy="466725"/>
            </a:xfrm>
            <a:prstGeom prst="roundRect">
              <a:avLst>
                <a:gd name="adj" fmla="val 9795"/>
              </a:avLst>
            </a:prstGeom>
            <a:solidFill>
              <a:srgbClr val="82AFE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5941863" y="2228088"/>
              <a:ext cx="448342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Quảng Trị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5941863" y="2409952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8,00</a:t>
              </a:r>
            </a:p>
          </p:txBody>
        </p:sp>
        <p:sp>
          <p:nvSpPr>
            <p:cNvPr id="76" name="Rounded Rectangle 75"/>
            <p:cNvSpPr/>
            <p:nvPr/>
          </p:nvSpPr>
          <p:spPr>
            <a:xfrm>
              <a:off x="6598676" y="2658237"/>
              <a:ext cx="665958" cy="466725"/>
            </a:xfrm>
            <a:prstGeom prst="roundRect">
              <a:avLst>
                <a:gd name="adj" fmla="val 9795"/>
              </a:avLst>
            </a:prstGeom>
            <a:solidFill>
              <a:srgbClr val="82AFE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6644396" y="2731389"/>
              <a:ext cx="203549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Huế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6644396" y="2913253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8,50</a:t>
              </a:r>
            </a:p>
          </p:txBody>
        </p:sp>
        <p:sp>
          <p:nvSpPr>
            <p:cNvPr id="79" name="Rounded Rectangle 78"/>
            <p:cNvSpPr/>
            <p:nvPr/>
          </p:nvSpPr>
          <p:spPr>
            <a:xfrm>
              <a:off x="7301210" y="2658237"/>
              <a:ext cx="665958" cy="466725"/>
            </a:xfrm>
            <a:prstGeom prst="roundRect">
              <a:avLst>
                <a:gd name="adj" fmla="val 9795"/>
              </a:avLst>
            </a:prstGeom>
            <a:solidFill>
              <a:srgbClr val="5593D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7346930" y="2731389"/>
              <a:ext cx="394335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FFFFFF"/>
                  </a:solidFill>
                  <a:latin typeface="IBM Plex Sans Medium"/>
                </a:rPr>
                <a:t>Đà Nẵng</a:t>
              </a:r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7346930" y="2913253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9,18</a:t>
              </a:r>
            </a:p>
          </p:txBody>
        </p:sp>
        <p:sp>
          <p:nvSpPr>
            <p:cNvPr id="82" name="Rounded Rectangle 81"/>
            <p:cNvSpPr/>
            <p:nvPr/>
          </p:nvSpPr>
          <p:spPr>
            <a:xfrm>
              <a:off x="6598676" y="3161538"/>
              <a:ext cx="665958" cy="466725"/>
            </a:xfrm>
            <a:prstGeom prst="roundRect">
              <a:avLst>
                <a:gd name="adj" fmla="val 9795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6644396" y="3234690"/>
              <a:ext cx="528447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FFFFFF"/>
                  </a:solidFill>
                  <a:latin typeface="IBM Plex Sans Medium"/>
                </a:rPr>
                <a:t>Quảng Ngãi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6644396" y="3416554"/>
              <a:ext cx="35306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10,02</a:t>
              </a:r>
            </a:p>
          </p:txBody>
        </p:sp>
        <p:sp>
          <p:nvSpPr>
            <p:cNvPr id="85" name="Rounded Rectangle 84"/>
            <p:cNvSpPr/>
            <p:nvPr/>
          </p:nvSpPr>
          <p:spPr>
            <a:xfrm>
              <a:off x="7301210" y="3161538"/>
              <a:ext cx="665958" cy="466725"/>
            </a:xfrm>
            <a:prstGeom prst="roundRect">
              <a:avLst>
                <a:gd name="adj" fmla="val 9795"/>
              </a:avLst>
            </a:prstGeom>
            <a:solidFill>
              <a:srgbClr val="AFCBE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7346930" y="3234690"/>
              <a:ext cx="320992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Gia Lai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7346930" y="3416554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7,20</a:t>
              </a:r>
            </a:p>
          </p:txBody>
        </p:sp>
        <p:sp>
          <p:nvSpPr>
            <p:cNvPr id="88" name="Rounded Rectangle 87"/>
            <p:cNvSpPr/>
            <p:nvPr/>
          </p:nvSpPr>
          <p:spPr>
            <a:xfrm>
              <a:off x="6598676" y="3664839"/>
              <a:ext cx="665958" cy="466725"/>
            </a:xfrm>
            <a:prstGeom prst="roundRect">
              <a:avLst>
                <a:gd name="adj" fmla="val 9795"/>
              </a:avLst>
            </a:prstGeom>
            <a:solidFill>
              <a:srgbClr val="D6E3F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6644396" y="3737991"/>
              <a:ext cx="373094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Đắk Lắk</a:t>
              </a: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6644396" y="3919855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6,68</a:t>
              </a:r>
            </a:p>
          </p:txBody>
        </p:sp>
        <p:sp>
          <p:nvSpPr>
            <p:cNvPr id="91" name="Rounded Rectangle 90"/>
            <p:cNvSpPr/>
            <p:nvPr/>
          </p:nvSpPr>
          <p:spPr>
            <a:xfrm>
              <a:off x="7301210" y="3664839"/>
              <a:ext cx="665958" cy="466725"/>
            </a:xfrm>
            <a:prstGeom prst="roundRect">
              <a:avLst>
                <a:gd name="adj" fmla="val 9795"/>
              </a:avLst>
            </a:prstGeom>
            <a:solidFill>
              <a:srgbClr val="AFCBE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7346930" y="3737991"/>
              <a:ext cx="504634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Khánh Hòa</a:t>
              </a:r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7346930" y="3919855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7,11</a:t>
              </a:r>
            </a:p>
          </p:txBody>
        </p:sp>
        <p:sp>
          <p:nvSpPr>
            <p:cNvPr id="94" name="Rounded Rectangle 93"/>
            <p:cNvSpPr/>
            <p:nvPr/>
          </p:nvSpPr>
          <p:spPr>
            <a:xfrm>
              <a:off x="6598676" y="4168140"/>
              <a:ext cx="665958" cy="466725"/>
            </a:xfrm>
            <a:prstGeom prst="roundRect">
              <a:avLst>
                <a:gd name="adj" fmla="val 9795"/>
              </a:avLst>
            </a:prstGeom>
            <a:solidFill>
              <a:srgbClr val="D6E3F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6644396" y="4241292"/>
              <a:ext cx="460438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Lâm Đồng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6644396" y="4423156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6,42</a:t>
              </a:r>
            </a:p>
          </p:txBody>
        </p:sp>
        <p:sp>
          <p:nvSpPr>
            <p:cNvPr id="97" name="Rounded Rectangle 96"/>
            <p:cNvSpPr/>
            <p:nvPr/>
          </p:nvSpPr>
          <p:spPr>
            <a:xfrm>
              <a:off x="5193609" y="4168140"/>
              <a:ext cx="665958" cy="466725"/>
            </a:xfrm>
            <a:prstGeom prst="roundRect">
              <a:avLst>
                <a:gd name="adj" fmla="val 9795"/>
              </a:avLst>
            </a:prstGeom>
            <a:solidFill>
              <a:srgbClr val="5593D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5239329" y="4241292"/>
              <a:ext cx="409861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FFFFFF"/>
                  </a:solidFill>
                  <a:latin typeface="IBM Plex Sans Medium"/>
                </a:rPr>
                <a:t>Tây Ninh</a:t>
              </a:r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5239329" y="4423156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9,52</a:t>
              </a:r>
            </a:p>
          </p:txBody>
        </p:sp>
        <p:sp>
          <p:nvSpPr>
            <p:cNvPr id="100" name="Rounded Rectangle 99"/>
            <p:cNvSpPr/>
            <p:nvPr/>
          </p:nvSpPr>
          <p:spPr>
            <a:xfrm>
              <a:off x="5896143" y="4168140"/>
              <a:ext cx="665958" cy="466725"/>
            </a:xfrm>
            <a:prstGeom prst="roundRect">
              <a:avLst>
                <a:gd name="adj" fmla="val 9795"/>
              </a:avLst>
            </a:prstGeom>
            <a:solidFill>
              <a:srgbClr val="5593D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5941863" y="4241292"/>
              <a:ext cx="420814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FFFFFF"/>
                  </a:solidFill>
                  <a:latin typeface="IBM Plex Sans Medium"/>
                </a:rPr>
                <a:t>Đồng Nai</a:t>
              </a:r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5941863" y="4423156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9,63</a:t>
              </a:r>
            </a:p>
          </p:txBody>
        </p:sp>
        <p:sp>
          <p:nvSpPr>
            <p:cNvPr id="103" name="Rounded Rectangle 102"/>
            <p:cNvSpPr/>
            <p:nvPr/>
          </p:nvSpPr>
          <p:spPr>
            <a:xfrm>
              <a:off x="5896143" y="4671441"/>
              <a:ext cx="665958" cy="466725"/>
            </a:xfrm>
            <a:prstGeom prst="roundRect">
              <a:avLst>
                <a:gd name="adj" fmla="val 9795"/>
              </a:avLst>
            </a:prstGeom>
            <a:solidFill>
              <a:srgbClr val="AFCBE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5941863" y="4744593"/>
              <a:ext cx="375571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TP.HCM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941863" y="4926457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7,53</a:t>
              </a:r>
            </a:p>
          </p:txBody>
        </p:sp>
        <p:sp>
          <p:nvSpPr>
            <p:cNvPr id="106" name="Rounded Rectangle 105"/>
            <p:cNvSpPr/>
            <p:nvPr/>
          </p:nvSpPr>
          <p:spPr>
            <a:xfrm>
              <a:off x="5193609" y="4671441"/>
              <a:ext cx="665958" cy="466725"/>
            </a:xfrm>
            <a:prstGeom prst="roundRect">
              <a:avLst>
                <a:gd name="adj" fmla="val 9795"/>
              </a:avLst>
            </a:prstGeom>
            <a:solidFill>
              <a:srgbClr val="AFCBE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5239329" y="4744593"/>
              <a:ext cx="494157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Đồng Tháp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5239329" y="4926457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7,38</a:t>
              </a:r>
            </a:p>
          </p:txBody>
        </p:sp>
        <p:sp>
          <p:nvSpPr>
            <p:cNvPr id="109" name="Rounded Rectangle 108"/>
            <p:cNvSpPr/>
            <p:nvPr/>
          </p:nvSpPr>
          <p:spPr>
            <a:xfrm>
              <a:off x="4491076" y="4671441"/>
              <a:ext cx="665958" cy="466725"/>
            </a:xfrm>
            <a:prstGeom prst="roundRect">
              <a:avLst>
                <a:gd name="adj" fmla="val 9795"/>
              </a:avLst>
            </a:prstGeom>
            <a:solidFill>
              <a:srgbClr val="82AFE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4536796" y="4744593"/>
              <a:ext cx="419195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An Giang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4536796" y="4926457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8,39</a:t>
              </a:r>
            </a:p>
          </p:txBody>
        </p:sp>
        <p:sp>
          <p:nvSpPr>
            <p:cNvPr id="112" name="Rounded Rectangle 111"/>
            <p:cNvSpPr/>
            <p:nvPr/>
          </p:nvSpPr>
          <p:spPr>
            <a:xfrm>
              <a:off x="5193609" y="5174742"/>
              <a:ext cx="665958" cy="466725"/>
            </a:xfrm>
            <a:prstGeom prst="roundRect">
              <a:avLst>
                <a:gd name="adj" fmla="val 9795"/>
              </a:avLst>
            </a:prstGeom>
            <a:solidFill>
              <a:srgbClr val="D6E3F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5239329" y="5247894"/>
              <a:ext cx="454247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Vĩnh Long</a:t>
              </a: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5239329" y="5429758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5,84</a:t>
              </a:r>
            </a:p>
          </p:txBody>
        </p:sp>
        <p:sp>
          <p:nvSpPr>
            <p:cNvPr id="115" name="Rounded Rectangle 114"/>
            <p:cNvSpPr/>
            <p:nvPr/>
          </p:nvSpPr>
          <p:spPr>
            <a:xfrm>
              <a:off x="4491076" y="5174742"/>
              <a:ext cx="665958" cy="466725"/>
            </a:xfrm>
            <a:prstGeom prst="roundRect">
              <a:avLst>
                <a:gd name="adj" fmla="val 9795"/>
              </a:avLst>
            </a:prstGeom>
            <a:solidFill>
              <a:srgbClr val="AFCBE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536796" y="5247894"/>
              <a:ext cx="381571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Cần Thơ</a:t>
              </a: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4536796" y="5429758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7,23</a:t>
              </a:r>
            </a:p>
          </p:txBody>
        </p:sp>
        <p:sp>
          <p:nvSpPr>
            <p:cNvPr id="118" name="Rounded Rectangle 117"/>
            <p:cNvSpPr/>
            <p:nvPr/>
          </p:nvSpPr>
          <p:spPr>
            <a:xfrm>
              <a:off x="4491076" y="5678043"/>
              <a:ext cx="665958" cy="466725"/>
            </a:xfrm>
            <a:prstGeom prst="roundRect">
              <a:avLst>
                <a:gd name="adj" fmla="val 9795"/>
              </a:avLst>
            </a:prstGeom>
            <a:solidFill>
              <a:srgbClr val="AFCBE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4536796" y="5751195"/>
              <a:ext cx="347758" cy="12382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750" b="0" i="0" lang="vi-VN">
                  <a:solidFill>
                    <a:srgbClr val="16181D"/>
                  </a:solidFill>
                  <a:latin typeface="IBM Plex Sans Medium"/>
                </a:rPr>
                <a:t>Cà Mau</a:t>
              </a:r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4536796" y="5933059"/>
              <a:ext cx="2806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7,23</a:t>
              </a:r>
            </a:p>
          </p:txBody>
        </p:sp>
      </p:grpSp>
      <p:sp>
        <p:nvSpPr>
          <p:cNvPr id="121" name="Rectangle 120"/>
          <p:cNvSpPr/>
          <p:nvPr/>
        </p:nvSpPr>
        <p:spPr>
          <a:xfrm>
            <a:off x="8351215" y="1450848"/>
            <a:ext cx="3246120" cy="4712208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607247" y="1725168"/>
            <a:ext cx="2734056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 lang="vi-VN" spc="80">
                <a:solidFill>
                  <a:srgbClr val="5B6170"/>
                </a:solidFill>
                <a:latin typeface="IBM Plex Sans SemiBold"/>
              </a:rPr>
              <a:t>NHANH NHẤT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607247" y="2017776"/>
            <a:ext cx="2734056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sz="4000" b="1" i="0" lang="vi-VN">
                <a:solidFill>
                  <a:srgbClr val="16181D"/>
                </a:solidFill>
                <a:latin typeface="IBM Plex Sans"/>
              </a:rPr>
              <a:t>11,89</a:t>
            </a:r>
            <a:r>
              <a:rPr sz="1400" b="0" i="0" lang="vi-VN">
                <a:solidFill>
                  <a:srgbClr val="5B6170"/>
                </a:solidFill>
                <a:latin typeface="IBM Plex Sans SemiBold"/>
              </a:rPr>
              <a:t> %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607247" y="2668016"/>
            <a:ext cx="273405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 lang="vi-VN">
                <a:solidFill>
                  <a:srgbClr val="8A8F99"/>
                </a:solidFill>
                <a:latin typeface="IBM Plex Sans"/>
              </a:rPr>
              <a:t>Quảng Ninh; chậm nhất Vĩnh Long (5,84%).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8607247" y="3018536"/>
            <a:ext cx="2734056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26" name="TextBox 125"/>
          <p:cNvSpPr txBox="1"/>
          <p:nvPr/>
        </p:nvSpPr>
        <p:spPr>
          <a:xfrm>
            <a:off x="8607247" y="3155696"/>
            <a:ext cx="2734056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Tăng trưởng GRDP 2025 dao động từ 5,84% đến 11,89%.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07247" y="3703574"/>
            <a:ext cx="2734056" cy="6046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50" b="0" i="0" lang="vi-VN">
                <a:solidFill>
                  <a:srgbClr val="5B6170"/>
                </a:solidFill>
                <a:latin typeface="IBM Plex Sans"/>
              </a:rPr>
              <a:t>Ô sắp xếp theo vị trí địa lý gần đúng, không theo diện tích; hai khối Bắc và Trung–Nam đặt cạnh nhau.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29" name="TextBox 128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NSO và cục thống kê địa phương — GRDP 2025 (ước tính), 34 đơn vị sau sắp xếp hành chính.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4 · XẾP HẠNG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Quảng Ninh tăng 11,89% năm 2025, nhanh nhất cả nước; 6 địa phương đạt từ 10%</a:t>
            </a:r>
          </a:p>
        </p:txBody>
      </p:sp>
      <p:grpSp>
        <p:nvGrpSpPr>
          <p:cNvPr id="5" name="Chart · barh"/>
          <p:cNvGrpSpPr/>
          <p:nvPr/>
        </p:nvGrpSpPr>
        <p:grpSpPr>
          <a:xfrm>
            <a:off x="603504" y="-2662007"/>
            <a:ext cx="10978718" cy="11451708"/>
            <a:chOff x="603504" y="-2662007"/>
            <a:chExt cx="10978718" cy="11451708"/>
          </a:xfrm>
        </p:grpSpPr>
        <p:sp>
          <p:nvSpPr>
            <p:cNvPr id="6" name="TextBox 5"/>
            <p:cNvSpPr txBox="1"/>
            <p:nvPr/>
          </p:nvSpPr>
          <p:spPr>
            <a:xfrm>
              <a:off x="603504" y="1983799"/>
              <a:ext cx="772452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Quảng Ninh</a:t>
              </a:r>
            </a:p>
          </p:txBody>
        </p:sp>
        <p:sp>
          <p:nvSpPr>
            <p:cNvPr id="7" name="Round Same Side Corner Rectangle 6"/>
            <p:cNvSpPr/>
            <p:nvPr/>
          </p:nvSpPr>
          <p:spPr>
            <a:xfrm rot="5400000">
              <a:off x="6192487" y="-2662007"/>
              <a:ext cx="187632" cy="9473222"/>
            </a:xfrm>
            <a:prstGeom prst="round2SameRect">
              <a:avLst>
                <a:gd name="adj1" fmla="val 26803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1086922" y="1992054"/>
              <a:ext cx="495300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1" i="0" lang="vi-VN">
                  <a:solidFill>
                    <a:srgbClr val="16181D"/>
                  </a:solidFill>
                  <a:latin typeface="IBM Plex Sans"/>
                </a:rPr>
                <a:t>11,89%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98779" y="2286432"/>
              <a:ext cx="677177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Hải Phòng</a:t>
              </a:r>
            </a:p>
          </p:txBody>
        </p:sp>
        <p:sp>
          <p:nvSpPr>
            <p:cNvPr id="10" name="Round Same Side Corner Rectangle 9"/>
            <p:cNvSpPr/>
            <p:nvPr/>
          </p:nvSpPr>
          <p:spPr>
            <a:xfrm rot="5400000">
              <a:off x="6160618" y="-2327505"/>
              <a:ext cx="187632" cy="9409483"/>
            </a:xfrm>
            <a:prstGeom prst="round2SameRect">
              <a:avLst>
                <a:gd name="adj1" fmla="val 26803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023183" y="2294687"/>
              <a:ext cx="495300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1" i="0" lang="vi-VN">
                  <a:solidFill>
                    <a:srgbClr val="16181D"/>
                  </a:solidFill>
                  <a:latin typeface="IBM Plex Sans"/>
                </a:rPr>
                <a:t>11,81%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25602" y="2589064"/>
              <a:ext cx="650354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Ninh Bình</a:t>
              </a:r>
            </a:p>
          </p:txBody>
        </p:sp>
        <p:sp>
          <p:nvSpPr>
            <p:cNvPr id="13" name="Round Same Side Corner Rectangle 12"/>
            <p:cNvSpPr/>
            <p:nvPr/>
          </p:nvSpPr>
          <p:spPr>
            <a:xfrm rot="5400000">
              <a:off x="5698509" y="-1562764"/>
              <a:ext cx="187632" cy="8485266"/>
            </a:xfrm>
            <a:prstGeom prst="round2SameRect">
              <a:avLst>
                <a:gd name="adj1" fmla="val 26803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0098966" y="2597319"/>
              <a:ext cx="495300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1" i="0" lang="vi-VN">
                  <a:solidFill>
                    <a:srgbClr val="16181D"/>
                  </a:solidFill>
                  <a:latin typeface="IBM Plex Sans"/>
                </a:rPr>
                <a:t>10,65%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25767" y="2891697"/>
              <a:ext cx="550189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Phú Thọ</a:t>
              </a:r>
            </a:p>
          </p:txBody>
        </p:sp>
        <p:sp>
          <p:nvSpPr>
            <p:cNvPr id="16" name="Round Same Side Corner Rectangle 15"/>
            <p:cNvSpPr/>
            <p:nvPr/>
          </p:nvSpPr>
          <p:spPr>
            <a:xfrm rot="5400000">
              <a:off x="5646721" y="-1208343"/>
              <a:ext cx="187632" cy="8381690"/>
            </a:xfrm>
            <a:prstGeom prst="round2SameRect">
              <a:avLst>
                <a:gd name="adj1" fmla="val 26803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995390" y="2899952"/>
              <a:ext cx="495300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1" i="0" lang="vi-VN">
                  <a:solidFill>
                    <a:srgbClr val="16181D"/>
                  </a:solidFill>
                  <a:latin typeface="IBM Plex Sans"/>
                </a:rPr>
                <a:t>10,52%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76872" y="3194329"/>
              <a:ext cx="599084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Bắc Ninh</a:t>
              </a:r>
            </a:p>
          </p:txBody>
        </p:sp>
        <p:sp>
          <p:nvSpPr>
            <p:cNvPr id="19" name="Round Same Side Corner Rectangle 18"/>
            <p:cNvSpPr/>
            <p:nvPr/>
          </p:nvSpPr>
          <p:spPr>
            <a:xfrm rot="5400000">
              <a:off x="5547129" y="-806118"/>
              <a:ext cx="187632" cy="8182506"/>
            </a:xfrm>
            <a:prstGeom prst="round2SameRect">
              <a:avLst>
                <a:gd name="adj1" fmla="val 26803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796206" y="3202584"/>
              <a:ext cx="495300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1" i="0" lang="vi-VN">
                  <a:solidFill>
                    <a:srgbClr val="16181D"/>
                  </a:solidFill>
                  <a:latin typeface="IBM Plex Sans"/>
                </a:rPr>
                <a:t>10,27%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13702" y="3496962"/>
              <a:ext cx="762254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Quảng Ngãi</a:t>
              </a:r>
            </a:p>
          </p:txBody>
        </p:sp>
        <p:sp>
          <p:nvSpPr>
            <p:cNvPr id="22" name="Round Same Side Corner Rectangle 21"/>
            <p:cNvSpPr/>
            <p:nvPr/>
          </p:nvSpPr>
          <p:spPr>
            <a:xfrm rot="5400000">
              <a:off x="5447536" y="-403894"/>
              <a:ext cx="187632" cy="7983321"/>
            </a:xfrm>
            <a:prstGeom prst="round2SameRect">
              <a:avLst>
                <a:gd name="adj1" fmla="val 26803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597021" y="3505217"/>
              <a:ext cx="495300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1" i="0" lang="vi-VN">
                  <a:solidFill>
                    <a:srgbClr val="16181D"/>
                  </a:solidFill>
                  <a:latin typeface="IBM Plex Sans"/>
                </a:rPr>
                <a:t>10,02%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71563" y="3799594"/>
              <a:ext cx="604393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Đồng Nai</a:t>
              </a:r>
            </a:p>
          </p:txBody>
        </p:sp>
        <p:sp>
          <p:nvSpPr>
            <p:cNvPr id="25" name="Round Same Side Corner Rectangle 24"/>
            <p:cNvSpPr/>
            <p:nvPr/>
          </p:nvSpPr>
          <p:spPr>
            <a:xfrm rot="5400000">
              <a:off x="5292172" y="54103"/>
              <a:ext cx="187632" cy="7672593"/>
            </a:xfrm>
            <a:prstGeom prst="round2SameRect">
              <a:avLst>
                <a:gd name="adj1" fmla="val 26803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286293" y="3807849"/>
              <a:ext cx="41592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9,63%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87629" y="4102227"/>
              <a:ext cx="588328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Tây Ninh</a:t>
              </a:r>
            </a:p>
          </p:txBody>
        </p:sp>
        <p:sp>
          <p:nvSpPr>
            <p:cNvPr id="28" name="Round Same Side Corner Rectangle 27"/>
            <p:cNvSpPr/>
            <p:nvPr/>
          </p:nvSpPr>
          <p:spPr>
            <a:xfrm rot="5400000">
              <a:off x="5248352" y="400556"/>
              <a:ext cx="187632" cy="7584952"/>
            </a:xfrm>
            <a:prstGeom prst="round2SameRect">
              <a:avLst>
                <a:gd name="adj1" fmla="val 26803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198652" y="4110482"/>
              <a:ext cx="41592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9,52%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10400" y="4404860"/>
              <a:ext cx="565556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Đà Nẵng</a:t>
              </a:r>
            </a:p>
          </p:txBody>
        </p:sp>
        <p:sp>
          <p:nvSpPr>
            <p:cNvPr id="31" name="Round Same Side Corner Rectangle 30"/>
            <p:cNvSpPr/>
            <p:nvPr/>
          </p:nvSpPr>
          <p:spPr>
            <a:xfrm rot="5400000">
              <a:off x="5112906" y="838634"/>
              <a:ext cx="187632" cy="7314060"/>
            </a:xfrm>
            <a:prstGeom prst="round2SameRect">
              <a:avLst>
                <a:gd name="adj1" fmla="val 26803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927761" y="4413115"/>
              <a:ext cx="41592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9,18%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33844" y="4707492"/>
              <a:ext cx="642112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Hưng Yên</a:t>
              </a:r>
            </a:p>
          </p:txBody>
        </p:sp>
        <p:sp>
          <p:nvSpPr>
            <p:cNvPr id="34" name="Round Same Side Corner Rectangle 33"/>
            <p:cNvSpPr/>
            <p:nvPr/>
          </p:nvSpPr>
          <p:spPr>
            <a:xfrm rot="5400000">
              <a:off x="4953559" y="1300615"/>
              <a:ext cx="187632" cy="6995365"/>
            </a:xfrm>
            <a:prstGeom prst="round2SameRect">
              <a:avLst>
                <a:gd name="adj1" fmla="val 26803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609065" y="4715747"/>
              <a:ext cx="41592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8,78%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59434" y="5010125"/>
              <a:ext cx="516522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Hà Tĩnh</a:t>
              </a:r>
            </a:p>
          </p:txBody>
        </p:sp>
        <p:sp>
          <p:nvSpPr>
            <p:cNvPr id="37" name="Round Same Side Corner Rectangle 36"/>
            <p:cNvSpPr/>
            <p:nvPr/>
          </p:nvSpPr>
          <p:spPr>
            <a:xfrm rot="5400000">
              <a:off x="4953559" y="1603247"/>
              <a:ext cx="187632" cy="6995365"/>
            </a:xfrm>
            <a:prstGeom prst="round2SameRect">
              <a:avLst>
                <a:gd name="adj1" fmla="val 26803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609065" y="5018380"/>
              <a:ext cx="41592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8,78%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090219" y="5312757"/>
              <a:ext cx="285737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Huế</a:t>
              </a:r>
            </a:p>
          </p:txBody>
        </p:sp>
        <p:sp>
          <p:nvSpPr>
            <p:cNvPr id="40" name="Round Same Side Corner Rectangle 39"/>
            <p:cNvSpPr/>
            <p:nvPr/>
          </p:nvSpPr>
          <p:spPr>
            <a:xfrm rot="5400000">
              <a:off x="4842015" y="2017423"/>
              <a:ext cx="187632" cy="6772278"/>
            </a:xfrm>
            <a:prstGeom prst="round2SameRect">
              <a:avLst>
                <a:gd name="adj1" fmla="val 26803"/>
                <a:gd name="adj2" fmla="val 0"/>
              </a:avLst>
            </a:prstGeom>
            <a:solidFill>
              <a:srgbClr val="C9CCD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385978" y="5321012"/>
              <a:ext cx="415925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8,50%</a:t>
              </a:r>
            </a:p>
          </p:txBody>
        </p:sp>
        <p:cxnSp>
          <p:nvCxnSpPr>
            <p:cNvPr id="42" name="Connector 41"/>
            <p:cNvCxnSpPr/>
            <p:nvPr/>
          </p:nvCxnSpPr>
          <p:spPr>
            <a:xfrm>
              <a:off x="1549692" y="1923288"/>
              <a:ext cx="0" cy="3631590"/>
            </a:xfrm>
            <a:prstGeom prst="line">
              <a:avLst/>
            </a:prstGeom>
            <a:ln w="12700" cap="flat">
              <a:solidFill>
                <a:srgbClr val="C3C2B7"/>
              </a:solidFill>
              <a:round/>
            </a:ln>
          </p:spPr>
        </p:cxnSp>
      </p:grpSp>
      <p:sp>
        <p:nvSpPr>
          <p:cNvPr id="43" name="TextBox 42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Mười hai địa phương tăng nhanh nhất đều đạt từ 8,50%; Hà Nội (8,16%) và TP.HCM (7,53%) không nằm trong nhóm này.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Thanh xanh: từ 10% trở lên; xám: dưới 10%. Số 2025 là ước tính.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45" name="TextBox 44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NSO và cục thống kê địa phương — tăng trưởng GRDP 2025 (giá so sánh).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4 · TĂNG TỐC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Lâm Đồng tăng tốc mạnh nhất: 8,51% trong 9 tháng 2026, từ 6,42% cả năm 2025</a:t>
            </a:r>
          </a:p>
        </p:txBody>
      </p:sp>
      <p:grpSp>
        <p:nvGrpSpPr>
          <p:cNvPr id="5" name="Chart · dumbbell"/>
          <p:cNvGrpSpPr/>
          <p:nvPr/>
        </p:nvGrpSpPr>
        <p:grpSpPr>
          <a:xfrm>
            <a:off x="603504" y="1900619"/>
            <a:ext cx="10548097" cy="3654259"/>
            <a:chOff x="603504" y="1900619"/>
            <a:chExt cx="10548097" cy="3654259"/>
          </a:xfrm>
        </p:grpSpPr>
        <p:sp>
          <p:nvSpPr>
            <p:cNvPr id="6" name="Oval 5"/>
            <p:cNvSpPr/>
            <p:nvPr/>
          </p:nvSpPr>
          <p:spPr>
            <a:xfrm>
              <a:off x="608076" y="1937004"/>
              <a:ext cx="100584" cy="100584"/>
            </a:xfrm>
            <a:prstGeom prst="ellipse">
              <a:avLst/>
            </a:prstGeom>
            <a:solidFill>
              <a:srgbClr val="FFFFFF"/>
            </a:solidFill>
            <a:ln w="22225" cap="rnd">
              <a:solidFill>
                <a:srgbClr val="8A8F9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95528" y="1900619"/>
              <a:ext cx="836333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Cả năm 2025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887893" y="1932432"/>
              <a:ext cx="109728" cy="109728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79917" y="1900619"/>
              <a:ext cx="838733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9 tháng 2026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2351856" y="2444496"/>
              <a:ext cx="0" cy="3110382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1" name="TextBox 10"/>
            <p:cNvSpPr txBox="1"/>
            <p:nvPr/>
          </p:nvSpPr>
          <p:spPr>
            <a:xfrm>
              <a:off x="2246024" y="2228914"/>
              <a:ext cx="211665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6%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4516285" y="2444496"/>
              <a:ext cx="0" cy="3110382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3" name="TextBox 12"/>
            <p:cNvSpPr txBox="1"/>
            <p:nvPr/>
          </p:nvSpPr>
          <p:spPr>
            <a:xfrm>
              <a:off x="4410453" y="2228914"/>
              <a:ext cx="211665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8%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6680714" y="2444496"/>
              <a:ext cx="0" cy="3110382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5" name="TextBox 14"/>
            <p:cNvSpPr txBox="1"/>
            <p:nvPr/>
          </p:nvSpPr>
          <p:spPr>
            <a:xfrm>
              <a:off x="6538687" y="2228914"/>
              <a:ext cx="284055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10%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8845144" y="2444496"/>
              <a:ext cx="0" cy="3110382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7" name="TextBox 16"/>
            <p:cNvSpPr txBox="1"/>
            <p:nvPr/>
          </p:nvSpPr>
          <p:spPr>
            <a:xfrm>
              <a:off x="8703116" y="2228914"/>
              <a:ext cx="284055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12%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11009573" y="2444496"/>
              <a:ext cx="0" cy="3110382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9" name="TextBox 18"/>
            <p:cNvSpPr txBox="1"/>
            <p:nvPr/>
          </p:nvSpPr>
          <p:spPr>
            <a:xfrm>
              <a:off x="10867546" y="2228914"/>
              <a:ext cx="284055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14%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63625" y="2588446"/>
              <a:ext cx="772452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Quảng Ninh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8726100" y="2679251"/>
              <a:ext cx="703439" cy="0"/>
            </a:xfrm>
            <a:prstGeom prst="line">
              <a:avLst/>
            </a:prstGeom>
            <a:ln w="38100" cap="flat">
              <a:solidFill>
                <a:srgbClr val="C9CCD2"/>
              </a:solidFill>
              <a:round/>
            </a:ln>
          </p:spPr>
        </p:cxnSp>
        <p:sp>
          <p:nvSpPr>
            <p:cNvPr id="22" name="Oval 21"/>
            <p:cNvSpPr/>
            <p:nvPr/>
          </p:nvSpPr>
          <p:spPr>
            <a:xfrm>
              <a:off x="8671236" y="2624387"/>
              <a:ext cx="109728" cy="109728"/>
            </a:xfrm>
            <a:prstGeom prst="ellipse">
              <a:avLst/>
            </a:prstGeom>
            <a:solidFill>
              <a:srgbClr val="FFFFFF"/>
            </a:solidFill>
            <a:ln w="22225" cap="rnd">
              <a:solidFill>
                <a:srgbClr val="8A8F9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9365531" y="2615243"/>
              <a:ext cx="128016" cy="128016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530123" y="2600829"/>
              <a:ext cx="46889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12,54%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163865" y="2600829"/>
              <a:ext cx="46165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11,89%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58901" y="2838501"/>
              <a:ext cx="677177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Hải Phòng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8639523" y="2929306"/>
              <a:ext cx="292198" cy="0"/>
            </a:xfrm>
            <a:prstGeom prst="line">
              <a:avLst/>
            </a:prstGeom>
            <a:ln w="38100" cap="flat">
              <a:solidFill>
                <a:srgbClr val="C9CCD2"/>
              </a:solidFill>
              <a:round/>
            </a:ln>
          </p:spPr>
        </p:cxnSp>
        <p:sp>
          <p:nvSpPr>
            <p:cNvPr id="28" name="Oval 27"/>
            <p:cNvSpPr/>
            <p:nvPr/>
          </p:nvSpPr>
          <p:spPr>
            <a:xfrm>
              <a:off x="8584659" y="2874442"/>
              <a:ext cx="109728" cy="109728"/>
            </a:xfrm>
            <a:prstGeom prst="ellipse">
              <a:avLst/>
            </a:prstGeom>
            <a:solidFill>
              <a:srgbClr val="FFFFFF"/>
            </a:solidFill>
            <a:ln w="22225" cap="rnd">
              <a:solidFill>
                <a:srgbClr val="8A8F9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8867713" y="2865298"/>
              <a:ext cx="128016" cy="128016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9032305" y="2850883"/>
              <a:ext cx="46889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12,08%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8077287" y="2850883"/>
              <a:ext cx="46165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11,81%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36993" y="3088555"/>
              <a:ext cx="599084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Bắc Ninh</a:t>
              </a:r>
            </a:p>
          </p:txBody>
        </p:sp>
        <p:cxnSp>
          <p:nvCxnSpPr>
            <p:cNvPr id="33" name="Connector 32"/>
            <p:cNvCxnSpPr/>
            <p:nvPr/>
          </p:nvCxnSpPr>
          <p:spPr>
            <a:xfrm>
              <a:off x="6972912" y="3179360"/>
              <a:ext cx="1666611" cy="0"/>
            </a:xfrm>
            <a:prstGeom prst="line">
              <a:avLst/>
            </a:prstGeom>
            <a:ln w="38100" cap="flat">
              <a:solidFill>
                <a:srgbClr val="C9CCD2"/>
              </a:solidFill>
              <a:round/>
            </a:ln>
          </p:spPr>
        </p:cxnSp>
        <p:sp>
          <p:nvSpPr>
            <p:cNvPr id="34" name="Oval 33"/>
            <p:cNvSpPr/>
            <p:nvPr/>
          </p:nvSpPr>
          <p:spPr>
            <a:xfrm>
              <a:off x="6918048" y="3124496"/>
              <a:ext cx="109728" cy="109728"/>
            </a:xfrm>
            <a:prstGeom prst="ellipse">
              <a:avLst/>
            </a:prstGeom>
            <a:solidFill>
              <a:srgbClr val="FFFFFF"/>
            </a:solidFill>
            <a:ln w="22225" cap="rnd">
              <a:solidFill>
                <a:srgbClr val="8A8F9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8575515" y="3115352"/>
              <a:ext cx="128016" cy="128016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740107" y="3100938"/>
              <a:ext cx="46889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11,81%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10677" y="3100938"/>
              <a:ext cx="46165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10,27%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85723" y="3338610"/>
              <a:ext cx="650354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Ninh Bình</a:t>
              </a:r>
            </a:p>
          </p:txBody>
        </p:sp>
        <p:cxnSp>
          <p:nvCxnSpPr>
            <p:cNvPr id="39" name="Connector 38"/>
            <p:cNvCxnSpPr/>
            <p:nvPr/>
          </p:nvCxnSpPr>
          <p:spPr>
            <a:xfrm>
              <a:off x="7384154" y="3429415"/>
              <a:ext cx="714262" cy="0"/>
            </a:xfrm>
            <a:prstGeom prst="line">
              <a:avLst/>
            </a:prstGeom>
            <a:ln w="38100" cap="flat">
              <a:solidFill>
                <a:srgbClr val="C9CCD2"/>
              </a:solidFill>
              <a:round/>
            </a:ln>
          </p:spPr>
        </p:cxnSp>
        <p:sp>
          <p:nvSpPr>
            <p:cNvPr id="40" name="Oval 39"/>
            <p:cNvSpPr/>
            <p:nvPr/>
          </p:nvSpPr>
          <p:spPr>
            <a:xfrm>
              <a:off x="7329290" y="3374551"/>
              <a:ext cx="109728" cy="109728"/>
            </a:xfrm>
            <a:prstGeom prst="ellipse">
              <a:avLst/>
            </a:prstGeom>
            <a:solidFill>
              <a:srgbClr val="FFFFFF"/>
            </a:solidFill>
            <a:ln w="22225" cap="rnd">
              <a:solidFill>
                <a:srgbClr val="8A8F9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8034408" y="3365407"/>
              <a:ext cx="128016" cy="128016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199000" y="3350992"/>
              <a:ext cx="46889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11,31%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821919" y="3350992"/>
              <a:ext cx="46165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10,65%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047750" y="3588664"/>
              <a:ext cx="588328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Tây Ninh</a:t>
              </a:r>
            </a:p>
          </p:txBody>
        </p:sp>
        <p:cxnSp>
          <p:nvCxnSpPr>
            <p:cNvPr id="45" name="Connector 44"/>
            <p:cNvCxnSpPr/>
            <p:nvPr/>
          </p:nvCxnSpPr>
          <p:spPr>
            <a:xfrm>
              <a:off x="6161251" y="3679469"/>
              <a:ext cx="844128" cy="0"/>
            </a:xfrm>
            <a:prstGeom prst="line">
              <a:avLst/>
            </a:prstGeom>
            <a:ln w="38100" cap="flat">
              <a:solidFill>
                <a:srgbClr val="C9CCD2"/>
              </a:solidFill>
              <a:round/>
            </a:ln>
          </p:spPr>
        </p:cxnSp>
        <p:sp>
          <p:nvSpPr>
            <p:cNvPr id="46" name="Oval 45"/>
            <p:cNvSpPr/>
            <p:nvPr/>
          </p:nvSpPr>
          <p:spPr>
            <a:xfrm>
              <a:off x="6106387" y="3624605"/>
              <a:ext cx="109728" cy="109728"/>
            </a:xfrm>
            <a:prstGeom prst="ellipse">
              <a:avLst/>
            </a:prstGeom>
            <a:solidFill>
              <a:srgbClr val="FFFFFF"/>
            </a:solidFill>
            <a:ln w="22225" cap="rnd">
              <a:solidFill>
                <a:srgbClr val="8A8F9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6941371" y="3615461"/>
              <a:ext cx="128016" cy="128016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105963" y="3601047"/>
              <a:ext cx="46889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10,30%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5671406" y="3601047"/>
              <a:ext cx="38926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9,52%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085888" y="3838719"/>
              <a:ext cx="550189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Phú Thọ</a:t>
              </a:r>
            </a:p>
          </p:txBody>
        </p:sp>
        <p:cxnSp>
          <p:nvCxnSpPr>
            <p:cNvPr id="51" name="Connector 50"/>
            <p:cNvCxnSpPr/>
            <p:nvPr/>
          </p:nvCxnSpPr>
          <p:spPr>
            <a:xfrm flipH="1">
              <a:off x="6691536" y="3929524"/>
              <a:ext cx="551930" cy="0"/>
            </a:xfrm>
            <a:prstGeom prst="line">
              <a:avLst/>
            </a:prstGeom>
            <a:ln w="38100" cap="flat">
              <a:solidFill>
                <a:srgbClr val="C9CCD2"/>
              </a:solidFill>
              <a:round/>
            </a:ln>
          </p:spPr>
        </p:cxnSp>
        <p:sp>
          <p:nvSpPr>
            <p:cNvPr id="52" name="Oval 51"/>
            <p:cNvSpPr/>
            <p:nvPr/>
          </p:nvSpPr>
          <p:spPr>
            <a:xfrm>
              <a:off x="7188602" y="3874660"/>
              <a:ext cx="109728" cy="109728"/>
            </a:xfrm>
            <a:prstGeom prst="ellipse">
              <a:avLst/>
            </a:prstGeom>
            <a:solidFill>
              <a:srgbClr val="FFFFFF"/>
            </a:solidFill>
            <a:ln w="22225" cap="rnd">
              <a:solidFill>
                <a:srgbClr val="8A8F9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6627528" y="3865516"/>
              <a:ext cx="128016" cy="128016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6122062" y="3851101"/>
              <a:ext cx="46889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10,01%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344050" y="3851101"/>
              <a:ext cx="46165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10,52%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1031685" y="4088773"/>
              <a:ext cx="604393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Đồng Nai</a:t>
              </a:r>
            </a:p>
          </p:txBody>
        </p:sp>
        <p:cxnSp>
          <p:nvCxnSpPr>
            <p:cNvPr id="57" name="Connector 56"/>
            <p:cNvCxnSpPr/>
            <p:nvPr/>
          </p:nvCxnSpPr>
          <p:spPr>
            <a:xfrm>
              <a:off x="6280295" y="4179578"/>
              <a:ext cx="411241" cy="0"/>
            </a:xfrm>
            <a:prstGeom prst="line">
              <a:avLst/>
            </a:prstGeom>
            <a:ln w="38100" cap="flat">
              <a:solidFill>
                <a:srgbClr val="C9CCD2"/>
              </a:solidFill>
              <a:round/>
            </a:ln>
          </p:spPr>
        </p:cxnSp>
        <p:sp>
          <p:nvSpPr>
            <p:cNvPr id="58" name="Oval 57"/>
            <p:cNvSpPr/>
            <p:nvPr/>
          </p:nvSpPr>
          <p:spPr>
            <a:xfrm>
              <a:off x="6225431" y="4124714"/>
              <a:ext cx="109728" cy="109728"/>
            </a:xfrm>
            <a:prstGeom prst="ellipse">
              <a:avLst/>
            </a:prstGeom>
            <a:solidFill>
              <a:srgbClr val="FFFFFF"/>
            </a:solidFill>
            <a:ln w="22225" cap="rnd">
              <a:solidFill>
                <a:srgbClr val="8A8F9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Oval 58"/>
            <p:cNvSpPr/>
            <p:nvPr/>
          </p:nvSpPr>
          <p:spPr>
            <a:xfrm>
              <a:off x="6627528" y="4115570"/>
              <a:ext cx="128016" cy="128016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6792120" y="4101156"/>
              <a:ext cx="46889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10,01%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5790450" y="4101156"/>
              <a:ext cx="38926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9,63%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603504" y="4338828"/>
              <a:ext cx="1032574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TP. Hồ Chí Minh</a:t>
              </a:r>
            </a:p>
          </p:txBody>
        </p:sp>
        <p:cxnSp>
          <p:nvCxnSpPr>
            <p:cNvPr id="63" name="Connector 62"/>
            <p:cNvCxnSpPr/>
            <p:nvPr/>
          </p:nvCxnSpPr>
          <p:spPr>
            <a:xfrm>
              <a:off x="4007644" y="4429633"/>
              <a:ext cx="1655789" cy="0"/>
            </a:xfrm>
            <a:prstGeom prst="line">
              <a:avLst/>
            </a:prstGeom>
            <a:ln w="38100" cap="flat">
              <a:solidFill>
                <a:srgbClr val="C9CCD2"/>
              </a:solidFill>
              <a:round/>
            </a:ln>
          </p:spPr>
        </p:cxnSp>
        <p:sp>
          <p:nvSpPr>
            <p:cNvPr id="64" name="Oval 63"/>
            <p:cNvSpPr/>
            <p:nvPr/>
          </p:nvSpPr>
          <p:spPr>
            <a:xfrm>
              <a:off x="3952780" y="4374769"/>
              <a:ext cx="109728" cy="109728"/>
            </a:xfrm>
            <a:prstGeom prst="ellipse">
              <a:avLst/>
            </a:prstGeom>
            <a:solidFill>
              <a:srgbClr val="FFFFFF"/>
            </a:solidFill>
            <a:ln w="22225" cap="rnd">
              <a:solidFill>
                <a:srgbClr val="8A8F9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5599425" y="4365625"/>
              <a:ext cx="128016" cy="128016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5764017" y="4351210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9,06%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3517799" y="4351210"/>
              <a:ext cx="38926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7,53%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1183958" y="4588883"/>
              <a:ext cx="452120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Hà Nội</a:t>
              </a:r>
            </a:p>
          </p:txBody>
        </p:sp>
        <p:cxnSp>
          <p:nvCxnSpPr>
            <p:cNvPr id="69" name="Connector 68"/>
            <p:cNvCxnSpPr/>
            <p:nvPr/>
          </p:nvCxnSpPr>
          <p:spPr>
            <a:xfrm>
              <a:off x="4689439" y="4679688"/>
              <a:ext cx="746729" cy="0"/>
            </a:xfrm>
            <a:prstGeom prst="line">
              <a:avLst/>
            </a:prstGeom>
            <a:ln w="38100" cap="flat">
              <a:solidFill>
                <a:srgbClr val="C9CCD2"/>
              </a:solidFill>
              <a:round/>
            </a:ln>
          </p:spPr>
        </p:cxnSp>
        <p:sp>
          <p:nvSpPr>
            <p:cNvPr id="70" name="Oval 69"/>
            <p:cNvSpPr/>
            <p:nvPr/>
          </p:nvSpPr>
          <p:spPr>
            <a:xfrm>
              <a:off x="4634575" y="4624824"/>
              <a:ext cx="109728" cy="109728"/>
            </a:xfrm>
            <a:prstGeom prst="ellipse">
              <a:avLst/>
            </a:prstGeom>
            <a:solidFill>
              <a:srgbClr val="FFFFFF"/>
            </a:solidFill>
            <a:ln w="22225" cap="rnd">
              <a:solidFill>
                <a:srgbClr val="8A8F9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Oval 70"/>
            <p:cNvSpPr/>
            <p:nvPr/>
          </p:nvSpPr>
          <p:spPr>
            <a:xfrm>
              <a:off x="5372160" y="4615680"/>
              <a:ext cx="128016" cy="128016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5536752" y="4601265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8,85%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4199594" y="4601265"/>
              <a:ext cx="38926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8,16%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920344" y="4838937"/>
              <a:ext cx="715734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Thanh Hóa</a:t>
              </a:r>
            </a:p>
          </p:txBody>
        </p:sp>
        <p:cxnSp>
          <p:nvCxnSpPr>
            <p:cNvPr id="75" name="Connector 74"/>
            <p:cNvCxnSpPr/>
            <p:nvPr/>
          </p:nvCxnSpPr>
          <p:spPr>
            <a:xfrm>
              <a:off x="4808483" y="4929742"/>
              <a:ext cx="292198" cy="0"/>
            </a:xfrm>
            <a:prstGeom prst="line">
              <a:avLst/>
            </a:prstGeom>
            <a:ln w="38100" cap="flat">
              <a:solidFill>
                <a:srgbClr val="C9CCD2"/>
              </a:solidFill>
              <a:round/>
            </a:ln>
          </p:spPr>
        </p:cxnSp>
        <p:sp>
          <p:nvSpPr>
            <p:cNvPr id="76" name="Oval 75"/>
            <p:cNvSpPr/>
            <p:nvPr/>
          </p:nvSpPr>
          <p:spPr>
            <a:xfrm>
              <a:off x="4753619" y="4874878"/>
              <a:ext cx="109728" cy="109728"/>
            </a:xfrm>
            <a:prstGeom prst="ellipse">
              <a:avLst/>
            </a:prstGeom>
            <a:solidFill>
              <a:srgbClr val="FFFFFF"/>
            </a:solidFill>
            <a:ln w="22225" cap="rnd">
              <a:solidFill>
                <a:srgbClr val="8A8F9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5036673" y="4865734"/>
              <a:ext cx="128016" cy="128016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5201265" y="4851320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8,54%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4318638" y="4851320"/>
              <a:ext cx="38926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8,27%</a:t>
              </a:r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973569" y="5088992"/>
              <a:ext cx="662508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Lâm Đồng</a:t>
              </a:r>
            </a:p>
          </p:txBody>
        </p:sp>
        <p:cxnSp>
          <p:nvCxnSpPr>
            <p:cNvPr id="81" name="Connector 80"/>
            <p:cNvCxnSpPr/>
            <p:nvPr/>
          </p:nvCxnSpPr>
          <p:spPr>
            <a:xfrm>
              <a:off x="2806386" y="5179797"/>
              <a:ext cx="2261829" cy="0"/>
            </a:xfrm>
            <a:prstGeom prst="line">
              <a:avLst/>
            </a:prstGeom>
            <a:ln w="38100" cap="flat">
              <a:solidFill>
                <a:srgbClr val="C9CCD2"/>
              </a:solidFill>
              <a:round/>
            </a:ln>
          </p:spPr>
        </p:cxnSp>
        <p:sp>
          <p:nvSpPr>
            <p:cNvPr id="82" name="Oval 81"/>
            <p:cNvSpPr/>
            <p:nvPr/>
          </p:nvSpPr>
          <p:spPr>
            <a:xfrm>
              <a:off x="2751522" y="5124933"/>
              <a:ext cx="109728" cy="109728"/>
            </a:xfrm>
            <a:prstGeom prst="ellipse">
              <a:avLst/>
            </a:prstGeom>
            <a:solidFill>
              <a:srgbClr val="FFFFFF"/>
            </a:solidFill>
            <a:ln w="22225" cap="rnd">
              <a:solidFill>
                <a:srgbClr val="8A8F9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Oval 82"/>
            <p:cNvSpPr/>
            <p:nvPr/>
          </p:nvSpPr>
          <p:spPr>
            <a:xfrm>
              <a:off x="5004207" y="5115789"/>
              <a:ext cx="128016" cy="128016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5168799" y="5101374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8,51%</a:t>
              </a:r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2316541" y="5101374"/>
              <a:ext cx="38926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6,42%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1089241" y="5339046"/>
              <a:ext cx="546837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Cần Thơ</a:t>
              </a:r>
            </a:p>
          </p:txBody>
        </p:sp>
        <p:cxnSp>
          <p:nvCxnSpPr>
            <p:cNvPr id="87" name="Connector 86"/>
            <p:cNvCxnSpPr/>
            <p:nvPr/>
          </p:nvCxnSpPr>
          <p:spPr>
            <a:xfrm>
              <a:off x="3682980" y="5429851"/>
              <a:ext cx="714261" cy="0"/>
            </a:xfrm>
            <a:prstGeom prst="line">
              <a:avLst/>
            </a:prstGeom>
            <a:ln w="38100" cap="flat">
              <a:solidFill>
                <a:srgbClr val="C9CCD2"/>
              </a:solidFill>
              <a:round/>
            </a:ln>
          </p:spPr>
        </p:cxnSp>
        <p:sp>
          <p:nvSpPr>
            <p:cNvPr id="88" name="Oval 87"/>
            <p:cNvSpPr/>
            <p:nvPr/>
          </p:nvSpPr>
          <p:spPr>
            <a:xfrm>
              <a:off x="3628116" y="5374987"/>
              <a:ext cx="109728" cy="109728"/>
            </a:xfrm>
            <a:prstGeom prst="ellipse">
              <a:avLst/>
            </a:prstGeom>
            <a:solidFill>
              <a:srgbClr val="FFFFFF"/>
            </a:solidFill>
            <a:ln w="22225" cap="rnd">
              <a:solidFill>
                <a:srgbClr val="8A8F9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Oval 88"/>
            <p:cNvSpPr/>
            <p:nvPr/>
          </p:nvSpPr>
          <p:spPr>
            <a:xfrm>
              <a:off x="4333233" y="5365843"/>
              <a:ext cx="128016" cy="128016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4497825" y="5351429"/>
              <a:ext cx="39650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7,89%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3193134" y="5351429"/>
              <a:ext cx="38926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7,23%</a:t>
              </a:r>
            </a:p>
          </p:txBody>
        </p:sp>
      </p:grpSp>
      <p:sp>
        <p:nvSpPr>
          <p:cNvPr id="92" name="TextBox 91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11/12 địa phương lớn tăng nhanh hơn trong 9 tháng 2026 so với cả năm 2025; chỉ Phú Thọ chậm lại.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9 tháng so với cùng kỳ năm trước, không phải số cả năm; hai kỳ so sánh chỉ mang tính chỉ báo.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94" name="TextBox 93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NSO và cục thống kê địa phương — GRDP 2025 (ước tính) và 9 tháng 2026 (công bố 9–10/2026).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4 · CƠ CẤU KINH TẾ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Dịch vụ chiếm 66% GRDP Hà Nội; công nghiệp – xây dựng chiếm 71% ở Bắc Ninh</a:t>
            </a:r>
          </a:p>
        </p:txBody>
      </p:sp>
      <p:grpSp>
        <p:nvGrpSpPr>
          <p:cNvPr id="5" name="Chart · stacked100_h"/>
          <p:cNvGrpSpPr/>
          <p:nvPr/>
        </p:nvGrpSpPr>
        <p:grpSpPr>
          <a:xfrm>
            <a:off x="594360" y="1900619"/>
            <a:ext cx="10906920" cy="3625151"/>
            <a:chOff x="594360" y="1900619"/>
            <a:chExt cx="10906920" cy="3625151"/>
          </a:xfrm>
        </p:grpSpPr>
        <p:sp>
          <p:nvSpPr>
            <p:cNvPr id="6" name="Rounded Rectangle 5"/>
            <p:cNvSpPr/>
            <p:nvPr/>
          </p:nvSpPr>
          <p:spPr>
            <a:xfrm>
              <a:off x="594360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95528" y="1900619"/>
              <a:ext cx="476021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Dịch vụ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518437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719605" y="1900619"/>
              <a:ext cx="1401337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Công nghiệp, xây dựng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3367830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0083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68998" y="1900619"/>
              <a:ext cx="1235050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Nông, lâm, thủy sản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050936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EDA1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252104" y="1900619"/>
              <a:ext cx="959548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Thuế sản phẩm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183958" y="2333777"/>
              <a:ext cx="452120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Hà Nội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764094" y="2291023"/>
              <a:ext cx="6462395" cy="267119"/>
            </a:xfrm>
            <a:prstGeom prst="rect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51273" y="2346160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66%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8246605" y="2291023"/>
              <a:ext cx="2147434" cy="267119"/>
            </a:xfrm>
            <a:prstGeom prst="rect">
              <a:avLst/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176304" y="2346160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22%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10414156" y="2291023"/>
              <a:ext cx="161081" cy="267119"/>
            </a:xfrm>
            <a:prstGeom prst="rect">
              <a:avLst/>
            </a:prstGeom>
            <a:solidFill>
              <a:srgbClr val="0083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 Same Side Corner Rectangle 19"/>
            <p:cNvSpPr/>
            <p:nvPr/>
          </p:nvSpPr>
          <p:spPr>
            <a:xfrm rot="5400000">
              <a:off x="10917065" y="1969311"/>
              <a:ext cx="267119" cy="910542"/>
            </a:xfrm>
            <a:prstGeom prst="round2SameRect">
              <a:avLst>
                <a:gd name="adj1" fmla="val 18827"/>
                <a:gd name="adj2" fmla="val 0"/>
              </a:avLst>
            </a:prstGeom>
            <a:solidFill>
              <a:srgbClr val="EDA1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942801" y="2346160"/>
              <a:ext cx="21564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9%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03504" y="2751150"/>
              <a:ext cx="1032574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TP. Hồ Chí Minh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764094" y="2708396"/>
              <a:ext cx="5075162" cy="267119"/>
            </a:xfrm>
            <a:prstGeom prst="rect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157657" y="2763533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52%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859372" y="2708396"/>
              <a:ext cx="3408997" cy="267119"/>
            </a:xfrm>
            <a:prstGeom prst="rect">
              <a:avLst/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419853" y="2763533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35%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10288487" y="2708396"/>
              <a:ext cx="145494" cy="267119"/>
            </a:xfrm>
            <a:prstGeom prst="rect">
              <a:avLst/>
            </a:prstGeom>
            <a:solidFill>
              <a:srgbClr val="0083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 Same Side Corner Rectangle 27"/>
            <p:cNvSpPr/>
            <p:nvPr/>
          </p:nvSpPr>
          <p:spPr>
            <a:xfrm rot="5400000">
              <a:off x="10846437" y="2316056"/>
              <a:ext cx="267119" cy="1051798"/>
            </a:xfrm>
            <a:prstGeom prst="round2SameRect">
              <a:avLst>
                <a:gd name="adj1" fmla="val 18827"/>
                <a:gd name="adj2" fmla="val 0"/>
              </a:avLst>
            </a:prstGeom>
            <a:solidFill>
              <a:srgbClr val="EDA1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835978" y="2763533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11%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63625" y="3168523"/>
              <a:ext cx="772452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Quảng Ninh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764094" y="3125769"/>
              <a:ext cx="3672343" cy="267119"/>
            </a:xfrm>
            <a:prstGeom prst="rect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3456247" y="3180906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38%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5456553" y="3125769"/>
              <a:ext cx="4480596" cy="267119"/>
            </a:xfrm>
            <a:prstGeom prst="rect">
              <a:avLst/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552833" y="3180906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46%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9957265" y="3125769"/>
              <a:ext cx="428006" cy="267119"/>
            </a:xfrm>
            <a:prstGeom prst="rect">
              <a:avLst/>
            </a:prstGeom>
            <a:solidFill>
              <a:srgbClr val="0083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0063445" y="3180906"/>
              <a:ext cx="21564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5%</a:t>
              </a:r>
            </a:p>
          </p:txBody>
        </p:sp>
        <p:sp>
          <p:nvSpPr>
            <p:cNvPr id="37" name="Round Same Side Corner Rectangle 36"/>
            <p:cNvSpPr/>
            <p:nvPr/>
          </p:nvSpPr>
          <p:spPr>
            <a:xfrm rot="5400000">
              <a:off x="10822082" y="2709075"/>
              <a:ext cx="267119" cy="1100507"/>
            </a:xfrm>
            <a:prstGeom prst="round2SameRect">
              <a:avLst>
                <a:gd name="adj1" fmla="val 18827"/>
                <a:gd name="adj2" fmla="val 0"/>
              </a:avLst>
            </a:prstGeom>
            <a:solidFill>
              <a:srgbClr val="EDA1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811624" y="3180906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11%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958901" y="3585896"/>
              <a:ext cx="677177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Hải Phòng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764094" y="3543142"/>
              <a:ext cx="3419056" cy="267119"/>
            </a:xfrm>
            <a:prstGeom prst="rect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3329603" y="3598278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35%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203266" y="3543142"/>
              <a:ext cx="5236559" cy="267119"/>
            </a:xfrm>
            <a:prstGeom prst="rect">
              <a:avLst/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677528" y="3598278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54%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10459942" y="3543142"/>
              <a:ext cx="423135" cy="267119"/>
            </a:xfrm>
            <a:prstGeom prst="rect">
              <a:avLst/>
            </a:prstGeom>
            <a:solidFill>
              <a:srgbClr val="0083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0563687" y="3598278"/>
              <a:ext cx="21564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5%</a:t>
              </a:r>
            </a:p>
          </p:txBody>
        </p:sp>
        <p:sp>
          <p:nvSpPr>
            <p:cNvPr id="46" name="Round Same Side Corner Rectangle 45"/>
            <p:cNvSpPr/>
            <p:nvPr/>
          </p:nvSpPr>
          <p:spPr>
            <a:xfrm rot="5400000">
              <a:off x="11070985" y="3375350"/>
              <a:ext cx="267119" cy="602701"/>
            </a:xfrm>
            <a:prstGeom prst="round2SameRect">
              <a:avLst>
                <a:gd name="adj1" fmla="val 18827"/>
                <a:gd name="adj2" fmla="val 0"/>
              </a:avLst>
            </a:prstGeom>
            <a:solidFill>
              <a:srgbClr val="EDA1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1096722" y="3598278"/>
              <a:ext cx="21564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6%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1031685" y="4003269"/>
              <a:ext cx="604393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Đồng Nai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1764094" y="3960514"/>
              <a:ext cx="2563726" cy="267119"/>
            </a:xfrm>
            <a:prstGeom prst="rect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2901938" y="4015651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26%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4347936" y="3960514"/>
              <a:ext cx="5334952" cy="267119"/>
            </a:xfrm>
            <a:prstGeom prst="rect">
              <a:avLst/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6871394" y="4015651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55%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9703004" y="3960514"/>
              <a:ext cx="1161564" cy="267119"/>
            </a:xfrm>
            <a:prstGeom prst="rect">
              <a:avLst/>
            </a:prstGeom>
            <a:solidFill>
              <a:srgbClr val="0083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139768" y="4015651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12%</a:t>
              </a:r>
            </a:p>
          </p:txBody>
        </p:sp>
        <p:sp>
          <p:nvSpPr>
            <p:cNvPr id="55" name="Round Same Side Corner Rectangle 54"/>
            <p:cNvSpPr/>
            <p:nvPr/>
          </p:nvSpPr>
          <p:spPr>
            <a:xfrm rot="5400000">
              <a:off x="11061731" y="3783468"/>
              <a:ext cx="267119" cy="621210"/>
            </a:xfrm>
            <a:prstGeom prst="round2SameRect">
              <a:avLst>
                <a:gd name="adj1" fmla="val 18827"/>
                <a:gd name="adj2" fmla="val 0"/>
              </a:avLst>
            </a:prstGeom>
            <a:solidFill>
              <a:srgbClr val="EDA1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11087467" y="4015651"/>
              <a:ext cx="21564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6%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1062977" y="4420641"/>
              <a:ext cx="573100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Lai Châu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1764094" y="4377887"/>
              <a:ext cx="2912482" cy="267119"/>
            </a:xfrm>
            <a:prstGeom prst="rect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3076317" y="4433024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30%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696692" y="4377887"/>
              <a:ext cx="5205386" cy="267119"/>
            </a:xfrm>
            <a:prstGeom prst="rect">
              <a:avLst/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155367" y="4433024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54%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9922195" y="4377887"/>
              <a:ext cx="1051481" cy="267119"/>
            </a:xfrm>
            <a:prstGeom prst="rect">
              <a:avLst/>
            </a:prstGeom>
            <a:solidFill>
              <a:srgbClr val="0083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10303918" y="4433024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11%</a:t>
              </a:r>
            </a:p>
          </p:txBody>
        </p:sp>
        <p:sp>
          <p:nvSpPr>
            <p:cNvPr id="64" name="Round Same Side Corner Rectangle 63"/>
            <p:cNvSpPr/>
            <p:nvPr/>
          </p:nvSpPr>
          <p:spPr>
            <a:xfrm rot="5400000">
              <a:off x="11116285" y="4255395"/>
              <a:ext cx="267119" cy="512102"/>
            </a:xfrm>
            <a:prstGeom prst="round2SameRect">
              <a:avLst>
                <a:gd name="adj1" fmla="val 18827"/>
                <a:gd name="adj2" fmla="val 0"/>
              </a:avLst>
            </a:prstGeom>
            <a:solidFill>
              <a:srgbClr val="EDA1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11142021" y="4433024"/>
              <a:ext cx="21564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5%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1036993" y="4838014"/>
              <a:ext cx="599084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Bắc Ninh</a:t>
              </a:r>
            </a:p>
          </p:txBody>
        </p:sp>
        <p:sp>
          <p:nvSpPr>
            <p:cNvPr id="67" name="Rectangle 66"/>
            <p:cNvSpPr/>
            <p:nvPr/>
          </p:nvSpPr>
          <p:spPr>
            <a:xfrm>
              <a:off x="1764094" y="4795260"/>
              <a:ext cx="1880825" cy="267119"/>
            </a:xfrm>
            <a:prstGeom prst="rect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2560488" y="4850397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19%</a:t>
              </a:r>
            </a:p>
          </p:txBody>
        </p:sp>
        <p:sp>
          <p:nvSpPr>
            <p:cNvPr id="69" name="Rectangle 68"/>
            <p:cNvSpPr/>
            <p:nvPr/>
          </p:nvSpPr>
          <p:spPr>
            <a:xfrm>
              <a:off x="3665036" y="4795260"/>
              <a:ext cx="6909227" cy="267119"/>
            </a:xfrm>
            <a:prstGeom prst="rect">
              <a:avLst/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6975631" y="4850397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71%</a:t>
              </a:r>
            </a:p>
          </p:txBody>
        </p:sp>
        <p:sp>
          <p:nvSpPr>
            <p:cNvPr id="71" name="Rectangle 70"/>
            <p:cNvSpPr/>
            <p:nvPr/>
          </p:nvSpPr>
          <p:spPr>
            <a:xfrm>
              <a:off x="10594379" y="4795260"/>
              <a:ext cx="615049" cy="267119"/>
            </a:xfrm>
            <a:prstGeom prst="rect">
              <a:avLst/>
            </a:prstGeom>
            <a:solidFill>
              <a:srgbClr val="0083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0794080" y="4850397"/>
              <a:ext cx="21564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7%</a:t>
              </a:r>
            </a:p>
          </p:txBody>
        </p:sp>
        <p:sp>
          <p:nvSpPr>
            <p:cNvPr id="73" name="Round Same Side Corner Rectangle 72"/>
            <p:cNvSpPr/>
            <p:nvPr/>
          </p:nvSpPr>
          <p:spPr>
            <a:xfrm rot="5400000">
              <a:off x="11234161" y="4790644"/>
              <a:ext cx="267119" cy="276351"/>
            </a:xfrm>
            <a:prstGeom prst="round2SameRect">
              <a:avLst>
                <a:gd name="adj1" fmla="val 18827"/>
                <a:gd name="adj2" fmla="val 0"/>
              </a:avLst>
            </a:prstGeom>
            <a:solidFill>
              <a:srgbClr val="EDA1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1101674" y="5255387"/>
              <a:ext cx="534403" cy="1816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100" b="0" i="0" lang="vi-VN">
                  <a:solidFill>
                    <a:srgbClr val="16181D"/>
                  </a:solidFill>
                  <a:latin typeface="IBM Plex Sans Medium"/>
                </a:rPr>
                <a:t>Đắk Lắk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1764094" y="5212633"/>
              <a:ext cx="3893482" cy="267119"/>
            </a:xfrm>
            <a:prstGeom prst="rect">
              <a:avLst/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3566816" y="5267770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40%</a:t>
              </a:r>
            </a:p>
          </p:txBody>
        </p:sp>
        <p:sp>
          <p:nvSpPr>
            <p:cNvPr id="77" name="Rectangle 76"/>
            <p:cNvSpPr/>
            <p:nvPr/>
          </p:nvSpPr>
          <p:spPr>
            <a:xfrm>
              <a:off x="5677692" y="5212633"/>
              <a:ext cx="1701260" cy="267119"/>
            </a:xfrm>
            <a:prstGeom prst="rect">
              <a:avLst/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6384304" y="5267770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18%</a:t>
              </a:r>
            </a:p>
          </p:txBody>
        </p:sp>
        <p:sp>
          <p:nvSpPr>
            <p:cNvPr id="79" name="Rectangle 78"/>
            <p:cNvSpPr/>
            <p:nvPr/>
          </p:nvSpPr>
          <p:spPr>
            <a:xfrm>
              <a:off x="7399068" y="5212633"/>
              <a:ext cx="3727554" cy="267119"/>
            </a:xfrm>
            <a:prstGeom prst="rect">
              <a:avLst/>
            </a:prstGeom>
            <a:solidFill>
              <a:srgbClr val="0083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9118827" y="5267770"/>
              <a:ext cx="28803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FFFFFF"/>
                  </a:solidFill>
                  <a:latin typeface="IBM Plex Sans SemiBold"/>
                </a:rPr>
                <a:t>38%</a:t>
              </a:r>
            </a:p>
          </p:txBody>
        </p:sp>
        <p:sp>
          <p:nvSpPr>
            <p:cNvPr id="81" name="Round Same Side Corner Rectangle 80"/>
            <p:cNvSpPr/>
            <p:nvPr/>
          </p:nvSpPr>
          <p:spPr>
            <a:xfrm rot="5400000">
              <a:off x="11192758" y="5166614"/>
              <a:ext cx="267119" cy="359156"/>
            </a:xfrm>
            <a:prstGeom prst="round2SameRect">
              <a:avLst>
                <a:gd name="adj1" fmla="val 18827"/>
                <a:gd name="adj2" fmla="val 0"/>
              </a:avLst>
            </a:prstGeom>
            <a:solidFill>
              <a:srgbClr val="EDA1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11218494" y="5267770"/>
              <a:ext cx="21564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4%</a:t>
              </a:r>
            </a:p>
          </p:txBody>
        </p:sp>
      </p:grpSp>
      <p:sp>
        <p:nvSpPr>
          <p:cNvPr id="83" name="TextBox 82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Đắk Lắk là nơi nông nghiệp chiếm tỷ trọng cao nhất trong tám địa phương (38%).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Mỗi thanh là 100% GRDP năm 2025 (giá hiện hành); các phần cộng lại đúng một tổng.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85" name="TextBox 84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NSO và cục thống kê địa phương — cơ cấu GRDP 2025, giá hiện hành.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4 · THU NHẬP VÀ TĂNG TRƯỞNG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Địa phương có GRDP đầu người cao hơn có xu hướng tăng nhanh hơn: r = 0,53 trên 34 địa phương</a:t>
            </a:r>
          </a:p>
        </p:txBody>
      </p:sp>
      <p:grpSp>
        <p:nvGrpSpPr>
          <p:cNvPr id="5" name="Chart · scatter"/>
          <p:cNvGrpSpPr/>
          <p:nvPr/>
        </p:nvGrpSpPr>
        <p:grpSpPr>
          <a:xfrm>
            <a:off x="594360" y="1900619"/>
            <a:ext cx="10818571" cy="3619080"/>
            <a:chOff x="594360" y="1900619"/>
            <a:chExt cx="10818571" cy="3619080"/>
          </a:xfrm>
        </p:grpSpPr>
        <p:sp>
          <p:nvSpPr>
            <p:cNvPr id="6" name="Oval 5"/>
            <p:cNvSpPr/>
            <p:nvPr/>
          </p:nvSpPr>
          <p:spPr>
            <a:xfrm>
              <a:off x="603504" y="1932432"/>
              <a:ext cx="109728" cy="109728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95528" y="1900619"/>
              <a:ext cx="1494949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Địa phương được ghi tên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2546509" y="1932432"/>
              <a:ext cx="109728" cy="109728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738533" y="1900619"/>
              <a:ext cx="1039558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Địa phương khác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4024979" y="1987296"/>
              <a:ext cx="237744" cy="0"/>
            </a:xfrm>
            <a:prstGeom prst="line">
              <a:avLst/>
            </a:prstGeom>
            <a:ln w="28575" cap="flat">
              <a:solidFill>
                <a:srgbClr val="5B6170"/>
              </a:solidFill>
              <a:prstDash val="dash"/>
              <a:round/>
            </a:ln>
          </p:spPr>
        </p:cxnSp>
        <p:sp>
          <p:nvSpPr>
            <p:cNvPr id="11" name="TextBox 10"/>
            <p:cNvSpPr txBox="1"/>
            <p:nvPr/>
          </p:nvSpPr>
          <p:spPr>
            <a:xfrm>
              <a:off x="4335875" y="1900619"/>
              <a:ext cx="600170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Xu hướng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4360" y="2188464"/>
              <a:ext cx="151130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Tăng trưởng GRDP 2025, %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874776" y="5051958"/>
              <a:ext cx="10448239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679704" y="4969408"/>
              <a:ext cx="1036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4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874776" y="4418381"/>
              <a:ext cx="10448239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6" name="TextBox 15"/>
            <p:cNvSpPr txBox="1"/>
            <p:nvPr/>
          </p:nvSpPr>
          <p:spPr>
            <a:xfrm>
              <a:off x="679704" y="4335831"/>
              <a:ext cx="1036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6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874776" y="3784803"/>
              <a:ext cx="10448239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18" name="TextBox 17"/>
            <p:cNvSpPr txBox="1"/>
            <p:nvPr/>
          </p:nvSpPr>
          <p:spPr>
            <a:xfrm>
              <a:off x="679704" y="3702253"/>
              <a:ext cx="1036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8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874776" y="3151226"/>
              <a:ext cx="10448239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20" name="TextBox 19"/>
            <p:cNvSpPr txBox="1"/>
            <p:nvPr/>
          </p:nvSpPr>
          <p:spPr>
            <a:xfrm>
              <a:off x="603504" y="3068676"/>
              <a:ext cx="1798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10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874776" y="2517648"/>
              <a:ext cx="10448239" cy="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22" name="TextBox 21"/>
            <p:cNvSpPr txBox="1"/>
            <p:nvPr/>
          </p:nvSpPr>
          <p:spPr>
            <a:xfrm>
              <a:off x="603504" y="2435098"/>
              <a:ext cx="1798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12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874776" y="2517648"/>
              <a:ext cx="0" cy="253431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24" name="TextBox 23"/>
            <p:cNvSpPr txBox="1"/>
            <p:nvPr/>
          </p:nvSpPr>
          <p:spPr>
            <a:xfrm>
              <a:off x="822960" y="5125110"/>
              <a:ext cx="1036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0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2616149" y="2517648"/>
              <a:ext cx="0" cy="253431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26" name="TextBox 25"/>
            <p:cNvSpPr txBox="1"/>
            <p:nvPr/>
          </p:nvSpPr>
          <p:spPr>
            <a:xfrm>
              <a:off x="2564333" y="5125110"/>
              <a:ext cx="1036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2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4357522" y="2517648"/>
              <a:ext cx="0" cy="253431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28" name="TextBox 27"/>
            <p:cNvSpPr txBox="1"/>
            <p:nvPr/>
          </p:nvSpPr>
          <p:spPr>
            <a:xfrm>
              <a:off x="4305706" y="5125110"/>
              <a:ext cx="1036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4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>
              <a:off x="6098896" y="2517648"/>
              <a:ext cx="0" cy="253431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30" name="TextBox 29"/>
            <p:cNvSpPr txBox="1"/>
            <p:nvPr/>
          </p:nvSpPr>
          <p:spPr>
            <a:xfrm>
              <a:off x="6047080" y="5125110"/>
              <a:ext cx="1036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6</a:t>
              </a:r>
            </a:p>
          </p:txBody>
        </p:sp>
        <p:cxnSp>
          <p:nvCxnSpPr>
            <p:cNvPr id="31" name="Connector 30"/>
            <p:cNvCxnSpPr/>
            <p:nvPr/>
          </p:nvCxnSpPr>
          <p:spPr>
            <a:xfrm>
              <a:off x="7840269" y="2517648"/>
              <a:ext cx="0" cy="253431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32" name="TextBox 31"/>
            <p:cNvSpPr txBox="1"/>
            <p:nvPr/>
          </p:nvSpPr>
          <p:spPr>
            <a:xfrm>
              <a:off x="7788453" y="5125110"/>
              <a:ext cx="1036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8</a:t>
              </a:r>
            </a:p>
          </p:txBody>
        </p:sp>
        <p:cxnSp>
          <p:nvCxnSpPr>
            <p:cNvPr id="33" name="Connector 32"/>
            <p:cNvCxnSpPr/>
            <p:nvPr/>
          </p:nvCxnSpPr>
          <p:spPr>
            <a:xfrm>
              <a:off x="9581642" y="2517648"/>
              <a:ext cx="0" cy="253431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34" name="TextBox 33"/>
            <p:cNvSpPr txBox="1"/>
            <p:nvPr/>
          </p:nvSpPr>
          <p:spPr>
            <a:xfrm>
              <a:off x="9491726" y="5125110"/>
              <a:ext cx="1798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10</a:t>
              </a:r>
            </a:p>
          </p:txBody>
        </p:sp>
        <p:cxnSp>
          <p:nvCxnSpPr>
            <p:cNvPr id="35" name="Connector 34"/>
            <p:cNvCxnSpPr/>
            <p:nvPr/>
          </p:nvCxnSpPr>
          <p:spPr>
            <a:xfrm>
              <a:off x="11323015" y="2517648"/>
              <a:ext cx="0" cy="2534310"/>
            </a:xfrm>
            <a:prstGeom prst="line">
              <a:avLst/>
            </a:prstGeom>
            <a:ln w="9525" cap="flat">
              <a:solidFill>
                <a:srgbClr val="E1E0D9"/>
              </a:solidFill>
              <a:round/>
            </a:ln>
          </p:spPr>
        </p:cxnSp>
        <p:sp>
          <p:nvSpPr>
            <p:cNvPr id="36" name="TextBox 35"/>
            <p:cNvSpPr txBox="1"/>
            <p:nvPr/>
          </p:nvSpPr>
          <p:spPr>
            <a:xfrm>
              <a:off x="11233099" y="5125110"/>
              <a:ext cx="179832" cy="1651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0" i="0" lang="vi-VN">
                  <a:solidFill>
                    <a:srgbClr val="8A8F99"/>
                  </a:solidFill>
                  <a:latin typeface="IBM Plex Sans"/>
                </a:rPr>
                <a:t>12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8916003" y="5362854"/>
              <a:ext cx="2407012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8A8F99"/>
                  </a:solidFill>
                  <a:latin typeface="IBM Plex Sans"/>
                </a:rPr>
                <a:t>GRDP bình quân đầu người 2025, nghìn USD</a:t>
              </a:r>
            </a:p>
          </p:txBody>
        </p:sp>
        <p:cxnSp>
          <p:nvCxnSpPr>
            <p:cNvPr id="38" name="Connector 37"/>
            <p:cNvCxnSpPr/>
            <p:nvPr/>
          </p:nvCxnSpPr>
          <p:spPr>
            <a:xfrm flipV="1">
              <a:off x="2603089" y="2809792"/>
              <a:ext cx="7377327" cy="1180835"/>
            </a:xfrm>
            <a:prstGeom prst="line">
              <a:avLst/>
            </a:prstGeom>
            <a:ln w="15875" cap="flat">
              <a:solidFill>
                <a:srgbClr val="5B6170"/>
              </a:solidFill>
              <a:prstDash val="dash"/>
              <a:round/>
            </a:ln>
          </p:spPr>
        </p:cxnSp>
        <p:sp>
          <p:nvSpPr>
            <p:cNvPr id="39" name="TextBox 38"/>
            <p:cNvSpPr txBox="1"/>
            <p:nvPr/>
          </p:nvSpPr>
          <p:spPr>
            <a:xfrm>
              <a:off x="9504700" y="2575922"/>
              <a:ext cx="457429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r"/>
              <a:r>
                <a:rPr sz="950" b="0" i="0" lang="vi-VN">
                  <a:solidFill>
                    <a:srgbClr val="5B6170"/>
                  </a:solidFill>
                  <a:latin typeface="IBM Plex Sans SemiBold"/>
                </a:rPr>
                <a:t>r = 0,53</a:t>
              </a:r>
            </a:p>
          </p:txBody>
        </p:sp>
        <p:sp>
          <p:nvSpPr>
            <p:cNvPr id="40" name="Oval 39"/>
            <p:cNvSpPr/>
            <p:nvPr/>
          </p:nvSpPr>
          <p:spPr>
            <a:xfrm>
              <a:off x="3593267" y="3886570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3776112" y="3690161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2685141" y="3943592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3312906" y="3725008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3298105" y="3715504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4270662" y="3487416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Oval 45"/>
            <p:cNvSpPr/>
            <p:nvPr/>
          </p:nvSpPr>
          <p:spPr>
            <a:xfrm>
              <a:off x="3909327" y="3648978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3181433" y="3595124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3979852" y="3487416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3522742" y="3734511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3448733" y="3576117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4681626" y="3360700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4375144" y="3094598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3789172" y="3987942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3632448" y="4152672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4670307" y="4016453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4493557" y="4235038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4854892" y="3252992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Oval 57"/>
            <p:cNvSpPr/>
            <p:nvPr/>
          </p:nvSpPr>
          <p:spPr>
            <a:xfrm>
              <a:off x="3753474" y="3930920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Oval 58"/>
            <p:cNvSpPr/>
            <p:nvPr/>
          </p:nvSpPr>
          <p:spPr>
            <a:xfrm>
              <a:off x="3621129" y="3610964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4133093" y="3978439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3564535" y="3978439"/>
              <a:ext cx="100584" cy="100584"/>
            </a:xfrm>
            <a:prstGeom prst="ellipse">
              <a:avLst/>
            </a:prstGeom>
            <a:solidFill>
              <a:srgbClr val="C9CCD2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2718661" y="4232229"/>
              <a:ext cx="118872" cy="118872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2543653" y="3972462"/>
              <a:ext cx="118872" cy="118872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Oval 63"/>
            <p:cNvSpPr/>
            <p:nvPr/>
          </p:nvSpPr>
          <p:spPr>
            <a:xfrm>
              <a:off x="4696861" y="2927059"/>
              <a:ext cx="118872" cy="118872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4733430" y="4254404"/>
              <a:ext cx="118872" cy="118872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7065128" y="3674681"/>
              <a:ext cx="118872" cy="118872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5910598" y="3006257"/>
              <a:ext cx="118872" cy="118872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Oval 67"/>
            <p:cNvSpPr/>
            <p:nvPr/>
          </p:nvSpPr>
          <p:spPr>
            <a:xfrm>
              <a:off x="9920980" y="2493059"/>
              <a:ext cx="118872" cy="118872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3923691" y="2885877"/>
              <a:ext cx="118872" cy="118872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6985025" y="2518402"/>
              <a:ext cx="118872" cy="118872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Oval 70"/>
            <p:cNvSpPr/>
            <p:nvPr/>
          </p:nvSpPr>
          <p:spPr>
            <a:xfrm>
              <a:off x="6071675" y="3209001"/>
              <a:ext cx="118872" cy="118872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8322400" y="3874258"/>
              <a:ext cx="118872" cy="118872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3687735" y="4409631"/>
              <a:ext cx="118872" cy="118872"/>
            </a:xfrm>
            <a:prstGeom prst="ellipse">
              <a:avLst/>
            </a:prstGeom>
            <a:solidFill>
              <a:srgbClr val="2A78D6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2860393" y="4213243"/>
              <a:ext cx="759295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Tuyên Quang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2685385" y="3953476"/>
              <a:ext cx="552863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Cao Bằng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4838593" y="2908073"/>
              <a:ext cx="483972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Phú Thọ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4875162" y="4235418"/>
              <a:ext cx="7223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Thái Nguyên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7206860" y="3655694"/>
              <a:ext cx="397948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Hà Nội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6052330" y="2987270"/>
              <a:ext cx="527044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Bắc Ninh</a:t>
              </a:r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10062712" y="2474072"/>
              <a:ext cx="678701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Quảng Ninh</a:t>
              </a:r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065423" y="2866890"/>
              <a:ext cx="572770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Ninh Bình</a:t>
              </a: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7126757" y="2499415"/>
              <a:ext cx="59617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Hải Phòng</a:t>
              </a: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6213407" y="3190015"/>
              <a:ext cx="531628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Đồng Nai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8464132" y="3855271"/>
              <a:ext cx="473596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TP.HCM</a:t>
              </a:r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3829467" y="4390645"/>
              <a:ext cx="575424" cy="15684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50" b="0" i="0" lang="vi-VN">
                  <a:solidFill>
                    <a:srgbClr val="16181D"/>
                  </a:solidFill>
                  <a:latin typeface="IBM Plex Sans SemiBold"/>
                </a:rPr>
                <a:t>Vĩnh Long</a:t>
              </a:r>
            </a:p>
          </p:txBody>
        </p:sp>
      </p:grpSp>
      <p:sp>
        <p:nvSpPr>
          <p:cNvPr id="86" name="TextBox 85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Quảng Ninh vừa giàu nhất (10,5 nghìn USD/người) vừa tăng nhanh nhất (11,89%); TP.HCM giàu thứ hai nhưng chỉ tăng 7,53%.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r = 0,53: tương quan dương, mức vừa, không cho biết quan hệ nhân quả; 2025 ước tính.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88" name="TextBox 87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NSO và cục thống kê địa phương — GRDP và GRDP bình quân đầu người 2025 (USD).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4 · DÂN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Người từ 65 tuổi sẽ chiếm 20,3% dân số năm 2050, gấp 2,1 lần năm 2025</a:t>
            </a:r>
          </a:p>
        </p:txBody>
      </p:sp>
      <p:grpSp>
        <p:nvGrpSpPr>
          <p:cNvPr id="5" name="Chart · pyramid"/>
          <p:cNvGrpSpPr/>
          <p:nvPr/>
        </p:nvGrpSpPr>
        <p:grpSpPr>
          <a:xfrm>
            <a:off x="594360" y="1900619"/>
            <a:ext cx="7558505" cy="4757769"/>
            <a:chOff x="594360" y="1900619"/>
            <a:chExt cx="7558505" cy="4757769"/>
          </a:xfrm>
        </p:grpSpPr>
        <p:sp>
          <p:nvSpPr>
            <p:cNvPr id="6" name="Rounded Rectangle 5"/>
            <p:cNvSpPr/>
            <p:nvPr/>
          </p:nvSpPr>
          <p:spPr>
            <a:xfrm>
              <a:off x="594360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95528" y="1900619"/>
              <a:ext cx="664978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Nam 2025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707394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908562" y="1900619"/>
              <a:ext cx="551498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Nữ 2025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706948" y="1923288"/>
              <a:ext cx="128016" cy="128016"/>
            </a:xfrm>
            <a:prstGeom prst="rect">
              <a:avLst/>
            </a:prstGeom>
            <a:noFill/>
            <a:ln w="15875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908116" y="1900619"/>
              <a:ext cx="883406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2050 (dự báo)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4006444" y="2215896"/>
              <a:ext cx="0" cy="3672840"/>
            </a:xfrm>
            <a:prstGeom prst="line">
              <a:avLst/>
            </a:prstGeom>
            <a:ln w="6350" cap="flat">
              <a:solidFill>
                <a:srgbClr val="E1E0D9"/>
              </a:solidFill>
              <a:round/>
            </a:ln>
          </p:spPr>
        </p:cxnSp>
        <p:sp>
          <p:nvSpPr>
            <p:cNvPr id="13" name="TextBox 12"/>
            <p:cNvSpPr txBox="1"/>
            <p:nvPr/>
          </p:nvSpPr>
          <p:spPr>
            <a:xfrm>
              <a:off x="3905460" y="5934456"/>
              <a:ext cx="201968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8A8F99"/>
                  </a:solidFill>
                  <a:latin typeface="IBM Plex Sans"/>
                </a:rPr>
                <a:t>0%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4573372" y="2215896"/>
              <a:ext cx="0" cy="3672840"/>
            </a:xfrm>
            <a:prstGeom prst="line">
              <a:avLst/>
            </a:prstGeom>
            <a:ln w="6350" cap="flat">
              <a:solidFill>
                <a:srgbClr val="E1E0D9"/>
              </a:solidFill>
              <a:round/>
            </a:ln>
          </p:spPr>
        </p:cxnSp>
        <p:sp>
          <p:nvSpPr>
            <p:cNvPr id="15" name="TextBox 14"/>
            <p:cNvSpPr txBox="1"/>
            <p:nvPr/>
          </p:nvSpPr>
          <p:spPr>
            <a:xfrm>
              <a:off x="4472388" y="5934456"/>
              <a:ext cx="201968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8A8F99"/>
                  </a:solidFill>
                  <a:latin typeface="IBM Plex Sans"/>
                </a:rPr>
                <a:t>0%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3006242" y="2215896"/>
              <a:ext cx="0" cy="3672840"/>
            </a:xfrm>
            <a:prstGeom prst="line">
              <a:avLst/>
            </a:prstGeom>
            <a:ln w="6350" cap="flat">
              <a:solidFill>
                <a:srgbClr val="E1E0D9"/>
              </a:solidFill>
              <a:round/>
            </a:ln>
          </p:spPr>
        </p:cxnSp>
        <p:sp>
          <p:nvSpPr>
            <p:cNvPr id="17" name="TextBox 16"/>
            <p:cNvSpPr txBox="1"/>
            <p:nvPr/>
          </p:nvSpPr>
          <p:spPr>
            <a:xfrm>
              <a:off x="2905258" y="5934456"/>
              <a:ext cx="201968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8A8F99"/>
                  </a:solidFill>
                  <a:latin typeface="IBM Plex Sans"/>
                </a:rPr>
                <a:t>2%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73573" y="2215896"/>
              <a:ext cx="0" cy="3672840"/>
            </a:xfrm>
            <a:prstGeom prst="line">
              <a:avLst/>
            </a:prstGeom>
            <a:ln w="6350" cap="flat">
              <a:solidFill>
                <a:srgbClr val="E1E0D9"/>
              </a:solidFill>
              <a:round/>
            </a:ln>
          </p:spPr>
        </p:cxnSp>
        <p:sp>
          <p:nvSpPr>
            <p:cNvPr id="19" name="TextBox 18"/>
            <p:cNvSpPr txBox="1"/>
            <p:nvPr/>
          </p:nvSpPr>
          <p:spPr>
            <a:xfrm>
              <a:off x="5472589" y="5934456"/>
              <a:ext cx="201968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8A8F99"/>
                  </a:solidFill>
                  <a:latin typeface="IBM Plex Sans"/>
                </a:rPr>
                <a:t>2%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006041" y="2215896"/>
              <a:ext cx="0" cy="3672840"/>
            </a:xfrm>
            <a:prstGeom prst="line">
              <a:avLst/>
            </a:prstGeom>
            <a:ln w="6350" cap="flat">
              <a:solidFill>
                <a:srgbClr val="E1E0D9"/>
              </a:solidFill>
              <a:round/>
            </a:ln>
          </p:spPr>
        </p:cxnSp>
        <p:sp>
          <p:nvSpPr>
            <p:cNvPr id="21" name="TextBox 20"/>
            <p:cNvSpPr txBox="1"/>
            <p:nvPr/>
          </p:nvSpPr>
          <p:spPr>
            <a:xfrm>
              <a:off x="1905057" y="5934456"/>
              <a:ext cx="201968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8A8F99"/>
                  </a:solidFill>
                  <a:latin typeface="IBM Plex Sans"/>
                </a:rPr>
                <a:t>4%</a:t>
              </a:r>
            </a:p>
          </p:txBody>
        </p:sp>
        <p:cxnSp>
          <p:nvCxnSpPr>
            <p:cNvPr id="22" name="Connector 21"/>
            <p:cNvCxnSpPr/>
            <p:nvPr/>
          </p:nvCxnSpPr>
          <p:spPr>
            <a:xfrm>
              <a:off x="6573774" y="2215896"/>
              <a:ext cx="0" cy="3672840"/>
            </a:xfrm>
            <a:prstGeom prst="line">
              <a:avLst/>
            </a:prstGeom>
            <a:ln w="6350" cap="flat">
              <a:solidFill>
                <a:srgbClr val="E1E0D9"/>
              </a:solidFill>
              <a:round/>
            </a:ln>
          </p:spPr>
        </p:cxnSp>
        <p:sp>
          <p:nvSpPr>
            <p:cNvPr id="23" name="TextBox 22"/>
            <p:cNvSpPr txBox="1"/>
            <p:nvPr/>
          </p:nvSpPr>
          <p:spPr>
            <a:xfrm>
              <a:off x="6472790" y="5934456"/>
              <a:ext cx="201968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8A8F99"/>
                  </a:solidFill>
                  <a:latin typeface="IBM Plex Sans"/>
                </a:rPr>
                <a:t>4%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>
              <a:off x="1005840" y="2215896"/>
              <a:ext cx="0" cy="3672840"/>
            </a:xfrm>
            <a:prstGeom prst="line">
              <a:avLst/>
            </a:prstGeom>
            <a:ln w="6350" cap="flat">
              <a:solidFill>
                <a:srgbClr val="E1E0D9"/>
              </a:solidFill>
              <a:round/>
            </a:ln>
          </p:spPr>
        </p:cxnSp>
        <p:sp>
          <p:nvSpPr>
            <p:cNvPr id="25" name="TextBox 24"/>
            <p:cNvSpPr txBox="1"/>
            <p:nvPr/>
          </p:nvSpPr>
          <p:spPr>
            <a:xfrm>
              <a:off x="904856" y="5934456"/>
              <a:ext cx="201968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8A8F99"/>
                  </a:solidFill>
                  <a:latin typeface="IBM Plex Sans"/>
                </a:rPr>
                <a:t>6%</a:t>
              </a:r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7573975" y="2215896"/>
              <a:ext cx="0" cy="3672840"/>
            </a:xfrm>
            <a:prstGeom prst="line">
              <a:avLst/>
            </a:prstGeom>
            <a:ln w="6350" cap="flat">
              <a:solidFill>
                <a:srgbClr val="E1E0D9"/>
              </a:solidFill>
              <a:round/>
            </a:ln>
          </p:spPr>
        </p:cxnSp>
        <p:sp>
          <p:nvSpPr>
            <p:cNvPr id="27" name="TextBox 26"/>
            <p:cNvSpPr txBox="1"/>
            <p:nvPr/>
          </p:nvSpPr>
          <p:spPr>
            <a:xfrm>
              <a:off x="7472991" y="5934456"/>
              <a:ext cx="201968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8A8F99"/>
                  </a:solidFill>
                  <a:latin typeface="IBM Plex Sans"/>
                </a:rPr>
                <a:t>6%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173322" y="2249626"/>
              <a:ext cx="233172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 Medium"/>
                </a:rPr>
                <a:t>80+</a:t>
              </a:r>
            </a:p>
          </p:txBody>
        </p:sp>
        <p:sp>
          <p:nvSpPr>
            <p:cNvPr id="29" name="Round Same Side Corner Rectangle 28"/>
            <p:cNvSpPr/>
            <p:nvPr/>
          </p:nvSpPr>
          <p:spPr>
            <a:xfrm rot="16200000">
              <a:off x="3821484" y="2218900"/>
              <a:ext cx="159877" cy="210042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 Same Side Corner Rectangle 29"/>
            <p:cNvSpPr/>
            <p:nvPr/>
          </p:nvSpPr>
          <p:spPr>
            <a:xfrm rot="5400000">
              <a:off x="4770989" y="2046365"/>
              <a:ext cx="159877" cy="555112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146271" y="2243982"/>
              <a:ext cx="860173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4573372" y="2243982"/>
              <a:ext cx="1730348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4116114" y="2465675"/>
              <a:ext cx="34758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 Medium"/>
                </a:rPr>
                <a:t>75-79</a:t>
              </a:r>
            </a:p>
          </p:txBody>
        </p:sp>
        <p:sp>
          <p:nvSpPr>
            <p:cNvPr id="34" name="Round Same Side Corner Rectangle 33"/>
            <p:cNvSpPr/>
            <p:nvPr/>
          </p:nvSpPr>
          <p:spPr>
            <a:xfrm rot="16200000">
              <a:off x="3778976" y="2392440"/>
              <a:ext cx="159877" cy="295059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 Same Side Corner Rectangle 34"/>
            <p:cNvSpPr/>
            <p:nvPr/>
          </p:nvSpPr>
          <p:spPr>
            <a:xfrm rot="5400000">
              <a:off x="4738483" y="2294921"/>
              <a:ext cx="159877" cy="490099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191280" y="2460032"/>
              <a:ext cx="815164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4573372" y="2460032"/>
              <a:ext cx="1105222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4116114" y="2681725"/>
              <a:ext cx="34758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 Medium"/>
                </a:rPr>
                <a:t>70-74</a:t>
              </a:r>
            </a:p>
          </p:txBody>
        </p:sp>
        <p:sp>
          <p:nvSpPr>
            <p:cNvPr id="39" name="Round Same Side Corner Rectangle 38"/>
            <p:cNvSpPr/>
            <p:nvPr/>
          </p:nvSpPr>
          <p:spPr>
            <a:xfrm rot="16200000">
              <a:off x="3656451" y="2485965"/>
              <a:ext cx="159877" cy="540109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ound Same Side Corner Rectangle 39"/>
            <p:cNvSpPr/>
            <p:nvPr/>
          </p:nvSpPr>
          <p:spPr>
            <a:xfrm rot="5400000">
              <a:off x="4881011" y="2368442"/>
              <a:ext cx="159877" cy="775156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11223" y="2676081"/>
              <a:ext cx="1095220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573372" y="2676081"/>
              <a:ext cx="1345271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116114" y="2897774"/>
              <a:ext cx="34758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 Medium"/>
                </a:rPr>
                <a:t>65-69</a:t>
              </a:r>
            </a:p>
          </p:txBody>
        </p:sp>
        <p:sp>
          <p:nvSpPr>
            <p:cNvPr id="44" name="Round Same Side Corner Rectangle 43"/>
            <p:cNvSpPr/>
            <p:nvPr/>
          </p:nvSpPr>
          <p:spPr>
            <a:xfrm rot="16200000">
              <a:off x="3498919" y="2544483"/>
              <a:ext cx="159877" cy="855172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 Same Side Corner Rectangle 44"/>
            <p:cNvSpPr/>
            <p:nvPr/>
          </p:nvSpPr>
          <p:spPr>
            <a:xfrm rot="5400000">
              <a:off x="5061047" y="2404455"/>
              <a:ext cx="159877" cy="1135228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516144" y="2892131"/>
              <a:ext cx="1490300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573372" y="2892131"/>
              <a:ext cx="1695341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4116114" y="3113823"/>
              <a:ext cx="34758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 Medium"/>
                </a:rPr>
                <a:t>60-64</a:t>
              </a:r>
            </a:p>
          </p:txBody>
        </p:sp>
        <p:sp>
          <p:nvSpPr>
            <p:cNvPr id="49" name="Round Same Side Corner Rectangle 48"/>
            <p:cNvSpPr/>
            <p:nvPr/>
          </p:nvSpPr>
          <p:spPr>
            <a:xfrm rot="16200000">
              <a:off x="3346389" y="2608002"/>
              <a:ext cx="159877" cy="1160233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ound Same Side Corner Rectangle 49"/>
            <p:cNvSpPr/>
            <p:nvPr/>
          </p:nvSpPr>
          <p:spPr>
            <a:xfrm rot="5400000">
              <a:off x="5168569" y="2512983"/>
              <a:ext cx="159877" cy="1350272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2296100" y="3108180"/>
              <a:ext cx="1710344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4573372" y="3108180"/>
              <a:ext cx="1845371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4116114" y="3329873"/>
              <a:ext cx="34758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 Medium"/>
                </a:rPr>
                <a:t>55-59</a:t>
              </a:r>
            </a:p>
          </p:txBody>
        </p:sp>
        <p:sp>
          <p:nvSpPr>
            <p:cNvPr id="54" name="Round Same Side Corner Rectangle 53"/>
            <p:cNvSpPr/>
            <p:nvPr/>
          </p:nvSpPr>
          <p:spPr>
            <a:xfrm rot="16200000">
              <a:off x="3271374" y="2749036"/>
              <a:ext cx="159877" cy="1310264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ound Same Side Corner Rectangle 54"/>
            <p:cNvSpPr/>
            <p:nvPr/>
          </p:nvSpPr>
          <p:spPr>
            <a:xfrm rot="5400000">
              <a:off x="5208577" y="2689024"/>
              <a:ext cx="159877" cy="1430288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2376116" y="3324229"/>
              <a:ext cx="1630328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4573372" y="3324229"/>
              <a:ext cx="1735349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4116114" y="3545922"/>
              <a:ext cx="34758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 Medium"/>
                </a:rPr>
                <a:t>50-54</a:t>
              </a:r>
            </a:p>
          </p:txBody>
        </p:sp>
        <p:sp>
          <p:nvSpPr>
            <p:cNvPr id="59" name="Round Same Side Corner Rectangle 58"/>
            <p:cNvSpPr/>
            <p:nvPr/>
          </p:nvSpPr>
          <p:spPr>
            <a:xfrm rot="16200000">
              <a:off x="3183856" y="2877568"/>
              <a:ext cx="159877" cy="1485299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ound Same Side Corner Rectangle 59"/>
            <p:cNvSpPr/>
            <p:nvPr/>
          </p:nvSpPr>
          <p:spPr>
            <a:xfrm rot="5400000">
              <a:off x="5268589" y="2845061"/>
              <a:ext cx="159877" cy="1550312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2656172" y="3540279"/>
              <a:ext cx="1350272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4573372" y="3540279"/>
              <a:ext cx="1400282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4116114" y="3761972"/>
              <a:ext cx="34758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 Medium"/>
                </a:rPr>
                <a:t>45-49</a:t>
              </a:r>
            </a:p>
          </p:txBody>
        </p:sp>
        <p:sp>
          <p:nvSpPr>
            <p:cNvPr id="64" name="Round Same Side Corner Rectangle 63"/>
            <p:cNvSpPr/>
            <p:nvPr/>
          </p:nvSpPr>
          <p:spPr>
            <a:xfrm rot="16200000">
              <a:off x="3106340" y="3016102"/>
              <a:ext cx="159877" cy="1640330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ound Same Side Corner Rectangle 64"/>
            <p:cNvSpPr/>
            <p:nvPr/>
          </p:nvSpPr>
          <p:spPr>
            <a:xfrm rot="5400000">
              <a:off x="5338603" y="2991097"/>
              <a:ext cx="159877" cy="1690340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2606162" y="3756328"/>
              <a:ext cx="1400282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4573372" y="3756328"/>
              <a:ext cx="1445291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4116114" y="3978021"/>
              <a:ext cx="34758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 Medium"/>
                </a:rPr>
                <a:t>40-44</a:t>
              </a:r>
            </a:p>
          </p:txBody>
        </p:sp>
        <p:sp>
          <p:nvSpPr>
            <p:cNvPr id="69" name="Round Same Side Corner Rectangle 68"/>
            <p:cNvSpPr/>
            <p:nvPr/>
          </p:nvSpPr>
          <p:spPr>
            <a:xfrm rot="16200000">
              <a:off x="2931305" y="3057116"/>
              <a:ext cx="159877" cy="1990400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ound Same Side Corner Rectangle 69"/>
            <p:cNvSpPr/>
            <p:nvPr/>
          </p:nvSpPr>
          <p:spPr>
            <a:xfrm rot="5400000">
              <a:off x="5496135" y="3049614"/>
              <a:ext cx="159877" cy="2005403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2396120" y="3972378"/>
              <a:ext cx="1610324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4573372" y="3972378"/>
              <a:ext cx="1625327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4116114" y="4194070"/>
              <a:ext cx="34758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 Medium"/>
                </a:rPr>
                <a:t>35-39</a:t>
              </a:r>
            </a:p>
          </p:txBody>
        </p:sp>
        <p:sp>
          <p:nvSpPr>
            <p:cNvPr id="74" name="Round Same Side Corner Rectangle 73"/>
            <p:cNvSpPr/>
            <p:nvPr/>
          </p:nvSpPr>
          <p:spPr>
            <a:xfrm rot="16200000">
              <a:off x="2861291" y="3203151"/>
              <a:ext cx="159877" cy="2130429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Round Same Side Corner Rectangle 74"/>
            <p:cNvSpPr/>
            <p:nvPr/>
          </p:nvSpPr>
          <p:spPr>
            <a:xfrm rot="5400000">
              <a:off x="5553647" y="3208152"/>
              <a:ext cx="159877" cy="2120427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Rectangle 75"/>
            <p:cNvSpPr/>
            <p:nvPr/>
          </p:nvSpPr>
          <p:spPr>
            <a:xfrm>
              <a:off x="2076055" y="4188427"/>
              <a:ext cx="1930388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Rectangle 76"/>
            <p:cNvSpPr/>
            <p:nvPr/>
          </p:nvSpPr>
          <p:spPr>
            <a:xfrm>
              <a:off x="4573372" y="4188427"/>
              <a:ext cx="1900382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4116114" y="4410120"/>
              <a:ext cx="34758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 Medium"/>
                </a:rPr>
                <a:t>30-34</a:t>
              </a:r>
            </a:p>
          </p:txBody>
        </p:sp>
        <p:sp>
          <p:nvSpPr>
            <p:cNvPr id="79" name="Round Same Side Corner Rectangle 78"/>
            <p:cNvSpPr/>
            <p:nvPr/>
          </p:nvSpPr>
          <p:spPr>
            <a:xfrm rot="16200000">
              <a:off x="2951309" y="3509219"/>
              <a:ext cx="159877" cy="1950392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Round Same Side Corner Rectangle 79"/>
            <p:cNvSpPr/>
            <p:nvPr/>
          </p:nvSpPr>
          <p:spPr>
            <a:xfrm rot="5400000">
              <a:off x="5471130" y="3506718"/>
              <a:ext cx="159877" cy="1955393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2331107" y="4404477"/>
              <a:ext cx="1675337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4573372" y="4404477"/>
              <a:ext cx="1585319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4116114" y="4626169"/>
              <a:ext cx="34758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 Medium"/>
                </a:rPr>
                <a:t>25-29</a:t>
              </a:r>
            </a:p>
          </p:txBody>
        </p:sp>
        <p:sp>
          <p:nvSpPr>
            <p:cNvPr id="84" name="Round Same Side Corner Rectangle 83"/>
            <p:cNvSpPr/>
            <p:nvPr/>
          </p:nvSpPr>
          <p:spPr>
            <a:xfrm rot="16200000">
              <a:off x="3141347" y="3915306"/>
              <a:ext cx="159877" cy="1570316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Round Same Side Corner Rectangle 84"/>
            <p:cNvSpPr/>
            <p:nvPr/>
          </p:nvSpPr>
          <p:spPr>
            <a:xfrm rot="5400000">
              <a:off x="5273590" y="3920307"/>
              <a:ext cx="159877" cy="1560314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Rectangle 85"/>
            <p:cNvSpPr/>
            <p:nvPr/>
          </p:nvSpPr>
          <p:spPr>
            <a:xfrm>
              <a:off x="2466134" y="4620526"/>
              <a:ext cx="1540310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Rectangle 86"/>
            <p:cNvSpPr/>
            <p:nvPr/>
          </p:nvSpPr>
          <p:spPr>
            <a:xfrm>
              <a:off x="4573372" y="4620526"/>
              <a:ext cx="1415285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4116114" y="4842219"/>
              <a:ext cx="34758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 Medium"/>
                </a:rPr>
                <a:t>20-24</a:t>
              </a:r>
            </a:p>
          </p:txBody>
        </p:sp>
        <p:sp>
          <p:nvSpPr>
            <p:cNvPr id="89" name="Round Same Side Corner Rectangle 88"/>
            <p:cNvSpPr/>
            <p:nvPr/>
          </p:nvSpPr>
          <p:spPr>
            <a:xfrm rot="16200000">
              <a:off x="3118843" y="4108851"/>
              <a:ext cx="159877" cy="1615325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Round Same Side Corner Rectangle 89"/>
            <p:cNvSpPr/>
            <p:nvPr/>
          </p:nvSpPr>
          <p:spPr>
            <a:xfrm rot="5400000">
              <a:off x="5296095" y="4113852"/>
              <a:ext cx="159877" cy="1605323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Rectangle 90"/>
            <p:cNvSpPr/>
            <p:nvPr/>
          </p:nvSpPr>
          <p:spPr>
            <a:xfrm>
              <a:off x="2566154" y="4836575"/>
              <a:ext cx="1440290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4573372" y="4836575"/>
              <a:ext cx="1335269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4116114" y="5058268"/>
              <a:ext cx="34758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 Medium"/>
                </a:rPr>
                <a:t>15-19</a:t>
              </a:r>
            </a:p>
          </p:txBody>
        </p:sp>
        <p:sp>
          <p:nvSpPr>
            <p:cNvPr id="94" name="Round Same Side Corner Rectangle 93"/>
            <p:cNvSpPr/>
            <p:nvPr/>
          </p:nvSpPr>
          <p:spPr>
            <a:xfrm rot="16200000">
              <a:off x="2996318" y="4202376"/>
              <a:ext cx="159877" cy="1860374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Round Same Side Corner Rectangle 94"/>
            <p:cNvSpPr/>
            <p:nvPr/>
          </p:nvSpPr>
          <p:spPr>
            <a:xfrm rot="5400000">
              <a:off x="5401116" y="4224880"/>
              <a:ext cx="159877" cy="1815365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2531147" y="5052625"/>
              <a:ext cx="1475297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4573372" y="5052625"/>
              <a:ext cx="1375277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4116114" y="5274317"/>
              <a:ext cx="34758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 Medium"/>
                </a:rPr>
                <a:t>10-14</a:t>
              </a:r>
            </a:p>
          </p:txBody>
        </p:sp>
        <p:sp>
          <p:nvSpPr>
            <p:cNvPr id="99" name="Round Same Side Corner Rectangle 98"/>
            <p:cNvSpPr/>
            <p:nvPr/>
          </p:nvSpPr>
          <p:spPr>
            <a:xfrm rot="16200000">
              <a:off x="2823783" y="4245891"/>
              <a:ext cx="159877" cy="2205444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Round Same Side Corner Rectangle 99"/>
            <p:cNvSpPr/>
            <p:nvPr/>
          </p:nvSpPr>
          <p:spPr>
            <a:xfrm rot="5400000">
              <a:off x="5551146" y="4290900"/>
              <a:ext cx="159877" cy="2115426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2496140" y="5268674"/>
              <a:ext cx="1510304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Rectangle 101"/>
            <p:cNvSpPr/>
            <p:nvPr/>
          </p:nvSpPr>
          <p:spPr>
            <a:xfrm>
              <a:off x="4573372" y="5268674"/>
              <a:ext cx="1415285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4184694" y="5490367"/>
              <a:ext cx="21042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 Medium"/>
                </a:rPr>
                <a:t>5-9</a:t>
              </a:r>
            </a:p>
          </p:txBody>
        </p:sp>
        <p:sp>
          <p:nvSpPr>
            <p:cNvPr id="104" name="Round Same Side Corner Rectangle 103"/>
            <p:cNvSpPr/>
            <p:nvPr/>
          </p:nvSpPr>
          <p:spPr>
            <a:xfrm rot="16200000">
              <a:off x="2971313" y="4609470"/>
              <a:ext cx="159877" cy="1910384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Round Same Side Corner Rectangle 104"/>
            <p:cNvSpPr/>
            <p:nvPr/>
          </p:nvSpPr>
          <p:spPr>
            <a:xfrm rot="5400000">
              <a:off x="5378611" y="4679484"/>
              <a:ext cx="159877" cy="1770356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2531147" y="5484724"/>
              <a:ext cx="1475297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Rectangle 106"/>
            <p:cNvSpPr/>
            <p:nvPr/>
          </p:nvSpPr>
          <p:spPr>
            <a:xfrm>
              <a:off x="4573372" y="5484724"/>
              <a:ext cx="1380278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4184694" y="5706416"/>
              <a:ext cx="21042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900" b="0" i="0" lang="vi-VN">
                  <a:solidFill>
                    <a:srgbClr val="5B6170"/>
                  </a:solidFill>
                  <a:latin typeface="IBM Plex Sans Medium"/>
                </a:rPr>
                <a:t>0-4</a:t>
              </a:r>
            </a:p>
          </p:txBody>
        </p:sp>
        <p:sp>
          <p:nvSpPr>
            <p:cNvPr id="109" name="Round Same Side Corner Rectangle 108"/>
            <p:cNvSpPr/>
            <p:nvPr/>
          </p:nvSpPr>
          <p:spPr>
            <a:xfrm rot="16200000">
              <a:off x="3048829" y="4903035"/>
              <a:ext cx="159877" cy="1755353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Round Same Side Corner Rectangle 109"/>
            <p:cNvSpPr/>
            <p:nvPr/>
          </p:nvSpPr>
          <p:spPr>
            <a:xfrm rot="5400000">
              <a:off x="5288593" y="4985551"/>
              <a:ext cx="159877" cy="1590320"/>
            </a:xfrm>
            <a:prstGeom prst="round2SameRect">
              <a:avLst>
                <a:gd name="adj1" fmla="val 20017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Rectangle 110"/>
            <p:cNvSpPr/>
            <p:nvPr/>
          </p:nvSpPr>
          <p:spPr>
            <a:xfrm>
              <a:off x="2631167" y="5700773"/>
              <a:ext cx="1375277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Rectangle 111"/>
            <p:cNvSpPr/>
            <p:nvPr/>
          </p:nvSpPr>
          <p:spPr>
            <a:xfrm>
              <a:off x="4573372" y="5700773"/>
              <a:ext cx="1290260" cy="159877"/>
            </a:xfrm>
            <a:prstGeom prst="rect">
              <a:avLst/>
            </a:prstGeom>
            <a:noFill/>
            <a:ln w="12700" cap="rnd">
              <a:solidFill>
                <a:srgbClr val="16181D"/>
              </a:solidFill>
              <a:prstDash val="sysDash"/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13" name="Connector 112"/>
            <p:cNvCxnSpPr/>
            <p:nvPr/>
          </p:nvCxnSpPr>
          <p:spPr>
            <a:xfrm>
              <a:off x="6303720" y="2323921"/>
              <a:ext cx="365760" cy="0"/>
            </a:xfrm>
            <a:prstGeom prst="line">
              <a:avLst/>
            </a:prstGeom>
            <a:ln w="9525" cap="rnd">
              <a:solidFill>
                <a:srgbClr val="5B6170"/>
              </a:solidFill>
              <a:round/>
            </a:ln>
          </p:spPr>
        </p:cxnSp>
        <p:sp>
          <p:nvSpPr>
            <p:cNvPr id="114" name="Oval 113"/>
            <p:cNvSpPr/>
            <p:nvPr/>
          </p:nvSpPr>
          <p:spPr>
            <a:xfrm>
              <a:off x="6271716" y="2291917"/>
              <a:ext cx="64008" cy="64008"/>
            </a:xfrm>
            <a:prstGeom prst="ellipse">
              <a:avLst/>
            </a:prstGeom>
            <a:solidFill>
              <a:srgbClr val="16181D"/>
            </a:solidFill>
            <a:ln w="9525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751776" y="2240577"/>
              <a:ext cx="1401089" cy="1666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05000"/>
                </a:lnSpc>
              </a:pPr>
              <a:r>
                <a:rPr sz="1050" b="0" i="0" lang="vi-VN">
                  <a:solidFill>
                    <a:srgbClr val="16181D"/>
                  </a:solidFill>
                  <a:latin typeface="IBM Plex Sans SemiBold"/>
                </a:rPr>
                <a:t>Nữ 80+: 1,1% → 3,5%</a:t>
              </a:r>
            </a:p>
          </p:txBody>
        </p:sp>
      </p:grpSp>
      <p:sp>
        <p:nvSpPr>
          <p:cNvPr id="116" name="Rectangle 115"/>
          <p:cNvSpPr/>
          <p:nvPr/>
        </p:nvSpPr>
        <p:spPr>
          <a:xfrm>
            <a:off x="8351215" y="1877568"/>
            <a:ext cx="3246120" cy="4285488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607247" y="2151888"/>
            <a:ext cx="2734056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 lang="vi-VN" spc="80">
                <a:solidFill>
                  <a:srgbClr val="5B6170"/>
                </a:solidFill>
                <a:latin typeface="IBM Plex Sans SemiBold"/>
              </a:rPr>
              <a:t>TỶ TRỌNG 65+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07247" y="2444496"/>
            <a:ext cx="2734056" cy="5308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sz="3800" b="1" i="0" lang="vi-VN">
                <a:solidFill>
                  <a:srgbClr val="16181D"/>
                </a:solidFill>
                <a:latin typeface="IBM Plex Sans"/>
              </a:rPr>
              <a:t>9,7 → 20,3</a:t>
            </a:r>
            <a:r>
              <a:rPr sz="1400" b="0" i="0" lang="vi-VN">
                <a:solidFill>
                  <a:srgbClr val="5B6170"/>
                </a:solidFill>
                <a:latin typeface="IBM Plex Sans SemiBold"/>
              </a:rPr>
              <a:t> 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607247" y="3066796"/>
            <a:ext cx="2734056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 lang="vi-VN">
                <a:solidFill>
                  <a:srgbClr val="8A8F99"/>
                </a:solidFill>
                <a:latin typeface="IBM Plex Sans"/>
              </a:rPr>
              <a:t>2025 → 2050, phương án trung bình của Liên Hợp Quốc.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8607247" y="3584956"/>
            <a:ext cx="2734056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21" name="TextBox 120"/>
          <p:cNvSpPr txBox="1"/>
          <p:nvPr/>
        </p:nvSpPr>
        <p:spPr>
          <a:xfrm>
            <a:off x="8607247" y="3722116"/>
            <a:ext cx="2734056" cy="6572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Nhóm 0–14 tuổi giảm từ 22,7% xuống 16,9% dân số; nhóm 65+ tăng từ 9,7% lên 20,3%.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607247" y="4489069"/>
            <a:ext cx="2734056" cy="6046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50" b="0" i="0" lang="vi-VN">
                <a:solidFill>
                  <a:srgbClr val="5B6170"/>
                </a:solidFill>
                <a:latin typeface="IBM Plex Sans"/>
              </a:rPr>
              <a:t>Viền đứt là dự báo 2050 (UN WPP 2024, phương án trung bình), không phải số đếm.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24" name="TextBox 123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Liên Hợp Quốc — World Population Prospects 2024, Việt Nam; % tổng dân số, 31/12 mỗi năm.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56692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146304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sz="12000" b="1" i="0" lang="vi-VN">
                <a:solidFill>
                  <a:srgbClr val="C2362F"/>
                </a:solidFill>
                <a:latin typeface="Newsreader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154680"/>
            <a:ext cx="658368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800" b="1" i="0" lang="vi-VN">
                <a:solidFill>
                  <a:srgbClr val="16181D"/>
                </a:solidFill>
                <a:latin typeface="Newsreader"/>
              </a:rPr>
              <a:t>Mục tiêu, lịch và theo dõi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709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 lang="vi-VN">
                <a:solidFill>
                  <a:srgbClr val="5B6170"/>
                </a:solidFill>
                <a:latin typeface="IBM Plex Sans"/>
              </a:rPr>
              <a:t>Tiến độ so với mục tiêu năm 2026, các mốc chính sách đã qua và sắp tới, phụ lục số liệu.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0" y="1600200"/>
            <a:ext cx="36420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lang="vi-VN" spc="120">
                <a:solidFill>
                  <a:srgbClr val="5B6170"/>
                </a:solidFill>
                <a:latin typeface="IBM Plex Sans SemiBold"/>
              </a:rPr>
              <a:t>TRONG CHƯƠNG NÀY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955280" y="196596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8" name="TextBox 7"/>
          <p:cNvSpPr txBox="1"/>
          <p:nvPr/>
        </p:nvSpPr>
        <p:spPr>
          <a:xfrm>
            <a:off x="7955280" y="205740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Tiến độ so với mục tiêu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80" y="244983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0" name="TextBox 9"/>
          <p:cNvSpPr txBox="1"/>
          <p:nvPr/>
        </p:nvSpPr>
        <p:spPr>
          <a:xfrm>
            <a:off x="7955280" y="254127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Dòng thời gian 2026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55280" y="293370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2" name="TextBox 11"/>
          <p:cNvSpPr txBox="1"/>
          <p:nvPr/>
        </p:nvSpPr>
        <p:spPr>
          <a:xfrm>
            <a:off x="7955280" y="302514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Ba điều cần theo dõi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955280" y="341757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4" name="TextBox 13"/>
          <p:cNvSpPr txBox="1"/>
          <p:nvPr/>
        </p:nvSpPr>
        <p:spPr>
          <a:xfrm>
            <a:off x="7955280" y="350901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Phụ lục số liệu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55280" y="390144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7955280" y="399288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Biểu đồ gốc chỉnh sửa được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55280" y="4385310"/>
            <a:ext cx="364205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8" name="TextBox 17"/>
          <p:cNvSpPr txBox="1"/>
          <p:nvPr/>
        </p:nvSpPr>
        <p:spPr>
          <a:xfrm>
            <a:off x="7955280" y="4476750"/>
            <a:ext cx="3642055" cy="255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Nguồn và phương pháp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20" name="TextBox 19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5 · TIẾN ĐỘ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Chín tháng: GDP đạt 9,01% so với mục tiêu từ 10%; thu ngân sách đạt 86% dự toán</a:t>
            </a:r>
          </a:p>
        </p:txBody>
      </p:sp>
      <p:grpSp>
        <p:nvGrpSpPr>
          <p:cNvPr id="5" name="Chart · bullet"/>
          <p:cNvGrpSpPr/>
          <p:nvPr/>
        </p:nvGrpSpPr>
        <p:grpSpPr>
          <a:xfrm>
            <a:off x="594360" y="422994"/>
            <a:ext cx="10948111" cy="6323491"/>
            <a:chOff x="594360" y="422994"/>
            <a:chExt cx="10948111" cy="6323491"/>
          </a:xfrm>
        </p:grpSpPr>
        <p:sp>
          <p:nvSpPr>
            <p:cNvPr id="6" name="Rounded Rectangle 5"/>
            <p:cNvSpPr/>
            <p:nvPr/>
          </p:nvSpPr>
          <p:spPr>
            <a:xfrm>
              <a:off x="594360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16181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95528" y="1900619"/>
              <a:ext cx="622440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Thực hiện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1728864" y="1905000"/>
              <a:ext cx="0" cy="164592"/>
            </a:xfrm>
            <a:prstGeom prst="line">
              <a:avLst/>
            </a:prstGeom>
            <a:ln w="31750" cap="flat">
              <a:solidFill>
                <a:srgbClr val="C2362F"/>
              </a:solidFill>
              <a:round/>
            </a:ln>
          </p:spPr>
        </p:cxnSp>
        <p:sp>
          <p:nvSpPr>
            <p:cNvPr id="9" name="TextBox 8"/>
            <p:cNvSpPr txBox="1"/>
            <p:nvPr/>
          </p:nvSpPr>
          <p:spPr>
            <a:xfrm>
              <a:off x="1866024" y="1900619"/>
              <a:ext cx="548164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Mục tiêu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661075" y="1923288"/>
              <a:ext cx="128016" cy="128016"/>
            </a:xfrm>
            <a:prstGeom prst="roundRect">
              <a:avLst>
                <a:gd name="adj" fmla="val 17857"/>
              </a:avLst>
            </a:prstGeom>
            <a:solidFill>
              <a:srgbClr val="E4E2D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862243" y="1900619"/>
              <a:ext cx="1049160" cy="17335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i="0" lang="vi-VN">
                  <a:solidFill>
                    <a:srgbClr val="16181D"/>
                  </a:solidFill>
                  <a:latin typeface="IBM Plex Sans Medium"/>
                </a:rPr>
                <a:t>Vùng tham chiếu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4360" y="2413714"/>
              <a:ext cx="1172026" cy="18986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50" b="0" i="0" lang="vi-VN">
                  <a:solidFill>
                    <a:srgbClr val="16181D"/>
                  </a:solidFill>
                  <a:latin typeface="IBM Plex Sans SemiBold"/>
                </a:rPr>
                <a:t>Tăng trưởng GDP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4360" y="2626375"/>
              <a:ext cx="2534374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>
                  <a:solidFill>
                    <a:srgbClr val="8A8F99"/>
                  </a:solidFill>
                  <a:latin typeface="IBM Plex Sans"/>
                </a:rPr>
                <a:t>9 tháng so cùng kỳ; vùng đậm = dự báo IMF–ADB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375622" y="2435494"/>
              <a:ext cx="3416744" cy="310896"/>
            </a:xfrm>
            <a:prstGeom prst="rect">
              <a:avLst/>
            </a:prstGeom>
            <a:solidFill>
              <a:srgbClr val="EEECE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792366" y="2435494"/>
              <a:ext cx="336862" cy="310896"/>
            </a:xfrm>
            <a:prstGeom prst="rect">
              <a:avLst/>
            </a:prstGeom>
            <a:solidFill>
              <a:srgbClr val="E4E2D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129228" y="2435494"/>
              <a:ext cx="2021173" cy="310896"/>
            </a:xfrm>
            <a:prstGeom prst="rect">
              <a:avLst/>
            </a:prstGeom>
            <a:solidFill>
              <a:srgbClr val="D9D7C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 Same Side Corner Rectangle 16"/>
            <p:cNvSpPr/>
            <p:nvPr/>
          </p:nvSpPr>
          <p:spPr>
            <a:xfrm rot="5400000">
              <a:off x="5484500" y="422994"/>
              <a:ext cx="118140" cy="4335896"/>
            </a:xfrm>
            <a:prstGeom prst="round2SameRect">
              <a:avLst>
                <a:gd name="adj1" fmla="val 23219"/>
                <a:gd name="adj2" fmla="val 0"/>
              </a:avLst>
            </a:prstGeom>
            <a:solidFill>
              <a:srgbClr val="16181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8187938" y="2389774"/>
              <a:ext cx="0" cy="402336"/>
            </a:xfrm>
            <a:prstGeom prst="line">
              <a:avLst/>
            </a:prstGeom>
            <a:ln w="31750" cap="flat">
              <a:solidFill>
                <a:srgbClr val="C2362F"/>
              </a:solidFill>
              <a:round/>
            </a:ln>
          </p:spPr>
        </p:cxnSp>
        <p:sp>
          <p:nvSpPr>
            <p:cNvPr id="19" name="TextBox 18"/>
            <p:cNvSpPr txBox="1"/>
            <p:nvPr/>
          </p:nvSpPr>
          <p:spPr>
            <a:xfrm>
              <a:off x="3375622" y="2782966"/>
              <a:ext cx="182575" cy="1320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00" b="0" i="0" lang="vi-VN">
                  <a:solidFill>
                    <a:srgbClr val="8A8F99"/>
                  </a:solidFill>
                  <a:latin typeface="IBM Plex Sans"/>
                </a:rPr>
                <a:t>0%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028633" y="2782966"/>
              <a:ext cx="243535" cy="1320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00" b="0" i="0" lang="vi-VN">
                  <a:solidFill>
                    <a:srgbClr val="8A8F99"/>
                  </a:solidFill>
                  <a:latin typeface="IBM Plex Sans"/>
                </a:rPr>
                <a:t>12%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333281" y="2491882"/>
              <a:ext cx="1458265" cy="1981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200" b="1" i="0" lang="vi-VN">
                  <a:solidFill>
                    <a:srgbClr val="16181D"/>
                  </a:solidFill>
                  <a:latin typeface="IBM Plex Sans"/>
                </a:rPr>
                <a:t>9,01%</a:t>
              </a: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  mục tiêu từ 10%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94360" y="3072366"/>
              <a:ext cx="1368609" cy="18986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50" b="0" i="0" lang="vi-VN">
                  <a:solidFill>
                    <a:srgbClr val="16181D"/>
                  </a:solidFill>
                  <a:latin typeface="IBM Plex Sans SemiBold"/>
                </a:rPr>
                <a:t>Lạm phát bình quân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94360" y="3285028"/>
              <a:ext cx="1523505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>
                  <a:solidFill>
                    <a:srgbClr val="8A8F99"/>
                  </a:solidFill>
                  <a:latin typeface="IBM Plex Sans"/>
                </a:rPr>
                <a:t>9 tháng; mục tiêu là mức trần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375622" y="3094147"/>
              <a:ext cx="5774779" cy="310896"/>
            </a:xfrm>
            <a:prstGeom prst="rect">
              <a:avLst/>
            </a:prstGeom>
            <a:solidFill>
              <a:srgbClr val="EEECE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 Same Side Corner Rectangle 24"/>
            <p:cNvSpPr/>
            <p:nvPr/>
          </p:nvSpPr>
          <p:spPr>
            <a:xfrm rot="5400000">
              <a:off x="5491718" y="1074428"/>
              <a:ext cx="118140" cy="4350333"/>
            </a:xfrm>
            <a:prstGeom prst="round2SameRect">
              <a:avLst>
                <a:gd name="adj1" fmla="val 23219"/>
                <a:gd name="adj2" fmla="val 0"/>
              </a:avLst>
            </a:prstGeom>
            <a:solidFill>
              <a:srgbClr val="E349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7706706" y="3048427"/>
              <a:ext cx="0" cy="402336"/>
            </a:xfrm>
            <a:prstGeom prst="line">
              <a:avLst/>
            </a:prstGeom>
            <a:ln w="31750" cap="flat">
              <a:solidFill>
                <a:srgbClr val="C2362F"/>
              </a:solidFill>
              <a:round/>
            </a:ln>
          </p:spPr>
        </p:cxnSp>
        <p:sp>
          <p:nvSpPr>
            <p:cNvPr id="27" name="TextBox 26"/>
            <p:cNvSpPr txBox="1"/>
            <p:nvPr/>
          </p:nvSpPr>
          <p:spPr>
            <a:xfrm>
              <a:off x="3375622" y="3441619"/>
              <a:ext cx="182575" cy="1320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00" b="0" i="0" lang="vi-VN">
                  <a:solidFill>
                    <a:srgbClr val="8A8F99"/>
                  </a:solidFill>
                  <a:latin typeface="IBM Plex Sans"/>
                </a:rPr>
                <a:t>0%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059113" y="3441619"/>
              <a:ext cx="182575" cy="1320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00" b="0" i="0" lang="vi-VN">
                  <a:solidFill>
                    <a:srgbClr val="8A8F99"/>
                  </a:solidFill>
                  <a:latin typeface="IBM Plex Sans"/>
                </a:rPr>
                <a:t>6%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333281" y="3150535"/>
              <a:ext cx="2209190" cy="1981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200" b="1" i="0" lang="vi-VN">
                  <a:solidFill>
                    <a:srgbClr val="16181D"/>
                  </a:solidFill>
                  <a:latin typeface="IBM Plex Sans"/>
                </a:rPr>
                <a:t>4,52%</a:t>
              </a: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  trần 4,5% — vượt 0,02 điểm %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94360" y="3731019"/>
              <a:ext cx="1427905" cy="18986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50" b="0" i="0" lang="vi-VN">
                  <a:solidFill>
                    <a:srgbClr val="16181D"/>
                  </a:solidFill>
                  <a:latin typeface="IBM Plex Sans SemiBold"/>
                </a:rPr>
                <a:t>Tăng trưởng tín dụng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94360" y="3943680"/>
              <a:ext cx="2132266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>
                  <a:solidFill>
                    <a:srgbClr val="8A8F99"/>
                  </a:solidFill>
                  <a:latin typeface="IBM Plex Sans"/>
                </a:rPr>
                <a:t>từ đầu năm đến 30/9; định hướng cả năm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375622" y="3752799"/>
              <a:ext cx="5774779" cy="310896"/>
            </a:xfrm>
            <a:prstGeom prst="rect">
              <a:avLst/>
            </a:prstGeom>
            <a:solidFill>
              <a:srgbClr val="EEECE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 Same Side Corner Rectangle 32"/>
            <p:cNvSpPr/>
            <p:nvPr/>
          </p:nvSpPr>
          <p:spPr>
            <a:xfrm rot="5400000">
              <a:off x="4989794" y="2235005"/>
              <a:ext cx="118140" cy="3346484"/>
            </a:xfrm>
            <a:prstGeom prst="round2SameRect">
              <a:avLst>
                <a:gd name="adj1" fmla="val 23219"/>
                <a:gd name="adj2" fmla="val 0"/>
              </a:avLst>
            </a:prstGeom>
            <a:solidFill>
              <a:srgbClr val="16181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4" name="Connector 33"/>
            <p:cNvCxnSpPr/>
            <p:nvPr/>
          </p:nvCxnSpPr>
          <p:spPr>
            <a:xfrm>
              <a:off x="7706706" y="3707079"/>
              <a:ext cx="0" cy="402336"/>
            </a:xfrm>
            <a:prstGeom prst="line">
              <a:avLst/>
            </a:prstGeom>
            <a:ln w="31750" cap="flat">
              <a:solidFill>
                <a:srgbClr val="C2362F"/>
              </a:solidFill>
              <a:round/>
            </a:ln>
          </p:spPr>
        </p:cxnSp>
        <p:sp>
          <p:nvSpPr>
            <p:cNvPr id="35" name="TextBox 34"/>
            <p:cNvSpPr txBox="1"/>
            <p:nvPr/>
          </p:nvSpPr>
          <p:spPr>
            <a:xfrm>
              <a:off x="3375622" y="4100271"/>
              <a:ext cx="182575" cy="1320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00" b="0" i="0" lang="vi-VN">
                  <a:solidFill>
                    <a:srgbClr val="8A8F99"/>
                  </a:solidFill>
                  <a:latin typeface="IBM Plex Sans"/>
                </a:rPr>
                <a:t>0%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28633" y="4100271"/>
              <a:ext cx="243535" cy="1320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00" b="0" i="0" lang="vi-VN">
                  <a:solidFill>
                    <a:srgbClr val="8A8F99"/>
                  </a:solidFill>
                  <a:latin typeface="IBM Plex Sans"/>
                </a:rPr>
                <a:t>20%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333281" y="3809187"/>
              <a:ext cx="1928908" cy="1981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200" b="1" i="0" lang="vi-VN">
                  <a:solidFill>
                    <a:srgbClr val="16181D"/>
                  </a:solidFill>
                  <a:latin typeface="IBM Plex Sans"/>
                </a:rPr>
                <a:t>11,59%</a:t>
              </a: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  = 77% định hướng 15%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94360" y="4389671"/>
              <a:ext cx="1001147" cy="18986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50" b="0" i="0" lang="vi-VN">
                  <a:solidFill>
                    <a:srgbClr val="16181D"/>
                  </a:solidFill>
                  <a:latin typeface="IBM Plex Sans SemiBold"/>
                </a:rPr>
                <a:t>Thu ngân sách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594360" y="4602333"/>
              <a:ext cx="2049513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>
                  <a:solidFill>
                    <a:srgbClr val="8A8F99"/>
                  </a:solidFill>
                  <a:latin typeface="IBM Plex Sans"/>
                </a:rPr>
                <a:t>9 tháng, nghìn tỷ; so với dự toán cả năm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375622" y="4411452"/>
              <a:ext cx="5774779" cy="310896"/>
            </a:xfrm>
            <a:prstGeom prst="rect">
              <a:avLst/>
            </a:prstGeom>
            <a:solidFill>
              <a:srgbClr val="EEECE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 Same Side Corner Rectangle 40"/>
            <p:cNvSpPr/>
            <p:nvPr/>
          </p:nvSpPr>
          <p:spPr>
            <a:xfrm rot="5400000">
              <a:off x="5421747" y="2461704"/>
              <a:ext cx="118140" cy="4210391"/>
            </a:xfrm>
            <a:prstGeom prst="round2SameRect">
              <a:avLst>
                <a:gd name="adj1" fmla="val 23219"/>
                <a:gd name="adj2" fmla="val 0"/>
              </a:avLst>
            </a:prstGeom>
            <a:solidFill>
              <a:srgbClr val="16181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2" name="Connector 41"/>
            <p:cNvCxnSpPr/>
            <p:nvPr/>
          </p:nvCxnSpPr>
          <p:spPr>
            <a:xfrm>
              <a:off x="8244659" y="4365732"/>
              <a:ext cx="0" cy="402336"/>
            </a:xfrm>
            <a:prstGeom prst="line">
              <a:avLst/>
            </a:prstGeom>
            <a:ln w="31750" cap="flat">
              <a:solidFill>
                <a:srgbClr val="C2362F"/>
              </a:solidFill>
              <a:round/>
            </a:ln>
          </p:spPr>
        </p:cxnSp>
        <p:sp>
          <p:nvSpPr>
            <p:cNvPr id="43" name="TextBox 42"/>
            <p:cNvSpPr txBox="1"/>
            <p:nvPr/>
          </p:nvSpPr>
          <p:spPr>
            <a:xfrm>
              <a:off x="3375622" y="4758924"/>
              <a:ext cx="88392" cy="1320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00" b="0" i="0" lang="vi-VN">
                  <a:solidFill>
                    <a:srgbClr val="8A8F99"/>
                  </a:solidFill>
                  <a:latin typeface="IBM Plex Sans"/>
                </a:rPr>
                <a:t>0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9000947" y="4758924"/>
              <a:ext cx="298907" cy="1320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00" b="0" i="0" lang="vi-VN">
                  <a:solidFill>
                    <a:srgbClr val="8A8F99"/>
                  </a:solidFill>
                  <a:latin typeface="IBM Plex Sans"/>
                </a:rPr>
                <a:t>3.000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9333281" y="4467840"/>
              <a:ext cx="1758391" cy="1981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200" b="1" i="0" lang="vi-VN">
                  <a:solidFill>
                    <a:srgbClr val="16181D"/>
                  </a:solidFill>
                  <a:latin typeface="IBM Plex Sans"/>
                </a:rPr>
                <a:t>2.187</a:t>
              </a: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  = 86,5% dự toán 2.529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594360" y="5048324"/>
              <a:ext cx="917607" cy="18986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50" b="0" i="0" lang="vi-VN">
                  <a:solidFill>
                    <a:srgbClr val="16181D"/>
                  </a:solidFill>
                  <a:latin typeface="IBM Plex Sans SemiBold"/>
                </a:rPr>
                <a:t>FDI giải ngân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594360" y="5260985"/>
              <a:ext cx="1961045" cy="1485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900" b="0" i="0" lang="vi-VN">
                  <a:solidFill>
                    <a:srgbClr val="8A8F99"/>
                  </a:solidFill>
                  <a:latin typeface="IBM Plex Sans"/>
                </a:rPr>
                <a:t>9 tháng, tỷ USD; mục tiêu 30–40/năm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3375622" y="5070104"/>
              <a:ext cx="5774779" cy="310896"/>
            </a:xfrm>
            <a:prstGeom prst="rect">
              <a:avLst/>
            </a:prstGeom>
            <a:solidFill>
              <a:srgbClr val="EEECE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 Same Side Corner Rectangle 48"/>
            <p:cNvSpPr/>
            <p:nvPr/>
          </p:nvSpPr>
          <p:spPr>
            <a:xfrm rot="5400000">
              <a:off x="4837484" y="3704620"/>
              <a:ext cx="118140" cy="3041865"/>
            </a:xfrm>
            <a:prstGeom prst="round2SameRect">
              <a:avLst>
                <a:gd name="adj1" fmla="val 23219"/>
                <a:gd name="adj2" fmla="val 0"/>
              </a:avLst>
            </a:prstGeom>
            <a:solidFill>
              <a:srgbClr val="16181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0" name="Connector 49"/>
            <p:cNvCxnSpPr/>
            <p:nvPr/>
          </p:nvCxnSpPr>
          <p:spPr>
            <a:xfrm>
              <a:off x="7706706" y="5024384"/>
              <a:ext cx="0" cy="402336"/>
            </a:xfrm>
            <a:prstGeom prst="line">
              <a:avLst/>
            </a:prstGeom>
            <a:ln w="31750" cap="flat">
              <a:solidFill>
                <a:srgbClr val="C2362F"/>
              </a:solidFill>
              <a:round/>
            </a:ln>
          </p:spPr>
        </p:cxnSp>
        <p:sp>
          <p:nvSpPr>
            <p:cNvPr id="51" name="TextBox 50"/>
            <p:cNvSpPr txBox="1"/>
            <p:nvPr/>
          </p:nvSpPr>
          <p:spPr>
            <a:xfrm>
              <a:off x="3375622" y="5417576"/>
              <a:ext cx="88392" cy="1320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00" b="0" i="0" lang="vi-VN">
                  <a:solidFill>
                    <a:srgbClr val="8A8F99"/>
                  </a:solidFill>
                  <a:latin typeface="IBM Plex Sans"/>
                </a:rPr>
                <a:t>0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075725" y="5417576"/>
              <a:ext cx="149352" cy="13208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800" b="0" i="0" lang="vi-VN">
                  <a:solidFill>
                    <a:srgbClr val="8A8F99"/>
                  </a:solidFill>
                  <a:latin typeface="IBM Plex Sans"/>
                </a:rPr>
                <a:t>40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333281" y="5126492"/>
              <a:ext cx="2121668" cy="1981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200" b="1" i="0" lang="vi-VN">
                  <a:solidFill>
                    <a:srgbClr val="16181D"/>
                  </a:solidFill>
                  <a:latin typeface="IBM Plex Sans"/>
                </a:rPr>
                <a:t>21,07</a:t>
              </a: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  = 70% mức thấp của mục tiêu</a:t>
              </a:r>
            </a:p>
          </p:txBody>
        </p:sp>
      </p:grpSp>
      <p:sp>
        <p:nvSpPr>
          <p:cNvPr id="54" name="TextBox 53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Sau chín tháng, thu ngân sách đã đạt 86,5% dự toán; lạm phát bình quân 4,52%, vượt trần 4,5%.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So sánh số 9 tháng với mục tiêu cả năm chỉ cho biết tiến độ, không phải kết quả cả năm.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56" name="TextBox 55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NSO (03/10/2026); NHNN; Bộ Tài chính; Quốc hội — NQ 244/2025/QH15; Bộ Chính trị — NQ 10-NQ/TW; IMF WEO 4/2026; ADB ADO 9/2026.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CHƯƠNG 5 · DÒNG THỜI GIAN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499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Năm 2026: năm mốc chính sách đã qua và ba mốc trong quý IV</a:t>
            </a:r>
          </a:p>
        </p:txBody>
      </p:sp>
      <p:grpSp>
        <p:nvGrpSpPr>
          <p:cNvPr id="5" name="Chart · timeline"/>
          <p:cNvGrpSpPr/>
          <p:nvPr/>
        </p:nvGrpSpPr>
        <p:grpSpPr>
          <a:xfrm>
            <a:off x="777240" y="2320747"/>
            <a:ext cx="10637215" cy="2531872"/>
            <a:chOff x="777240" y="2320747"/>
            <a:chExt cx="10637215" cy="2531872"/>
          </a:xfrm>
        </p:grpSpPr>
        <p:cxnSp>
          <p:nvCxnSpPr>
            <p:cNvPr id="6" name="Connector 5"/>
            <p:cNvCxnSpPr/>
            <p:nvPr/>
          </p:nvCxnSpPr>
          <p:spPr>
            <a:xfrm>
              <a:off x="777240" y="3502863"/>
              <a:ext cx="6648260" cy="0"/>
            </a:xfrm>
            <a:prstGeom prst="line">
              <a:avLst/>
            </a:prstGeom>
            <a:ln w="25400" cap="flat">
              <a:solidFill>
                <a:srgbClr val="16181D"/>
              </a:solidFill>
              <a:round/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7425500" y="3502863"/>
              <a:ext cx="3988955" cy="0"/>
            </a:xfrm>
            <a:prstGeom prst="line">
              <a:avLst/>
            </a:prstGeom>
            <a:ln w="25400" cap="flat">
              <a:solidFill>
                <a:srgbClr val="5B6170"/>
              </a:solidFill>
              <a:prstDash val="dash"/>
              <a:round/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7425500" y="3319983"/>
              <a:ext cx="0" cy="365760"/>
            </a:xfrm>
            <a:prstGeom prst="line">
              <a:avLst/>
            </a:prstGeom>
            <a:ln w="19050" cap="flat">
              <a:solidFill>
                <a:srgbClr val="C2362F"/>
              </a:solidFill>
              <a:round/>
            </a:ln>
          </p:spPr>
        </p:cxnSp>
        <p:sp>
          <p:nvSpPr>
            <p:cNvPr id="9" name="TextBox 8"/>
            <p:cNvSpPr txBox="1"/>
            <p:nvPr/>
          </p:nvSpPr>
          <p:spPr>
            <a:xfrm>
              <a:off x="7480364" y="3313824"/>
              <a:ext cx="1040759" cy="14033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850" b="0" i="0" lang="vi-VN">
                  <a:solidFill>
                    <a:srgbClr val="C2362F"/>
                  </a:solidFill>
                  <a:latin typeface="IBM Plex Sans SemiBold"/>
                </a:rPr>
                <a:t>Hôm nay 7/10/2026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 flipV="1">
              <a:off x="1442066" y="3210255"/>
              <a:ext cx="0" cy="292608"/>
            </a:xfrm>
            <a:prstGeom prst="line">
              <a:avLst/>
            </a:prstGeom>
            <a:ln w="9525" cap="flat">
              <a:solidFill>
                <a:srgbClr val="8A8F99"/>
              </a:solidFill>
              <a:round/>
            </a:ln>
          </p:spPr>
        </p:cxnSp>
        <p:sp>
          <p:nvSpPr>
            <p:cNvPr id="11" name="Oval 10"/>
            <p:cNvSpPr/>
            <p:nvPr/>
          </p:nvSpPr>
          <p:spPr>
            <a:xfrm>
              <a:off x="1373486" y="3434283"/>
              <a:ext cx="137160" cy="137160"/>
            </a:xfrm>
            <a:prstGeom prst="ellipse">
              <a:avLst/>
            </a:prstGeom>
            <a:solidFill>
              <a:srgbClr val="16181D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32104" y="2465527"/>
              <a:ext cx="1219924" cy="708152"/>
            </a:xfrm>
            <a:prstGeom prst="rect">
              <a:avLst/>
            </a:prstGeom>
            <a:noFill/>
          </p:spPr>
          <p:txBody>
            <a:bodyPr wrap="square" lIns="0" rIns="0" tIns="0" bIns="0" anchor="b">
              <a:noAutofit/>
            </a:bodyPr>
            <a:lstStyle/>
            <a:p>
              <a:pPr algn="ctr">
                <a:spcAft>
                  <a:spcPts val="200"/>
                </a:spcAft>
              </a:pPr>
              <a:r>
                <a:rPr sz="1000" b="0" i="0" lang="vi-VN">
                  <a:solidFill>
                    <a:srgbClr val="C2362F"/>
                  </a:solidFill>
                  <a:latin typeface="IBM Plex Sans SemiBold"/>
                </a:rPr>
                <a:t>08/6/2026</a:t>
              </a:r>
            </a:p>
            <a:p>
              <a:pPr algn="ctr">
                <a:lnSpc>
                  <a:spcPct val="100000"/>
                </a:lnSpc>
              </a:pPr>
              <a:r>
                <a:rPr sz="1100" b="0" i="0" lang="vi-VN">
                  <a:solidFill>
                    <a:srgbClr val="16181D"/>
                  </a:solidFill>
                  <a:latin typeface="IBM Plex Sans SemiBold"/>
                </a:rPr>
                <a:t>NQ 10-NQ/TW</a:t>
              </a:r>
            </a:p>
            <a:p>
              <a:pPr algn="ctr">
                <a:lnSpc>
                  <a:spcPct val="100000"/>
                </a:lnSpc>
                <a:spcBef>
                  <a:spcPts val="200"/>
                </a:spcBef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Mục tiêu FDI giải ngân 30–40 tỷ USD/năm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2771718" y="3502863"/>
              <a:ext cx="0" cy="292608"/>
            </a:xfrm>
            <a:prstGeom prst="line">
              <a:avLst/>
            </a:prstGeom>
            <a:ln w="9525" cap="flat">
              <a:solidFill>
                <a:srgbClr val="8A8F99"/>
              </a:solidFill>
              <a:round/>
            </a:ln>
          </p:spPr>
        </p:cxnSp>
        <p:sp>
          <p:nvSpPr>
            <p:cNvPr id="14" name="Oval 13"/>
            <p:cNvSpPr/>
            <p:nvPr/>
          </p:nvSpPr>
          <p:spPr>
            <a:xfrm>
              <a:off x="2703138" y="3434283"/>
              <a:ext cx="137160" cy="137160"/>
            </a:xfrm>
            <a:prstGeom prst="ellipse">
              <a:avLst/>
            </a:prstGeom>
            <a:solidFill>
              <a:srgbClr val="16181D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161756" y="3832047"/>
              <a:ext cx="1219924" cy="87579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>
                <a:spcAft>
                  <a:spcPts val="200"/>
                </a:spcAft>
              </a:pPr>
              <a:r>
                <a:rPr sz="1000" b="0" i="0" lang="vi-VN">
                  <a:solidFill>
                    <a:srgbClr val="C2362F"/>
                  </a:solidFill>
                  <a:latin typeface="IBM Plex Sans SemiBold"/>
                </a:rPr>
                <a:t>27/6/2026</a:t>
              </a:r>
            </a:p>
            <a:p>
              <a:pPr algn="ctr">
                <a:lnSpc>
                  <a:spcPct val="100000"/>
                </a:lnSpc>
              </a:pPr>
              <a:r>
                <a:rPr sz="1100" b="0" i="0" lang="vi-VN">
                  <a:solidFill>
                    <a:srgbClr val="16181D"/>
                  </a:solidFill>
                  <a:latin typeface="IBM Plex Sans SemiBold"/>
                </a:rPr>
                <a:t>Nghị định 245/2026</a:t>
              </a:r>
            </a:p>
            <a:p>
              <a:pPr algn="ctr">
                <a:lnSpc>
                  <a:spcPct val="100000"/>
                </a:lnSpc>
                <a:spcBef>
                  <a:spcPts val="200"/>
                </a:spcBef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Gia hạn nộp thuế GTGT, TNDN, TNCN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 flipV="1">
              <a:off x="4101370" y="3210255"/>
              <a:ext cx="0" cy="292608"/>
            </a:xfrm>
            <a:prstGeom prst="line">
              <a:avLst/>
            </a:prstGeom>
            <a:ln w="9525" cap="flat">
              <a:solidFill>
                <a:srgbClr val="8A8F99"/>
              </a:solidFill>
              <a:round/>
            </a:ln>
          </p:spPr>
        </p:cxnSp>
        <p:sp>
          <p:nvSpPr>
            <p:cNvPr id="17" name="Oval 16"/>
            <p:cNvSpPr/>
            <p:nvPr/>
          </p:nvSpPr>
          <p:spPr>
            <a:xfrm>
              <a:off x="4032790" y="3434283"/>
              <a:ext cx="137160" cy="137160"/>
            </a:xfrm>
            <a:prstGeom prst="ellipse">
              <a:avLst/>
            </a:prstGeom>
            <a:solidFill>
              <a:srgbClr val="16181D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491408" y="2320747"/>
              <a:ext cx="1219924" cy="852932"/>
            </a:xfrm>
            <a:prstGeom prst="rect">
              <a:avLst/>
            </a:prstGeom>
            <a:noFill/>
          </p:spPr>
          <p:txBody>
            <a:bodyPr wrap="square" lIns="0" rIns="0" tIns="0" bIns="0" anchor="b">
              <a:noAutofit/>
            </a:bodyPr>
            <a:lstStyle/>
            <a:p>
              <a:pPr algn="ctr">
                <a:spcAft>
                  <a:spcPts val="200"/>
                </a:spcAft>
              </a:pPr>
              <a:r>
                <a:rPr sz="1000" b="0" i="0" lang="vi-VN">
                  <a:solidFill>
                    <a:srgbClr val="C2362F"/>
                  </a:solidFill>
                  <a:latin typeface="IBM Plex Sans SemiBold"/>
                </a:rPr>
                <a:t>01/8/2026</a:t>
              </a:r>
            </a:p>
            <a:p>
              <a:pPr algn="ctr">
                <a:lnSpc>
                  <a:spcPct val="100000"/>
                </a:lnSpc>
              </a:pPr>
              <a:r>
                <a:rPr sz="1100" b="0" i="0" lang="vi-VN">
                  <a:solidFill>
                    <a:srgbClr val="16181D"/>
                  </a:solidFill>
                  <a:latin typeface="IBM Plex Sans SemiBold"/>
                </a:rPr>
                <a:t>Tiền gửi KBNN</a:t>
              </a:r>
            </a:p>
            <a:p>
              <a:pPr algn="ctr">
                <a:lnSpc>
                  <a:spcPct val="100000"/>
                </a:lnSpc>
                <a:spcBef>
                  <a:spcPts val="200"/>
                </a:spcBef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50% được tính vào nguồn vốn khi tính LDR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5431022" y="3502863"/>
              <a:ext cx="0" cy="292608"/>
            </a:xfrm>
            <a:prstGeom prst="line">
              <a:avLst/>
            </a:prstGeom>
            <a:ln w="9525" cap="flat">
              <a:solidFill>
                <a:srgbClr val="8A8F99"/>
              </a:solidFill>
              <a:round/>
            </a:ln>
          </p:spPr>
        </p:cxnSp>
        <p:sp>
          <p:nvSpPr>
            <p:cNvPr id="20" name="Oval 19"/>
            <p:cNvSpPr/>
            <p:nvPr/>
          </p:nvSpPr>
          <p:spPr>
            <a:xfrm>
              <a:off x="5362442" y="3434283"/>
              <a:ext cx="137160" cy="137160"/>
            </a:xfrm>
            <a:prstGeom prst="ellipse">
              <a:avLst/>
            </a:prstGeom>
            <a:solidFill>
              <a:srgbClr val="16181D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821060" y="3832047"/>
              <a:ext cx="1219924" cy="102057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>
                <a:spcAft>
                  <a:spcPts val="200"/>
                </a:spcAft>
              </a:pPr>
              <a:r>
                <a:rPr sz="1000" b="0" i="0" lang="vi-VN">
                  <a:solidFill>
                    <a:srgbClr val="C2362F"/>
                  </a:solidFill>
                  <a:latin typeface="IBM Plex Sans SemiBold"/>
                </a:rPr>
                <a:t>9/2026</a:t>
              </a:r>
            </a:p>
            <a:p>
              <a:pPr algn="ctr">
                <a:lnSpc>
                  <a:spcPct val="100000"/>
                </a:lnSpc>
              </a:pPr>
              <a:r>
                <a:rPr sz="1100" b="0" i="0" lang="vi-VN">
                  <a:solidFill>
                    <a:srgbClr val="16181D"/>
                  </a:solidFill>
                  <a:latin typeface="IBM Plex Sans SemiBold"/>
                </a:rPr>
                <a:t>Công văn 8509/NHNN</a:t>
              </a:r>
            </a:p>
            <a:p>
              <a:pPr algn="ctr">
                <a:lnSpc>
                  <a:spcPct val="100000"/>
                </a:lnSpc>
                <a:spcBef>
                  <a:spcPts val="200"/>
                </a:spcBef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Loại cho vay khách sạn, nghỉ dưỡng khỏi tín dụng BĐS</a:t>
              </a:r>
            </a:p>
          </p:txBody>
        </p:sp>
        <p:cxnSp>
          <p:nvCxnSpPr>
            <p:cNvPr id="22" name="Connector 21"/>
            <p:cNvCxnSpPr/>
            <p:nvPr/>
          </p:nvCxnSpPr>
          <p:spPr>
            <a:xfrm flipV="1">
              <a:off x="6760674" y="3210255"/>
              <a:ext cx="0" cy="292608"/>
            </a:xfrm>
            <a:prstGeom prst="line">
              <a:avLst/>
            </a:prstGeom>
            <a:ln w="9525" cap="flat">
              <a:solidFill>
                <a:srgbClr val="8A8F99"/>
              </a:solidFill>
              <a:round/>
            </a:ln>
          </p:spPr>
        </p:cxnSp>
        <p:sp>
          <p:nvSpPr>
            <p:cNvPr id="23" name="Oval 22"/>
            <p:cNvSpPr/>
            <p:nvPr/>
          </p:nvSpPr>
          <p:spPr>
            <a:xfrm>
              <a:off x="6692094" y="3434283"/>
              <a:ext cx="137160" cy="137160"/>
            </a:xfrm>
            <a:prstGeom prst="ellipse">
              <a:avLst/>
            </a:prstGeom>
            <a:solidFill>
              <a:srgbClr val="16181D"/>
            </a:solidFill>
            <a:ln w="1905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150712" y="2465527"/>
              <a:ext cx="1219924" cy="708152"/>
            </a:xfrm>
            <a:prstGeom prst="rect">
              <a:avLst/>
            </a:prstGeom>
            <a:noFill/>
          </p:spPr>
          <p:txBody>
            <a:bodyPr wrap="square" lIns="0" rIns="0" tIns="0" bIns="0" anchor="b">
              <a:noAutofit/>
            </a:bodyPr>
            <a:lstStyle/>
            <a:p>
              <a:pPr algn="ctr">
                <a:spcAft>
                  <a:spcPts val="200"/>
                </a:spcAft>
              </a:pPr>
              <a:r>
                <a:rPr sz="1000" b="0" i="0" lang="vi-VN">
                  <a:solidFill>
                    <a:srgbClr val="C2362F"/>
                  </a:solidFill>
                  <a:latin typeface="IBM Plex Sans SemiBold"/>
                </a:rPr>
                <a:t>03/10/2026</a:t>
              </a:r>
            </a:p>
            <a:p>
              <a:pPr algn="ctr">
                <a:lnSpc>
                  <a:spcPct val="100000"/>
                </a:lnSpc>
              </a:pPr>
              <a:r>
                <a:rPr sz="1100" b="0" i="0" lang="vi-VN">
                  <a:solidFill>
                    <a:srgbClr val="16181D"/>
                  </a:solidFill>
                  <a:latin typeface="IBM Plex Sans SemiBold"/>
                </a:rPr>
                <a:t>Số liệu quý III</a:t>
              </a:r>
            </a:p>
            <a:p>
              <a:pPr algn="ctr">
                <a:lnSpc>
                  <a:spcPct val="100000"/>
                </a:lnSpc>
                <a:spcBef>
                  <a:spcPts val="200"/>
                </a:spcBef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GDP 9 tháng tăng 9,01%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8090325" y="3502863"/>
              <a:ext cx="0" cy="292608"/>
            </a:xfrm>
            <a:prstGeom prst="line">
              <a:avLst/>
            </a:prstGeom>
            <a:ln w="9525" cap="flat">
              <a:solidFill>
                <a:srgbClr val="8A8F99"/>
              </a:solidFill>
              <a:round/>
            </a:ln>
          </p:spPr>
        </p:cxnSp>
        <p:sp>
          <p:nvSpPr>
            <p:cNvPr id="26" name="Oval 25"/>
            <p:cNvSpPr/>
            <p:nvPr/>
          </p:nvSpPr>
          <p:spPr>
            <a:xfrm>
              <a:off x="8021745" y="3434283"/>
              <a:ext cx="137160" cy="137160"/>
            </a:xfrm>
            <a:prstGeom prst="ellipse">
              <a:avLst/>
            </a:prstGeom>
            <a:solidFill>
              <a:srgbClr val="FFFFFF"/>
            </a:solidFill>
            <a:ln w="22225" cap="rnd">
              <a:solidFill>
                <a:srgbClr val="5B6170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480364" y="3832047"/>
              <a:ext cx="1219924" cy="70815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>
                <a:spcAft>
                  <a:spcPts val="200"/>
                </a:spcAft>
              </a:pPr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13/10/2026</a:t>
              </a:r>
            </a:p>
            <a:p>
              <a:pPr algn="ctr">
                <a:lnSpc>
                  <a:spcPct val="100000"/>
                </a:lnSpc>
              </a:pPr>
              <a:r>
                <a:rPr sz="1100" b="0" i="0" lang="vi-VN">
                  <a:solidFill>
                    <a:srgbClr val="16181D"/>
                  </a:solidFill>
                  <a:latin typeface="IBM Plex Sans SemiBold"/>
                </a:rPr>
                <a:t>IMF WEO tháng 10</a:t>
              </a:r>
            </a:p>
            <a:p>
              <a:pPr algn="ctr">
                <a:lnSpc>
                  <a:spcPct val="100000"/>
                </a:lnSpc>
                <a:spcBef>
                  <a:spcPts val="200"/>
                </a:spcBef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Cập nhật dự báo tăng trưởng</a:t>
              </a:r>
            </a:p>
          </p:txBody>
        </p:sp>
        <p:cxnSp>
          <p:nvCxnSpPr>
            <p:cNvPr id="28" name="Connector 27"/>
            <p:cNvCxnSpPr/>
            <p:nvPr/>
          </p:nvCxnSpPr>
          <p:spPr>
            <a:xfrm flipV="1">
              <a:off x="9419977" y="3210255"/>
              <a:ext cx="0" cy="292608"/>
            </a:xfrm>
            <a:prstGeom prst="line">
              <a:avLst/>
            </a:prstGeom>
            <a:ln w="9525" cap="flat">
              <a:solidFill>
                <a:srgbClr val="8A8F99"/>
              </a:solidFill>
              <a:round/>
            </a:ln>
          </p:spPr>
        </p:cxnSp>
        <p:sp>
          <p:nvSpPr>
            <p:cNvPr id="29" name="Oval 28"/>
            <p:cNvSpPr/>
            <p:nvPr/>
          </p:nvSpPr>
          <p:spPr>
            <a:xfrm>
              <a:off x="9351397" y="3434283"/>
              <a:ext cx="137160" cy="137160"/>
            </a:xfrm>
            <a:prstGeom prst="ellipse">
              <a:avLst/>
            </a:prstGeom>
            <a:solidFill>
              <a:srgbClr val="FFFFFF"/>
            </a:solidFill>
            <a:ln w="22225" cap="rnd">
              <a:solidFill>
                <a:srgbClr val="5B6170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810015" y="2465527"/>
              <a:ext cx="1219924" cy="708152"/>
            </a:xfrm>
            <a:prstGeom prst="rect">
              <a:avLst/>
            </a:prstGeom>
            <a:noFill/>
          </p:spPr>
          <p:txBody>
            <a:bodyPr wrap="square" lIns="0" rIns="0" tIns="0" bIns="0" anchor="b">
              <a:noAutofit/>
            </a:bodyPr>
            <a:lstStyle/>
            <a:p>
              <a:pPr algn="ctr">
                <a:spcAft>
                  <a:spcPts val="200"/>
                </a:spcAft>
              </a:pPr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01/12/2026</a:t>
              </a:r>
            </a:p>
            <a:p>
              <a:pPr algn="ctr">
                <a:lnSpc>
                  <a:spcPct val="100000"/>
                </a:lnSpc>
              </a:pPr>
              <a:r>
                <a:rPr sz="1100" b="0" i="0" lang="vi-VN">
                  <a:solidFill>
                    <a:srgbClr val="16181D"/>
                  </a:solidFill>
                  <a:latin typeface="IBM Plex Sans SemiBold"/>
                </a:rPr>
                <a:t>Thông tư 50/2026</a:t>
              </a:r>
            </a:p>
            <a:p>
              <a:pPr algn="ctr">
                <a:lnSpc>
                  <a:spcPct val="100000"/>
                </a:lnSpc>
                <a:spcBef>
                  <a:spcPts val="200"/>
                </a:spcBef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Trần LDR 95%, LCR/NSFR có hiệu lực</a:t>
              </a:r>
            </a:p>
          </p:txBody>
        </p:sp>
        <p:cxnSp>
          <p:nvCxnSpPr>
            <p:cNvPr id="31" name="Connector 30"/>
            <p:cNvCxnSpPr/>
            <p:nvPr/>
          </p:nvCxnSpPr>
          <p:spPr>
            <a:xfrm>
              <a:off x="10749629" y="3502863"/>
              <a:ext cx="0" cy="292608"/>
            </a:xfrm>
            <a:prstGeom prst="line">
              <a:avLst/>
            </a:prstGeom>
            <a:ln w="9525" cap="flat">
              <a:solidFill>
                <a:srgbClr val="8A8F99"/>
              </a:solidFill>
              <a:round/>
            </a:ln>
          </p:spPr>
        </p:cxnSp>
        <p:sp>
          <p:nvSpPr>
            <p:cNvPr id="32" name="Oval 31"/>
            <p:cNvSpPr/>
            <p:nvPr/>
          </p:nvSpPr>
          <p:spPr>
            <a:xfrm>
              <a:off x="10681049" y="3434283"/>
              <a:ext cx="137160" cy="137160"/>
            </a:xfrm>
            <a:prstGeom prst="ellipse">
              <a:avLst/>
            </a:prstGeom>
            <a:solidFill>
              <a:srgbClr val="FFFFFF"/>
            </a:solidFill>
            <a:ln w="22225" cap="rnd">
              <a:solidFill>
                <a:srgbClr val="5B6170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139667" y="3832047"/>
              <a:ext cx="1219924" cy="87579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>
                <a:spcAft>
                  <a:spcPts val="200"/>
                </a:spcAft>
              </a:pPr>
              <a:r>
                <a:rPr sz="1000" b="0" i="0" lang="vi-VN">
                  <a:solidFill>
                    <a:srgbClr val="5B6170"/>
                  </a:solidFill>
                  <a:latin typeface="IBM Plex Sans SemiBold"/>
                </a:rPr>
                <a:t>31/12/2026</a:t>
              </a:r>
            </a:p>
            <a:p>
              <a:pPr algn="ctr">
                <a:lnSpc>
                  <a:spcPct val="100000"/>
                </a:lnSpc>
              </a:pPr>
              <a:r>
                <a:rPr sz="1100" b="0" i="0" lang="vi-VN">
                  <a:solidFill>
                    <a:srgbClr val="16181D"/>
                  </a:solidFill>
                  <a:latin typeface="IBM Plex Sans SemiBold"/>
                </a:rPr>
                <a:t>Hết hạn giảm thuế GTGT</a:t>
              </a:r>
            </a:p>
            <a:p>
              <a:pPr algn="ctr">
                <a:lnSpc>
                  <a:spcPct val="100000"/>
                </a:lnSpc>
                <a:spcBef>
                  <a:spcPts val="200"/>
                </a:spcBef>
              </a:pPr>
              <a:r>
                <a:rPr sz="950" b="0" i="0" lang="vi-VN">
                  <a:solidFill>
                    <a:srgbClr val="5B6170"/>
                  </a:solidFill>
                  <a:latin typeface="IBM Plex Sans"/>
                </a:rPr>
                <a:t>Thuế suất 8% về lại 10%</a:t>
              </a:r>
            </a:p>
          </p:txBody>
        </p:sp>
      </p:grpSp>
      <p:sp>
        <p:nvSpPr>
          <p:cNvPr id="34" name="TextBox 33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Năm mốc đã qua tác động tới vốn, thuế và tín dụng; ba mốc sắp tới thay đổi dự báo, thanh khoản và giá.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Khoảng cách giữa các mốc không theo tỷ lệ thời gian; chấm rỗng = mốc tương lai.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36" name="TextBox 35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Bộ Chính trị; Chính phủ; NHNN; NSO; IMF — lịch công bố của dashboard (research/release_calendar), văn bản trong data/policy.json.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TIẾP THEO · ĐIỀU CẦN THEO DÕI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Ba mốc trong quý IV/2026 sẽ cho biết bức tranh thay đổi thế nào</a:t>
            </a:r>
          </a:p>
        </p:txBody>
      </p:sp>
      <p:grpSp>
        <p:nvGrpSpPr>
          <p:cNvPr id="5" name="Watch item"/>
          <p:cNvGrpSpPr/>
          <p:nvPr/>
        </p:nvGrpSpPr>
        <p:grpSpPr>
          <a:xfrm>
            <a:off x="594360" y="2106168"/>
            <a:ext cx="3423818" cy="3965448"/>
            <a:chOff x="594360" y="2106168"/>
            <a:chExt cx="3423818" cy="3965448"/>
          </a:xfrm>
        </p:grpSpPr>
        <p:sp>
          <p:nvSpPr>
            <p:cNvPr id="6" name="Rectangle 5"/>
            <p:cNvSpPr/>
            <p:nvPr/>
          </p:nvSpPr>
          <p:spPr>
            <a:xfrm>
              <a:off x="594360" y="2106168"/>
              <a:ext cx="3423818" cy="3965448"/>
            </a:xfrm>
            <a:prstGeom prst="rect">
              <a:avLst/>
            </a:prstGeom>
            <a:solidFill>
              <a:srgbClr val="FAF8F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94360" y="2106168"/>
              <a:ext cx="3423818" cy="0"/>
            </a:xfrm>
            <a:prstGeom prst="line">
              <a:avLst/>
            </a:prstGeom>
            <a:ln w="31750" cap="flat">
              <a:solidFill>
                <a:srgbClr val="16181D"/>
              </a:solidFill>
              <a:round/>
            </a:ln>
          </p:spPr>
        </p:cxnSp>
        <p:sp>
          <p:nvSpPr>
            <p:cNvPr id="8" name="TextBox 7"/>
            <p:cNvSpPr txBox="1"/>
            <p:nvPr/>
          </p:nvSpPr>
          <p:spPr>
            <a:xfrm>
              <a:off x="822960" y="2331276"/>
              <a:ext cx="906920" cy="18986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50" b="0" i="0" lang="vi-VN" spc="40">
                  <a:solidFill>
                    <a:srgbClr val="C2362F"/>
                  </a:solidFill>
                  <a:latin typeface="IBM Plex Sans SemiBold"/>
                </a:rPr>
                <a:t>13/10/2026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822960" y="5111496"/>
              <a:ext cx="2966618" cy="0"/>
            </a:xfrm>
            <a:prstGeom prst="line">
              <a:avLst/>
            </a:prstGeom>
            <a:ln w="9525" cap="flat">
              <a:solidFill>
                <a:srgbClr val="DEDBD2"/>
              </a:solidFill>
              <a:round/>
            </a:ln>
          </p:spPr>
        </p:cxnSp>
        <p:sp>
          <p:nvSpPr>
            <p:cNvPr id="12" name="TextBox 11"/>
            <p:cNvSpPr txBox="1"/>
            <p:nvPr/>
          </p:nvSpPr>
          <p:spPr>
            <a:xfrm>
              <a:off x="822960" y="5302758"/>
              <a:ext cx="894804" cy="4953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3000" b="1" i="0" lang="vi-VN">
                  <a:solidFill>
                    <a:srgbClr val="16181D"/>
                  </a:solidFill>
                  <a:latin typeface="IBM Plex Sans"/>
                </a:rPr>
                <a:t>6</a:t>
              </a:r>
              <a:r>
                <a:rPr sz="1100" b="0" i="0" lang="vi-VN">
                  <a:solidFill>
                    <a:srgbClr val="5B6170"/>
                  </a:solidFill>
                  <a:latin typeface="IBM Plex Sans"/>
                </a:rPr>
                <a:t>  ngày nữa</a:t>
              </a: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822960" y="2673096"/>
            <a:ext cx="2966618" cy="2798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700" b="0" i="0" lang="vi-VN">
                <a:solidFill>
                  <a:srgbClr val="16181D"/>
                </a:solidFill>
                <a:latin typeface="IBM Plex Sans SemiBold"/>
              </a:rPr>
              <a:t>IMF công bố WEO tháng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35782"/>
            <a:ext cx="2966618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Dự báo tháng 4 là 7,1% cho 2026; chín tháng thực tế đã tăng 9,01%. Mức điều chỉnh sẽ cho thấy IMF đánh giá đà tăng quý 3 bền đến đâu.</a:t>
            </a:r>
          </a:p>
        </p:txBody>
      </p:sp>
      <p:grpSp>
        <p:nvGrpSpPr>
          <p:cNvPr id="13" name="Watch item"/>
          <p:cNvGrpSpPr/>
          <p:nvPr/>
        </p:nvGrpSpPr>
        <p:grpSpPr>
          <a:xfrm>
            <a:off x="4383938" y="2106168"/>
            <a:ext cx="3423819" cy="3965448"/>
            <a:chOff x="4383938" y="2106168"/>
            <a:chExt cx="3423819" cy="3965448"/>
          </a:xfrm>
        </p:grpSpPr>
        <p:sp>
          <p:nvSpPr>
            <p:cNvPr id="14" name="Rectangle 13"/>
            <p:cNvSpPr/>
            <p:nvPr/>
          </p:nvSpPr>
          <p:spPr>
            <a:xfrm>
              <a:off x="4383938" y="2106168"/>
              <a:ext cx="3423818" cy="3965448"/>
            </a:xfrm>
            <a:prstGeom prst="rect">
              <a:avLst/>
            </a:prstGeom>
            <a:solidFill>
              <a:srgbClr val="FAF8F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4383938" y="2106168"/>
              <a:ext cx="3423819" cy="0"/>
            </a:xfrm>
            <a:prstGeom prst="line">
              <a:avLst/>
            </a:prstGeom>
            <a:ln w="31750" cap="flat">
              <a:solidFill>
                <a:srgbClr val="16181D"/>
              </a:solidFill>
              <a:round/>
            </a:ln>
          </p:spPr>
        </p:cxnSp>
        <p:sp>
          <p:nvSpPr>
            <p:cNvPr id="16" name="TextBox 15"/>
            <p:cNvSpPr txBox="1"/>
            <p:nvPr/>
          </p:nvSpPr>
          <p:spPr>
            <a:xfrm>
              <a:off x="4612538" y="2331276"/>
              <a:ext cx="906920" cy="18986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50" b="0" i="0" lang="vi-VN" spc="40">
                  <a:solidFill>
                    <a:srgbClr val="C2362F"/>
                  </a:solidFill>
                  <a:latin typeface="IBM Plex Sans SemiBold"/>
                </a:rPr>
                <a:t>01/12/2026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4612538" y="5111496"/>
              <a:ext cx="2966619" cy="0"/>
            </a:xfrm>
            <a:prstGeom prst="line">
              <a:avLst/>
            </a:prstGeom>
            <a:ln w="9525" cap="flat">
              <a:solidFill>
                <a:srgbClr val="DEDBD2"/>
              </a:solidFill>
              <a:round/>
            </a:ln>
          </p:spPr>
        </p:cxnSp>
        <p:sp>
          <p:nvSpPr>
            <p:cNvPr id="20" name="TextBox 19"/>
            <p:cNvSpPr txBox="1"/>
            <p:nvPr/>
          </p:nvSpPr>
          <p:spPr>
            <a:xfrm>
              <a:off x="4612538" y="5302758"/>
              <a:ext cx="1123404" cy="4953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3000" b="1" i="0" lang="vi-VN">
                  <a:solidFill>
                    <a:srgbClr val="16181D"/>
                  </a:solidFill>
                  <a:latin typeface="IBM Plex Sans"/>
                </a:rPr>
                <a:t>55</a:t>
              </a:r>
              <a:r>
                <a:rPr sz="1100" b="0" i="0" lang="vi-VN">
                  <a:solidFill>
                    <a:srgbClr val="5B6170"/>
                  </a:solidFill>
                  <a:latin typeface="IBM Plex Sans"/>
                </a:rPr>
                <a:t>  ngày nữa</a:t>
              </a:r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4612538" y="2673096"/>
            <a:ext cx="2966618" cy="2798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700" b="0" i="0" lang="vi-VN">
                <a:solidFill>
                  <a:srgbClr val="16181D"/>
                </a:solidFill>
                <a:latin typeface="IBM Plex Sans SemiBold"/>
              </a:rPr>
              <a:t>Trần LDR 95% có hiệu lực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2538" y="3135782"/>
            <a:ext cx="2966618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Thông tư 50/2026 nâng trần LDR và áp dụng LCR/NSFR. LDR toàn hệ thống là 77,1% (6/2026); tác động chính ở các ngân hàng sát trần.</a:t>
            </a:r>
          </a:p>
        </p:txBody>
      </p:sp>
      <p:grpSp>
        <p:nvGrpSpPr>
          <p:cNvPr id="21" name="Watch item"/>
          <p:cNvGrpSpPr/>
          <p:nvPr/>
        </p:nvGrpSpPr>
        <p:grpSpPr>
          <a:xfrm>
            <a:off x="8173517" y="2106168"/>
            <a:ext cx="3423818" cy="3965448"/>
            <a:chOff x="8173517" y="2106168"/>
            <a:chExt cx="3423818" cy="3965448"/>
          </a:xfrm>
        </p:grpSpPr>
        <p:sp>
          <p:nvSpPr>
            <p:cNvPr id="22" name="Rectangle 21"/>
            <p:cNvSpPr/>
            <p:nvPr/>
          </p:nvSpPr>
          <p:spPr>
            <a:xfrm>
              <a:off x="8173517" y="2106168"/>
              <a:ext cx="3423818" cy="3965448"/>
            </a:xfrm>
            <a:prstGeom prst="rect">
              <a:avLst/>
            </a:prstGeom>
            <a:solidFill>
              <a:srgbClr val="FAF8F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8173517" y="2106168"/>
              <a:ext cx="3423818" cy="0"/>
            </a:xfrm>
            <a:prstGeom prst="line">
              <a:avLst/>
            </a:prstGeom>
            <a:ln w="31750" cap="flat">
              <a:solidFill>
                <a:srgbClr val="16181D"/>
              </a:solidFill>
              <a:round/>
            </a:ln>
          </p:spPr>
        </p:cxnSp>
        <p:sp>
          <p:nvSpPr>
            <p:cNvPr id="24" name="TextBox 23"/>
            <p:cNvSpPr txBox="1"/>
            <p:nvPr/>
          </p:nvSpPr>
          <p:spPr>
            <a:xfrm>
              <a:off x="8402117" y="2331276"/>
              <a:ext cx="906920" cy="18986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50" b="0" i="0" lang="vi-VN" spc="40">
                  <a:solidFill>
                    <a:srgbClr val="C2362F"/>
                  </a:solidFill>
                  <a:latin typeface="IBM Plex Sans SemiBold"/>
                </a:rPr>
                <a:t>31/12/2026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8402117" y="5111496"/>
              <a:ext cx="2966618" cy="0"/>
            </a:xfrm>
            <a:prstGeom prst="line">
              <a:avLst/>
            </a:prstGeom>
            <a:ln w="9525" cap="flat">
              <a:solidFill>
                <a:srgbClr val="DEDBD2"/>
              </a:solidFill>
              <a:round/>
            </a:ln>
          </p:spPr>
        </p:cxnSp>
        <p:sp>
          <p:nvSpPr>
            <p:cNvPr id="28" name="TextBox 27"/>
            <p:cNvSpPr txBox="1"/>
            <p:nvPr/>
          </p:nvSpPr>
          <p:spPr>
            <a:xfrm>
              <a:off x="8402117" y="5302758"/>
              <a:ext cx="1123404" cy="4953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3000" b="1" i="0" lang="vi-VN">
                  <a:solidFill>
                    <a:srgbClr val="16181D"/>
                  </a:solidFill>
                  <a:latin typeface="IBM Plex Sans"/>
                </a:rPr>
                <a:t>85</a:t>
              </a:r>
              <a:r>
                <a:rPr sz="1100" b="0" i="0" lang="vi-VN">
                  <a:solidFill>
                    <a:srgbClr val="5B6170"/>
                  </a:solidFill>
                  <a:latin typeface="IBM Plex Sans"/>
                </a:rPr>
                <a:t>  ngày nữa</a:t>
              </a: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8402117" y="2673096"/>
            <a:ext cx="2966618" cy="5596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700" b="0" i="0" lang="vi-VN">
                <a:solidFill>
                  <a:srgbClr val="16181D"/>
                </a:solidFill>
                <a:latin typeface="IBM Plex Sans SemiBold"/>
              </a:rPr>
              <a:t>Hết hạn giảm 2 điểm % thuế GTGT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2117" y="3415589"/>
            <a:ext cx="2966618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Thuế suất 8% về lại 10% nếu không gia hạn. CPI tháng 9/2026 đang ở 5,08% so với cùng kỳ.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30" name="TextBox 29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IMF (lịch WEO); NHNN — Thông tư 50/2026; Chính phủ — chính sách giảm thuế GTGT (data/policy.json); NSO. Số ngày tính đến 7/10/2026.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PHỤ LỤC · SỐ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499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Bảng số liệu chính, 2023 – 9 tháng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50848"/>
          <a:ext cx="11002975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0"/>
                <a:gridCol w="1234440"/>
                <a:gridCol w="1234440"/>
                <a:gridCol w="1234440"/>
                <a:gridCol w="1234440"/>
                <a:gridCol w="1463040"/>
                <a:gridCol w="185897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50" b="0" i="0" lang="vi-VN">
                          <a:solidFill>
                            <a:srgbClr val="5B6170"/>
                          </a:solidFill>
                          <a:latin typeface="IBM Plex Sans SemiBold"/>
                        </a:rPr>
                        <a:t>CHỈ TIÊU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16181D"/>
                      </a:solidFill>
                    </a:lnT>
                    <a:lnB w="12700">
                      <a:solidFill>
                        <a:srgbClr val="16181D"/>
                      </a:solidFill>
                    </a:lnB>
                    <a:solidFill>
                      <a:srgbClr val="FAF8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 lang="vi-VN">
                          <a:solidFill>
                            <a:srgbClr val="5B6170"/>
                          </a:solidFill>
                          <a:latin typeface="IBM Plex Sans SemiBold"/>
                        </a:rPr>
                        <a:t>ĐƠN VỊ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16181D"/>
                      </a:solidFill>
                    </a:lnT>
                    <a:lnB w="12700">
                      <a:solidFill>
                        <a:srgbClr val="16181D"/>
                      </a:solidFill>
                    </a:lnB>
                    <a:solidFill>
                      <a:srgbClr val="FAF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 lang="vi-VN">
                          <a:solidFill>
                            <a:srgbClr val="5B6170"/>
                          </a:solidFill>
                          <a:latin typeface="IBM Plex Sans SemiBold"/>
                        </a:rPr>
                        <a:t>2023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16181D"/>
                      </a:solidFill>
                    </a:lnT>
                    <a:lnB w="12700">
                      <a:solidFill>
                        <a:srgbClr val="16181D"/>
                      </a:solidFill>
                    </a:lnB>
                    <a:solidFill>
                      <a:srgbClr val="FAF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 lang="vi-VN">
                          <a:solidFill>
                            <a:srgbClr val="5B6170"/>
                          </a:solidFill>
                          <a:latin typeface="IBM Plex Sans SemiBold"/>
                        </a:rPr>
                        <a:t>2024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16181D"/>
                      </a:solidFill>
                    </a:lnT>
                    <a:lnB w="12700">
                      <a:solidFill>
                        <a:srgbClr val="16181D"/>
                      </a:solidFill>
                    </a:lnB>
                    <a:solidFill>
                      <a:srgbClr val="FAF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 lang="vi-VN">
                          <a:solidFill>
                            <a:srgbClr val="5B6170"/>
                          </a:solidFill>
                          <a:latin typeface="IBM Plex Sans SemiBold"/>
                        </a:rPr>
                        <a:t>2025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16181D"/>
                      </a:solidFill>
                    </a:lnT>
                    <a:lnB w="12700">
                      <a:solidFill>
                        <a:srgbClr val="16181D"/>
                      </a:solidFill>
                    </a:lnB>
                    <a:solidFill>
                      <a:srgbClr val="FAF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 lang="vi-VN">
                          <a:solidFill>
                            <a:srgbClr val="5B6170"/>
                          </a:solidFill>
                          <a:latin typeface="IBM Plex Sans SemiBold"/>
                        </a:rPr>
                        <a:t>9T/2026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16181D"/>
                      </a:solidFill>
                    </a:lnT>
                    <a:lnB w="12700">
                      <a:solidFill>
                        <a:srgbClr val="16181D"/>
                      </a:solidFill>
                    </a:lnB>
                    <a:solidFill>
                      <a:srgbClr val="FAF8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 lang="vi-VN">
                          <a:solidFill>
                            <a:srgbClr val="5B6170"/>
                          </a:solidFill>
                          <a:latin typeface="IBM Plex Sans SemiBold"/>
                        </a:rPr>
                        <a:t>NGUỒN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16181D"/>
                      </a:solidFill>
                    </a:lnT>
                    <a:lnB w="12700">
                      <a:solidFill>
                        <a:srgbClr val="16181D"/>
                      </a:solidFill>
                    </a:lnB>
                    <a:solidFill>
                      <a:srgbClr val="FAF8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 Medium"/>
                        </a:rPr>
                        <a:t>Tăng trưởng GDP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%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4,98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7,04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8,02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9,01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NSO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 Medium"/>
                        </a:rPr>
                        <a:t>Lạm phát bình quân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%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3,25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3,63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3,31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4,52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NSO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 Medium"/>
                        </a:rPr>
                        <a:t>Xuất khẩu hàng hoá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tỷ USD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354,7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405,9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475,0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434,3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NSO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 Medium"/>
                        </a:rPr>
                        <a:t>FDI giải ngân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tỷ USD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23,18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25,35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27,62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21,07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NSO, Cục ĐTNN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 Medium"/>
                        </a:rPr>
                        <a:t>Tăng trưởng tín dụng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%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13,78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15,09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19,07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11,59 (YTD)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NHNN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 Medium"/>
                        </a:rPr>
                        <a:t>Tăng trưởng huy động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%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13,20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10,66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15,42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8A8F99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NHNN, IMF FSI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 Medium"/>
                        </a:rPr>
                        <a:t>Nợ xấu (IMF FSI)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%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5,41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4,85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4,21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8A8F99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IMF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 Medium"/>
                        </a:rPr>
                        <a:t>Thu ngân sách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nghìn tỷ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1.770,8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2.057,5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2.650,1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2.187,3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Bộ Tài chính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 Medium"/>
                        </a:rPr>
                        <a:t>Chi ngân sách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nghìn tỷ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1.936,9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2.148,5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2.401,5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1.873,7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Bộ Tài chính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 Medium"/>
                        </a:rPr>
                        <a:t>Cán cân vãng lai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tỷ USD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25,8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30,2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33,1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8A8F99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IMF BPM6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6F5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 Medium"/>
                        </a:rPr>
                        <a:t>Dân số trung bình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triệu người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100,31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101,34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102,35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 lang="vi-VN">
                          <a:solidFill>
                            <a:srgbClr val="8A8F99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lang="vi-VN">
                          <a:solidFill>
                            <a:srgbClr val="16181D"/>
                          </a:solidFill>
                          <a:latin typeface="IBM Plex Sans"/>
                        </a:rPr>
                        <a:t>NSO</a:t>
                      </a:r>
                    </a:p>
                  </a:txBody>
                  <a:tcPr marL="91440" marR="9144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Dấu "—": chưa công bố cho kỳ đó, không phải bằng 0.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2025 là ước tính; tín dụng 9T/2026 là tăng từ đầu năm, không so được với số cuối năm.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8" name="TextBox 7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NSO; NHNN; IMF FSI và BPM6; Bộ Tài chính — số liệu dashboard đến 7/10/2026.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PHỤ LỤC · BIỂU ĐỒ GỐC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92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Biểu đồ gốc PowerPoint: cùng dữ liệu FDI, có thể sửa số trong Excel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4360" y="1877568"/>
          <a:ext cx="11002975" cy="367731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5774334"/>
            <a:ext cx="9631375" cy="48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 i="0" lang="vi-VN">
                <a:solidFill>
                  <a:srgbClr val="16181D"/>
                </a:solidFill>
                <a:latin typeface="IBM Plex Sans"/>
              </a:rPr>
              <a:t>Biểu đồ gốc (editable=True) dùng khi người nhận cần sửa số liệu; bản vẽ bằng hình giữ đúng phong cách.</a:t>
            </a:r>
          </a:p>
          <a:p>
            <a:pPr algn="l">
              <a:lnSpc>
                <a:spcPct val="112000"/>
              </a:lnSpc>
            </a:pPr>
            <a:r>
              <a:rPr sz="1200" b="0" i="0" lang="vi-VN">
                <a:solidFill>
                  <a:srgbClr val="5B6170"/>
                </a:solidFill>
                <a:latin typeface="IBM Plex Sans"/>
              </a:rPr>
              <a:t>PowerPoint không bo tròn đầu cột trong biểu đồ gốc; nhãn và màu vẫn theo hệ thống của dashboard.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8" name="TextBox 7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Nguồn: NSO / Cục Đầu tư nước ngoài — FDI thực hiện 2010–2025, tỷ USD.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384048"/>
            <a:ext cx="11002975" cy="0"/>
          </a:xfrm>
          <a:prstGeom prst="line">
            <a:avLst/>
          </a:prstGeom>
          <a:ln w="44450" cap="flat">
            <a:solidFill>
              <a:srgbClr val="16181D"/>
            </a:solidFill>
            <a:round/>
          </a:ln>
        </p:spPr>
      </p:cxnSp>
      <p:sp>
        <p:nvSpPr>
          <p:cNvPr id="3" name="TextBox 2"/>
          <p:cNvSpPr txBox="1"/>
          <p:nvPr/>
        </p:nvSpPr>
        <p:spPr>
          <a:xfrm>
            <a:off x="594360" y="53035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lang="vi-VN" spc="120">
                <a:solidFill>
                  <a:srgbClr val="C2362F"/>
                </a:solidFill>
                <a:latin typeface="IBM Plex Sans SemiBold"/>
              </a:rPr>
              <a:t>PHỤ LỤC · NGUỒN VÀ PHƯƠNG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454335" cy="499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 lang="vi-VN">
                <a:solidFill>
                  <a:srgbClr val="16181D"/>
                </a:solidFill>
                <a:latin typeface="Newsreader"/>
              </a:rPr>
              <a:t>Nguồn số liệu, kỳ số liệu và cách tính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496568"/>
            <a:ext cx="3215488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6" name="TextBox 5"/>
          <p:cNvSpPr txBox="1"/>
          <p:nvPr/>
        </p:nvSpPr>
        <p:spPr>
          <a:xfrm>
            <a:off x="594360" y="1560576"/>
            <a:ext cx="3215488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lang="vi-VN">
                <a:solidFill>
                  <a:srgbClr val="C2362F"/>
                </a:solidFill>
                <a:latin typeface="IBM Plex Sans SemiBold"/>
              </a:rPr>
              <a:t> 1  </a:t>
            </a:r>
            <a:r>
              <a:rPr sz="1100" b="0" i="0" lang="vi-VN">
                <a:solidFill>
                  <a:srgbClr val="16181D"/>
                </a:solidFill>
                <a:latin typeface="IBM Plex Sans SemiBold"/>
              </a:rPr>
              <a:t>NSO — Cục Thống kê</a:t>
            </a:r>
          </a:p>
          <a:p>
            <a:pPr algn="l">
              <a:lnSpc>
                <a:spcPct val="105000"/>
              </a:lnSpc>
            </a:pPr>
            <a:r>
              <a:rPr sz="1000" b="0" i="0" lang="vi-VN">
                <a:solidFill>
                  <a:srgbClr val="5B6170"/>
                </a:solidFill>
                <a:latin typeface="IBM Plex Sans"/>
              </a:rPr>
              <a:t>GDP, CPI, xuất khẩu, FDI, vốn đầu tư; GRDP địa phương</a:t>
            </a:r>
          </a:p>
          <a:p>
            <a:pPr algn="l">
              <a:spcBef>
                <a:spcPts val="100"/>
              </a:spcBef>
            </a:pPr>
            <a:r>
              <a:rPr sz="850" b="0" i="0" lang="vi-VN">
                <a:solidFill>
                  <a:srgbClr val="8A8F99"/>
                </a:solidFill>
                <a:latin typeface="IBM Plex Sans"/>
              </a:rPr>
              <a:t>2010 – 9T/2026 · nso.gov.vn · pxweb.nso.gov.vn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136648"/>
            <a:ext cx="3215488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8" name="TextBox 7"/>
          <p:cNvSpPr txBox="1"/>
          <p:nvPr/>
        </p:nvSpPr>
        <p:spPr>
          <a:xfrm>
            <a:off x="594360" y="2200656"/>
            <a:ext cx="3215488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lang="vi-VN">
                <a:solidFill>
                  <a:srgbClr val="C2362F"/>
                </a:solidFill>
                <a:latin typeface="IBM Plex Sans SemiBold"/>
              </a:rPr>
              <a:t> 2  </a:t>
            </a:r>
            <a:r>
              <a:rPr sz="1100" b="0" i="0" lang="vi-VN">
                <a:solidFill>
                  <a:srgbClr val="16181D"/>
                </a:solidFill>
                <a:latin typeface="IBM Plex Sans SemiBold"/>
              </a:rPr>
              <a:t>Ngân hàng Nhà nước (NHNN)</a:t>
            </a:r>
          </a:p>
          <a:p>
            <a:pPr algn="l">
              <a:lnSpc>
                <a:spcPct val="105000"/>
              </a:lnSpc>
            </a:pPr>
            <a:r>
              <a:rPr sz="1000" b="0" i="0" lang="vi-VN">
                <a:solidFill>
                  <a:srgbClr val="5B6170"/>
                </a:solidFill>
                <a:latin typeface="IBM Plex Sans"/>
              </a:rPr>
              <a:t>Tín dụng, huy động, M2; văn bản điều hành</a:t>
            </a:r>
          </a:p>
          <a:p>
            <a:pPr algn="l">
              <a:spcBef>
                <a:spcPts val="100"/>
              </a:spcBef>
            </a:pPr>
            <a:r>
              <a:rPr sz="850" b="0" i="0" lang="vi-VN">
                <a:solidFill>
                  <a:srgbClr val="8A8F99"/>
                </a:solidFill>
                <a:latin typeface="IBM Plex Sans"/>
              </a:rPr>
              <a:t>2015 – 9/2026 · sbv.gov.vn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4360" y="2776728"/>
            <a:ext cx="3215488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0" name="TextBox 9"/>
          <p:cNvSpPr txBox="1"/>
          <p:nvPr/>
        </p:nvSpPr>
        <p:spPr>
          <a:xfrm>
            <a:off x="594360" y="2840736"/>
            <a:ext cx="3215488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lang="vi-VN">
                <a:solidFill>
                  <a:srgbClr val="C2362F"/>
                </a:solidFill>
                <a:latin typeface="IBM Plex Sans SemiBold"/>
              </a:rPr>
              <a:t> 3  </a:t>
            </a:r>
            <a:r>
              <a:rPr sz="1100" b="0" i="0" lang="vi-VN">
                <a:solidFill>
                  <a:srgbClr val="16181D"/>
                </a:solidFill>
                <a:latin typeface="IBM Plex Sans SemiBold"/>
              </a:rPr>
              <a:t>Bộ Tài chính</a:t>
            </a:r>
          </a:p>
          <a:p>
            <a:pPr algn="l">
              <a:lnSpc>
                <a:spcPct val="105000"/>
              </a:lnSpc>
            </a:pPr>
            <a:r>
              <a:rPr sz="1000" b="0" i="0" lang="vi-VN">
                <a:solidFill>
                  <a:srgbClr val="5B6170"/>
                </a:solidFill>
                <a:latin typeface="IBM Plex Sans"/>
              </a:rPr>
              <a:t>Quyết toán, ước thực hiện và dự toán NSNN</a:t>
            </a:r>
          </a:p>
          <a:p>
            <a:pPr algn="l">
              <a:spcBef>
                <a:spcPts val="100"/>
              </a:spcBef>
            </a:pPr>
            <a:r>
              <a:rPr sz="850" b="0" i="0" lang="vi-VN">
                <a:solidFill>
                  <a:srgbClr val="8A8F99"/>
                </a:solidFill>
                <a:latin typeface="IBM Plex Sans"/>
              </a:rPr>
              <a:t>2018 – 2026 · mof.gov.vn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4360" y="3416808"/>
            <a:ext cx="3215488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2" name="TextBox 11"/>
          <p:cNvSpPr txBox="1"/>
          <p:nvPr/>
        </p:nvSpPr>
        <p:spPr>
          <a:xfrm>
            <a:off x="594360" y="3480816"/>
            <a:ext cx="3215488" cy="672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lang="vi-VN">
                <a:solidFill>
                  <a:srgbClr val="C2362F"/>
                </a:solidFill>
                <a:latin typeface="IBM Plex Sans SemiBold"/>
              </a:rPr>
              <a:t> 4  </a:t>
            </a:r>
            <a:r>
              <a:rPr sz="1100" b="0" i="0" lang="vi-VN">
                <a:solidFill>
                  <a:srgbClr val="16181D"/>
                </a:solidFill>
                <a:latin typeface="IBM Plex Sans SemiBold"/>
              </a:rPr>
              <a:t>IMF</a:t>
            </a:r>
          </a:p>
          <a:p>
            <a:pPr algn="l">
              <a:lnSpc>
                <a:spcPct val="105000"/>
              </a:lnSpc>
            </a:pPr>
            <a:r>
              <a:rPr sz="1000" b="0" i="0" lang="vi-VN">
                <a:solidFill>
                  <a:srgbClr val="5B6170"/>
                </a:solidFill>
                <a:latin typeface="IBM Plex Sans"/>
              </a:rPr>
              <a:t>WEO 4/2026; Financial Soundness Indicators; BoP (BPM6)</a:t>
            </a:r>
          </a:p>
          <a:p>
            <a:pPr algn="l">
              <a:spcBef>
                <a:spcPts val="100"/>
              </a:spcBef>
            </a:pPr>
            <a:r>
              <a:rPr sz="850" b="0" i="0" lang="vi-VN">
                <a:solidFill>
                  <a:srgbClr val="8A8F99"/>
                </a:solidFill>
                <a:latin typeface="IBM Plex Sans"/>
              </a:rPr>
              <a:t>2015 – 2030 · imf.org · data.imf.org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75608" y="1496568"/>
            <a:ext cx="3215487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4" name="TextBox 13"/>
          <p:cNvSpPr txBox="1"/>
          <p:nvPr/>
        </p:nvSpPr>
        <p:spPr>
          <a:xfrm>
            <a:off x="4175608" y="1560576"/>
            <a:ext cx="3215488" cy="672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lang="vi-VN">
                <a:solidFill>
                  <a:srgbClr val="C2362F"/>
                </a:solidFill>
                <a:latin typeface="IBM Plex Sans SemiBold"/>
              </a:rPr>
              <a:t> 5  </a:t>
            </a:r>
            <a:r>
              <a:rPr sz="1100" b="0" i="0" lang="vi-VN">
                <a:solidFill>
                  <a:srgbClr val="16181D"/>
                </a:solidFill>
                <a:latin typeface="IBM Plex Sans SemiBold"/>
              </a:rPr>
              <a:t>Liên Hợp Quốc</a:t>
            </a:r>
          </a:p>
          <a:p>
            <a:pPr algn="l">
              <a:lnSpc>
                <a:spcPct val="105000"/>
              </a:lnSpc>
            </a:pPr>
            <a:r>
              <a:rPr sz="1000" b="0" i="0" lang="vi-VN">
                <a:solidFill>
                  <a:srgbClr val="5B6170"/>
                </a:solidFill>
                <a:latin typeface="IBM Plex Sans"/>
              </a:rPr>
              <a:t>World Population Prospects 2024, phương án trung bình</a:t>
            </a:r>
          </a:p>
          <a:p>
            <a:pPr algn="l">
              <a:spcBef>
                <a:spcPts val="100"/>
              </a:spcBef>
            </a:pPr>
            <a:r>
              <a:rPr sz="850" b="0" i="0" lang="vi-VN">
                <a:solidFill>
                  <a:srgbClr val="8A8F99"/>
                </a:solidFill>
                <a:latin typeface="IBM Plex Sans"/>
              </a:rPr>
              <a:t>2025, 2050 · population.un.org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75608" y="2296668"/>
            <a:ext cx="3215487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4175608" y="2360676"/>
            <a:ext cx="3215488" cy="672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lang="vi-VN">
                <a:solidFill>
                  <a:srgbClr val="C2362F"/>
                </a:solidFill>
                <a:latin typeface="IBM Plex Sans SemiBold"/>
              </a:rPr>
              <a:t> 6  </a:t>
            </a:r>
            <a:r>
              <a:rPr sz="1100" b="0" i="0" lang="vi-VN">
                <a:solidFill>
                  <a:srgbClr val="16181D"/>
                </a:solidFill>
                <a:latin typeface="IBM Plex Sans SemiBold"/>
              </a:rPr>
              <a:t>ADB</a:t>
            </a:r>
          </a:p>
          <a:p>
            <a:pPr algn="l">
              <a:lnSpc>
                <a:spcPct val="105000"/>
              </a:lnSpc>
            </a:pPr>
            <a:r>
              <a:rPr sz="1000" b="0" i="0" lang="vi-VN">
                <a:solidFill>
                  <a:srgbClr val="5B6170"/>
                </a:solidFill>
                <a:latin typeface="IBM Plex Sans"/>
              </a:rPr>
              <a:t>Asian Development Outlook 9/2026 (dự báo tăng trưởng)</a:t>
            </a:r>
          </a:p>
          <a:p>
            <a:pPr algn="l">
              <a:spcBef>
                <a:spcPts val="100"/>
              </a:spcBef>
            </a:pPr>
            <a:r>
              <a:rPr sz="850" b="0" i="0" lang="vi-VN">
                <a:solidFill>
                  <a:srgbClr val="8A8F99"/>
                </a:solidFill>
                <a:latin typeface="IBM Plex Sans"/>
              </a:rPr>
              <a:t>2026 – 2027 · adb.org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175608" y="3096768"/>
            <a:ext cx="3215487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18" name="TextBox 17"/>
          <p:cNvSpPr txBox="1"/>
          <p:nvPr/>
        </p:nvSpPr>
        <p:spPr>
          <a:xfrm>
            <a:off x="4175608" y="3160776"/>
            <a:ext cx="3215488" cy="672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lang="vi-VN">
                <a:solidFill>
                  <a:srgbClr val="C2362F"/>
                </a:solidFill>
                <a:latin typeface="IBM Plex Sans SemiBold"/>
              </a:rPr>
              <a:t> 7  </a:t>
            </a:r>
            <a:r>
              <a:rPr sz="1100" b="0" i="0" lang="vi-VN">
                <a:solidFill>
                  <a:srgbClr val="16181D"/>
                </a:solidFill>
                <a:latin typeface="IBM Plex Sans SemiBold"/>
              </a:rPr>
              <a:t>Vietnam Dashboard</a:t>
            </a:r>
          </a:p>
          <a:p>
            <a:pPr algn="l">
              <a:lnSpc>
                <a:spcPct val="105000"/>
              </a:lnSpc>
            </a:pPr>
            <a:r>
              <a:rPr sz="1000" b="0" i="0" lang="vi-VN">
                <a:solidFill>
                  <a:srgbClr val="5B6170"/>
                </a:solidFill>
                <a:latin typeface="IBM Plex Sans"/>
              </a:rPr>
              <a:t>Mô hình lãi suất huy động v2; phân tích hệ thống tài chính</a:t>
            </a:r>
          </a:p>
          <a:p>
            <a:pPr algn="l">
              <a:spcBef>
                <a:spcPts val="100"/>
              </a:spcBef>
            </a:pPr>
            <a:r>
              <a:rPr sz="850" b="0" i="0" lang="vi-VN">
                <a:solidFill>
                  <a:srgbClr val="8A8F99"/>
                </a:solidFill>
                <a:latin typeface="IBM Plex Sans"/>
              </a:rPr>
              <a:t>7/10/2026 · data/simulation.json · data/finance.json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175608" y="3896868"/>
            <a:ext cx="3215487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20" name="TextBox 19"/>
          <p:cNvSpPr txBox="1"/>
          <p:nvPr/>
        </p:nvSpPr>
        <p:spPr>
          <a:xfrm>
            <a:off x="4175608" y="3960876"/>
            <a:ext cx="3215488" cy="672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lang="vi-VN">
                <a:solidFill>
                  <a:srgbClr val="C2362F"/>
                </a:solidFill>
                <a:latin typeface="IBM Plex Sans SemiBold"/>
              </a:rPr>
              <a:t> 8  </a:t>
            </a:r>
            <a:r>
              <a:rPr sz="1100" b="0" i="0" lang="vi-VN">
                <a:solidFill>
                  <a:srgbClr val="16181D"/>
                </a:solidFill>
                <a:latin typeface="IBM Plex Sans SemiBold"/>
              </a:rPr>
              <a:t>Quốc hội, Chính phủ, Bộ Chính trị</a:t>
            </a:r>
          </a:p>
          <a:p>
            <a:pPr algn="l">
              <a:lnSpc>
                <a:spcPct val="105000"/>
              </a:lnSpc>
            </a:pPr>
            <a:r>
              <a:rPr sz="1000" b="0" i="0" lang="vi-VN">
                <a:solidFill>
                  <a:srgbClr val="5B6170"/>
                </a:solidFill>
                <a:latin typeface="IBM Plex Sans"/>
              </a:rPr>
              <a:t>NQ 244/2025/QH15, NQ 25/2026/QH16, NQ 10-NQ/TW, NĐ 245/2026</a:t>
            </a:r>
          </a:p>
          <a:p>
            <a:pPr algn="l">
              <a:spcBef>
                <a:spcPts val="100"/>
              </a:spcBef>
            </a:pPr>
            <a:r>
              <a:rPr sz="850" b="0" i="0" lang="vi-VN">
                <a:solidFill>
                  <a:srgbClr val="8A8F99"/>
                </a:solidFill>
                <a:latin typeface="IBM Plex Sans"/>
              </a:rPr>
              <a:t>2025 – 2026 · data/policy.json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48295" y="1450848"/>
            <a:ext cx="3749040" cy="4712208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76895" y="1652016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 lang="vi-VN" spc="80">
                <a:solidFill>
                  <a:srgbClr val="5B6170"/>
                </a:solidFill>
                <a:latin typeface="IBM Plex Sans SemiBold"/>
              </a:rPr>
              <a:t>PHƯƠNG PHÁP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76895" y="2045208"/>
            <a:ext cx="64008" cy="64008"/>
          </a:xfrm>
          <a:prstGeom prst="rect">
            <a:avLst/>
          </a:prstGeom>
          <a:solidFill>
            <a:srgbClr val="1618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9775" y="1981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 lang="vi-VN">
                <a:solidFill>
                  <a:srgbClr val="16181D"/>
                </a:solidFill>
                <a:latin typeface="IBM Plex Sans"/>
              </a:rPr>
              <a:t>Mọi con số trong tiêu đề và ghi chú được tính từ dữ liệu khi dựng slide.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76895" y="2538984"/>
            <a:ext cx="64008" cy="64008"/>
          </a:xfrm>
          <a:prstGeom prst="rect">
            <a:avLst/>
          </a:prstGeom>
          <a:solidFill>
            <a:srgbClr val="1618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9775" y="247497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 lang="vi-VN">
                <a:solidFill>
                  <a:srgbClr val="16181D"/>
                </a:solidFill>
                <a:latin typeface="IBM Plex Sans"/>
              </a:rPr>
              <a:t>Ước tính, dự toán, dự báo: nét đứt, viền đứt hoặc ô rỗng, có ghi chú.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76895" y="3032760"/>
            <a:ext cx="64008" cy="64008"/>
          </a:xfrm>
          <a:prstGeom prst="rect">
            <a:avLst/>
          </a:prstGeom>
          <a:solidFill>
            <a:srgbClr val="1618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59775" y="296875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 lang="vi-VN">
                <a:solidFill>
                  <a:srgbClr val="16181D"/>
                </a:solidFill>
                <a:latin typeface="IBM Plex Sans"/>
              </a:rPr>
              <a:t>Chỉ tiêu phái sinh đánh dấu ≈ và nói rõ cách tính (ví dụ "chi vượt thu").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76895" y="3526536"/>
            <a:ext cx="64008" cy="64008"/>
          </a:xfrm>
          <a:prstGeom prst="rect">
            <a:avLst/>
          </a:prstGeom>
          <a:solidFill>
            <a:srgbClr val="1618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59775" y="346252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 lang="vi-VN">
                <a:solidFill>
                  <a:srgbClr val="16181D"/>
                </a:solidFill>
                <a:latin typeface="IBM Plex Sans"/>
              </a:rPr>
              <a:t>Khoảng trống để trống ("—"), không thay bằng 0, không nội suy.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6895" y="4020312"/>
            <a:ext cx="64008" cy="64008"/>
          </a:xfrm>
          <a:prstGeom prst="rect">
            <a:avLst/>
          </a:prstGeom>
          <a:solidFill>
            <a:srgbClr val="1618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9775" y="395630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 lang="vi-VN">
                <a:solidFill>
                  <a:srgbClr val="16181D"/>
                </a:solidFill>
                <a:latin typeface="IBM Plex Sans"/>
              </a:rPr>
              <a:t>Không trộn định nghĩa trong một chuỗi; số 9 tháng không so trực tiếp với số cả năm.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76895" y="4514088"/>
            <a:ext cx="64008" cy="64008"/>
          </a:xfrm>
          <a:prstGeom prst="rect">
            <a:avLst/>
          </a:prstGeom>
          <a:solidFill>
            <a:srgbClr val="1618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59775" y="44500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 lang="vi-VN">
                <a:solidFill>
                  <a:srgbClr val="16181D"/>
                </a:solidFill>
                <a:latin typeface="IBM Plex Sans"/>
              </a:rPr>
              <a:t>Mô hình của dashboard là minh hoạ, không phải dự báo chính thức.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76895" y="5007864"/>
            <a:ext cx="64008" cy="64008"/>
          </a:xfrm>
          <a:prstGeom prst="rect">
            <a:avLst/>
          </a:prstGeom>
          <a:solidFill>
            <a:srgbClr val="1618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59775" y="4943856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 lang="vi-VN">
                <a:solidFill>
                  <a:srgbClr val="16181D"/>
                </a:solidFill>
                <a:latin typeface="IBM Plex Sans"/>
              </a:rPr>
              <a:t>Mô tả số liệu — không phải khuyến nghị đầu tư.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94360" y="6437376"/>
            <a:ext cx="11002975" cy="0"/>
          </a:xfrm>
          <a:prstGeom prst="line">
            <a:avLst/>
          </a:prstGeom>
          <a:ln w="9525" cap="flat">
            <a:solidFill>
              <a:srgbClr val="DEDBD2"/>
            </a:solidFill>
            <a:round/>
          </a:ln>
        </p:spPr>
      </p:cxnSp>
      <p:sp>
        <p:nvSpPr>
          <p:cNvPr id="38" name="TextBox 37"/>
          <p:cNvSpPr txBox="1"/>
          <p:nvPr/>
        </p:nvSpPr>
        <p:spPr>
          <a:xfrm>
            <a:off x="594360" y="6501384"/>
            <a:ext cx="899129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· bộ mẫu vn-data-story · số liệu đến 7/10/2026.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68535" y="650138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lang="vi-VN">
                <a:solidFill>
                  <a:srgbClr val="8A8F99"/>
                </a:solidFill>
                <a:latin typeface="IBM Plex Sans"/>
              </a:rPr>
              <a:t>Vietnam Dashboard   </a:t>
            </a:r>
            <a:r>
              <a:rPr sz="900" b="0" i="0" lang="vi-VN">
                <a:solidFill>
                  <a:srgbClr val="16181D"/>
                </a:solidFill>
                <a:latin typeface="IBM Plex Sans SemiBold"/>
              </a:rPr>
              <a:t>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Vietnam Dashboard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vi-VN</dc:language>
</cp:coreProperties>
</file>