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charts/chart56.xml" ContentType="application/vnd.openxmlformats-officedocument.drawingml.chart+xml"/>
  <Override PartName="/ppt/charts/chart57.xml" ContentType="application/vnd.openxmlformats-officedocument.drawingml.chart+xml"/>
  <Override PartName="/ppt/charts/chart58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</p:sldIdLst>
  <p:sldSz cx="12191695" cy="6858000" type="screen4x3"/>
  <p:notesSz cx="6858000" cy="9144000"/>
  <p:embeddedFontLst>
    <p:embeddedFont>
      <p:font typeface="Newsreader Medium" panose="02000000000000000000" pitchFamily="18" charset="0"/>
      <p:regular r:id="rId69"/>
    </p:embeddedFont>
    <p:embeddedFont>
      <p:font typeface="Newsreader SemiBold" panose="02000000000000000000" pitchFamily="18" charset="0"/>
      <p:regular r:id="rId70"/>
    </p:embeddedFont>
    <p:embeddedFont>
      <p:font typeface="IBM Plex Sans" panose="020B0503050203000203" pitchFamily="34" charset="0"/>
      <p:regular r:id="rId71"/>
      <p:bold r:id="rId72"/>
    </p:embeddedFont>
    <p:embeddedFont>
      <p:font typeface="IBM Plex Sans Medium" panose="020B0503050203000203" pitchFamily="34" charset="0"/>
      <p:regular r:id="rId73"/>
    </p:embeddedFont>
    <p:embeddedFont>
      <p:font typeface="IBM Plex Sans SemiBold" panose="020B0503050203000203" pitchFamily="34" charset="0"/>
      <p:regular r:id="rId7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notesMaster" Target="notesMasters/notesMaster1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font" Target="fonts/font1.fntdata"/><Relationship Id="rId70" Type="http://schemas.openxmlformats.org/officeDocument/2006/relationships/font" Target="fonts/font2.fntdata"/><Relationship Id="rId71" Type="http://schemas.openxmlformats.org/officeDocument/2006/relationships/font" Target="fonts/font3.fntdata"/><Relationship Id="rId72" Type="http://schemas.openxmlformats.org/officeDocument/2006/relationships/font" Target="fonts/font4.fntdata"/><Relationship Id="rId73" Type="http://schemas.openxmlformats.org/officeDocument/2006/relationships/font" Target="fonts/font5.fntdata"/><Relationship Id="rId74" Type="http://schemas.openxmlformats.org/officeDocument/2006/relationships/font" Target="fonts/font6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1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2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3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4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5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6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7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8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9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0.xlsx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1.xlsx"/></Relationships>
</file>

<file path=ppt/charts/_rels/chart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2.xlsx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3.xlsx"/></Relationships>
</file>

<file path=ppt/charts/_rels/chart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4.xlsx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5.xlsx"/></Relationships>
</file>

<file path=ppt/charts/_rels/chart4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6.xlsx"/></Relationships>
</file>

<file path=ppt/charts/_rels/chart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7.xlsx"/></Relationships>
</file>

<file path=ppt/charts/_rels/chart4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8.xlsx"/></Relationships>
</file>

<file path=ppt/charts/_rels/chart4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9.xlsx"/></Relationships>
</file>

<file path=ppt/charts/_rels/chart5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0.xlsx"/></Relationships>
</file>

<file path=ppt/charts/_rels/chart5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1.xlsx"/></Relationships>
</file>

<file path=ppt/charts/_rels/chart5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2.xlsx"/></Relationships>
</file>

<file path=ppt/charts/_rels/chart5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3.xlsx"/></Relationships>
</file>

<file path=ppt/charts/_rels/chart5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4.xlsx"/></Relationships>
</file>

<file path=ppt/charts/_rels/chart5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5.xlsx"/></Relationships>
</file>

<file path=ppt/charts/_rels/chart5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6.xlsx"/></Relationships>
</file>

<file path=ppt/charts/_rels/chart5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7.xlsx"/></Relationships>
</file>

<file path=ppt/charts/_rels/chart5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10938"/>
          <c:y val="0.11111"/>
          <c:w val="0.86505"/>
          <c:h val="0.7888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Tăng trưởng GDP (%)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invertIfNegative val="0"/>
          <c:dPt>
            <c:idx val="0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Lbls>
            <c:dLbl>
              <c:idx val="7"/>
              <c:numFmt formatCode="[$-42A]#,##0.0;&quot;−&quot;#,##0.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[$-42A]#,##0.0;&quot;−&quot;#,##0.0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950" b="0" i="0" baseline="0">
                    <a:solidFill>
                      <a:srgbClr val="5B6170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7.47</c:v>
                </c:pt>
                <c:pt idx="1">
                  <c:v>7.36</c:v>
                </c:pt>
                <c:pt idx="2">
                  <c:v>2.87</c:v>
                </c:pt>
                <c:pt idx="3">
                  <c:v>2.55</c:v>
                </c:pt>
                <c:pt idx="4">
                  <c:v>8.54</c:v>
                </c:pt>
                <c:pt idx="5">
                  <c:v>4.98</c:v>
                </c:pt>
                <c:pt idx="6">
                  <c:v>7.04</c:v>
                </c:pt>
                <c:pt idx="7">
                  <c:v>8.02</c:v>
                </c:pt>
              </c:numCache>
            </c:numRef>
          </c:val>
        </c:ser>
        <c:gapWidth val="61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9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10.0"/>
          <c:min val="0.0"/>
        </c:scaling>
        <c:delete val="0"/>
        <c:axPos val="l"/>
        <c:numFmt formatCode="[$-42A]#,##0.0;&quot;−&quot;#,##0.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  <c:majorUnit val="2.5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8123"/>
          <c:y val="0.03000"/>
          <c:w val="0.89979"/>
          <c:h val="0.88000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GDP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invertIfNegative val="0"/>
          <c:dPt>
            <c:idx val="0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8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9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Lbls>
            <c:dLbl>
              <c:idx val="0"/>
              <c:numFmt formatCode="[$-42A]#,##0.0;&quot;−&quot;#,##0.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[$-42A]#,##0.0;&quot;−&quot;#,##0.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[$-42A]#,##0.0;&quot;−&quot;#,##0.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[$-42A]#,##0.0;&quot;−&quot;#,##0.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[$-42A]#,##0.0;&quot;−&quot;#,##0.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[$-42A]#,##0.0;&quot;−&quot;#,##0.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[$-42A]#,##0.0;&quot;−&quot;#,##0.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[$-42A]#,##0.0;&quot;−&quot;#,##0.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[$-42A]#,##0.0;&quot;−&quot;#,##0.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[$-42A]#,##0.0;&quot;−&quot;#,##0.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[$-42A]#,##0.0;&quot;−&quot;#,##0.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[$-42A]#,##0.0;&quot;−&quot;#,##0.0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950" b="0" i="0" baseline="0">
                    <a:solidFill>
                      <a:srgbClr val="5B6170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6.99</c:v>
                </c:pt>
                <c:pt idx="1">
                  <c:v>6.69</c:v>
                </c:pt>
                <c:pt idx="2">
                  <c:v>6.94</c:v>
                </c:pt>
                <c:pt idx="3">
                  <c:v>7.47</c:v>
                </c:pt>
                <c:pt idx="4">
                  <c:v>7.36</c:v>
                </c:pt>
                <c:pt idx="5">
                  <c:v>2.87</c:v>
                </c:pt>
                <c:pt idx="6">
                  <c:v>2.55</c:v>
                </c:pt>
                <c:pt idx="7">
                  <c:v>8.54</c:v>
                </c:pt>
                <c:pt idx="8">
                  <c:v>4.98</c:v>
                </c:pt>
                <c:pt idx="9">
                  <c:v>7.04</c:v>
                </c:pt>
                <c:pt idx="10">
                  <c:v>8.02</c:v>
                </c:pt>
              </c:numCache>
            </c:numRef>
          </c:val>
        </c:ser>
        <c:gapWidth val="61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9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10.0"/>
          <c:min val="0.0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round/>
            </a:ln>
          </c:spPr>
        </c:majorGridlines>
        <c:numFmt formatCode="[$-42A]#,##0.0;&quot;−&quot;#,##0.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  <c:majorUnit val="2.5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0000"/>
          <c:y val="0.00000"/>
          <c:w val="1.00000"/>
          <c:h val="1.00000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CPI so cùng kỳ</c:v>
                </c:pt>
              </c:strCache>
            </c:strRef>
          </c:tx>
          <c:spPr>
            <a:ln w="19050" cap="rnd">
              <a:solidFill>
                <a:srgbClr val="2A78D6"/>
              </a:solidFill>
              <a:round/>
            </a:ln>
          </c:spPr>
          <c:marker>
            <c:symbol val="none"/>
          </c:marker>
          <c:dPt>
            <c:idx val="11"/>
            <c:marker>
              <c:symbol val="circle"/>
              <c:size val="5"/>
              <c:spPr>
                <a:solidFill>
                  <a:srgbClr val="2A78D6"/>
                </a:solidFill>
                <a:ln w="9525" cap="rnd">
                  <a:solidFill>
                    <a:srgbClr val="FFFFFF"/>
                  </a:solidFill>
                  <a:round/>
                </a:ln>
              </c:spPr>
            </c:marker>
          </c:dPt>
          <c:cat>
            <c:strRef>
              <c:f>Sheet1!$A$2:$A$13</c:f>
              <c:strCache>
                <c:ptCount val="12"/>
                <c:pt idx="0">
                  <c:v>T10/25</c:v>
                </c:pt>
                <c:pt idx="1">
                  <c:v>T11/25</c:v>
                </c:pt>
                <c:pt idx="2">
                  <c:v>T12/25</c:v>
                </c:pt>
                <c:pt idx="3">
                  <c:v>T1/26</c:v>
                </c:pt>
                <c:pt idx="4">
                  <c:v>T2/26</c:v>
                </c:pt>
                <c:pt idx="5">
                  <c:v>T3/26</c:v>
                </c:pt>
                <c:pt idx="6">
                  <c:v>T4/26</c:v>
                </c:pt>
                <c:pt idx="7">
                  <c:v>T5/26</c:v>
                </c:pt>
                <c:pt idx="8">
                  <c:v>T6/26</c:v>
                </c:pt>
                <c:pt idx="9">
                  <c:v>T7/26</c:v>
                </c:pt>
                <c:pt idx="10">
                  <c:v>T8/26</c:v>
                </c:pt>
                <c:pt idx="11">
                  <c:v>T9/26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3.25</c:v>
                </c:pt>
                <c:pt idx="1">
                  <c:v>3.58</c:v>
                </c:pt>
                <c:pt idx="2">
                  <c:v>3.48</c:v>
                </c:pt>
                <c:pt idx="3">
                  <c:v>2.53</c:v>
                </c:pt>
                <c:pt idx="4">
                  <c:v>3.35</c:v>
                </c:pt>
                <c:pt idx="5">
                  <c:v>4.65</c:v>
                </c:pt>
                <c:pt idx="6">
                  <c:v>5.46</c:v>
                </c:pt>
                <c:pt idx="7">
                  <c:v>5.6</c:v>
                </c:pt>
                <c:pt idx="8">
                  <c:v>4.69</c:v>
                </c:pt>
                <c:pt idx="9">
                  <c:v>4.45</c:v>
                </c:pt>
                <c:pt idx="10">
                  <c:v>4.89</c:v>
                </c:pt>
                <c:pt idx="11">
                  <c:v>5.08</c:v>
                </c:pt>
              </c:numCache>
            </c:numRef>
          </c:val>
          <c:smooth val="0"/>
        </c:ser>
        <c:marker val="1"/>
        <c:axId val="1"/>
        <c:axId val="2"/>
      </c:line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5.845599999999999"/>
          <c:min val="2.2843999999999998"/>
        </c:scaling>
        <c:delete val="1"/>
        <c:axPos val="l"/>
        <c:numFmt formatCode="[$-42A]#,##0.0;&quot;−&quot;#,##0.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midCat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0000"/>
          <c:y val="0.00000"/>
          <c:w val="1.00000"/>
          <c:h val="1.00000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Tín dụng từ đầu năm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dPt>
            <c:idx val="0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8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9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10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18.0</c:v>
                </c:pt>
                <c:pt idx="1">
                  <c:v>18.25</c:v>
                </c:pt>
                <c:pt idx="2">
                  <c:v>18.28</c:v>
                </c:pt>
                <c:pt idx="3">
                  <c:v>13.89</c:v>
                </c:pt>
                <c:pt idx="4">
                  <c:v>13.65</c:v>
                </c:pt>
                <c:pt idx="5">
                  <c:v>12.2</c:v>
                </c:pt>
                <c:pt idx="6">
                  <c:v>13.6</c:v>
                </c:pt>
                <c:pt idx="7">
                  <c:v>14.2</c:v>
                </c:pt>
                <c:pt idx="8">
                  <c:v>13.78</c:v>
                </c:pt>
                <c:pt idx="9">
                  <c:v>15.09</c:v>
                </c:pt>
                <c:pt idx="10">
                  <c:v>19.07</c:v>
                </c:pt>
              </c:numCache>
            </c:numRef>
          </c:val>
        </c:ser>
        <c:gapWidth val="51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noFill/>
          <a:ln w="9525" cap="flat">
            <a:solidFill>
              <a:srgbClr val="C3C2B7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19.07"/>
          <c:min val="0"/>
        </c:scaling>
        <c:delete val="1"/>
        <c:axPos val="l"/>
        <c:numFmt formatCode="[$-42A]#,##0.0;&quot;−&quot;#,##0.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0000"/>
          <c:y val="0.00000"/>
          <c:w val="1.00000"/>
          <c:h val="1.00000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Xuất khẩu 9 tháng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dPt>
            <c:idx val="0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8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9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10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162.0167</c:v>
                </c:pt>
                <c:pt idx="1">
                  <c:v>176.5808</c:v>
                </c:pt>
                <c:pt idx="2">
                  <c:v>215.1186</c:v>
                </c:pt>
                <c:pt idx="3">
                  <c:v>243.6968</c:v>
                </c:pt>
                <c:pt idx="4">
                  <c:v>264.2672</c:v>
                </c:pt>
                <c:pt idx="5">
                  <c:v>282.6289</c:v>
                </c:pt>
                <c:pt idx="6">
                  <c:v>336.1668</c:v>
                </c:pt>
                <c:pt idx="7">
                  <c:v>371.7154</c:v>
                </c:pt>
                <c:pt idx="8">
                  <c:v>354.721</c:v>
                </c:pt>
                <c:pt idx="9">
                  <c:v>405.9354</c:v>
                </c:pt>
                <c:pt idx="10">
                  <c:v>474.9978</c:v>
                </c:pt>
              </c:numCache>
            </c:numRef>
          </c:val>
        </c:ser>
        <c:gapWidth val="51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noFill/>
          <a:ln w="9525" cap="flat">
            <a:solidFill>
              <a:srgbClr val="C3C2B7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474.9978"/>
          <c:min val="0"/>
        </c:scaling>
        <c:delete val="1"/>
        <c:axPos val="l"/>
        <c:numFmt formatCode="[$-42A]#,##0.0;&quot;−&quot;#,##0.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0000"/>
          <c:y val="0.00000"/>
          <c:w val="1.00000"/>
          <c:h val="1.00000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FDI giải ngân 9 tháng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dPt>
            <c:idx val="0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8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9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10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14.5</c:v>
                </c:pt>
                <c:pt idx="1">
                  <c:v>15.8</c:v>
                </c:pt>
                <c:pt idx="2">
                  <c:v>17.5</c:v>
                </c:pt>
                <c:pt idx="3">
                  <c:v>19.1</c:v>
                </c:pt>
                <c:pt idx="4">
                  <c:v>20.38</c:v>
                </c:pt>
                <c:pt idx="5">
                  <c:v>19.98</c:v>
                </c:pt>
                <c:pt idx="6">
                  <c:v>19.74</c:v>
                </c:pt>
                <c:pt idx="7">
                  <c:v>22.396</c:v>
                </c:pt>
                <c:pt idx="8">
                  <c:v>23.183</c:v>
                </c:pt>
                <c:pt idx="9">
                  <c:v>25.351</c:v>
                </c:pt>
                <c:pt idx="10">
                  <c:v>27.62</c:v>
                </c:pt>
              </c:numCache>
            </c:numRef>
          </c:val>
        </c:ser>
        <c:gapWidth val="51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noFill/>
          <a:ln w="9525" cap="flat">
            <a:solidFill>
              <a:srgbClr val="C3C2B7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27.62"/>
          <c:min val="0"/>
        </c:scaling>
        <c:delete val="1"/>
        <c:axPos val="l"/>
        <c:numFmt formatCode="[$-42A]#,##0.0;&quot;−&quot;#,##0.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3526"/>
          <c:y val="0.13278"/>
          <c:w val="0.89249"/>
          <c:h val="0.758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Dự báo</c:v>
                </c:pt>
              </c:strCache>
            </c:strRef>
          </c:tx>
          <c:spPr>
            <a:solidFill>
              <a:srgbClr val="F1EFE8"/>
            </a:solidFill>
            <a:ln>
              <a:noFill/>
            </a:ln>
          </c:spPr>
          <c:invertIfNegative val="0"/>
          <c:cat>
            <c:strRef>
              <c:f>Sheet1!$A$2:$A$22</c:f>
              <c:strCache>
                <c:ptCount val="2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16">
                  <c:v>12.0</c:v>
                </c:pt>
                <c:pt idx="17">
                  <c:v>12.0</c:v>
                </c:pt>
                <c:pt idx="18">
                  <c:v>12.0</c:v>
                </c:pt>
                <c:pt idx="19">
                  <c:v>12.0</c:v>
                </c:pt>
                <c:pt idx="20">
                  <c:v>12.0</c:v>
                </c:pt>
              </c:numCache>
            </c:numRef>
          </c:val>
        </c:ser>
        <c:gapWidth val="0"/>
        <c:overlap val="0"/>
        <c:axId val="1"/>
        <c:axId val="2"/>
      </c:barChart>
      <c:lineChart>
        <c:grouping val="standard"/>
        <c:varyColors val="0"/>
        <c:ser>
          <c:idx val="1"/>
          <c:order val="1"/>
          <c:tx>
            <c:strRef>
              <c:f>Sheet1!$E$1</c:f>
              <c:strCache>
                <c:ptCount val="1"/>
                <c:pt idx="0">
                  <c:v>Mục tiêu từ 10%/năm</c:v>
                </c:pt>
              </c:strCache>
            </c:strRef>
          </c:tx>
          <c:spPr>
            <a:ln w="12700" cap="rnd">
              <a:solidFill>
                <a:srgbClr val="5B6170"/>
              </a:solidFill>
              <a:prstDash val="dash"/>
              <a:round/>
            </a:ln>
          </c:spPr>
          <c:marker>
            <c:symbol val="none"/>
          </c:marker>
          <c:dLbls>
            <c:dLbl>
              <c:idx val="0"/>
              <c:layout>
                <c:manualLayout>
                  <c:x val="0.00000"/>
                  <c:y val="-0.04225"/>
                </c:manualLayout>
              </c:layout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5B6170"/>
                        </a:solidFill>
                        <a:latin typeface="IBM Plex Sans"/>
                        <a:ea typeface="IBM Plex Sans"/>
                        <a:cs typeface="IBM Plex Sans"/>
                      </a:defRPr>
                    </a:pPr>
                    <a:r>
                      <a:rPr lang="vi-VN" sz="950" b="0" i="0" baseline="0">
                        <a:solidFill>
                          <a:srgbClr val="5B6170"/>
                        </a:solidFill>
                        <a:latin typeface="IBM Plex Sans"/>
                        <a:ea typeface="IBM Plex Sans"/>
                        <a:cs typeface="IBM Plex Sans"/>
                      </a:rPr>
                      <a:t>Mục tiêu từ 10%/năm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"/>
                      <a:ea typeface="IBM Plex Sans"/>
                      <a:cs typeface="IBM Plex Sans"/>
                    </a:defRPr>
                  </a:pPr>
                  <a:endParaRPr lang="vi-V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950" b="0" i="0" baseline="0">
                    <a:solidFill>
                      <a:srgbClr val="5B6170"/>
                    </a:solidFill>
                    <a:latin typeface="IBM Plex Sans"/>
                    <a:ea typeface="IBM Plex Sans"/>
                    <a:cs typeface="IBM Plex Sans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Sheet1!$A$2:$A$22</c:f>
              <c:strCache>
                <c:ptCount val="2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</c:strCache>
            </c:strRef>
          </c:cat>
          <c:val>
            <c:numRef>
              <c:f>Sheet1!$E$2:$E$22</c:f>
              <c:numCache>
                <c:formatCode>General</c:formatCode>
                <c:ptCount val="21"/>
                <c:pt idx="0">
                  <c:v>10.0</c:v>
                </c:pt>
                <c:pt idx="1">
                  <c:v>10.0</c:v>
                </c:pt>
                <c:pt idx="2">
                  <c:v>10.0</c:v>
                </c:pt>
                <c:pt idx="3">
                  <c:v>10.0</c:v>
                </c:pt>
                <c:pt idx="4">
                  <c:v>10.0</c:v>
                </c:pt>
                <c:pt idx="5">
                  <c:v>10.0</c:v>
                </c:pt>
                <c:pt idx="6">
                  <c:v>10.0</c:v>
                </c:pt>
                <c:pt idx="7">
                  <c:v>10.0</c:v>
                </c:pt>
                <c:pt idx="8">
                  <c:v>10.0</c:v>
                </c:pt>
                <c:pt idx="9">
                  <c:v>10.0</c:v>
                </c:pt>
                <c:pt idx="10">
                  <c:v>10.0</c:v>
                </c:pt>
                <c:pt idx="11">
                  <c:v>10.0</c:v>
                </c:pt>
                <c:pt idx="12">
                  <c:v>10.0</c:v>
                </c:pt>
                <c:pt idx="13">
                  <c:v>10.0</c:v>
                </c:pt>
                <c:pt idx="14">
                  <c:v>10.0</c:v>
                </c:pt>
                <c:pt idx="15">
                  <c:v>10.0</c:v>
                </c:pt>
                <c:pt idx="16">
                  <c:v>10.0</c:v>
                </c:pt>
                <c:pt idx="17">
                  <c:v>10.0</c:v>
                </c:pt>
                <c:pt idx="18">
                  <c:v>10.0</c:v>
                </c:pt>
                <c:pt idx="19">
                  <c:v>10.0</c:v>
                </c:pt>
                <c:pt idx="20">
                  <c:v>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Sheet1!$C$1</c:f>
              <c:strCache>
                <c:ptCount val="1"/>
                <c:pt idx="0">
                  <c:v>Thực tế (NSO)</c:v>
                </c:pt>
              </c:strCache>
            </c:strRef>
          </c:tx>
          <c:spPr>
            <a:ln w="25400" cap="rnd">
              <a:solidFill>
                <a:srgbClr val="16181D"/>
              </a:solidFill>
              <a:round/>
            </a:ln>
          </c:spPr>
          <c:marker>
            <c:symbol val="none"/>
          </c:marker>
          <c:cat>
            <c:strRef>
              <c:f>Sheet1!$A$2:$A$22</c:f>
              <c:strCache>
                <c:ptCount val="2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6.42</c:v>
                </c:pt>
                <c:pt idx="1">
                  <c:v>6.41</c:v>
                </c:pt>
                <c:pt idx="2">
                  <c:v>5.5</c:v>
                </c:pt>
                <c:pt idx="3">
                  <c:v>5.55</c:v>
                </c:pt>
                <c:pt idx="4">
                  <c:v>6.42</c:v>
                </c:pt>
                <c:pt idx="5">
                  <c:v>6.99</c:v>
                </c:pt>
                <c:pt idx="6">
                  <c:v>6.69</c:v>
                </c:pt>
                <c:pt idx="7">
                  <c:v>6.94</c:v>
                </c:pt>
                <c:pt idx="8">
                  <c:v>7.47</c:v>
                </c:pt>
                <c:pt idx="9">
                  <c:v>7.36</c:v>
                </c:pt>
                <c:pt idx="10">
                  <c:v>2.87</c:v>
                </c:pt>
                <c:pt idx="11">
                  <c:v>2.55</c:v>
                </c:pt>
                <c:pt idx="12">
                  <c:v>8.54</c:v>
                </c:pt>
                <c:pt idx="13">
                  <c:v>4.98</c:v>
                </c:pt>
                <c:pt idx="14">
                  <c:v>7.04</c:v>
                </c:pt>
                <c:pt idx="15">
                  <c:v>8.02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Sheet1!$D$1</c:f>
              <c:strCache>
                <c:ptCount val="1"/>
                <c:pt idx="0">
                  <c:v>IMF WEO 4/2026</c:v>
                </c:pt>
              </c:strCache>
            </c:strRef>
          </c:tx>
          <c:spPr>
            <a:ln w="25400" cap="rnd">
              <a:solidFill>
                <a:srgbClr val="2A78D6"/>
              </a:solidFill>
              <a:prstDash val="dash"/>
              <a:round/>
            </a:ln>
          </c:spPr>
          <c:marker>
            <c:symbol val="none"/>
          </c:marker>
          <c:dPt>
            <c:idx val="20"/>
            <c:marker>
              <c:symbol val="circle"/>
              <c:size val="6"/>
              <c:spPr>
                <a:solidFill>
                  <a:srgbClr val="FFFFFF"/>
                </a:solidFill>
                <a:ln w="15875" cap="rnd">
                  <a:solidFill>
                    <a:srgbClr val="2A78D6"/>
                  </a:solidFill>
                  <a:round/>
                </a:ln>
              </c:spPr>
            </c:marker>
          </c:dPt>
          <c:dLbls>
            <c:dLbl>
              <c:idx val="20"/>
              <c:tx>
                <c:rich>
                  <a:bodyPr wrap="none" anchor="ctr"/>
                  <a:lstStyle/>
                  <a:p>
                    <a:pPr>
                      <a:defRPr lang="vi-VN" sz="100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100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IMF 5,4%</a:t>
                    </a:r>
                  </a:p>
                </c:rich>
              </c:tx>
              <c:numFmt formatCode="[$-42A]#,##0.0&quot;%&quot;;&quot;−&quot;#,##0.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0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r"/>
              <c:showLegendKey val="0"/>
              <c:showVal val="1"/>
              <c:showCatName val="0"/>
              <c:showSerName val="1"/>
              <c:showPercent val="0"/>
              <c:showBubbleSize val="0"/>
              <c:separator> </c:separator>
            </c:dLbl>
            <c:numFmt formatCode="[$-42A]#,##0.0&quot;%&quot;;&quot;−&quot;#,##0.0&quot;%&quot;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1000" b="0" i="0" baseline="0">
                    <a:solidFill>
                      <a:srgbClr val="16181D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Sheet1!$A$2:$A$22</c:f>
              <c:strCache>
                <c:ptCount val="2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</c:strCache>
            </c:strRef>
          </c:cat>
          <c:val>
            <c:numRef>
              <c:f>Sheet1!$D$2:$D$22</c:f>
              <c:numCache>
                <c:formatCode>General</c:formatCode>
                <c:ptCount val="21"/>
                <c:pt idx="15">
                  <c:v>8.02</c:v>
                </c:pt>
                <c:pt idx="16">
                  <c:v>7.1</c:v>
                </c:pt>
                <c:pt idx="17">
                  <c:v>6.7</c:v>
                </c:pt>
                <c:pt idx="18">
                  <c:v>6.2</c:v>
                </c:pt>
                <c:pt idx="19">
                  <c:v>5.6</c:v>
                </c:pt>
                <c:pt idx="20">
                  <c:v>5.4</c:v>
                </c:pt>
              </c:numCache>
            </c:numRef>
          </c:val>
          <c:smooth val="0"/>
        </c:ser>
        <c:marker val="1"/>
        <c:axId val="1"/>
        <c:axId val="2"/>
      </c:line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12"/>
          <c:min val="0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round/>
            </a:ln>
          </c:spPr>
        </c:majorGridlines>
        <c:numFmt formatCode="[$-42A]#,##0.0;&quot;−&quot;#,##0.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  <c:majorUnit val="2.5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2528"/>
          <c:y val="0.12150"/>
          <c:w val="0.85955"/>
          <c:h val="0.7790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Huy động</c:v>
                </c:pt>
              </c:strCache>
            </c:strRef>
          </c:tx>
          <c:spPr>
            <a:ln w="22225" cap="rnd">
              <a:solidFill>
                <a:srgbClr val="C9CCD2"/>
              </a:solidFill>
              <a:round/>
            </a:ln>
          </c:spPr>
          <c:marker>
            <c:symbol val="none"/>
          </c:marker>
          <c:dLbls>
            <c:dLbl>
              <c:idx val="10"/>
              <c:layout>
                <c:manualLayout>
                  <c:x val="0.00000"/>
                  <c:y val="0.04984"/>
                </c:manualLayout>
              </c:layout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0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r"/>
              <c:showLegendKey val="0"/>
              <c:showVal val="1"/>
              <c:showCatName val="0"/>
              <c:showSerName val="1"/>
              <c:showPercent val="0"/>
              <c:showBubbleSize val="0"/>
              <c:separator> </c:separator>
            </c:dLbl>
            <c:numFmt formatCode="[$-42A]#,##0.00&quot;%&quot;;&quot;−&quot;#,##0.00&quot;%&quot;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1000" b="0" i="0" baseline="0">
                    <a:solidFill>
                      <a:srgbClr val="5B6170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13.59</c:v>
                </c:pt>
                <c:pt idx="1">
                  <c:v>17.75</c:v>
                </c:pt>
                <c:pt idx="2">
                  <c:v>14.59</c:v>
                </c:pt>
                <c:pt idx="3">
                  <c:v>12.29</c:v>
                </c:pt>
                <c:pt idx="4">
                  <c:v>14.54</c:v>
                </c:pt>
                <c:pt idx="5">
                  <c:v>13.3</c:v>
                </c:pt>
                <c:pt idx="6">
                  <c:v>10.3</c:v>
                </c:pt>
                <c:pt idx="7">
                  <c:v>5.99</c:v>
                </c:pt>
                <c:pt idx="8">
                  <c:v>13.2</c:v>
                </c:pt>
                <c:pt idx="9">
                  <c:v>10.66</c:v>
                </c:pt>
                <c:pt idx="10">
                  <c:v>15.42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M2</c:v>
                </c:pt>
              </c:strCache>
            </c:strRef>
          </c:tx>
          <c:spPr>
            <a:ln w="22225" cap="rnd">
              <a:solidFill>
                <a:srgbClr val="C9CCD2"/>
              </a:solidFill>
              <a:round/>
            </a:ln>
          </c:spPr>
          <c:marker>
            <c:symbol val="none"/>
          </c:marker>
          <c:dLbls>
            <c:dLbl>
              <c:idx val="10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0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r"/>
              <c:showLegendKey val="0"/>
              <c:showVal val="1"/>
              <c:showCatName val="0"/>
              <c:showSerName val="1"/>
              <c:showPercent val="0"/>
              <c:showBubbleSize val="0"/>
              <c:separator> </c:separator>
            </c:dLbl>
            <c:numFmt formatCode="[$-42A]#,##0.00&quot;%&quot;;&quot;−&quot;#,##0.00&quot;%&quot;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1000" b="0" i="0" baseline="0">
                    <a:solidFill>
                      <a:srgbClr val="5B6170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14.91</c:v>
                </c:pt>
                <c:pt idx="1">
                  <c:v>17.88</c:v>
                </c:pt>
                <c:pt idx="2">
                  <c:v>14.26</c:v>
                </c:pt>
                <c:pt idx="3">
                  <c:v>12.7</c:v>
                </c:pt>
                <c:pt idx="4">
                  <c:v>14.8</c:v>
                </c:pt>
                <c:pt idx="5">
                  <c:v>14.5</c:v>
                </c:pt>
                <c:pt idx="6">
                  <c:v>10.7</c:v>
                </c:pt>
                <c:pt idx="7">
                  <c:v>6.2</c:v>
                </c:pt>
                <c:pt idx="8">
                  <c:v>12.5</c:v>
                </c:pt>
                <c:pt idx="9">
                  <c:v>11.97</c:v>
                </c:pt>
                <c:pt idx="10">
                  <c:v>15.7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Tín dụng</c:v>
                </c:pt>
              </c:strCache>
            </c:strRef>
          </c:tx>
          <c:spPr>
            <a:ln w="25400" cap="rnd">
              <a:solidFill>
                <a:srgbClr val="2A78D6"/>
              </a:solidFill>
              <a:round/>
            </a:ln>
          </c:spPr>
          <c:marker>
            <c:symbol val="none"/>
          </c:marker>
          <c:dPt>
            <c:idx val="10"/>
            <c:marker>
              <c:symbol val="circle"/>
              <c:size val="6"/>
              <c:spPr>
                <a:solidFill>
                  <a:srgbClr val="2A78D6"/>
                </a:solidFill>
                <a:ln w="9525" cap="rnd">
                  <a:solidFill>
                    <a:srgbClr val="FFFFFF"/>
                  </a:solidFill>
                  <a:round/>
                </a:ln>
              </c:spPr>
            </c:marker>
          </c:dPt>
          <c:dLbls>
            <c:dLbl>
              <c:idx val="10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0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r"/>
              <c:showLegendKey val="0"/>
              <c:showVal val="1"/>
              <c:showCatName val="0"/>
              <c:showSerName val="1"/>
              <c:showPercent val="0"/>
              <c:showBubbleSize val="0"/>
              <c:separator> </c:separator>
            </c:dLbl>
            <c:numFmt formatCode="[$-42A]#,##0.00&quot;%&quot;;&quot;−&quot;#,##0.00&quot;%&quot;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1000" b="0" i="0" baseline="0">
                    <a:solidFill>
                      <a:srgbClr val="16181D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18.0</c:v>
                </c:pt>
                <c:pt idx="1">
                  <c:v>18.25</c:v>
                </c:pt>
                <c:pt idx="2">
                  <c:v>18.28</c:v>
                </c:pt>
                <c:pt idx="3">
                  <c:v>13.89</c:v>
                </c:pt>
                <c:pt idx="4">
                  <c:v>13.65</c:v>
                </c:pt>
                <c:pt idx="5">
                  <c:v>12.2</c:v>
                </c:pt>
                <c:pt idx="6">
                  <c:v>13.6</c:v>
                </c:pt>
                <c:pt idx="7">
                  <c:v>14.2</c:v>
                </c:pt>
                <c:pt idx="8">
                  <c:v>13.78</c:v>
                </c:pt>
                <c:pt idx="9">
                  <c:v>15.09</c:v>
                </c:pt>
                <c:pt idx="10">
                  <c:v>19.07</c:v>
                </c:pt>
              </c:numCache>
            </c:numRef>
          </c:val>
          <c:smooth val="0"/>
        </c:ser>
        <c:marker val="1"/>
        <c:axId val="1"/>
        <c:axId val="2"/>
      </c:line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20"/>
          <c:min val="0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round/>
            </a:ln>
          </c:spPr>
        </c:majorGridlines>
        <c:numFmt formatCode="[$-42A]#,##0;&quot;−&quot;#,##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midCat"/>
        <c:majorUnit val="5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1841"/>
          <c:y val="0.12482"/>
          <c:w val="0.86337"/>
          <c:h val="0.7666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Tái cấp vốn</c:v>
                </c:pt>
              </c:strCache>
            </c:strRef>
          </c:tx>
          <c:spPr>
            <a:ln w="25400" cap="flat">
              <a:solidFill>
                <a:srgbClr val="C9CCD2"/>
              </a:solidFill>
              <a:round/>
            </a:ln>
          </c:spPr>
          <c:marker>
            <c:symbol val="none"/>
          </c:marker>
          <c:dPt>
            <c:idx val="7"/>
            <c:marker>
              <c:symbol val="circle"/>
              <c:size val="6"/>
              <c:spPr>
                <a:solidFill>
                  <a:srgbClr val="C9CCD2"/>
                </a:solidFill>
                <a:ln w="9525" cap="rnd">
                  <a:solidFill>
                    <a:srgbClr val="FFFFFF"/>
                  </a:solidFill>
                  <a:round/>
                </a:ln>
              </c:spPr>
            </c:marker>
          </c:dPt>
          <c:dLbls>
            <c:dLbl>
              <c:idx val="7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0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r"/>
              <c:showLegendKey val="0"/>
              <c:showVal val="1"/>
              <c:showCatName val="0"/>
              <c:showSerName val="1"/>
              <c:showPercent val="0"/>
              <c:showBubbleSize val="0"/>
              <c:separator> </c:separator>
            </c:dLbl>
            <c:numFmt formatCode="[$-42A]#,##0.00&quot;%&quot;;&quot;−&quot;#,##0.00&quot;%&quot;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1000" b="0" i="0" baseline="0">
                    <a:solidFill>
                      <a:srgbClr val="16181D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xVal>
            <c:numRef>
              <c:f>Sheet1!$B$2:$B$9</c:f>
              <c:numCache>
                <c:formatCode>General</c:formatCode>
                <c:ptCount val="8"/>
                <c:pt idx="0">
                  <c:v>2024.0</c:v>
                </c:pt>
                <c:pt idx="1">
                  <c:v>2024.5928961748634</c:v>
                </c:pt>
                <c:pt idx="2">
                  <c:v>2024.5928961748634</c:v>
                </c:pt>
                <c:pt idx="3">
                  <c:v>2024.707650273224</c:v>
                </c:pt>
                <c:pt idx="4">
                  <c:v>2024.707650273224</c:v>
                </c:pt>
                <c:pt idx="5">
                  <c:v>2025.9232876712329</c:v>
                </c:pt>
                <c:pt idx="6">
                  <c:v>2025.9232876712329</c:v>
                </c:pt>
                <c:pt idx="7">
                  <c:v>2026.7506849315068</c:v>
                </c:pt>
              </c:numCache>
            </c:numRef>
          </c:xVal>
          <c:yVal>
            <c:numRef>
              <c:f>Sheet1!$C$2:$C$9</c:f>
              <c:numCache>
                <c:formatCode>General</c:formatCode>
                <c:ptCount val="8"/>
                <c:pt idx="0">
                  <c:v>4.5</c:v>
                </c:pt>
                <c:pt idx="1">
                  <c:v>4.5</c:v>
                </c:pt>
                <c:pt idx="2">
                  <c:v>4.5</c:v>
                </c:pt>
                <c:pt idx="3">
                  <c:v>4.5</c:v>
                </c:pt>
                <c:pt idx="4">
                  <c:v>4.5</c:v>
                </c:pt>
                <c:pt idx="5">
                  <c:v>4.5</c:v>
                </c:pt>
                <c:pt idx="6">
                  <c:v>4.5</c:v>
                </c:pt>
                <c:pt idx="7">
                  <c:v>4.5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Thị trường mở (OMO)</c:v>
                </c:pt>
              </c:strCache>
            </c:strRef>
          </c:tx>
          <c:spPr>
            <a:ln w="25400" cap="flat">
              <a:solidFill>
                <a:srgbClr val="2A78D6"/>
              </a:solidFill>
              <a:round/>
            </a:ln>
          </c:spPr>
          <c:marker>
            <c:symbol val="none"/>
          </c:marker>
          <c:dPt>
            <c:idx val="7"/>
            <c:marker>
              <c:symbol val="circle"/>
              <c:size val="6"/>
              <c:spPr>
                <a:solidFill>
                  <a:srgbClr val="2A78D6"/>
                </a:solidFill>
                <a:ln w="9525" cap="rnd">
                  <a:solidFill>
                    <a:srgbClr val="FFFFFF"/>
                  </a:solidFill>
                  <a:round/>
                </a:ln>
              </c:spPr>
            </c:marker>
          </c:dPt>
          <c:dLbls>
            <c:dLbl>
              <c:idx val="7"/>
              <c:layout>
                <c:manualLayout>
                  <c:x val="0.00000"/>
                  <c:y val="0.05970"/>
                </c:manualLayout>
              </c:layout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0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r"/>
              <c:showLegendKey val="0"/>
              <c:showVal val="1"/>
              <c:showCatName val="0"/>
              <c:showSerName val="1"/>
              <c:showPercent val="0"/>
              <c:showBubbleSize val="0"/>
              <c:separator> </c:separator>
            </c:dLbl>
            <c:numFmt formatCode="[$-42A]#,##0.00&quot;%&quot;;&quot;−&quot;#,##0.00&quot;%&quot;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1000" b="0" i="0" baseline="0">
                    <a:solidFill>
                      <a:srgbClr val="16181D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xVal>
            <c:numRef>
              <c:f>Sheet1!$B$2:$B$9</c:f>
              <c:numCache>
                <c:formatCode>General</c:formatCode>
                <c:ptCount val="8"/>
                <c:pt idx="0">
                  <c:v>2024.0</c:v>
                </c:pt>
                <c:pt idx="1">
                  <c:v>2024.5928961748634</c:v>
                </c:pt>
                <c:pt idx="2">
                  <c:v>2024.5928961748634</c:v>
                </c:pt>
                <c:pt idx="3">
                  <c:v>2024.707650273224</c:v>
                </c:pt>
                <c:pt idx="4">
                  <c:v>2024.707650273224</c:v>
                </c:pt>
                <c:pt idx="5">
                  <c:v>2025.9232876712329</c:v>
                </c:pt>
                <c:pt idx="6">
                  <c:v>2025.9232876712329</c:v>
                </c:pt>
                <c:pt idx="7">
                  <c:v>2026.7506849315068</c:v>
                </c:pt>
              </c:numCache>
            </c:numRef>
          </c:xVal>
          <c:yVal>
            <c:numRef>
              <c:f>Sheet1!$D$2:$D$9</c:f>
              <c:numCache>
                <c:formatCode>General</c:formatCode>
                <c:ptCount val="8"/>
                <c:pt idx="0">
                  <c:v>4.5</c:v>
                </c:pt>
                <c:pt idx="1">
                  <c:v>4.5</c:v>
                </c:pt>
                <c:pt idx="2">
                  <c:v>4.25</c:v>
                </c:pt>
                <c:pt idx="3">
                  <c:v>4.25</c:v>
                </c:pt>
                <c:pt idx="4">
                  <c:v>4.0</c:v>
                </c:pt>
                <c:pt idx="5">
                  <c:v>4.0</c:v>
                </c:pt>
                <c:pt idx="6">
                  <c:v>4.5</c:v>
                </c:pt>
                <c:pt idx="7">
                  <c:v>4.5</c:v>
                </c:pt>
              </c:numCache>
            </c:numRef>
          </c:yVal>
          <c:smooth val="0"/>
        </c:ser>
        <c:axId val="1"/>
        <c:axId val="2"/>
      </c:scatterChart>
      <c:valAx>
        <c:axId val="1"/>
        <c:scaling>
          <c:orientation val="minMax"/>
          <c:max val="2027"/>
          <c:min val="2024"/>
        </c:scaling>
        <c:delete val="0"/>
        <c:axPos val="b"/>
        <c:numFmt formatCode="[$-42A]0" sourceLinked="0"/>
        <c:majorTickMark val="none"/>
        <c:minorTickMark val="none"/>
        <c:tickLblPos val="nextTo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crossBetween val="between"/>
        <c:majorUnit val="1"/>
      </c:valAx>
      <c:valAx>
        <c:axId val="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round/>
            </a:ln>
          </c:spPr>
        </c:majorGridlines>
        <c:numFmt formatCode="[$-42A]#,##0;&quot;−&quot;#,##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At val="2024"/>
        <c:crossBetween val="between"/>
        <c:majorUnit val="1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3214"/>
          <c:y val="0.09941"/>
          <c:w val="0.88065"/>
          <c:h val="0.8011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Dự trữ ngoại hối</c:v>
                </c:pt>
              </c:strCache>
            </c:strRef>
          </c:tx>
          <c:spPr>
            <a:solidFill>
              <a:srgbClr val="2A78D6">
                <a:alpha val="85000"/>
              </a:srgbClr>
            </a:solidFill>
            <a:ln w="25400" cap="flat">
              <a:solidFill>
                <a:srgbClr val="2A78D6"/>
              </a:solidFill>
              <a:round/>
            </a:ln>
          </c:spPr>
          <c:cat>
            <c:strRef>
              <c:f>Sheet1!$A$2:$A$17</c:f>
              <c:strCache>
                <c:ptCount val="16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12.47</c:v>
                </c:pt>
                <c:pt idx="1">
                  <c:v>13.54</c:v>
                </c:pt>
                <c:pt idx="2">
                  <c:v>25.57</c:v>
                </c:pt>
                <c:pt idx="3">
                  <c:v>25.89</c:v>
                </c:pt>
                <c:pt idx="4">
                  <c:v>34.19</c:v>
                </c:pt>
                <c:pt idx="5">
                  <c:v>28.25</c:v>
                </c:pt>
                <c:pt idx="6">
                  <c:v>36.53</c:v>
                </c:pt>
                <c:pt idx="7">
                  <c:v>49.08</c:v>
                </c:pt>
                <c:pt idx="8">
                  <c:v>55.45</c:v>
                </c:pt>
                <c:pt idx="9">
                  <c:v>78.33</c:v>
                </c:pt>
                <c:pt idx="10">
                  <c:v>94.83</c:v>
                </c:pt>
                <c:pt idx="11">
                  <c:v>109.37</c:v>
                </c:pt>
                <c:pt idx="12">
                  <c:v>86.54</c:v>
                </c:pt>
                <c:pt idx="13">
                  <c:v>92.24</c:v>
                </c:pt>
                <c:pt idx="14">
                  <c:v>83.08</c:v>
                </c:pt>
                <c:pt idx="15">
                  <c:v>85.58</c:v>
                </c:pt>
              </c:numCache>
            </c:numRef>
          </c:val>
        </c:ser>
        <c:axId val="1"/>
        <c:axId val="2"/>
      </c:area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125.0"/>
          <c:min val="0.0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round/>
            </a:ln>
          </c:spPr>
        </c:majorGridlines>
        <c:numFmt formatCode="[$-42A]#,##0;&quot;−&quot;#,##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midCat"/>
        <c:majorUnit val="25.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4213"/>
          <c:y val="0.19537"/>
          <c:w val="0.82422"/>
          <c:h val="0.70695"/>
        </c:manualLayout>
      </c:layout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Ngoài nhà nước</c:v>
                </c:pt>
              </c:strCache>
            </c:strRef>
          </c:tx>
          <c:spPr>
            <a:solidFill>
              <a:srgbClr val="2A78D6"/>
            </a:solidFill>
            <a:ln w="12700" cap="flat">
              <a:solidFill>
                <a:srgbClr val="FFFFFF"/>
              </a:solidFill>
              <a:round/>
            </a:ln>
          </c:spP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881.76</c:v>
                </c:pt>
                <c:pt idx="1">
                  <c:v>988.651</c:v>
                </c:pt>
                <c:pt idx="2">
                  <c:v>1173.901</c:v>
                </c:pt>
                <c:pt idx="3">
                  <c:v>1361.156</c:v>
                </c:pt>
                <c:pt idx="4">
                  <c:v>1557.937</c:v>
                </c:pt>
                <c:pt idx="5">
                  <c:v>1605.05</c:v>
                </c:pt>
                <c:pt idx="6">
                  <c:v>1719.354</c:v>
                </c:pt>
                <c:pt idx="7">
                  <c:v>1868.642</c:v>
                </c:pt>
                <c:pt idx="8">
                  <c:v>1917.451</c:v>
                </c:pt>
                <c:pt idx="9">
                  <c:v>2063.81</c:v>
                </c:pt>
                <c:pt idx="10">
                  <c:v>2237.087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Nhà nước</c:v>
                </c:pt>
              </c:strCache>
            </c:strRef>
          </c:tx>
          <c:spPr>
            <a:solidFill>
              <a:srgbClr val="EB6834"/>
            </a:solidFill>
            <a:ln w="12700" cap="flat">
              <a:solidFill>
                <a:srgbClr val="FFFFFF"/>
              </a:solidFill>
              <a:round/>
            </a:ln>
          </c:spP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556.38</c:v>
                </c:pt>
                <c:pt idx="1">
                  <c:v>587.11</c:v>
                </c:pt>
                <c:pt idx="2">
                  <c:v>616.459</c:v>
                </c:pt>
                <c:pt idx="3">
                  <c:v>630.142</c:v>
                </c:pt>
                <c:pt idx="4">
                  <c:v>643.094</c:v>
                </c:pt>
                <c:pt idx="5">
                  <c:v>734.735</c:v>
                </c:pt>
                <c:pt idx="6">
                  <c:v>719.293</c:v>
                </c:pt>
                <c:pt idx="7">
                  <c:v>832.062</c:v>
                </c:pt>
                <c:pt idx="8">
                  <c:v>968.187</c:v>
                </c:pt>
                <c:pt idx="9">
                  <c:v>1030.281</c:v>
                </c:pt>
                <c:pt idx="10">
                  <c:v>1233.578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FDI</c:v>
                </c:pt>
              </c:strCache>
            </c:strRef>
          </c:tx>
          <c:spPr>
            <a:solidFill>
              <a:srgbClr val="1BAF7A"/>
            </a:solidFill>
            <a:ln w="12700" cap="flat">
              <a:solidFill>
                <a:srgbClr val="FFFFFF"/>
              </a:solidFill>
              <a:round/>
            </a:ln>
          </c:spP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318.1</c:v>
                </c:pt>
                <c:pt idx="1">
                  <c:v>351.103</c:v>
                </c:pt>
                <c:pt idx="2">
                  <c:v>396.2</c:v>
                </c:pt>
                <c:pt idx="3">
                  <c:v>435.102</c:v>
                </c:pt>
                <c:pt idx="4">
                  <c:v>469.44</c:v>
                </c:pt>
                <c:pt idx="5">
                  <c:v>463.28</c:v>
                </c:pt>
                <c:pt idx="6">
                  <c:v>458.081</c:v>
                </c:pt>
                <c:pt idx="7">
                  <c:v>521.975</c:v>
                </c:pt>
                <c:pt idx="8">
                  <c:v>550.204</c:v>
                </c:pt>
                <c:pt idx="9">
                  <c:v>608.621</c:v>
                </c:pt>
                <c:pt idx="10">
                  <c:v>679.842</c:v>
                </c:pt>
              </c:numCache>
            </c:numRef>
          </c:val>
        </c:ser>
        <c:axId val="1"/>
        <c:axId val="2"/>
      </c:area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5000"/>
          <c:min val="0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round/>
            </a:ln>
          </c:spPr>
        </c:majorGridlines>
        <c:numFmt formatCode="[$-42A]#,##0;&quot;−&quot;#,##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midCat"/>
        <c:majorUnit val="100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4276"/>
          <c:y val="0.12150"/>
          <c:w val="0.73986"/>
          <c:h val="0.77909"/>
        </c:manualLayout>
      </c:layout>
      <c:areaChart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Nông, lâm, thủy sản</c:v>
                </c:pt>
              </c:strCache>
            </c:strRef>
          </c:tx>
          <c:spPr>
            <a:solidFill>
              <a:srgbClr val="008300"/>
            </a:solidFill>
            <a:ln w="12700" cap="flat">
              <a:solidFill>
                <a:srgbClr val="FFFFFF"/>
              </a:solidFill>
              <a:round/>
            </a:ln>
          </c:spPr>
          <c:cat>
            <c:strRef>
              <c:f>Sheet1!$A$2:$A$20</c:f>
              <c:strCache>
                <c:ptCount val="19"/>
                <c:pt idx="0">
                  <c:v>1/25</c:v>
                </c:pt>
                <c:pt idx="1">
                  <c:v>2/25</c:v>
                </c:pt>
                <c:pt idx="2">
                  <c:v>3/25</c:v>
                </c:pt>
                <c:pt idx="3">
                  <c:v>4/25</c:v>
                </c:pt>
                <c:pt idx="4">
                  <c:v>5/25</c:v>
                </c:pt>
                <c:pt idx="5">
                  <c:v>6/25</c:v>
                </c:pt>
                <c:pt idx="6">
                  <c:v>7/25</c:v>
                </c:pt>
                <c:pt idx="7">
                  <c:v>8/25</c:v>
                </c:pt>
                <c:pt idx="8">
                  <c:v>9/25</c:v>
                </c:pt>
                <c:pt idx="9">
                  <c:v>10/25</c:v>
                </c:pt>
                <c:pt idx="10">
                  <c:v>11/25</c:v>
                </c:pt>
                <c:pt idx="11">
                  <c:v>12/25</c:v>
                </c:pt>
                <c:pt idx="12">
                  <c:v>1/26</c:v>
                </c:pt>
                <c:pt idx="13">
                  <c:v>2/26</c:v>
                </c:pt>
                <c:pt idx="14">
                  <c:v>3/26</c:v>
                </c:pt>
                <c:pt idx="15">
                  <c:v>4/26</c:v>
                </c:pt>
                <c:pt idx="16">
                  <c:v>5/26</c:v>
                </c:pt>
                <c:pt idx="17">
                  <c:v>6/26</c:v>
                </c:pt>
                <c:pt idx="18">
                  <c:v>7/26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1023.0</c:v>
                </c:pt>
                <c:pt idx="1">
                  <c:v>1022.0</c:v>
                </c:pt>
                <c:pt idx="2">
                  <c:v>1037.0</c:v>
                </c:pt>
                <c:pt idx="3">
                  <c:v>1048.0</c:v>
                </c:pt>
                <c:pt idx="4">
                  <c:v>1057.0</c:v>
                </c:pt>
                <c:pt idx="5">
                  <c:v>1076.0</c:v>
                </c:pt>
                <c:pt idx="6">
                  <c:v>1073.0</c:v>
                </c:pt>
                <c:pt idx="7">
                  <c:v>1083.0</c:v>
                </c:pt>
                <c:pt idx="8">
                  <c:v>1098.0</c:v>
                </c:pt>
                <c:pt idx="9">
                  <c:v>1107.0</c:v>
                </c:pt>
                <c:pt idx="10">
                  <c:v>1119.0</c:v>
                </c:pt>
                <c:pt idx="11">
                  <c:v>1135.0</c:v>
                </c:pt>
                <c:pt idx="12">
                  <c:v>1144.0</c:v>
                </c:pt>
                <c:pt idx="13">
                  <c:v>1153.0</c:v>
                </c:pt>
                <c:pt idx="14">
                  <c:v>1175.0</c:v>
                </c:pt>
                <c:pt idx="15">
                  <c:v>1192.0</c:v>
                </c:pt>
                <c:pt idx="16">
                  <c:v>1203.0</c:v>
                </c:pt>
                <c:pt idx="17">
                  <c:v>1225.0</c:v>
                </c:pt>
                <c:pt idx="18">
                  <c:v>1233.0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Công nghiệp, xây dựng</c:v>
                </c:pt>
              </c:strCache>
            </c:strRef>
          </c:tx>
          <c:spPr>
            <a:solidFill>
              <a:srgbClr val="EB6834"/>
            </a:solidFill>
            <a:ln w="12700" cap="flat">
              <a:solidFill>
                <a:srgbClr val="FFFFFF"/>
              </a:solidFill>
              <a:round/>
            </a:ln>
          </c:spPr>
          <c:cat>
            <c:strRef>
              <c:f>Sheet1!$A$2:$A$20</c:f>
              <c:strCache>
                <c:ptCount val="19"/>
                <c:pt idx="0">
                  <c:v>1/25</c:v>
                </c:pt>
                <c:pt idx="1">
                  <c:v>2/25</c:v>
                </c:pt>
                <c:pt idx="2">
                  <c:v>3/25</c:v>
                </c:pt>
                <c:pt idx="3">
                  <c:v>4/25</c:v>
                </c:pt>
                <c:pt idx="4">
                  <c:v>5/25</c:v>
                </c:pt>
                <c:pt idx="5">
                  <c:v>6/25</c:v>
                </c:pt>
                <c:pt idx="6">
                  <c:v>7/25</c:v>
                </c:pt>
                <c:pt idx="7">
                  <c:v>8/25</c:v>
                </c:pt>
                <c:pt idx="8">
                  <c:v>9/25</c:v>
                </c:pt>
                <c:pt idx="9">
                  <c:v>10/25</c:v>
                </c:pt>
                <c:pt idx="10">
                  <c:v>11/25</c:v>
                </c:pt>
                <c:pt idx="11">
                  <c:v>12/25</c:v>
                </c:pt>
                <c:pt idx="12">
                  <c:v>1/26</c:v>
                </c:pt>
                <c:pt idx="13">
                  <c:v>2/26</c:v>
                </c:pt>
                <c:pt idx="14">
                  <c:v>3/26</c:v>
                </c:pt>
                <c:pt idx="15">
                  <c:v>4/26</c:v>
                </c:pt>
                <c:pt idx="16">
                  <c:v>5/26</c:v>
                </c:pt>
                <c:pt idx="17">
                  <c:v>6/26</c:v>
                </c:pt>
                <c:pt idx="18">
                  <c:v>7/26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3925.0</c:v>
                </c:pt>
                <c:pt idx="1">
                  <c:v>3926.0</c:v>
                </c:pt>
                <c:pt idx="2">
                  <c:v>3985.0</c:v>
                </c:pt>
                <c:pt idx="3">
                  <c:v>4048.0</c:v>
                </c:pt>
                <c:pt idx="4">
                  <c:v>4069.0</c:v>
                </c:pt>
                <c:pt idx="5">
                  <c:v>4122.0</c:v>
                </c:pt>
                <c:pt idx="6">
                  <c:v>4126.0</c:v>
                </c:pt>
                <c:pt idx="7">
                  <c:v>4179.0</c:v>
                </c:pt>
                <c:pt idx="8">
                  <c:v>4267.0</c:v>
                </c:pt>
                <c:pt idx="9">
                  <c:v>4314.0</c:v>
                </c:pt>
                <c:pt idx="10">
                  <c:v>4336.0</c:v>
                </c:pt>
                <c:pt idx="11">
                  <c:v>4354.0</c:v>
                </c:pt>
                <c:pt idx="12">
                  <c:v>4404.0</c:v>
                </c:pt>
                <c:pt idx="13">
                  <c:v>4461.0</c:v>
                </c:pt>
                <c:pt idx="14">
                  <c:v>4558.0</c:v>
                </c:pt>
                <c:pt idx="15">
                  <c:v>4628.0</c:v>
                </c:pt>
                <c:pt idx="16">
                  <c:v>4685.0</c:v>
                </c:pt>
                <c:pt idx="17">
                  <c:v>4736.0</c:v>
                </c:pt>
                <c:pt idx="18">
                  <c:v>4782.0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Thương mại, vận tải, viễn thông</c:v>
                </c:pt>
              </c:strCache>
            </c:strRef>
          </c:tx>
          <c:spPr>
            <a:solidFill>
              <a:srgbClr val="1BAF7A"/>
            </a:solidFill>
            <a:ln w="12700" cap="flat">
              <a:solidFill>
                <a:srgbClr val="FFFFFF"/>
              </a:solidFill>
              <a:round/>
            </a:ln>
          </c:spPr>
          <c:cat>
            <c:strRef>
              <c:f>Sheet1!$A$2:$A$20</c:f>
              <c:strCache>
                <c:ptCount val="19"/>
                <c:pt idx="0">
                  <c:v>1/25</c:v>
                </c:pt>
                <c:pt idx="1">
                  <c:v>2/25</c:v>
                </c:pt>
                <c:pt idx="2">
                  <c:v>3/25</c:v>
                </c:pt>
                <c:pt idx="3">
                  <c:v>4/25</c:v>
                </c:pt>
                <c:pt idx="4">
                  <c:v>5/25</c:v>
                </c:pt>
                <c:pt idx="5">
                  <c:v>6/25</c:v>
                </c:pt>
                <c:pt idx="6">
                  <c:v>7/25</c:v>
                </c:pt>
                <c:pt idx="7">
                  <c:v>8/25</c:v>
                </c:pt>
                <c:pt idx="8">
                  <c:v>9/25</c:v>
                </c:pt>
                <c:pt idx="9">
                  <c:v>10/25</c:v>
                </c:pt>
                <c:pt idx="10">
                  <c:v>11/25</c:v>
                </c:pt>
                <c:pt idx="11">
                  <c:v>12/25</c:v>
                </c:pt>
                <c:pt idx="12">
                  <c:v>1/26</c:v>
                </c:pt>
                <c:pt idx="13">
                  <c:v>2/26</c:v>
                </c:pt>
                <c:pt idx="14">
                  <c:v>3/26</c:v>
                </c:pt>
                <c:pt idx="15">
                  <c:v>4/26</c:v>
                </c:pt>
                <c:pt idx="16">
                  <c:v>5/26</c:v>
                </c:pt>
                <c:pt idx="17">
                  <c:v>6/26</c:v>
                </c:pt>
                <c:pt idx="18">
                  <c:v>7/26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4421.0</c:v>
                </c:pt>
                <c:pt idx="1">
                  <c:v>4427.0</c:v>
                </c:pt>
                <c:pt idx="2">
                  <c:v>4577.0</c:v>
                </c:pt>
                <c:pt idx="3">
                  <c:v>4620.0</c:v>
                </c:pt>
                <c:pt idx="4">
                  <c:v>4668.0</c:v>
                </c:pt>
                <c:pt idx="5">
                  <c:v>4769.0</c:v>
                </c:pt>
                <c:pt idx="6">
                  <c:v>4735.0</c:v>
                </c:pt>
                <c:pt idx="7">
                  <c:v>4765.0</c:v>
                </c:pt>
                <c:pt idx="8">
                  <c:v>4793.0</c:v>
                </c:pt>
                <c:pt idx="9">
                  <c:v>4794.0</c:v>
                </c:pt>
                <c:pt idx="10">
                  <c:v>4850.0</c:v>
                </c:pt>
                <c:pt idx="11">
                  <c:v>4888.0</c:v>
                </c:pt>
                <c:pt idx="12">
                  <c:v>4903.0</c:v>
                </c:pt>
                <c:pt idx="13">
                  <c:v>4870.0</c:v>
                </c:pt>
                <c:pt idx="14">
                  <c:v>4944.0</c:v>
                </c:pt>
                <c:pt idx="15">
                  <c:v>4974.0</c:v>
                </c:pt>
                <c:pt idx="16">
                  <c:v>4987.0</c:v>
                </c:pt>
                <c:pt idx="17">
                  <c:v>5081.0</c:v>
                </c:pt>
                <c:pt idx="18">
                  <c:v>5088.0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Dịch vụ khác</c:v>
                </c:pt>
              </c:strCache>
            </c:strRef>
          </c:tx>
          <c:spPr>
            <a:solidFill>
              <a:srgbClr val="2A78D6"/>
            </a:solidFill>
            <a:ln w="12700" cap="flat">
              <a:solidFill>
                <a:srgbClr val="FFFFFF"/>
              </a:solidFill>
              <a:round/>
            </a:ln>
          </c:spPr>
          <c:cat>
            <c:strRef>
              <c:f>Sheet1!$A$2:$A$20</c:f>
              <c:strCache>
                <c:ptCount val="19"/>
                <c:pt idx="0">
                  <c:v>1/25</c:v>
                </c:pt>
                <c:pt idx="1">
                  <c:v>2/25</c:v>
                </c:pt>
                <c:pt idx="2">
                  <c:v>3/25</c:v>
                </c:pt>
                <c:pt idx="3">
                  <c:v>4/25</c:v>
                </c:pt>
                <c:pt idx="4">
                  <c:v>5/25</c:v>
                </c:pt>
                <c:pt idx="5">
                  <c:v>6/25</c:v>
                </c:pt>
                <c:pt idx="6">
                  <c:v>7/25</c:v>
                </c:pt>
                <c:pt idx="7">
                  <c:v>8/25</c:v>
                </c:pt>
                <c:pt idx="8">
                  <c:v>9/25</c:v>
                </c:pt>
                <c:pt idx="9">
                  <c:v>10/25</c:v>
                </c:pt>
                <c:pt idx="10">
                  <c:v>11/25</c:v>
                </c:pt>
                <c:pt idx="11">
                  <c:v>12/25</c:v>
                </c:pt>
                <c:pt idx="12">
                  <c:v>1/26</c:v>
                </c:pt>
                <c:pt idx="13">
                  <c:v>2/26</c:v>
                </c:pt>
                <c:pt idx="14">
                  <c:v>3/26</c:v>
                </c:pt>
                <c:pt idx="15">
                  <c:v>4/26</c:v>
                </c:pt>
                <c:pt idx="16">
                  <c:v>5/26</c:v>
                </c:pt>
                <c:pt idx="17">
                  <c:v>6/26</c:v>
                </c:pt>
                <c:pt idx="18">
                  <c:v>7/26</c:v>
                </c:pt>
              </c:strCache>
            </c:strRef>
          </c:cat>
          <c:val>
            <c:numRef>
              <c:f>Sheet1!$E$2:$E$20</c:f>
              <c:numCache>
                <c:formatCode>General</c:formatCode>
                <c:ptCount val="19"/>
                <c:pt idx="0">
                  <c:v>6334.0</c:v>
                </c:pt>
                <c:pt idx="1">
                  <c:v>6360.0</c:v>
                </c:pt>
                <c:pt idx="2">
                  <c:v>6627.0</c:v>
                </c:pt>
                <c:pt idx="3">
                  <c:v>6731.0</c:v>
                </c:pt>
                <c:pt idx="4">
                  <c:v>6872.0</c:v>
                </c:pt>
                <c:pt idx="5">
                  <c:v>7196.0</c:v>
                </c:pt>
                <c:pt idx="6">
                  <c:v>7281.0</c:v>
                </c:pt>
                <c:pt idx="7">
                  <c:v>7429.0</c:v>
                </c:pt>
                <c:pt idx="8">
                  <c:v>7624.0</c:v>
                </c:pt>
                <c:pt idx="9">
                  <c:v>7793.0</c:v>
                </c:pt>
                <c:pt idx="10">
                  <c:v>7942.0</c:v>
                </c:pt>
                <c:pt idx="11">
                  <c:v>8219.0</c:v>
                </c:pt>
                <c:pt idx="12">
                  <c:v>8366.0</c:v>
                </c:pt>
                <c:pt idx="13">
                  <c:v>8358.0</c:v>
                </c:pt>
                <c:pt idx="14">
                  <c:v>8510.0</c:v>
                </c:pt>
                <c:pt idx="15">
                  <c:v>8653.0</c:v>
                </c:pt>
                <c:pt idx="16">
                  <c:v>8829.0</c:v>
                </c:pt>
                <c:pt idx="17">
                  <c:v>9109.0</c:v>
                </c:pt>
                <c:pt idx="18">
                  <c:v>9159.0</c:v>
                </c:pt>
              </c:numCache>
            </c:numRef>
          </c:val>
        </c:ser>
        <c:axId val="1"/>
        <c:axId val="2"/>
      </c:area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tickLblSkip val="2"/>
        <c:noMultiLvlLbl val="0"/>
      </c:catAx>
      <c:valAx>
        <c:axId val="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round/>
            </a:ln>
          </c:spPr>
        </c:majorGridlines>
        <c:numFmt formatCode="[$-42A]0%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midCat"/>
        <c:majorUnit val="0.25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1841"/>
          <c:y val="0.13278"/>
          <c:w val="0.92597"/>
          <c:h val="0.758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Mô hình, không phải dự báo</c:v>
                </c:pt>
              </c:strCache>
            </c:strRef>
          </c:tx>
          <c:spPr>
            <a:solidFill>
              <a:srgbClr val="F1EFE8"/>
            </a:solidFill>
            <a:ln>
              <a:noFill/>
            </a:ln>
          </c:spPr>
          <c:invertIfNegative val="0"/>
          <c:cat>
            <c:strRef>
              <c:f>Sheet1!$A$2:$A$28</c:f>
              <c:strCache>
                <c:ptCount val="27"/>
                <c:pt idx="0">
                  <c:v>1/25</c:v>
                </c:pt>
                <c:pt idx="1">
                  <c:v>2/25</c:v>
                </c:pt>
                <c:pt idx="2">
                  <c:v>3/25</c:v>
                </c:pt>
                <c:pt idx="3">
                  <c:v>4/25</c:v>
                </c:pt>
                <c:pt idx="4">
                  <c:v>5/25</c:v>
                </c:pt>
                <c:pt idx="5">
                  <c:v>6/25</c:v>
                </c:pt>
                <c:pt idx="6">
                  <c:v>7/25</c:v>
                </c:pt>
                <c:pt idx="7">
                  <c:v>8/25</c:v>
                </c:pt>
                <c:pt idx="8">
                  <c:v>9/25</c:v>
                </c:pt>
                <c:pt idx="9">
                  <c:v>10/25</c:v>
                </c:pt>
                <c:pt idx="10">
                  <c:v>11/25</c:v>
                </c:pt>
                <c:pt idx="11">
                  <c:v>12/25</c:v>
                </c:pt>
                <c:pt idx="12">
                  <c:v>1/26</c:v>
                </c:pt>
                <c:pt idx="13">
                  <c:v>2/26</c:v>
                </c:pt>
                <c:pt idx="14">
                  <c:v>3/26</c:v>
                </c:pt>
                <c:pt idx="15">
                  <c:v>4/26</c:v>
                </c:pt>
                <c:pt idx="16">
                  <c:v>5/26</c:v>
                </c:pt>
                <c:pt idx="17">
                  <c:v>6/26</c:v>
                </c:pt>
                <c:pt idx="18">
                  <c:v>7/26</c:v>
                </c:pt>
                <c:pt idx="19">
                  <c:v>8/26</c:v>
                </c:pt>
                <c:pt idx="20">
                  <c:v>9/26</c:v>
                </c:pt>
                <c:pt idx="21">
                  <c:v>10/26</c:v>
                </c:pt>
                <c:pt idx="22">
                  <c:v>11/26</c:v>
                </c:pt>
                <c:pt idx="23">
                  <c:v>12/26</c:v>
                </c:pt>
                <c:pt idx="24">
                  <c:v>1/27</c:v>
                </c:pt>
                <c:pt idx="25">
                  <c:v>2/27</c:v>
                </c:pt>
                <c:pt idx="26">
                  <c:v>3/27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21">
                  <c:v>8.0</c:v>
                </c:pt>
                <c:pt idx="22">
                  <c:v>8.0</c:v>
                </c:pt>
                <c:pt idx="23">
                  <c:v>8.0</c:v>
                </c:pt>
                <c:pt idx="24">
                  <c:v>8.0</c:v>
                </c:pt>
                <c:pt idx="25">
                  <c:v>8.0</c:v>
                </c:pt>
                <c:pt idx="26">
                  <c:v>8.0</c:v>
                </c:pt>
              </c:numCache>
            </c:numRef>
          </c:val>
        </c:ser>
        <c:gapWidth val="0"/>
        <c:overlap val="0"/>
        <c:axId val="1"/>
        <c:axId val="2"/>
      </c:barChart>
      <c:areaChart>
        <c:grouping val="stack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Cận dưới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Sheet1!$A$2:$A$28</c:f>
              <c:strCache>
                <c:ptCount val="27"/>
                <c:pt idx="0">
                  <c:v>1/25</c:v>
                </c:pt>
                <c:pt idx="1">
                  <c:v>2/25</c:v>
                </c:pt>
                <c:pt idx="2">
                  <c:v>3/25</c:v>
                </c:pt>
                <c:pt idx="3">
                  <c:v>4/25</c:v>
                </c:pt>
                <c:pt idx="4">
                  <c:v>5/25</c:v>
                </c:pt>
                <c:pt idx="5">
                  <c:v>6/25</c:v>
                </c:pt>
                <c:pt idx="6">
                  <c:v>7/25</c:v>
                </c:pt>
                <c:pt idx="7">
                  <c:v>8/25</c:v>
                </c:pt>
                <c:pt idx="8">
                  <c:v>9/25</c:v>
                </c:pt>
                <c:pt idx="9">
                  <c:v>10/25</c:v>
                </c:pt>
                <c:pt idx="10">
                  <c:v>11/25</c:v>
                </c:pt>
                <c:pt idx="11">
                  <c:v>12/25</c:v>
                </c:pt>
                <c:pt idx="12">
                  <c:v>1/26</c:v>
                </c:pt>
                <c:pt idx="13">
                  <c:v>2/26</c:v>
                </c:pt>
                <c:pt idx="14">
                  <c:v>3/26</c:v>
                </c:pt>
                <c:pt idx="15">
                  <c:v>4/26</c:v>
                </c:pt>
                <c:pt idx="16">
                  <c:v>5/26</c:v>
                </c:pt>
                <c:pt idx="17">
                  <c:v>6/26</c:v>
                </c:pt>
                <c:pt idx="18">
                  <c:v>7/26</c:v>
                </c:pt>
                <c:pt idx="19">
                  <c:v>8/26</c:v>
                </c:pt>
                <c:pt idx="20">
                  <c:v>9/26</c:v>
                </c:pt>
                <c:pt idx="21">
                  <c:v>10/26</c:v>
                </c:pt>
                <c:pt idx="22">
                  <c:v>11/26</c:v>
                </c:pt>
                <c:pt idx="23">
                  <c:v>12/26</c:v>
                </c:pt>
                <c:pt idx="24">
                  <c:v>1/27</c:v>
                </c:pt>
                <c:pt idx="25">
                  <c:v>2/27</c:v>
                </c:pt>
                <c:pt idx="26">
                  <c:v>3/27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20">
                  <c:v>5.9</c:v>
                </c:pt>
                <c:pt idx="21">
                  <c:v>5.9194</c:v>
                </c:pt>
                <c:pt idx="22">
                  <c:v>6.0422</c:v>
                </c:pt>
                <c:pt idx="23">
                  <c:v>6.1944</c:v>
                </c:pt>
                <c:pt idx="24">
                  <c:v>6.3707</c:v>
                </c:pt>
                <c:pt idx="25">
                  <c:v>6.5346</c:v>
                </c:pt>
                <c:pt idx="26">
                  <c:v>6.7098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Khoảng 80%</c:v>
                </c:pt>
              </c:strCache>
            </c:strRef>
          </c:tx>
          <c:spPr>
            <a:solidFill>
              <a:srgbClr val="2A78D6">
                <a:alpha val="22000"/>
              </a:srgbClr>
            </a:solidFill>
            <a:ln>
              <a:noFill/>
            </a:ln>
          </c:spPr>
          <c:cat>
            <c:strRef>
              <c:f>Sheet1!$A$2:$A$28</c:f>
              <c:strCache>
                <c:ptCount val="27"/>
                <c:pt idx="0">
                  <c:v>1/25</c:v>
                </c:pt>
                <c:pt idx="1">
                  <c:v>2/25</c:v>
                </c:pt>
                <c:pt idx="2">
                  <c:v>3/25</c:v>
                </c:pt>
                <c:pt idx="3">
                  <c:v>4/25</c:v>
                </c:pt>
                <c:pt idx="4">
                  <c:v>5/25</c:v>
                </c:pt>
                <c:pt idx="5">
                  <c:v>6/25</c:v>
                </c:pt>
                <c:pt idx="6">
                  <c:v>7/25</c:v>
                </c:pt>
                <c:pt idx="7">
                  <c:v>8/25</c:v>
                </c:pt>
                <c:pt idx="8">
                  <c:v>9/25</c:v>
                </c:pt>
                <c:pt idx="9">
                  <c:v>10/25</c:v>
                </c:pt>
                <c:pt idx="10">
                  <c:v>11/25</c:v>
                </c:pt>
                <c:pt idx="11">
                  <c:v>12/25</c:v>
                </c:pt>
                <c:pt idx="12">
                  <c:v>1/26</c:v>
                </c:pt>
                <c:pt idx="13">
                  <c:v>2/26</c:v>
                </c:pt>
                <c:pt idx="14">
                  <c:v>3/26</c:v>
                </c:pt>
                <c:pt idx="15">
                  <c:v>4/26</c:v>
                </c:pt>
                <c:pt idx="16">
                  <c:v>5/26</c:v>
                </c:pt>
                <c:pt idx="17">
                  <c:v>6/26</c:v>
                </c:pt>
                <c:pt idx="18">
                  <c:v>7/26</c:v>
                </c:pt>
                <c:pt idx="19">
                  <c:v>8/26</c:v>
                </c:pt>
                <c:pt idx="20">
                  <c:v>9/26</c:v>
                </c:pt>
                <c:pt idx="21">
                  <c:v>10/26</c:v>
                </c:pt>
                <c:pt idx="22">
                  <c:v>11/26</c:v>
                </c:pt>
                <c:pt idx="23">
                  <c:v>12/26</c:v>
                </c:pt>
                <c:pt idx="24">
                  <c:v>1/27</c:v>
                </c:pt>
                <c:pt idx="25">
                  <c:v>2/27</c:v>
                </c:pt>
                <c:pt idx="26">
                  <c:v>3/27</c:v>
                </c:pt>
              </c:strCache>
            </c:strRef>
          </c:cat>
          <c:val>
            <c:numRef>
              <c:f>Sheet1!$D$2:$D$28</c:f>
              <c:numCache>
                <c:formatCode>General</c:formatCode>
                <c:ptCount val="27"/>
                <c:pt idx="20">
                  <c:v>0.0</c:v>
                </c:pt>
                <c:pt idx="21">
                  <c:v>0.30569999999999986</c:v>
                </c:pt>
                <c:pt idx="22">
                  <c:v>0.43239999999999945</c:v>
                </c:pt>
                <c:pt idx="23">
                  <c:v>0.5296000000000003</c:v>
                </c:pt>
                <c:pt idx="24">
                  <c:v>0.6114999999999995</c:v>
                </c:pt>
                <c:pt idx="25">
                  <c:v>0.6837</c:v>
                </c:pt>
                <c:pt idx="26">
                  <c:v>0.7489999999999997</c:v>
                </c:pt>
              </c:numCache>
            </c:numRef>
          </c:val>
        </c:ser>
        <c:axId val="1"/>
        <c:axId val="2"/>
      </c:areaChart>
      <c:lineChart>
        <c:grouping val="standard"/>
        <c:varyColors val="0"/>
        <c:ser>
          <c:idx val="3"/>
          <c:order val="3"/>
          <c:tx>
            <c:strRef>
              <c:f>Sheet1!$F$1</c:f>
              <c:strCache>
                <c:ptCount val="1"/>
                <c:pt idx="0">
                  <c:v>Vietcombank 12 tháng</c:v>
                </c:pt>
              </c:strCache>
            </c:strRef>
          </c:tx>
          <c:spPr>
            <a:ln w="25400" cap="rnd">
              <a:solidFill>
                <a:srgbClr val="16181D"/>
              </a:solidFill>
              <a:round/>
            </a:ln>
          </c:spPr>
          <c:marker>
            <c:symbol val="none"/>
          </c:marker>
          <c:dPt>
            <c:idx val="20"/>
            <c:marker>
              <c:symbol val="circle"/>
              <c:size val="6"/>
              <c:spPr>
                <a:solidFill>
                  <a:srgbClr val="16181D"/>
                </a:solidFill>
                <a:ln w="9525" cap="rnd">
                  <a:solidFill>
                    <a:srgbClr val="FFFFFF"/>
                  </a:solidFill>
                  <a:round/>
                </a:ln>
              </c:spPr>
            </c:marker>
          </c:dPt>
          <c:cat>
            <c:strRef>
              <c:f>Sheet1!$A$2:$A$28</c:f>
              <c:strCache>
                <c:ptCount val="27"/>
                <c:pt idx="0">
                  <c:v>1/25</c:v>
                </c:pt>
                <c:pt idx="1">
                  <c:v>2/25</c:v>
                </c:pt>
                <c:pt idx="2">
                  <c:v>3/25</c:v>
                </c:pt>
                <c:pt idx="3">
                  <c:v>4/25</c:v>
                </c:pt>
                <c:pt idx="4">
                  <c:v>5/25</c:v>
                </c:pt>
                <c:pt idx="5">
                  <c:v>6/25</c:v>
                </c:pt>
                <c:pt idx="6">
                  <c:v>7/25</c:v>
                </c:pt>
                <c:pt idx="7">
                  <c:v>8/25</c:v>
                </c:pt>
                <c:pt idx="8">
                  <c:v>9/25</c:v>
                </c:pt>
                <c:pt idx="9">
                  <c:v>10/25</c:v>
                </c:pt>
                <c:pt idx="10">
                  <c:v>11/25</c:v>
                </c:pt>
                <c:pt idx="11">
                  <c:v>12/25</c:v>
                </c:pt>
                <c:pt idx="12">
                  <c:v>1/26</c:v>
                </c:pt>
                <c:pt idx="13">
                  <c:v>2/26</c:v>
                </c:pt>
                <c:pt idx="14">
                  <c:v>3/26</c:v>
                </c:pt>
                <c:pt idx="15">
                  <c:v>4/26</c:v>
                </c:pt>
                <c:pt idx="16">
                  <c:v>5/26</c:v>
                </c:pt>
                <c:pt idx="17">
                  <c:v>6/26</c:v>
                </c:pt>
                <c:pt idx="18">
                  <c:v>7/26</c:v>
                </c:pt>
                <c:pt idx="19">
                  <c:v>8/26</c:v>
                </c:pt>
                <c:pt idx="20">
                  <c:v>9/26</c:v>
                </c:pt>
                <c:pt idx="21">
                  <c:v>10/26</c:v>
                </c:pt>
                <c:pt idx="22">
                  <c:v>11/26</c:v>
                </c:pt>
                <c:pt idx="23">
                  <c:v>12/26</c:v>
                </c:pt>
                <c:pt idx="24">
                  <c:v>1/27</c:v>
                </c:pt>
                <c:pt idx="25">
                  <c:v>2/27</c:v>
                </c:pt>
                <c:pt idx="26">
                  <c:v>3/27</c:v>
                </c:pt>
              </c:strCache>
            </c:strRef>
          </c:cat>
          <c:val>
            <c:numRef>
              <c:f>Sheet1!$F$2:$F$28</c:f>
              <c:numCache>
                <c:formatCode>General</c:formatCode>
                <c:ptCount val="27"/>
                <c:pt idx="0">
                  <c:v>4.6</c:v>
                </c:pt>
                <c:pt idx="1">
                  <c:v>4.6</c:v>
                </c:pt>
                <c:pt idx="2">
                  <c:v>4.6</c:v>
                </c:pt>
                <c:pt idx="3">
                  <c:v>4.6</c:v>
                </c:pt>
                <c:pt idx="4">
                  <c:v>4.6</c:v>
                </c:pt>
                <c:pt idx="5">
                  <c:v>4.6</c:v>
                </c:pt>
                <c:pt idx="6">
                  <c:v>4.6</c:v>
                </c:pt>
                <c:pt idx="7">
                  <c:v>4.6</c:v>
                </c:pt>
                <c:pt idx="8">
                  <c:v>4.6</c:v>
                </c:pt>
                <c:pt idx="12">
                  <c:v>5.2</c:v>
                </c:pt>
                <c:pt idx="13">
                  <c:v>5.5</c:v>
                </c:pt>
                <c:pt idx="14">
                  <c:v>5.9</c:v>
                </c:pt>
                <c:pt idx="15">
                  <c:v>5.9</c:v>
                </c:pt>
                <c:pt idx="16">
                  <c:v>5.9</c:v>
                </c:pt>
                <c:pt idx="17">
                  <c:v>5.9</c:v>
                </c:pt>
                <c:pt idx="18">
                  <c:v>5.9</c:v>
                </c:pt>
                <c:pt idx="19">
                  <c:v>5.9</c:v>
                </c:pt>
                <c:pt idx="20">
                  <c:v>5.9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Sheet1!$G$1</c:f>
              <c:strCache>
                <c:ptCount val="1"/>
                <c:pt idx="0">
                  <c:v>Mô hình cơ sở</c:v>
                </c:pt>
              </c:strCache>
            </c:strRef>
          </c:tx>
          <c:spPr>
            <a:ln w="25400" cap="rnd">
              <a:solidFill>
                <a:srgbClr val="2A78D6"/>
              </a:solidFill>
              <a:prstDash val="dash"/>
              <a:round/>
            </a:ln>
          </c:spPr>
          <c:marker>
            <c:symbol val="none"/>
          </c:marker>
          <c:dPt>
            <c:idx val="26"/>
            <c:marker>
              <c:symbol val="circle"/>
              <c:size val="6"/>
              <c:spPr>
                <a:solidFill>
                  <a:srgbClr val="FFFFFF"/>
                </a:solidFill>
                <a:ln w="15875" cap="rnd">
                  <a:solidFill>
                    <a:srgbClr val="2A78D6"/>
                  </a:solidFill>
                  <a:round/>
                </a:ln>
              </c:spPr>
            </c:marker>
          </c:dPt>
          <c:dLbls>
            <c:dLbl>
              <c:idx val="26"/>
              <c:tx>
                <c:rich>
                  <a:bodyPr wrap="none" anchor="ctr"/>
                  <a:lstStyle/>
                  <a:p>
                    <a:pPr>
                      <a:defRPr lang="vi-VN" sz="100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100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7,08%</a:t>
                    </a:r>
                  </a:p>
                </c:rich>
              </c:tx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0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[$-42A]#,##0.00&quot;%&quot;;&quot;−&quot;#,##0.00&quot;%&quot;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1000" b="0" i="0" baseline="0">
                    <a:solidFill>
                      <a:srgbClr val="16181D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Sheet1!$A$2:$A$28</c:f>
              <c:strCache>
                <c:ptCount val="27"/>
                <c:pt idx="0">
                  <c:v>1/25</c:v>
                </c:pt>
                <c:pt idx="1">
                  <c:v>2/25</c:v>
                </c:pt>
                <c:pt idx="2">
                  <c:v>3/25</c:v>
                </c:pt>
                <c:pt idx="3">
                  <c:v>4/25</c:v>
                </c:pt>
                <c:pt idx="4">
                  <c:v>5/25</c:v>
                </c:pt>
                <c:pt idx="5">
                  <c:v>6/25</c:v>
                </c:pt>
                <c:pt idx="6">
                  <c:v>7/25</c:v>
                </c:pt>
                <c:pt idx="7">
                  <c:v>8/25</c:v>
                </c:pt>
                <c:pt idx="8">
                  <c:v>9/25</c:v>
                </c:pt>
                <c:pt idx="9">
                  <c:v>10/25</c:v>
                </c:pt>
                <c:pt idx="10">
                  <c:v>11/25</c:v>
                </c:pt>
                <c:pt idx="11">
                  <c:v>12/25</c:v>
                </c:pt>
                <c:pt idx="12">
                  <c:v>1/26</c:v>
                </c:pt>
                <c:pt idx="13">
                  <c:v>2/26</c:v>
                </c:pt>
                <c:pt idx="14">
                  <c:v>3/26</c:v>
                </c:pt>
                <c:pt idx="15">
                  <c:v>4/26</c:v>
                </c:pt>
                <c:pt idx="16">
                  <c:v>5/26</c:v>
                </c:pt>
                <c:pt idx="17">
                  <c:v>6/26</c:v>
                </c:pt>
                <c:pt idx="18">
                  <c:v>7/26</c:v>
                </c:pt>
                <c:pt idx="19">
                  <c:v>8/26</c:v>
                </c:pt>
                <c:pt idx="20">
                  <c:v>9/26</c:v>
                </c:pt>
                <c:pt idx="21">
                  <c:v>10/26</c:v>
                </c:pt>
                <c:pt idx="22">
                  <c:v>11/26</c:v>
                </c:pt>
                <c:pt idx="23">
                  <c:v>12/26</c:v>
                </c:pt>
                <c:pt idx="24">
                  <c:v>1/27</c:v>
                </c:pt>
                <c:pt idx="25">
                  <c:v>2/27</c:v>
                </c:pt>
                <c:pt idx="26">
                  <c:v>3/27</c:v>
                </c:pt>
              </c:strCache>
            </c:strRef>
          </c:cat>
          <c:val>
            <c:numRef>
              <c:f>Sheet1!$G$2:$G$28</c:f>
              <c:numCache>
                <c:formatCode>General</c:formatCode>
                <c:ptCount val="27"/>
                <c:pt idx="20">
                  <c:v>5.9</c:v>
                </c:pt>
                <c:pt idx="21">
                  <c:v>6.0723</c:v>
                </c:pt>
                <c:pt idx="22">
                  <c:v>6.2584</c:v>
                </c:pt>
                <c:pt idx="23">
                  <c:v>6.4592</c:v>
                </c:pt>
                <c:pt idx="24">
                  <c:v>6.6765</c:v>
                </c:pt>
                <c:pt idx="25">
                  <c:v>6.8765</c:v>
                </c:pt>
                <c:pt idx="26">
                  <c:v>7.0843</c:v>
                </c:pt>
              </c:numCache>
            </c:numRef>
          </c:val>
          <c:smooth val="0"/>
        </c:ser>
        <c:marker val="1"/>
        <c:axId val="1"/>
        <c:axId val="2"/>
      </c:line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>
            <a:solidFill>
              <a:srgbClr val="C3C2B7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tickLblSkip val="2"/>
        <c:noMultiLvlLbl val="0"/>
      </c:catAx>
      <c:valAx>
        <c:axId val="2"/>
        <c:scaling>
          <c:orientation val="minMax"/>
          <c:max val="8"/>
          <c:min val="4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round/>
            </a:ln>
          </c:spPr>
        </c:majorGridlines>
        <c:numFmt formatCode="[$-42A]#,##0;&quot;−&quot;#,##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  <c:majorUnit val="1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3214"/>
          <c:y val="0.19882"/>
          <c:w val="0.94093"/>
          <c:h val="0.701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Kim ngạch xuất khẩu (tỷ USD, trục trái)</c:v>
                </c:pt>
              </c:strCache>
            </c:strRef>
          </c:tx>
          <c:spPr>
            <a:solidFill>
              <a:srgbClr val="C9CCD2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162.0167</c:v>
                </c:pt>
                <c:pt idx="1">
                  <c:v>176.5808</c:v>
                </c:pt>
                <c:pt idx="2">
                  <c:v>215.1186</c:v>
                </c:pt>
                <c:pt idx="3">
                  <c:v>243.6968</c:v>
                </c:pt>
                <c:pt idx="4">
                  <c:v>264.2672</c:v>
                </c:pt>
                <c:pt idx="5">
                  <c:v>282.6289</c:v>
                </c:pt>
                <c:pt idx="6">
                  <c:v>336.1668</c:v>
                </c:pt>
                <c:pt idx="7">
                  <c:v>371.7154</c:v>
                </c:pt>
                <c:pt idx="8">
                  <c:v>354.721</c:v>
                </c:pt>
                <c:pt idx="9">
                  <c:v>405.9354</c:v>
                </c:pt>
                <c:pt idx="10">
                  <c:v>474.9978</c:v>
                </c:pt>
              </c:numCache>
            </c:numRef>
          </c:val>
        </c:ser>
        <c:gapWidth val="205"/>
        <c:overlap val="0"/>
        <c:axId val="1"/>
        <c:axId val="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Tăng trưởng so với năm trước (%, trục phải)</c:v>
                </c:pt>
              </c:strCache>
            </c:strRef>
          </c:tx>
          <c:spPr>
            <a:ln w="25400" cap="rnd">
              <a:solidFill>
                <a:srgbClr val="2A78D6"/>
              </a:solidFill>
              <a:round/>
            </a:ln>
          </c:spPr>
          <c:marker>
            <c:symbol val="circle"/>
            <c:size val="5"/>
            <c:spPr>
              <a:solidFill>
                <a:srgbClr val="2A78D6"/>
              </a:solidFill>
              <a:ln w="9525" cap="rnd">
                <a:solidFill>
                  <a:srgbClr val="FFFFFF"/>
                </a:solidFill>
                <a:round/>
              </a:ln>
            </c:spPr>
          </c:marker>
          <c:dLbls>
            <c:dLbl>
              <c:idx val="10"/>
              <c:numFmt formatCode="[$-42A]#,##0.0&quot;%&quot;;&quot;−&quot;#,##0.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0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[$-42A]#,##0.0&quot;%&quot;;&quot;−&quot;#,##0.0&quot;%&quot;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1000" b="0" i="0" baseline="0">
                    <a:solidFill>
                      <a:srgbClr val="16181D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7.85503115157995</c:v>
                </c:pt>
                <c:pt idx="1">
                  <c:v>8.989258514708688</c:v>
                </c:pt>
                <c:pt idx="2">
                  <c:v>21.82445656605927</c:v>
                </c:pt>
                <c:pt idx="3">
                  <c:v>13.284857748237489</c:v>
                </c:pt>
                <c:pt idx="4">
                  <c:v>8.440980759698125</c:v>
                </c:pt>
                <c:pt idx="5">
                  <c:v>6.948157016837508</c:v>
                </c:pt>
                <c:pt idx="6">
                  <c:v>18.942825733674095</c:v>
                </c:pt>
                <c:pt idx="7">
                  <c:v>10.574690897494921</c:v>
                </c:pt>
                <c:pt idx="8">
                  <c:v>-4.571884834472817</c:v>
                </c:pt>
                <c:pt idx="9">
                  <c:v>14.437938548887729</c:v>
                </c:pt>
                <c:pt idx="10">
                  <c:v>17.013150368260565</c:v>
                </c:pt>
              </c:numCache>
            </c:numRef>
          </c:val>
          <c:smooth val="0"/>
        </c:ser>
        <c:marker val="1"/>
        <c:axId val="3"/>
        <c:axId val="4"/>
      </c:line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500"/>
          <c:min val="-100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round/>
            </a:ln>
          </c:spPr>
        </c:majorGridlines>
        <c:numFmt formatCode="[$-42A]#,##0;;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  <c:majorUnit val="100"/>
      </c:valAx>
      <c:catAx>
        <c:axId val="3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4"/>
        <c:crosses val="autoZero"/>
        <c:auto val="1"/>
        <c:lblAlgn val="ctr"/>
        <c:lblOffset val="60"/>
        <c:noMultiLvlLbl val="0"/>
      </c:catAx>
      <c:valAx>
        <c:axId val="4"/>
        <c:scaling>
          <c:orientation val="minMax"/>
          <c:max val="25"/>
          <c:min val="-5"/>
        </c:scaling>
        <c:delete val="0"/>
        <c:axPos val="r"/>
        <c:numFmt formatCode="[$-42A]#,##0;&quot;−&quot;#,##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3"/>
        <c:crosses val="max"/>
        <c:crossBetween val="between"/>
        <c:majorUnit val="5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3921"/>
          <c:y val="0.08247"/>
          <c:w val="0.94801"/>
          <c:h val="0.84330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FDI giải ngân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invertIfNegative val="0"/>
          <c:dPt>
            <c:idx val="0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8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9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10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11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12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13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14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Lbls>
            <c:dLbl>
              <c:idx val="0"/>
              <c:numFmt formatCode="[$-42A]#,##0.0;&quot;−&quot;#,##0.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[$-42A]#,##0.0;&quot;−&quot;#,##0.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[$-42A]#,##0.0;&quot;−&quot;#,##0.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[$-42A]#,##0.0;&quot;−&quot;#,##0.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[$-42A]#,##0.0;&quot;−&quot;#,##0.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[$-42A]#,##0.0;&quot;−&quot;#,##0.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[$-42A]#,##0.0;&quot;−&quot;#,##0.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[$-42A]#,##0.0;&quot;−&quot;#,##0.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[$-42A]#,##0.0;&quot;−&quot;#,##0.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[$-42A]#,##0.0;&quot;−&quot;#,##0.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[$-42A]#,##0.0;&quot;−&quot;#,##0.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[$-42A]#,##0.0;&quot;−&quot;#,##0.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numFmt formatCode="[$-42A]#,##0.0;&quot;−&quot;#,##0.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numFmt formatCode="[$-42A]#,##0.0;&quot;−&quot;#,##0.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[$-42A]#,##0.0;&quot;−&quot;#,##0.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numFmt formatCode="[$-42A]#,##0.0;&quot;−&quot;#,##0.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[$-42A]#,##0.0;&quot;−&quot;#,##0.0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950" b="0" i="0" baseline="0">
                    <a:solidFill>
                      <a:srgbClr val="5B6170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Sheet1!$A$2:$A$17</c:f>
              <c:strCache>
                <c:ptCount val="16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11.0003</c:v>
                </c:pt>
                <c:pt idx="1">
                  <c:v>11.0001</c:v>
                </c:pt>
                <c:pt idx="2">
                  <c:v>10.0466</c:v>
                </c:pt>
                <c:pt idx="3">
                  <c:v>11.5</c:v>
                </c:pt>
                <c:pt idx="4">
                  <c:v>12.5</c:v>
                </c:pt>
                <c:pt idx="5">
                  <c:v>14.5</c:v>
                </c:pt>
                <c:pt idx="6">
                  <c:v>15.8</c:v>
                </c:pt>
                <c:pt idx="7">
                  <c:v>17.5</c:v>
                </c:pt>
                <c:pt idx="8">
                  <c:v>19.1</c:v>
                </c:pt>
                <c:pt idx="9">
                  <c:v>20.38</c:v>
                </c:pt>
                <c:pt idx="10">
                  <c:v>19.98</c:v>
                </c:pt>
                <c:pt idx="11">
                  <c:v>19.74</c:v>
                </c:pt>
                <c:pt idx="12">
                  <c:v>22.396</c:v>
                </c:pt>
                <c:pt idx="13">
                  <c:v>23.183</c:v>
                </c:pt>
                <c:pt idx="14">
                  <c:v>25.351</c:v>
                </c:pt>
                <c:pt idx="15">
                  <c:v>27.62</c:v>
                </c:pt>
              </c:numCache>
            </c:numRef>
          </c:val>
        </c:ser>
        <c:gapWidth val="61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round/>
            </a:ln>
          </c:spPr>
        </c:majorGridlines>
        <c:numFmt formatCode="[$-42A]#,##0;&quot;−&quot;#,##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  <c:majorUnit val="1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3214"/>
          <c:y val="0.19343"/>
          <c:w val="0.95961"/>
          <c:h val="0.7149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Xuất khẩu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invertIfNegative val="0"/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162.0167</c:v>
                </c:pt>
                <c:pt idx="1">
                  <c:v>176.5808</c:v>
                </c:pt>
                <c:pt idx="2">
                  <c:v>215.1186</c:v>
                </c:pt>
                <c:pt idx="3">
                  <c:v>243.6968</c:v>
                </c:pt>
                <c:pt idx="4">
                  <c:v>264.2672</c:v>
                </c:pt>
                <c:pt idx="5">
                  <c:v>282.6289</c:v>
                </c:pt>
                <c:pt idx="6">
                  <c:v>336.1668</c:v>
                </c:pt>
                <c:pt idx="7">
                  <c:v>371.7154</c:v>
                </c:pt>
                <c:pt idx="8">
                  <c:v>354.721</c:v>
                </c:pt>
                <c:pt idx="9">
                  <c:v>405.9354</c:v>
                </c:pt>
                <c:pt idx="10">
                  <c:v>474.9978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Nhập khẩu</c:v>
                </c:pt>
              </c:strCache>
            </c:strRef>
          </c:tx>
          <c:spPr>
            <a:solidFill>
              <a:srgbClr val="EB6834"/>
            </a:solidFill>
            <a:ln>
              <a:noFill/>
            </a:ln>
          </c:spPr>
          <c:invertIfNegative val="0"/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165.7759</c:v>
                </c:pt>
                <c:pt idx="1">
                  <c:v>174.9784</c:v>
                </c:pt>
                <c:pt idx="2">
                  <c:v>213.2153</c:v>
                </c:pt>
                <c:pt idx="3">
                  <c:v>237.2416</c:v>
                </c:pt>
                <c:pt idx="4">
                  <c:v>253.6965</c:v>
                </c:pt>
                <c:pt idx="5">
                  <c:v>262.791</c:v>
                </c:pt>
                <c:pt idx="6">
                  <c:v>332.9697</c:v>
                </c:pt>
                <c:pt idx="7">
                  <c:v>359.7801</c:v>
                </c:pt>
                <c:pt idx="8">
                  <c:v>326.6069</c:v>
                </c:pt>
                <c:pt idx="9">
                  <c:v>381.3037</c:v>
                </c:pt>
                <c:pt idx="10">
                  <c:v>454.9264</c:v>
                </c:pt>
              </c:numCache>
            </c:numRef>
          </c:val>
        </c:ser>
        <c:gapWidth val="122"/>
        <c:overlap val="-8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500"/>
          <c:min val="0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round/>
            </a:ln>
          </c:spPr>
        </c:majorGridlines>
        <c:numFmt formatCode="[$-42A]#,##0;&quot;−&quot;#,##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  <c:majorUnit val="10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8058"/>
          <c:y val="0.01381"/>
          <c:w val="0.86105"/>
          <c:h val="0.9723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invertIfNegative val="0"/>
          <c:dPt>
            <c:idx val="6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8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9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10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Pt>
            <c:idx val="11"/>
            <c:invertIfNegative val="0"/>
            <c:spPr>
              <a:solidFill>
                <a:srgbClr val="C9CCD2"/>
              </a:solidFill>
              <a:ln>
                <a:noFill/>
              </a:ln>
            </c:spPr>
          </c:dPt>
          <c:dLbls>
            <c:dLbl>
              <c:idx val="0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[$-42A]#,##0.00&quot;%&quot;;&quot;−&quot;#,##0.00&quot;%&quot;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950" b="0" i="0" baseline="0">
                    <a:solidFill>
                      <a:srgbClr val="5B6170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Sheet1!$A$2:$A$13</c:f>
              <c:strCache>
                <c:ptCount val="12"/>
                <c:pt idx="0">
                  <c:v>Quảng Ninh</c:v>
                </c:pt>
                <c:pt idx="1">
                  <c:v>Hải Phòng</c:v>
                </c:pt>
                <c:pt idx="2">
                  <c:v>Ninh Bình</c:v>
                </c:pt>
                <c:pt idx="3">
                  <c:v>Phú Thọ</c:v>
                </c:pt>
                <c:pt idx="4">
                  <c:v>Bắc Ninh</c:v>
                </c:pt>
                <c:pt idx="5">
                  <c:v>Quảng Ngãi</c:v>
                </c:pt>
                <c:pt idx="6">
                  <c:v>Đồng Nai</c:v>
                </c:pt>
                <c:pt idx="7">
                  <c:v>Tây Ninh</c:v>
                </c:pt>
                <c:pt idx="8">
                  <c:v>Đà Nẵng</c:v>
                </c:pt>
                <c:pt idx="9">
                  <c:v>Hưng Yên</c:v>
                </c:pt>
                <c:pt idx="10">
                  <c:v>Hà Tĩnh</c:v>
                </c:pt>
                <c:pt idx="11">
                  <c:v>Huế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11.89</c:v>
                </c:pt>
                <c:pt idx="1">
                  <c:v>11.81</c:v>
                </c:pt>
                <c:pt idx="2">
                  <c:v>10.65</c:v>
                </c:pt>
                <c:pt idx="3">
                  <c:v>10.52</c:v>
                </c:pt>
                <c:pt idx="4">
                  <c:v>10.27</c:v>
                </c:pt>
                <c:pt idx="5">
                  <c:v>10.02</c:v>
                </c:pt>
                <c:pt idx="6">
                  <c:v>9.63</c:v>
                </c:pt>
                <c:pt idx="7">
                  <c:v>9.52</c:v>
                </c:pt>
                <c:pt idx="8">
                  <c:v>9.18</c:v>
                </c:pt>
                <c:pt idx="9">
                  <c:v>8.78</c:v>
                </c:pt>
                <c:pt idx="10">
                  <c:v>8.78</c:v>
                </c:pt>
                <c:pt idx="11">
                  <c:v>8.5</c:v>
                </c:pt>
              </c:numCache>
            </c:numRef>
          </c:val>
        </c:ser>
        <c:gapWidth val="56"/>
        <c:overlap val="0"/>
        <c:axId val="1"/>
        <c:axId val="2"/>
      </c:barChart>
      <c:catAx>
        <c:axId val="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50" b="0" i="0" baseline="0">
                <a:solidFill>
                  <a:srgbClr val="16181D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12.5"/>
          <c:min val="0.0"/>
        </c:scaling>
        <c:delete val="1"/>
        <c:axPos val="b"/>
        <c:numFmt formatCode="[$-42A]#,##0.0;&quot;−&quot;#,##0.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max"/>
        <c:crossBetween val="between"/>
        <c:majorUnit val="2.5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12533"/>
          <c:y val="0.11322"/>
          <c:w val="0.81630"/>
          <c:h val="0.8729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Cả năm 2025</c:v>
                </c:pt>
              </c:strCache>
            </c:strRef>
          </c:tx>
          <c:spPr>
            <a:solidFill>
              <a:srgbClr val="C9CCD2"/>
            </a:solidFill>
            <a:ln>
              <a:noFill/>
            </a:ln>
          </c:spPr>
          <c:invertIfNegative val="0"/>
          <c:dLbls>
            <c:dLbl>
              <c:idx val="0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[$-42A]#,##0.00&quot;%&quot;;&quot;−&quot;#,##0.00&quot;%&quot;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950" b="0" i="0" baseline="0">
                    <a:solidFill>
                      <a:srgbClr val="5B6170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Nông, lâm, thủy sản</c:v>
                </c:pt>
                <c:pt idx="1">
                  <c:v>Công nghiệp</c:v>
                </c:pt>
                <c:pt idx="2">
                  <c:v>Xây dựng</c:v>
                </c:pt>
                <c:pt idx="3">
                  <c:v>Thương mại</c:v>
                </c:pt>
                <c:pt idx="4">
                  <c:v>Vận tải, viễn thông</c:v>
                </c:pt>
                <c:pt idx="5">
                  <c:v>Dịch vụ khác</c:v>
                </c:pt>
                <c:pt idx="6">
                  <c:v>Toàn nền kinh tế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11.01</c:v>
                </c:pt>
                <c:pt idx="1">
                  <c:v>10.09</c:v>
                </c:pt>
                <c:pt idx="2">
                  <c:v>17.46</c:v>
                </c:pt>
                <c:pt idx="3">
                  <c:v>9.62</c:v>
                </c:pt>
                <c:pt idx="4">
                  <c:v>24.75</c:v>
                </c:pt>
                <c:pt idx="5">
                  <c:v>30.18</c:v>
                </c:pt>
                <c:pt idx="6">
                  <c:v>19.07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7 tháng 2026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invertIfNegative val="0"/>
          <c:dLbls>
            <c:dLbl>
              <c:idx val="0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[$-42A]#,##0.00&quot;%&quot;;&quot;−&quot;#,##0.00&quot;%&quot;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950" b="0" i="0" baseline="0">
                    <a:solidFill>
                      <a:srgbClr val="5B6170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Nông, lâm, thủy sản</c:v>
                </c:pt>
                <c:pt idx="1">
                  <c:v>Công nghiệp</c:v>
                </c:pt>
                <c:pt idx="2">
                  <c:v>Xây dựng</c:v>
                </c:pt>
                <c:pt idx="3">
                  <c:v>Thương mại</c:v>
                </c:pt>
                <c:pt idx="4">
                  <c:v>Vận tải, viễn thông</c:v>
                </c:pt>
                <c:pt idx="5">
                  <c:v>Dịch vụ khác</c:v>
                </c:pt>
                <c:pt idx="6">
                  <c:v>Toàn nền kinh tế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8.63</c:v>
                </c:pt>
                <c:pt idx="1">
                  <c:v>10.44</c:v>
                </c:pt>
                <c:pt idx="2">
                  <c:v>8.59</c:v>
                </c:pt>
                <c:pt idx="3">
                  <c:v>2.76</c:v>
                </c:pt>
                <c:pt idx="4">
                  <c:v>16.59</c:v>
                </c:pt>
                <c:pt idx="5">
                  <c:v>11.44</c:v>
                </c:pt>
                <c:pt idx="6">
                  <c:v>8.97</c:v>
                </c:pt>
              </c:numCache>
            </c:numRef>
          </c:val>
        </c:ser>
        <c:gapWidth val="112"/>
        <c:overlap val="-8"/>
        <c:axId val="1"/>
        <c:axId val="2"/>
      </c:barChart>
      <c:catAx>
        <c:axId val="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50" b="0" i="0" baseline="0">
                <a:solidFill>
                  <a:srgbClr val="16181D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40"/>
          <c:min val="0"/>
        </c:scaling>
        <c:delete val="1"/>
        <c:axPos val="b"/>
        <c:numFmt formatCode="[$-42A]#,##0;&quot;−&quot;#,##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max"/>
        <c:crossBetween val="between"/>
        <c:majorUnit val="1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3526"/>
          <c:y val="0.10944"/>
          <c:w val="0.95650"/>
          <c:h val="0.7989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Giá trị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9"/>
            <c:spPr>
              <a:solidFill>
                <a:srgbClr val="2A78D6"/>
              </a:solidFill>
              <a:ln w="12700" cap="rnd">
                <a:solidFill>
                  <a:srgbClr val="FFFFFF"/>
                </a:solidFill>
                <a:round/>
              </a:ln>
            </c:spPr>
          </c:marker>
          <c:dPt>
            <c:idx val="0"/>
            <c:marker>
              <c:symbol val="circle"/>
              <c:size val="9"/>
              <c:spPr>
                <a:solidFill>
                  <a:srgbClr val="2A78D6"/>
                </a:solidFill>
                <a:ln w="12700" cap="rnd">
                  <a:solidFill>
                    <a:srgbClr val="FFFFFF"/>
                  </a:solidFill>
                  <a:round/>
                </a:ln>
              </c:spPr>
            </c:marker>
          </c:dPt>
          <c:dPt>
            <c:idx val="1"/>
            <c:marker>
              <c:symbol val="circle"/>
              <c:size val="9"/>
              <c:spPr>
                <a:solidFill>
                  <a:srgbClr val="C9CCD2"/>
                </a:solidFill>
                <a:ln w="12700" cap="rnd">
                  <a:solidFill>
                    <a:srgbClr val="FFFFFF"/>
                  </a:solidFill>
                  <a:round/>
                </a:ln>
              </c:spPr>
            </c:marker>
          </c:dPt>
          <c:dPt>
            <c:idx val="2"/>
            <c:marker>
              <c:symbol val="circle"/>
              <c:size val="9"/>
              <c:spPr>
                <a:solidFill>
                  <a:srgbClr val="C9CCD2"/>
                </a:solidFill>
                <a:ln w="12700" cap="rnd">
                  <a:solidFill>
                    <a:srgbClr val="FFFFFF"/>
                  </a:solidFill>
                  <a:round/>
                </a:ln>
              </c:spPr>
            </c:marker>
          </c:dPt>
          <c:dPt>
            <c:idx val="3"/>
            <c:marker>
              <c:symbol val="circle"/>
              <c:size val="9"/>
              <c:spPr>
                <a:solidFill>
                  <a:srgbClr val="C9CCD2"/>
                </a:solidFill>
                <a:ln w="12700" cap="rnd">
                  <a:solidFill>
                    <a:srgbClr val="FFFFFF"/>
                  </a:solidFill>
                  <a:round/>
                </a:ln>
              </c:spPr>
            </c:marker>
          </c:dPt>
          <c:dPt>
            <c:idx val="4"/>
            <c:marker>
              <c:symbol val="circle"/>
              <c:size val="9"/>
              <c:spPr>
                <a:solidFill>
                  <a:srgbClr val="C9CCD2"/>
                </a:solidFill>
                <a:ln w="12700" cap="rnd">
                  <a:solidFill>
                    <a:srgbClr val="FFFFFF"/>
                  </a:solidFill>
                  <a:round/>
                </a:ln>
              </c:spPr>
            </c:marker>
          </c:dPt>
          <c:dPt>
            <c:idx val="5"/>
            <c:marker>
              <c:symbol val="circle"/>
              <c:size val="9"/>
              <c:spPr>
                <a:solidFill>
                  <a:srgbClr val="C9CCD2"/>
                </a:solidFill>
                <a:ln w="12700" cap="rnd">
                  <a:solidFill>
                    <a:srgbClr val="FFFFFF"/>
                  </a:solidFill>
                  <a:round/>
                </a:ln>
              </c:spPr>
            </c:marker>
          </c:dPt>
          <c:dPt>
            <c:idx val="6"/>
            <c:marker>
              <c:symbol val="circle"/>
              <c:size val="9"/>
              <c:spPr>
                <a:solidFill>
                  <a:srgbClr val="C9CCD2"/>
                </a:solidFill>
                <a:ln w="12700" cap="rnd">
                  <a:solidFill>
                    <a:srgbClr val="FFFFFF"/>
                  </a:solidFill>
                  <a:round/>
                </a:ln>
              </c:spPr>
            </c:marker>
          </c:dPt>
          <c:dPt>
            <c:idx val="7"/>
            <c:marker>
              <c:symbol val="circle"/>
              <c:size val="9"/>
              <c:spPr>
                <a:solidFill>
                  <a:srgbClr val="C9CCD2"/>
                </a:solidFill>
                <a:ln w="12700" cap="rnd">
                  <a:solidFill>
                    <a:srgbClr val="FFFFFF"/>
                  </a:solidFill>
                  <a:round/>
                </a:ln>
              </c:spPr>
            </c:marker>
          </c:dPt>
          <c:dPt>
            <c:idx val="8"/>
            <c:marker>
              <c:symbol val="circle"/>
              <c:size val="9"/>
              <c:spPr>
                <a:solidFill>
                  <a:srgbClr val="C9CCD2"/>
                </a:solidFill>
                <a:ln w="12700" cap="rnd">
                  <a:solidFill>
                    <a:srgbClr val="FFFFFF"/>
                  </a:solidFill>
                  <a:round/>
                </a:ln>
              </c:spPr>
            </c:marker>
          </c:dPt>
          <c:dPt>
            <c:idx val="9"/>
            <c:marker>
              <c:symbol val="circle"/>
              <c:size val="9"/>
              <c:spPr>
                <a:solidFill>
                  <a:srgbClr val="C9CCD2"/>
                </a:solidFill>
                <a:ln w="12700" cap="rnd">
                  <a:solidFill>
                    <a:srgbClr val="FFFFFF"/>
                  </a:solidFill>
                  <a:round/>
                </a:ln>
              </c:spPr>
            </c:marker>
          </c:dPt>
          <c:dPt>
            <c:idx val="10"/>
            <c:marker>
              <c:symbol val="circle"/>
              <c:size val="9"/>
              <c:spPr>
                <a:solidFill>
                  <a:srgbClr val="C9CCD2"/>
                </a:solidFill>
                <a:ln w="12700" cap="rnd">
                  <a:solidFill>
                    <a:srgbClr val="FFFFFF"/>
                  </a:solidFill>
                  <a:round/>
                </a:ln>
              </c:spPr>
            </c:marker>
          </c:dPt>
          <c:dPt>
            <c:idx val="11"/>
            <c:marker>
              <c:symbol val="circle"/>
              <c:size val="9"/>
              <c:spPr>
                <a:solidFill>
                  <a:srgbClr val="C9CCD2"/>
                </a:solidFill>
                <a:ln w="12700" cap="rnd">
                  <a:solidFill>
                    <a:srgbClr val="FFFFFF"/>
                  </a:solidFill>
                  <a:round/>
                </a:ln>
              </c:spPr>
            </c:marker>
          </c:dPt>
          <c:dLbls>
            <c:numFmt formatCode="[$-42A]#,##0.0;&quot;−&quot;#,##0.0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950" b="0" i="0" baseline="0">
                    <a:solidFill>
                      <a:srgbClr val="5B6170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</c:dLbls>
          <c:errBars>
            <c:errBarType val="minus"/>
            <c:errValType val="cust"/>
            <c:noEndCap val="1"/>
            <c:minus>
              <c:numRef>
                <c:f>Sheet1!$C$2:$C$13</c:f>
                <c:numCache>
                  <c:formatCode>General</c:formatCode>
                  <c:ptCount val="12"/>
                  <c:pt idx="0">
                    <c:v>10.458</c:v>
                  </c:pt>
                  <c:pt idx="1">
                    <c:v>8.622</c:v>
                  </c:pt>
                  <c:pt idx="2">
                    <c:v>7.178</c:v>
                  </c:pt>
                  <c:pt idx="3">
                    <c:v>7.086</c:v>
                  </c:pt>
                  <c:pt idx="4">
                    <c:v>6.037</c:v>
                  </c:pt>
                  <c:pt idx="5">
                    <c:v>5.852</c:v>
                  </c:pt>
                  <c:pt idx="6">
                    <c:v>4.629</c:v>
                  </c:pt>
                  <c:pt idx="7">
                    <c:v>4.5</c:v>
                  </c:pt>
                  <c:pt idx="8">
                    <c:v>4.458</c:v>
                  </c:pt>
                  <c:pt idx="9">
                    <c:v>4.43</c:v>
                  </c:pt>
                  <c:pt idx="10">
                    <c:v>4.417</c:v>
                  </c:pt>
                  <c:pt idx="11">
                    <c:v>4.214</c:v>
                  </c:pt>
                </c:numCache>
              </c:numRef>
            </c:minus>
            <c:spPr>
              <a:ln w="19050" cap="flat">
                <a:solidFill>
                  <a:srgbClr val="8A8F99"/>
                </a:solidFill>
                <a:round/>
              </a:ln>
            </c:spPr>
          </c:errBars>
          <c:cat>
            <c:strRef>
              <c:f>Sheet1!$A$2:$A$13</c:f>
              <c:strCache>
                <c:ptCount val="12"/>
                <c:pt idx="0">
                  <c:v>Quảng Ninh</c:v>
                </c:pt>
                <c:pt idx="1">
                  <c:v>TP.HCM</c:v>
                </c:pt>
                <c:pt idx="2">
                  <c:v>Hà Nội</c:v>
                </c:pt>
                <c:pt idx="3">
                  <c:v>Hải Phòng</c:v>
                </c:pt>
                <c:pt idx="4">
                  <c:v>Đồng Nai</c:v>
                </c:pt>
                <c:pt idx="5">
                  <c:v>Bắc Ninh</c:v>
                </c:pt>
                <c:pt idx="6">
                  <c:v>Tây Ninh</c:v>
                </c:pt>
                <c:pt idx="7">
                  <c:v>Thái Nguyên</c:v>
                </c:pt>
                <c:pt idx="8">
                  <c:v>Phú Thọ</c:v>
                </c:pt>
                <c:pt idx="9">
                  <c:v>Đà Nẵng</c:v>
                </c:pt>
                <c:pt idx="10">
                  <c:v>Khánh Hòa</c:v>
                </c:pt>
                <c:pt idx="11">
                  <c:v>Lâm Đồng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10.458</c:v>
                </c:pt>
                <c:pt idx="1">
                  <c:v>8.622</c:v>
                </c:pt>
                <c:pt idx="2">
                  <c:v>7.178</c:v>
                </c:pt>
                <c:pt idx="3">
                  <c:v>7.086</c:v>
                </c:pt>
                <c:pt idx="4">
                  <c:v>6.037</c:v>
                </c:pt>
                <c:pt idx="5">
                  <c:v>5.852</c:v>
                </c:pt>
                <c:pt idx="6">
                  <c:v>4.629</c:v>
                </c:pt>
                <c:pt idx="7">
                  <c:v>4.5</c:v>
                </c:pt>
                <c:pt idx="8">
                  <c:v>4.458</c:v>
                </c:pt>
                <c:pt idx="9">
                  <c:v>4.43</c:v>
                </c:pt>
                <c:pt idx="10">
                  <c:v>4.417</c:v>
                </c:pt>
                <c:pt idx="11">
                  <c:v>4.214</c:v>
                </c:pt>
              </c:numCache>
            </c:numRef>
          </c:val>
          <c:smooth val="0"/>
        </c:ser>
        <c:marker val="1"/>
        <c:axId val="1"/>
        <c:axId val="2"/>
      </c:line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12.5"/>
          <c:min val="0.0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round/>
            </a:ln>
          </c:spPr>
        </c:majorGridlines>
        <c:numFmt formatCode="[$-42A]#,##0.0;&quot;−&quot;#,##0.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  <c:majorUnit val="2.5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2839"/>
          <c:y val="0.13882"/>
          <c:w val="0.96337"/>
          <c:h val="0.75254"/>
        </c:manualLayout>
      </c:layout>
      <c:lineChart>
        <c:grouping val="standar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Trần mục tiêu 2026: 4,5%</c:v>
                </c:pt>
              </c:strCache>
            </c:strRef>
          </c:tx>
          <c:spPr>
            <a:ln w="12700" cap="rnd">
              <a:solidFill>
                <a:srgbClr val="5B6170"/>
              </a:solidFill>
              <a:prstDash val="dash"/>
              <a:round/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IMF</c:v>
                </c:pt>
                <c:pt idx="1">
                  <c:v>World Bank</c:v>
                </c:pt>
                <c:pt idx="2">
                  <c:v>ADB</c:v>
                </c:pt>
                <c:pt idx="3">
                  <c:v>AMRO</c:v>
                </c:pt>
                <c:pt idx="4">
                  <c:v>OECD</c:v>
                </c:pt>
                <c:pt idx="5">
                  <c:v>Standard Chartered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4.5</c:v>
                </c:pt>
                <c:pt idx="1">
                  <c:v>4.5</c:v>
                </c:pt>
                <c:pt idx="2">
                  <c:v>4.5</c:v>
                </c:pt>
                <c:pt idx="3">
                  <c:v>4.5</c:v>
                </c:pt>
                <c:pt idx="4">
                  <c:v>4.5</c:v>
                </c:pt>
                <c:pt idx="5">
                  <c:v>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Dự báo 2026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9"/>
            <c:spPr>
              <a:solidFill>
                <a:srgbClr val="2A78D6"/>
              </a:solidFill>
              <a:ln w="12700" cap="rnd">
                <a:solidFill>
                  <a:srgbClr val="FFFFFF"/>
                </a:solidFill>
                <a:round/>
              </a:ln>
            </c:spPr>
          </c:marker>
          <c:dLbls>
            <c:numFmt formatCode="[$-42A]#,##0.0&quot;%&quot;;&quot;−&quot;#,##0.0&quot;%&quot;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900" b="0" i="0" baseline="0">
                    <a:solidFill>
                      <a:srgbClr val="5B6170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IMF</c:v>
                </c:pt>
                <c:pt idx="1">
                  <c:v>World Bank</c:v>
                </c:pt>
                <c:pt idx="2">
                  <c:v>ADB</c:v>
                </c:pt>
                <c:pt idx="3">
                  <c:v>AMRO</c:v>
                </c:pt>
                <c:pt idx="4">
                  <c:v>OECD</c:v>
                </c:pt>
                <c:pt idx="5">
                  <c:v>Standard Chartered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4.9</c:v>
                </c:pt>
                <c:pt idx="1">
                  <c:v>4.2</c:v>
                </c:pt>
                <c:pt idx="2">
                  <c:v>4.3</c:v>
                </c:pt>
                <c:pt idx="3">
                  <c:v>4.3</c:v>
                </c:pt>
                <c:pt idx="4">
                  <c:v>5.2</c:v>
                </c:pt>
                <c:pt idx="5">
                  <c:v>4.4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Sheet1!$C$1</c:f>
              <c:strCache>
                <c:ptCount val="1"/>
                <c:pt idx="0">
                  <c:v>Dự báo 2027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9"/>
            <c:spPr>
              <a:solidFill>
                <a:srgbClr val="EB6834"/>
              </a:solidFill>
              <a:ln w="12700" cap="rnd">
                <a:solidFill>
                  <a:srgbClr val="FFFFFF"/>
                </a:solidFill>
                <a:round/>
              </a:ln>
            </c:spPr>
          </c:marker>
          <c:dLbls>
            <c:numFmt formatCode="[$-42A]#,##0.0&quot;%&quot;;&quot;−&quot;#,##0.0&quot;%&quot;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900" b="0" i="0" baseline="0">
                    <a:solidFill>
                      <a:srgbClr val="5B6170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IMF</c:v>
                </c:pt>
                <c:pt idx="1">
                  <c:v>World Bank</c:v>
                </c:pt>
                <c:pt idx="2">
                  <c:v>ADB</c:v>
                </c:pt>
                <c:pt idx="3">
                  <c:v>AMRO</c:v>
                </c:pt>
                <c:pt idx="4">
                  <c:v>OECD</c:v>
                </c:pt>
                <c:pt idx="5">
                  <c:v>Standard Chartered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4.6</c:v>
                </c:pt>
                <c:pt idx="1">
                  <c:v>3.8</c:v>
                </c:pt>
                <c:pt idx="2">
                  <c:v>4.0</c:v>
                </c:pt>
                <c:pt idx="3">
                  <c:v>3.9</c:v>
                </c:pt>
                <c:pt idx="4">
                  <c:v>4.6</c:v>
                </c:pt>
                <c:pt idx="5">
                  <c:v>3.3</c:v>
                </c:pt>
              </c:numCache>
            </c:numRef>
          </c:val>
          <c:smooth val="0"/>
        </c:ser>
        <c:marker val="1"/>
        <c:axId val="1"/>
        <c:axId val="2"/>
      </c:line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>
            <a:solidFill>
              <a:srgbClr val="C3C2B7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5.5"/>
          <c:min val="3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round/>
            </a:ln>
          </c:spPr>
        </c:majorGridlines>
        <c:numFmt formatCode="[$-42A]#,##0.0;&quot;−&quot;#,##0.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2528"/>
          <c:y val="0.13882"/>
          <c:w val="0.96648"/>
          <c:h val="0.7525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Cả năm 2025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8"/>
            <c:spPr>
              <a:solidFill>
                <a:srgbClr val="8A8F99"/>
              </a:solidFill>
              <a:ln w="9525" cap="rnd">
                <a:solidFill>
                  <a:srgbClr val="FFFFFF"/>
                </a:solidFill>
                <a:round/>
              </a:ln>
            </c:spPr>
          </c:marker>
          <c:errBars>
            <c:errBarType val="both"/>
            <c:errValType val="cust"/>
            <c:noEndCap val="1"/>
            <c:plus>
              <c:numRef>
                <c:f>Sheet1!$D$2:$D$13</c:f>
                <c:numCache>
                  <c:formatCode>General</c:formatCode>
                  <c:ptCount val="12"/>
                  <c:pt idx="0">
                    <c:v>0.6499999999999986</c:v>
                  </c:pt>
                  <c:pt idx="1">
                    <c:v>0.2699999999999996</c:v>
                  </c:pt>
                  <c:pt idx="2">
                    <c:v>1.540000000000001</c:v>
                  </c:pt>
                  <c:pt idx="3">
                    <c:v>0.6600000000000001</c:v>
                  </c:pt>
                  <c:pt idx="4">
                    <c:v>0.7800000000000011</c:v>
                  </c:pt>
                  <c:pt idx="5">
                    <c:v>0.0</c:v>
                  </c:pt>
                  <c:pt idx="6">
                    <c:v>0.379999999999999</c:v>
                  </c:pt>
                  <c:pt idx="7">
                    <c:v>1.5300000000000002</c:v>
                  </c:pt>
                  <c:pt idx="8">
                    <c:v>0.6899999999999995</c:v>
                  </c:pt>
                  <c:pt idx="9">
                    <c:v>0.2699999999999996</c:v>
                  </c:pt>
                  <c:pt idx="10">
                    <c:v>2.09</c:v>
                  </c:pt>
                  <c:pt idx="11">
                    <c:v>0.6599999999999993</c:v>
                  </c:pt>
                </c:numCache>
              </c:numRef>
            </c:plus>
            <c:minus>
              <c:numRef>
                <c:f>Sheet1!$E$2:$E$13</c:f>
                <c:numCache>
                  <c:formatCode>General</c:formatCode>
                  <c:ptCount val="12"/>
                  <c:pt idx="0">
                    <c:v>0.0</c:v>
                  </c:pt>
                  <c:pt idx="1">
                    <c:v>0.0</c:v>
                  </c:pt>
                  <c:pt idx="2">
                    <c:v>0.0</c:v>
                  </c:pt>
                  <c:pt idx="3">
                    <c:v>0.0</c:v>
                  </c:pt>
                  <c:pt idx="4">
                    <c:v>0.0</c:v>
                  </c:pt>
                  <c:pt idx="5">
                    <c:v>0.5099999999999998</c:v>
                  </c:pt>
                  <c:pt idx="6">
                    <c:v>0.0</c:v>
                  </c:pt>
                  <c:pt idx="7">
                    <c:v>0.0</c:v>
                  </c:pt>
                  <c:pt idx="8">
                    <c:v>0.0</c:v>
                  </c:pt>
                  <c:pt idx="9">
                    <c:v>0.0</c:v>
                  </c:pt>
                  <c:pt idx="10">
                    <c:v>0.0</c:v>
                  </c:pt>
                  <c:pt idx="11">
                    <c:v>0.0</c:v>
                  </c:pt>
                </c:numCache>
              </c:numRef>
            </c:minus>
            <c:spPr>
              <a:ln w="38100" cap="flat">
                <a:solidFill>
                  <a:srgbClr val="C9CCD2"/>
                </a:solidFill>
                <a:round/>
              </a:ln>
            </c:spPr>
          </c:errBars>
          <c:cat>
            <c:strRef>
              <c:f>Sheet1!$A$2:$A$13</c:f>
              <c:strCache>
                <c:ptCount val="12"/>
                <c:pt idx="0">
                  <c:v>Quảng Ninh</c:v>
                </c:pt>
                <c:pt idx="1">
                  <c:v>Hải Phòng</c:v>
                </c:pt>
                <c:pt idx="2">
                  <c:v>Bắc Ninh</c:v>
                </c:pt>
                <c:pt idx="3">
                  <c:v>Ninh Bình</c:v>
                </c:pt>
                <c:pt idx="4">
                  <c:v>Tây Ninh</c:v>
                </c:pt>
                <c:pt idx="5">
                  <c:v>Phú Thọ</c:v>
                </c:pt>
                <c:pt idx="6">
                  <c:v>Đồng Nai</c:v>
                </c:pt>
                <c:pt idx="7">
                  <c:v>TP.HCM</c:v>
                </c:pt>
                <c:pt idx="8">
                  <c:v>Hà Nội</c:v>
                </c:pt>
                <c:pt idx="9">
                  <c:v>Thanh Hóa</c:v>
                </c:pt>
                <c:pt idx="10">
                  <c:v>Lâm Đồng</c:v>
                </c:pt>
                <c:pt idx="11">
                  <c:v>Cần Thơ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11.89</c:v>
                </c:pt>
                <c:pt idx="1">
                  <c:v>11.81</c:v>
                </c:pt>
                <c:pt idx="2">
                  <c:v>10.27</c:v>
                </c:pt>
                <c:pt idx="3">
                  <c:v>10.65</c:v>
                </c:pt>
                <c:pt idx="4">
                  <c:v>9.52</c:v>
                </c:pt>
                <c:pt idx="5">
                  <c:v>10.52</c:v>
                </c:pt>
                <c:pt idx="6">
                  <c:v>9.63</c:v>
                </c:pt>
                <c:pt idx="7">
                  <c:v>7.53</c:v>
                </c:pt>
                <c:pt idx="8">
                  <c:v>8.16</c:v>
                </c:pt>
                <c:pt idx="9">
                  <c:v>8.27</c:v>
                </c:pt>
                <c:pt idx="10">
                  <c:v>6.42</c:v>
                </c:pt>
                <c:pt idx="11">
                  <c:v>7.23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 tháng 2026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9"/>
            <c:spPr>
              <a:solidFill>
                <a:srgbClr val="2A78D6"/>
              </a:solidFill>
              <a:ln w="9525" cap="rnd">
                <a:solidFill>
                  <a:srgbClr val="FFFFFF"/>
                </a:solidFill>
                <a:round/>
              </a:ln>
            </c:spPr>
          </c:marker>
          <c:dLbls>
            <c:dLbl>
              <c:idx val="0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[$-42A]#,##0.00&quot;%&quot;;&quot;−&quot;#,##0.0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[$-42A]#,##0.00&quot;%&quot;;&quot;−&quot;#,##0.00&quot;%&quot;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950" b="0" i="0" baseline="0">
                    <a:solidFill>
                      <a:srgbClr val="16181D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Sheet1!$A$2:$A$13</c:f>
              <c:strCache>
                <c:ptCount val="12"/>
                <c:pt idx="0">
                  <c:v>Quảng Ninh</c:v>
                </c:pt>
                <c:pt idx="1">
                  <c:v>Hải Phòng</c:v>
                </c:pt>
                <c:pt idx="2">
                  <c:v>Bắc Ninh</c:v>
                </c:pt>
                <c:pt idx="3">
                  <c:v>Ninh Bình</c:v>
                </c:pt>
                <c:pt idx="4">
                  <c:v>Tây Ninh</c:v>
                </c:pt>
                <c:pt idx="5">
                  <c:v>Phú Thọ</c:v>
                </c:pt>
                <c:pt idx="6">
                  <c:v>Đồng Nai</c:v>
                </c:pt>
                <c:pt idx="7">
                  <c:v>TP.HCM</c:v>
                </c:pt>
                <c:pt idx="8">
                  <c:v>Hà Nội</c:v>
                </c:pt>
                <c:pt idx="9">
                  <c:v>Thanh Hóa</c:v>
                </c:pt>
                <c:pt idx="10">
                  <c:v>Lâm Đồng</c:v>
                </c:pt>
                <c:pt idx="11">
                  <c:v>Cần Thơ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12.54</c:v>
                </c:pt>
                <c:pt idx="1">
                  <c:v>12.08</c:v>
                </c:pt>
                <c:pt idx="2">
                  <c:v>11.81</c:v>
                </c:pt>
                <c:pt idx="3">
                  <c:v>11.31</c:v>
                </c:pt>
                <c:pt idx="4">
                  <c:v>10.3</c:v>
                </c:pt>
                <c:pt idx="5">
                  <c:v>10.01</c:v>
                </c:pt>
                <c:pt idx="6">
                  <c:v>10.01</c:v>
                </c:pt>
                <c:pt idx="7">
                  <c:v>9.06</c:v>
                </c:pt>
                <c:pt idx="8">
                  <c:v>8.85</c:v>
                </c:pt>
                <c:pt idx="9">
                  <c:v>8.54</c:v>
                </c:pt>
                <c:pt idx="10">
                  <c:v>8.51</c:v>
                </c:pt>
                <c:pt idx="11">
                  <c:v>7.89</c:v>
                </c:pt>
              </c:numCache>
            </c:numRef>
          </c:val>
          <c:smooth val="0"/>
        </c:ser>
        <c:marker val="1"/>
        <c:axId val="1"/>
        <c:axId val="2"/>
      </c:line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>
            <a:solidFill>
              <a:srgbClr val="C3C2B7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14"/>
          <c:min val="6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round/>
            </a:ln>
          </c:spPr>
        </c:majorGridlines>
        <c:numFmt formatCode="[$-42A]#,##0;&quot;−&quot;#,##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  <c:majorUnit val="2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28414"/>
          <c:y val="0.03093"/>
          <c:w val="0.43173"/>
          <c:h val="0.88660"/>
        </c:manualLayout>
      </c:layout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Tích luỹ tài sản (I)</c:v>
                </c:pt>
              </c:strCache>
            </c:strRef>
          </c:tx>
          <c:spPr>
            <a:ln w="19050" cap="rnd">
              <a:solidFill>
                <a:srgbClr val="C9CCD2"/>
              </a:solidFill>
              <a:round/>
            </a:ln>
          </c:spPr>
          <c:marker>
            <c:symbol val="circle"/>
            <c:size val="7"/>
            <c:spPr>
              <a:solidFill>
                <a:srgbClr val="C9CCD2"/>
              </a:solidFill>
              <a:ln w="9525" cap="rnd">
                <a:solidFill>
                  <a:srgbClr val="FFFFFF"/>
                </a:solidFill>
                <a:round/>
              </a:ln>
            </c:spPr>
          </c:marker>
          <c:dLbls>
            <c:dLbl>
              <c:idx val="0"/>
              <c:numFmt formatCode="[$-42A]#,##0.0&quot;%&quot;;&quot;−&quot;#,##0.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50" b="0" i="0" baseline="0">
                      <a:solidFill>
                        <a:srgbClr val="5B6170"/>
                      </a:solidFill>
                      <a:latin typeface="IBM Plex Sans"/>
                      <a:ea typeface="IBM Plex Sans"/>
                      <a:cs typeface="IBM Plex Sans"/>
                    </a:defRPr>
                  </a:pPr>
                  <a:endParaRPr lang="vi-VN"/>
                </a:p>
              </c:txPr>
              <c:dLblPos val="l"/>
              <c:showLegendKey val="0"/>
              <c:showVal val="1"/>
              <c:showCatName val="0"/>
              <c:showSerName val="1"/>
              <c:showPercent val="0"/>
              <c:showBubbleSize val="0"/>
              <c:separator> </c:separator>
            </c:dLbl>
            <c:dLbl>
              <c:idx val="1"/>
              <c:numFmt formatCode="[$-42A]#,##0.0&quot;%&quot;;&quot;−&quot;#,##0.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50" b="0" i="0" baseline="0">
                      <a:solidFill>
                        <a:srgbClr val="5B6170"/>
                      </a:solidFill>
                      <a:latin typeface="IBM Plex Sans"/>
                      <a:ea typeface="IBM Plex Sans"/>
                      <a:cs typeface="IBM Plex Sans"/>
                    </a:defRPr>
                  </a:pPr>
                  <a:endParaRPr lang="vi-VN"/>
                </a:p>
              </c:txPr>
              <c:dLblPos val="r"/>
              <c:showLegendKey val="0"/>
              <c:showVal val="1"/>
              <c:showCatName val="0"/>
              <c:showSerName val="1"/>
              <c:showPercent val="0"/>
              <c:showBubbleSize val="0"/>
              <c:separator> </c:separator>
            </c:dLbl>
            <c:numFmt formatCode="[$-42A]#,##0.0&quot;%&quot;;&quot;−&quot;#,##0.0&quot;%&quot;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1050" b="0" i="0" baseline="0">
                    <a:solidFill>
                      <a:srgbClr val="5B6170"/>
                    </a:solidFill>
                    <a:latin typeface="IBM Plex Sans"/>
                    <a:ea typeface="IBM Plex Sans"/>
                    <a:cs typeface="IBM Plex Sans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2015</c:v>
                </c:pt>
                <c:pt idx="1">
                  <c:v>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32.11</c:v>
                </c:pt>
                <c:pt idx="1">
                  <c:v>30.8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Chi tiêu Nhà nước (G)</c:v>
                </c:pt>
              </c:strCache>
            </c:strRef>
          </c:tx>
          <c:spPr>
            <a:ln w="19050" cap="rnd">
              <a:solidFill>
                <a:srgbClr val="C9CCD2"/>
              </a:solidFill>
              <a:round/>
            </a:ln>
          </c:spPr>
          <c:marker>
            <c:symbol val="circle"/>
            <c:size val="7"/>
            <c:spPr>
              <a:solidFill>
                <a:srgbClr val="C9CCD2"/>
              </a:solidFill>
              <a:ln w="9525" cap="rnd">
                <a:solidFill>
                  <a:srgbClr val="FFFFFF"/>
                </a:solidFill>
                <a:round/>
              </a:ln>
            </c:spPr>
          </c:marker>
          <c:dLbls>
            <c:dLbl>
              <c:idx val="0"/>
              <c:numFmt formatCode="[$-42A]#,##0.0&quot;%&quot;;&quot;−&quot;#,##0.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50" b="0" i="0" baseline="0">
                      <a:solidFill>
                        <a:srgbClr val="5B6170"/>
                      </a:solidFill>
                      <a:latin typeface="IBM Plex Sans"/>
                      <a:ea typeface="IBM Plex Sans"/>
                      <a:cs typeface="IBM Plex Sans"/>
                    </a:defRPr>
                  </a:pPr>
                  <a:endParaRPr lang="vi-VN"/>
                </a:p>
              </c:txPr>
              <c:dLblPos val="l"/>
              <c:showLegendKey val="0"/>
              <c:showVal val="1"/>
              <c:showCatName val="0"/>
              <c:showSerName val="1"/>
              <c:showPercent val="0"/>
              <c:showBubbleSize val="0"/>
              <c:separator> </c:separator>
            </c:dLbl>
            <c:dLbl>
              <c:idx val="1"/>
              <c:numFmt formatCode="[$-42A]#,##0.0&quot;%&quot;;&quot;−&quot;#,##0.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50" b="0" i="0" baseline="0">
                      <a:solidFill>
                        <a:srgbClr val="5B6170"/>
                      </a:solidFill>
                      <a:latin typeface="IBM Plex Sans"/>
                      <a:ea typeface="IBM Plex Sans"/>
                      <a:cs typeface="IBM Plex Sans"/>
                    </a:defRPr>
                  </a:pPr>
                  <a:endParaRPr lang="vi-VN"/>
                </a:p>
              </c:txPr>
              <c:dLblPos val="r"/>
              <c:showLegendKey val="0"/>
              <c:showVal val="1"/>
              <c:showCatName val="0"/>
              <c:showSerName val="1"/>
              <c:showPercent val="0"/>
              <c:showBubbleSize val="0"/>
              <c:separator> </c:separator>
            </c:dLbl>
            <c:numFmt formatCode="[$-42A]#,##0.0&quot;%&quot;;&quot;−&quot;#,##0.0&quot;%&quot;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1050" b="0" i="0" baseline="0">
                    <a:solidFill>
                      <a:srgbClr val="5B6170"/>
                    </a:solidFill>
                    <a:latin typeface="IBM Plex Sans"/>
                    <a:ea typeface="IBM Plex Sans"/>
                    <a:cs typeface="IBM Plex Sans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2015</c:v>
                </c:pt>
                <c:pt idx="1">
                  <c:v>2025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10.65</c:v>
                </c:pt>
                <c:pt idx="1">
                  <c:v>9.38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Sheet1!$B$1</c:f>
              <c:strCache>
                <c:ptCount val="1"/>
                <c:pt idx="0">
                  <c:v>Tiêu dùng hộ (C)</c:v>
                </c:pt>
              </c:strCache>
            </c:strRef>
          </c:tx>
          <c:spPr>
            <a:ln w="25400" cap="rnd">
              <a:solidFill>
                <a:srgbClr val="2A78D6"/>
              </a:solidFill>
              <a:round/>
            </a:ln>
          </c:spPr>
          <c:marker>
            <c:symbol val="circle"/>
            <c:size val="7"/>
            <c:spPr>
              <a:solidFill>
                <a:srgbClr val="2A78D6"/>
              </a:solidFill>
              <a:ln w="9525" cap="rnd">
                <a:solidFill>
                  <a:srgbClr val="FFFFFF"/>
                </a:solidFill>
                <a:round/>
              </a:ln>
            </c:spPr>
          </c:marker>
          <c:dLbls>
            <c:dLbl>
              <c:idx val="0"/>
              <c:numFmt formatCode="[$-42A]#,##0.0&quot;%&quot;;&quot;−&quot;#,##0.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l"/>
              <c:showLegendKey val="0"/>
              <c:showVal val="1"/>
              <c:showCatName val="0"/>
              <c:showSerName val="1"/>
              <c:showPercent val="0"/>
              <c:showBubbleSize val="0"/>
              <c:separator> </c:separator>
            </c:dLbl>
            <c:dLbl>
              <c:idx val="1"/>
              <c:numFmt formatCode="[$-42A]#,##0.0&quot;%&quot;;&quot;−&quot;#,##0.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r"/>
              <c:showLegendKey val="0"/>
              <c:showVal val="1"/>
              <c:showCatName val="0"/>
              <c:showSerName val="1"/>
              <c:showPercent val="0"/>
              <c:showBubbleSize val="0"/>
              <c:separator> </c:separator>
            </c:dLbl>
            <c:numFmt formatCode="[$-42A]#,##0.0&quot;%&quot;;&quot;−&quot;#,##0.0&quot;%&quot;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1050" b="0" i="0" baseline="0">
                    <a:solidFill>
                      <a:srgbClr val="16181D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2015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59.33</c:v>
                </c:pt>
                <c:pt idx="1">
                  <c:v>53.21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Xuất khẩu ròng (X − M)</c:v>
                </c:pt>
              </c:strCache>
            </c:strRef>
          </c:tx>
          <c:spPr>
            <a:ln w="25400" cap="rnd">
              <a:solidFill>
                <a:srgbClr val="EB6834"/>
              </a:solidFill>
              <a:round/>
            </a:ln>
          </c:spPr>
          <c:marker>
            <c:symbol val="circle"/>
            <c:size val="7"/>
            <c:spPr>
              <a:solidFill>
                <a:srgbClr val="EB6834"/>
              </a:solidFill>
              <a:ln w="9525" cap="rnd">
                <a:solidFill>
                  <a:srgbClr val="FFFFFF"/>
                </a:solidFill>
                <a:round/>
              </a:ln>
            </c:spPr>
          </c:marker>
          <c:dLbls>
            <c:dLbl>
              <c:idx val="0"/>
              <c:numFmt formatCode="[$-42A]#,##0.0&quot;%&quot;;&quot;−&quot;#,##0.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l"/>
              <c:showLegendKey val="0"/>
              <c:showVal val="1"/>
              <c:showCatName val="0"/>
              <c:showSerName val="1"/>
              <c:showPercent val="0"/>
              <c:showBubbleSize val="0"/>
              <c:separator> </c:separator>
            </c:dLbl>
            <c:dLbl>
              <c:idx val="1"/>
              <c:layout>
                <c:manualLayout>
                  <c:x val="0.00000"/>
                  <c:y val="0.00570"/>
                </c:manualLayout>
              </c:layout>
              <c:numFmt formatCode="[$-42A]#,##0.0&quot;%&quot;;&quot;−&quot;#,##0.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r"/>
              <c:showLegendKey val="0"/>
              <c:showVal val="1"/>
              <c:showCatName val="0"/>
              <c:showSerName val="1"/>
              <c:showPercent val="0"/>
              <c:showBubbleSize val="0"/>
              <c:separator> </c:separator>
            </c:dLbl>
            <c:numFmt formatCode="[$-42A]#,##0.0&quot;%&quot;;&quot;−&quot;#,##0.0&quot;%&quot;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1050" b="0" i="0" baseline="0">
                    <a:solidFill>
                      <a:srgbClr val="16181D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2015</c:v>
                </c:pt>
                <c:pt idx="1">
                  <c:v>2025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0.93</c:v>
                </c:pt>
                <c:pt idx="1">
                  <c:v>6.15</c:v>
                </c:pt>
              </c:numCache>
            </c:numRef>
          </c:val>
          <c:smooth val="0"/>
        </c:ser>
        <c:marker val="1"/>
        <c:axId val="1"/>
        <c:axId val="2"/>
      </c:line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high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100" b="0" i="0" baseline="0">
                <a:solidFill>
                  <a:srgbClr val="16181D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62.833999999999996"/>
          <c:min val="-2.574"/>
        </c:scaling>
        <c:delete val="1"/>
        <c:axPos val="l"/>
        <c:numFmt formatCode="[$-42A]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midCat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13639"/>
          <c:y val="0.03621"/>
          <c:w val="0.69193"/>
          <c:h val="0.84911"/>
        </c:manualLayout>
      </c:layout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Nông, lâm, thủy sản</c:v>
                </c:pt>
              </c:strCache>
            </c:strRef>
          </c:tx>
          <c:spPr>
            <a:ln w="19050" cap="rnd">
              <a:solidFill>
                <a:srgbClr val="C9CCD2"/>
              </a:solidFill>
              <a:round/>
            </a:ln>
          </c:spPr>
          <c:marker>
            <c:symbol val="circle"/>
            <c:size val="5"/>
            <c:spPr>
              <a:solidFill>
                <a:srgbClr val="C9CCD2"/>
              </a:solidFill>
              <a:ln w="9525" cap="rnd">
                <a:solidFill>
                  <a:srgbClr val="FFFFFF"/>
                </a:solidFill>
                <a:round/>
              </a:ln>
            </c:spPr>
          </c:marker>
          <c:dLbls>
            <c:dLbl>
              <c:idx val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00" b="0" i="0" baseline="0">
                      <a:solidFill>
                        <a:srgbClr val="5B6170"/>
                      </a:solidFill>
                      <a:latin typeface="IBM Plex Sans"/>
                      <a:ea typeface="IBM Plex Sans"/>
                      <a:cs typeface="IBM Plex Sans"/>
                    </a:defRPr>
                  </a:pPr>
                  <a:endParaRPr lang="vi-VN"/>
                </a:p>
              </c:txPr>
              <c:dLblPos val="l"/>
              <c:showLegendKey val="0"/>
              <c:showVal val="0"/>
              <c:showCatName val="0"/>
              <c:showSerName val="1"/>
              <c:showPercent val="0"/>
              <c:showBubbleSize val="0"/>
              <c:separator> </c:separator>
            </c:dLbl>
            <c:dLbl>
              <c:idx val="5"/>
              <c:tx>
                <c:rich>
                  <a:bodyPr wrap="none" anchor="ctr"/>
                  <a:lstStyle/>
                  <a:p>
                    <a:pPr>
                      <a:defRPr lang="vi-VN" sz="1000" b="0" i="0" baseline="0">
                        <a:solidFill>
                          <a:srgbClr val="5B6170"/>
                        </a:solidFill>
                        <a:latin typeface="IBM Plex Sans"/>
                        <a:ea typeface="IBM Plex Sans"/>
                        <a:cs typeface="IBM Plex Sans"/>
                      </a:defRPr>
                    </a:pPr>
                    <a:r>
                      <a:rPr lang="vi-VN" sz="1000" b="0" i="0" baseline="0">
                        <a:solidFill>
                          <a:srgbClr val="5B6170"/>
                        </a:solidFill>
                        <a:latin typeface="IBM Plex Sans"/>
                        <a:ea typeface="IBM Plex Sans"/>
                        <a:cs typeface="IBM Plex Sans"/>
                      </a:rPr>
                      <a:t>Nông, lâm, thủy sản 11,7%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00" b="0" i="0" baseline="0">
                      <a:solidFill>
                        <a:srgbClr val="5B6170"/>
                      </a:solidFill>
                      <a:latin typeface="IBM Plex Sans"/>
                      <a:ea typeface="IBM Plex Sans"/>
                      <a:cs typeface="IBM Plex Sans"/>
                    </a:defRPr>
                  </a:pPr>
                  <a:endParaRPr lang="vi-VN"/>
                </a:p>
              </c:txPr>
              <c:dLblPos val="r"/>
              <c:showLegendKey val="0"/>
              <c:showVal val="0"/>
              <c:showCatName val="0"/>
              <c:showSerName val="1"/>
              <c:showPercent val="0"/>
              <c:showBubbleSize val="0"/>
              <c:separator> </c:separator>
            </c:dLbl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1000" b="0" i="0" baseline="0">
                    <a:solidFill>
                      <a:srgbClr val="5B6170"/>
                    </a:solidFill>
                    <a:latin typeface="IBM Plex Sans"/>
                    <a:ea typeface="IBM Plex Sans"/>
                    <a:cs typeface="IBM Plex Sans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2013</c:v>
                </c:pt>
                <c:pt idx="2">
                  <c:v>2016</c:v>
                </c:pt>
                <c:pt idx="3">
                  <c:v>2019</c:v>
                </c:pt>
                <c:pt idx="4">
                  <c:v>2022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  <c:pt idx="4">
                  <c:v>2.0</c:v>
                </c:pt>
                <c:pt idx="5">
                  <c:v>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Bán buôn, bán lẻ</c:v>
                </c:pt>
              </c:strCache>
            </c:strRef>
          </c:tx>
          <c:spPr>
            <a:ln w="19050" cap="rnd">
              <a:solidFill>
                <a:srgbClr val="C9CCD2"/>
              </a:solidFill>
              <a:round/>
            </a:ln>
          </c:spPr>
          <c:marker>
            <c:symbol val="circle"/>
            <c:size val="5"/>
            <c:spPr>
              <a:solidFill>
                <a:srgbClr val="C9CCD2"/>
              </a:solidFill>
              <a:ln w="9525" cap="rnd">
                <a:solidFill>
                  <a:srgbClr val="FFFFFF"/>
                </a:solidFill>
                <a:round/>
              </a:ln>
            </c:spPr>
          </c:marker>
          <c:dLbls>
            <c:dLbl>
              <c:idx val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00" b="0" i="0" baseline="0">
                      <a:solidFill>
                        <a:srgbClr val="5B6170"/>
                      </a:solidFill>
                      <a:latin typeface="IBM Plex Sans"/>
                      <a:ea typeface="IBM Plex Sans"/>
                      <a:cs typeface="IBM Plex Sans"/>
                    </a:defRPr>
                  </a:pPr>
                  <a:endParaRPr lang="vi-VN"/>
                </a:p>
              </c:txPr>
              <c:dLblPos val="l"/>
              <c:showLegendKey val="0"/>
              <c:showVal val="0"/>
              <c:showCatName val="0"/>
              <c:showSerName val="1"/>
              <c:showPercent val="0"/>
              <c:showBubbleSize val="0"/>
              <c:separator> </c:separator>
            </c:dLbl>
            <c:dLbl>
              <c:idx val="5"/>
              <c:tx>
                <c:rich>
                  <a:bodyPr wrap="none" anchor="ctr"/>
                  <a:lstStyle/>
                  <a:p>
                    <a:pPr>
                      <a:defRPr lang="vi-VN" sz="1000" b="0" i="0" baseline="0">
                        <a:solidFill>
                          <a:srgbClr val="5B6170"/>
                        </a:solidFill>
                        <a:latin typeface="IBM Plex Sans"/>
                        <a:ea typeface="IBM Plex Sans"/>
                        <a:cs typeface="IBM Plex Sans"/>
                      </a:defRPr>
                    </a:pPr>
                    <a:r>
                      <a:rPr lang="vi-VN" sz="1000" b="0" i="0" baseline="0">
                        <a:solidFill>
                          <a:srgbClr val="5B6170"/>
                        </a:solidFill>
                        <a:latin typeface="IBM Plex Sans"/>
                        <a:ea typeface="IBM Plex Sans"/>
                        <a:cs typeface="IBM Plex Sans"/>
                      </a:rPr>
                      <a:t>Bán buôn, bán lẻ 9,7%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00" b="0" i="0" baseline="0">
                      <a:solidFill>
                        <a:srgbClr val="5B6170"/>
                      </a:solidFill>
                      <a:latin typeface="IBM Plex Sans"/>
                      <a:ea typeface="IBM Plex Sans"/>
                      <a:cs typeface="IBM Plex Sans"/>
                    </a:defRPr>
                  </a:pPr>
                  <a:endParaRPr lang="vi-VN"/>
                </a:p>
              </c:txPr>
              <c:dLblPos val="r"/>
              <c:showLegendKey val="0"/>
              <c:showVal val="0"/>
              <c:showCatName val="0"/>
              <c:showSerName val="1"/>
              <c:showPercent val="0"/>
              <c:showBubbleSize val="0"/>
              <c:separator> </c:separator>
            </c:dLbl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1000" b="0" i="0" baseline="0">
                    <a:solidFill>
                      <a:srgbClr val="5B6170"/>
                    </a:solidFill>
                    <a:latin typeface="IBM Plex Sans"/>
                    <a:ea typeface="IBM Plex Sans"/>
                    <a:cs typeface="IBM Plex Sans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2013</c:v>
                </c:pt>
                <c:pt idx="2">
                  <c:v>2016</c:v>
                </c:pt>
                <c:pt idx="3">
                  <c:v>2019</c:v>
                </c:pt>
                <c:pt idx="4">
                  <c:v>2022</c:v>
                </c:pt>
                <c:pt idx="5">
                  <c:v>2025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3.0</c:v>
                </c:pt>
                <c:pt idx="5">
                  <c:v>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Sheet1!$F$1</c:f>
              <c:strCache>
                <c:ptCount val="1"/>
                <c:pt idx="0">
                  <c:v>Xây dựng</c:v>
                </c:pt>
              </c:strCache>
            </c:strRef>
          </c:tx>
          <c:spPr>
            <a:ln w="19050" cap="rnd">
              <a:solidFill>
                <a:srgbClr val="C9CCD2"/>
              </a:solidFill>
              <a:round/>
            </a:ln>
          </c:spPr>
          <c:marker>
            <c:symbol val="circle"/>
            <c:size val="5"/>
            <c:spPr>
              <a:solidFill>
                <a:srgbClr val="C9CCD2"/>
              </a:solidFill>
              <a:ln w="9525" cap="rnd">
                <a:solidFill>
                  <a:srgbClr val="FFFFFF"/>
                </a:solidFill>
                <a:round/>
              </a:ln>
            </c:spPr>
          </c:marker>
          <c:dLbls>
            <c:dLbl>
              <c:idx val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00" b="0" i="0" baseline="0">
                      <a:solidFill>
                        <a:srgbClr val="5B6170"/>
                      </a:solidFill>
                      <a:latin typeface="IBM Plex Sans"/>
                      <a:ea typeface="IBM Plex Sans"/>
                      <a:cs typeface="IBM Plex Sans"/>
                    </a:defRPr>
                  </a:pPr>
                  <a:endParaRPr lang="vi-VN"/>
                </a:p>
              </c:txPr>
              <c:dLblPos val="l"/>
              <c:showLegendKey val="0"/>
              <c:showVal val="0"/>
              <c:showCatName val="0"/>
              <c:showSerName val="1"/>
              <c:showPercent val="0"/>
              <c:showBubbleSize val="0"/>
              <c:separator> </c:separator>
            </c:dLbl>
            <c:dLbl>
              <c:idx val="5"/>
              <c:tx>
                <c:rich>
                  <a:bodyPr wrap="none" anchor="ctr"/>
                  <a:lstStyle/>
                  <a:p>
                    <a:pPr>
                      <a:defRPr lang="vi-VN" sz="1000" b="0" i="0" baseline="0">
                        <a:solidFill>
                          <a:srgbClr val="5B6170"/>
                        </a:solidFill>
                        <a:latin typeface="IBM Plex Sans"/>
                        <a:ea typeface="IBM Plex Sans"/>
                        <a:cs typeface="IBM Plex Sans"/>
                      </a:defRPr>
                    </a:pPr>
                    <a:r>
                      <a:rPr lang="vi-VN" sz="1000" b="0" i="0" baseline="0">
                        <a:solidFill>
                          <a:srgbClr val="5B6170"/>
                        </a:solidFill>
                        <a:latin typeface="IBM Plex Sans"/>
                        <a:ea typeface="IBM Plex Sans"/>
                        <a:cs typeface="IBM Plex Sans"/>
                      </a:rPr>
                      <a:t>Xây dựng 6,1%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00" b="0" i="0" baseline="0">
                      <a:solidFill>
                        <a:srgbClr val="5B6170"/>
                      </a:solidFill>
                      <a:latin typeface="IBM Plex Sans"/>
                      <a:ea typeface="IBM Plex Sans"/>
                      <a:cs typeface="IBM Plex Sans"/>
                    </a:defRPr>
                  </a:pPr>
                  <a:endParaRPr lang="vi-VN"/>
                </a:p>
              </c:txPr>
              <c:dLblPos val="r"/>
              <c:showLegendKey val="0"/>
              <c:showVal val="0"/>
              <c:showCatName val="0"/>
              <c:showSerName val="1"/>
              <c:showPercent val="0"/>
              <c:showBubbleSize val="0"/>
              <c:separator> </c:separator>
            </c:dLbl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1000" b="0" i="0" baseline="0">
                    <a:solidFill>
                      <a:srgbClr val="5B6170"/>
                    </a:solidFill>
                    <a:latin typeface="IBM Plex Sans"/>
                    <a:ea typeface="IBM Plex Sans"/>
                    <a:cs typeface="IBM Plex Sans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2013</c:v>
                </c:pt>
                <c:pt idx="2">
                  <c:v>2016</c:v>
                </c:pt>
                <c:pt idx="3">
                  <c:v>2019</c:v>
                </c:pt>
                <c:pt idx="4">
                  <c:v>2022</c:v>
                </c:pt>
                <c:pt idx="5">
                  <c:v>2025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5.0</c:v>
                </c:pt>
                <c:pt idx="1">
                  <c:v>5.0</c:v>
                </c:pt>
                <c:pt idx="2">
                  <c:v>4.0</c:v>
                </c:pt>
                <c:pt idx="3">
                  <c:v>4.0</c:v>
                </c:pt>
                <c:pt idx="4">
                  <c:v>4.0</c:v>
                </c:pt>
                <c:pt idx="5">
                  <c:v>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Sheet1!$G$1</c:f>
              <c:strCache>
                <c:ptCount val="1"/>
                <c:pt idx="0">
                  <c:v>Vận tải, kho bãi</c:v>
                </c:pt>
              </c:strCache>
            </c:strRef>
          </c:tx>
          <c:spPr>
            <a:ln w="19050" cap="rnd">
              <a:solidFill>
                <a:srgbClr val="C9CCD2"/>
              </a:solidFill>
              <a:round/>
            </a:ln>
          </c:spPr>
          <c:marker>
            <c:symbol val="circle"/>
            <c:size val="5"/>
            <c:spPr>
              <a:solidFill>
                <a:srgbClr val="C9CCD2"/>
              </a:solidFill>
              <a:ln w="9525" cap="rnd">
                <a:solidFill>
                  <a:srgbClr val="FFFFFF"/>
                </a:solidFill>
                <a:round/>
              </a:ln>
            </c:spPr>
          </c:marker>
          <c:dLbls>
            <c:dLbl>
              <c:idx val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00" b="0" i="0" baseline="0">
                      <a:solidFill>
                        <a:srgbClr val="5B6170"/>
                      </a:solidFill>
                      <a:latin typeface="IBM Plex Sans"/>
                      <a:ea typeface="IBM Plex Sans"/>
                      <a:cs typeface="IBM Plex Sans"/>
                    </a:defRPr>
                  </a:pPr>
                  <a:endParaRPr lang="vi-VN"/>
                </a:p>
              </c:txPr>
              <c:dLblPos val="l"/>
              <c:showLegendKey val="0"/>
              <c:showVal val="0"/>
              <c:showCatName val="0"/>
              <c:showSerName val="1"/>
              <c:showPercent val="0"/>
              <c:showBubbleSize val="0"/>
              <c:separator> </c:separator>
            </c:dLbl>
            <c:dLbl>
              <c:idx val="5"/>
              <c:tx>
                <c:rich>
                  <a:bodyPr wrap="none" anchor="ctr"/>
                  <a:lstStyle/>
                  <a:p>
                    <a:pPr>
                      <a:defRPr lang="vi-VN" sz="1000" b="0" i="0" baseline="0">
                        <a:solidFill>
                          <a:srgbClr val="5B6170"/>
                        </a:solidFill>
                        <a:latin typeface="IBM Plex Sans"/>
                        <a:ea typeface="IBM Plex Sans"/>
                        <a:cs typeface="IBM Plex Sans"/>
                      </a:defRPr>
                    </a:pPr>
                    <a:r>
                      <a:rPr lang="vi-VN" sz="1000" b="0" i="0" baseline="0">
                        <a:solidFill>
                          <a:srgbClr val="5B6170"/>
                        </a:solidFill>
                        <a:latin typeface="IBM Plex Sans"/>
                        <a:ea typeface="IBM Plex Sans"/>
                        <a:cs typeface="IBM Plex Sans"/>
                      </a:rPr>
                      <a:t>Vận tải, kho bãi 5,3%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00" b="0" i="0" baseline="0">
                      <a:solidFill>
                        <a:srgbClr val="5B6170"/>
                      </a:solidFill>
                      <a:latin typeface="IBM Plex Sans"/>
                      <a:ea typeface="IBM Plex Sans"/>
                      <a:cs typeface="IBM Plex Sans"/>
                    </a:defRPr>
                  </a:pPr>
                  <a:endParaRPr lang="vi-VN"/>
                </a:p>
              </c:txPr>
              <c:dLblPos val="r"/>
              <c:showLegendKey val="0"/>
              <c:showVal val="0"/>
              <c:showCatName val="0"/>
              <c:showSerName val="1"/>
              <c:showPercent val="0"/>
              <c:showBubbleSize val="0"/>
              <c:separator> </c:separator>
            </c:dLbl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1000" b="0" i="0" baseline="0">
                    <a:solidFill>
                      <a:srgbClr val="5B6170"/>
                    </a:solidFill>
                    <a:latin typeface="IBM Plex Sans"/>
                    <a:ea typeface="IBM Plex Sans"/>
                    <a:cs typeface="IBM Plex Sans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2013</c:v>
                </c:pt>
                <c:pt idx="2">
                  <c:v>2016</c:v>
                </c:pt>
                <c:pt idx="3">
                  <c:v>2019</c:v>
                </c:pt>
                <c:pt idx="4">
                  <c:v>2022</c:v>
                </c:pt>
                <c:pt idx="5">
                  <c:v>2025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7.0</c:v>
                </c:pt>
                <c:pt idx="1">
                  <c:v>6.0</c:v>
                </c:pt>
                <c:pt idx="2">
                  <c:v>5.0</c:v>
                </c:pt>
                <c:pt idx="3">
                  <c:v>5.0</c:v>
                </c:pt>
                <c:pt idx="4">
                  <c:v>6.0</c:v>
                </c:pt>
                <c:pt idx="5">
                  <c:v>5.0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Sheet1!$H$1</c:f>
              <c:strCache>
                <c:ptCount val="1"/>
                <c:pt idx="0">
                  <c:v>Tài chính, ngân hàng</c:v>
                </c:pt>
              </c:strCache>
            </c:strRef>
          </c:tx>
          <c:spPr>
            <a:ln w="19050" cap="rnd">
              <a:solidFill>
                <a:srgbClr val="C9CCD2"/>
              </a:solidFill>
              <a:round/>
            </a:ln>
          </c:spPr>
          <c:marker>
            <c:symbol val="circle"/>
            <c:size val="5"/>
            <c:spPr>
              <a:solidFill>
                <a:srgbClr val="C9CCD2"/>
              </a:solidFill>
              <a:ln w="9525" cap="rnd">
                <a:solidFill>
                  <a:srgbClr val="FFFFFF"/>
                </a:solidFill>
                <a:round/>
              </a:ln>
            </c:spPr>
          </c:marker>
          <c:dLbls>
            <c:dLbl>
              <c:idx val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00" b="0" i="0" baseline="0">
                      <a:solidFill>
                        <a:srgbClr val="5B6170"/>
                      </a:solidFill>
                      <a:latin typeface="IBM Plex Sans"/>
                      <a:ea typeface="IBM Plex Sans"/>
                      <a:cs typeface="IBM Plex Sans"/>
                    </a:defRPr>
                  </a:pPr>
                  <a:endParaRPr lang="vi-VN"/>
                </a:p>
              </c:txPr>
              <c:dLblPos val="l"/>
              <c:showLegendKey val="0"/>
              <c:showVal val="0"/>
              <c:showCatName val="0"/>
              <c:showSerName val="1"/>
              <c:showPercent val="0"/>
              <c:showBubbleSize val="0"/>
              <c:separator> </c:separator>
            </c:dLbl>
            <c:dLbl>
              <c:idx val="5"/>
              <c:tx>
                <c:rich>
                  <a:bodyPr wrap="none" anchor="ctr"/>
                  <a:lstStyle/>
                  <a:p>
                    <a:pPr>
                      <a:defRPr lang="vi-VN" sz="1000" b="0" i="0" baseline="0">
                        <a:solidFill>
                          <a:srgbClr val="5B6170"/>
                        </a:solidFill>
                        <a:latin typeface="IBM Plex Sans"/>
                        <a:ea typeface="IBM Plex Sans"/>
                        <a:cs typeface="IBM Plex Sans"/>
                      </a:defRPr>
                    </a:pPr>
                    <a:r>
                      <a:rPr lang="vi-VN" sz="1000" b="0" i="0" baseline="0">
                        <a:solidFill>
                          <a:srgbClr val="5B6170"/>
                        </a:solidFill>
                        <a:latin typeface="IBM Plex Sans"/>
                        <a:ea typeface="IBM Plex Sans"/>
                        <a:cs typeface="IBM Plex Sans"/>
                      </a:rPr>
                      <a:t>Tài chính, ngân hàng 4,8%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00" b="0" i="0" baseline="0">
                      <a:solidFill>
                        <a:srgbClr val="5B6170"/>
                      </a:solidFill>
                      <a:latin typeface="IBM Plex Sans"/>
                      <a:ea typeface="IBM Plex Sans"/>
                      <a:cs typeface="IBM Plex Sans"/>
                    </a:defRPr>
                  </a:pPr>
                  <a:endParaRPr lang="vi-VN"/>
                </a:p>
              </c:txPr>
              <c:dLblPos val="r"/>
              <c:showLegendKey val="0"/>
              <c:showVal val="0"/>
              <c:showCatName val="0"/>
              <c:showSerName val="1"/>
              <c:showPercent val="0"/>
              <c:showBubbleSize val="0"/>
              <c:separator> </c:separator>
            </c:dLbl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1000" b="0" i="0" baseline="0">
                    <a:solidFill>
                      <a:srgbClr val="5B6170"/>
                    </a:solidFill>
                    <a:latin typeface="IBM Plex Sans"/>
                    <a:ea typeface="IBM Plex Sans"/>
                    <a:cs typeface="IBM Plex Sans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2013</c:v>
                </c:pt>
                <c:pt idx="2">
                  <c:v>2016</c:v>
                </c:pt>
                <c:pt idx="3">
                  <c:v>2019</c:v>
                </c:pt>
                <c:pt idx="4">
                  <c:v>2022</c:v>
                </c:pt>
                <c:pt idx="5">
                  <c:v>2025</c:v>
                </c:pt>
              </c:strCache>
            </c:strRef>
          </c:cat>
          <c:val>
            <c:numRef>
              <c:f>Sheet1!$H$2:$H$7</c:f>
              <c:numCache>
                <c:formatCode>General</c:formatCode>
                <c:ptCount val="6"/>
                <c:pt idx="0">
                  <c:v>8.0</c:v>
                </c:pt>
                <c:pt idx="1">
                  <c:v>8.0</c:v>
                </c:pt>
                <c:pt idx="2">
                  <c:v>7.0</c:v>
                </c:pt>
                <c:pt idx="3">
                  <c:v>6.0</c:v>
                </c:pt>
                <c:pt idx="4">
                  <c:v>5.0</c:v>
                </c:pt>
                <c:pt idx="5">
                  <c:v>6.0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Sheet1!$I$1</c:f>
              <c:strCache>
                <c:ptCount val="1"/>
                <c:pt idx="0">
                  <c:v>Bất động sản</c:v>
                </c:pt>
              </c:strCache>
            </c:strRef>
          </c:tx>
          <c:spPr>
            <a:ln w="19050" cap="rnd">
              <a:solidFill>
                <a:srgbClr val="C9CCD2"/>
              </a:solidFill>
              <a:round/>
            </a:ln>
          </c:spPr>
          <c:marker>
            <c:symbol val="circle"/>
            <c:size val="5"/>
            <c:spPr>
              <a:solidFill>
                <a:srgbClr val="C9CCD2"/>
              </a:solidFill>
              <a:ln w="9525" cap="rnd">
                <a:solidFill>
                  <a:srgbClr val="FFFFFF"/>
                </a:solidFill>
                <a:round/>
              </a:ln>
            </c:spPr>
          </c:marker>
          <c:dLbls>
            <c:dLbl>
              <c:idx val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00" b="0" i="0" baseline="0">
                      <a:solidFill>
                        <a:srgbClr val="5B6170"/>
                      </a:solidFill>
                      <a:latin typeface="IBM Plex Sans"/>
                      <a:ea typeface="IBM Plex Sans"/>
                      <a:cs typeface="IBM Plex Sans"/>
                    </a:defRPr>
                  </a:pPr>
                  <a:endParaRPr lang="vi-VN"/>
                </a:p>
              </c:txPr>
              <c:dLblPos val="l"/>
              <c:showLegendKey val="0"/>
              <c:showVal val="0"/>
              <c:showCatName val="0"/>
              <c:showSerName val="1"/>
              <c:showPercent val="0"/>
              <c:showBubbleSize val="0"/>
              <c:separator> </c:separator>
            </c:dLbl>
            <c:dLbl>
              <c:idx val="5"/>
              <c:tx>
                <c:rich>
                  <a:bodyPr wrap="none" anchor="ctr"/>
                  <a:lstStyle/>
                  <a:p>
                    <a:pPr>
                      <a:defRPr lang="vi-VN" sz="1000" b="0" i="0" baseline="0">
                        <a:solidFill>
                          <a:srgbClr val="5B6170"/>
                        </a:solidFill>
                        <a:latin typeface="IBM Plex Sans"/>
                        <a:ea typeface="IBM Plex Sans"/>
                        <a:cs typeface="IBM Plex Sans"/>
                      </a:defRPr>
                    </a:pPr>
                    <a:r>
                      <a:rPr lang="vi-VN" sz="1000" b="0" i="0" baseline="0">
                        <a:solidFill>
                          <a:srgbClr val="5B6170"/>
                        </a:solidFill>
                        <a:latin typeface="IBM Plex Sans"/>
                        <a:ea typeface="IBM Plex Sans"/>
                        <a:cs typeface="IBM Plex Sans"/>
                      </a:rPr>
                      <a:t>Bất động sản 3,5%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00" b="0" i="0" baseline="0">
                      <a:solidFill>
                        <a:srgbClr val="5B6170"/>
                      </a:solidFill>
                      <a:latin typeface="IBM Plex Sans"/>
                      <a:ea typeface="IBM Plex Sans"/>
                      <a:cs typeface="IBM Plex Sans"/>
                    </a:defRPr>
                  </a:pPr>
                  <a:endParaRPr lang="vi-VN"/>
                </a:p>
              </c:txPr>
              <c:dLblPos val="r"/>
              <c:showLegendKey val="0"/>
              <c:showVal val="0"/>
              <c:showCatName val="0"/>
              <c:showSerName val="1"/>
              <c:showPercent val="0"/>
              <c:showBubbleSize val="0"/>
              <c:separator> </c:separator>
            </c:dLbl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1000" b="0" i="0" baseline="0">
                    <a:solidFill>
                      <a:srgbClr val="5B6170"/>
                    </a:solidFill>
                    <a:latin typeface="IBM Plex Sans"/>
                    <a:ea typeface="IBM Plex Sans"/>
                    <a:cs typeface="IBM Plex Sans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2013</c:v>
                </c:pt>
                <c:pt idx="2">
                  <c:v>2016</c:v>
                </c:pt>
                <c:pt idx="3">
                  <c:v>2019</c:v>
                </c:pt>
                <c:pt idx="4">
                  <c:v>2022</c:v>
                </c:pt>
                <c:pt idx="5">
                  <c:v>2025</c:v>
                </c:pt>
              </c:strCache>
            </c:strRef>
          </c:cat>
          <c:val>
            <c:numRef>
              <c:f>Sheet1!$I$2:$I$7</c:f>
              <c:numCache>
                <c:formatCode>General</c:formatCode>
                <c:ptCount val="6"/>
                <c:pt idx="0">
                  <c:v>6.0</c:v>
                </c:pt>
                <c:pt idx="1">
                  <c:v>7.0</c:v>
                </c:pt>
                <c:pt idx="2">
                  <c:v>6.0</c:v>
                </c:pt>
                <c:pt idx="3">
                  <c:v>7.0</c:v>
                </c:pt>
                <c:pt idx="4">
                  <c:v>8.0</c:v>
                </c:pt>
                <c:pt idx="5">
                  <c:v>8.0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Sheet1!$J$1</c:f>
              <c:strCache>
                <c:ptCount val="1"/>
                <c:pt idx="0">
                  <c:v>Điện, khí đốt</c:v>
                </c:pt>
              </c:strCache>
            </c:strRef>
          </c:tx>
          <c:spPr>
            <a:ln w="19050" cap="rnd">
              <a:solidFill>
                <a:srgbClr val="C9CCD2"/>
              </a:solidFill>
              <a:round/>
            </a:ln>
          </c:spPr>
          <c:marker>
            <c:symbol val="circle"/>
            <c:size val="5"/>
            <c:spPr>
              <a:solidFill>
                <a:srgbClr val="C9CCD2"/>
              </a:solidFill>
              <a:ln w="9525" cap="rnd">
                <a:solidFill>
                  <a:srgbClr val="FFFFFF"/>
                </a:solidFill>
                <a:round/>
              </a:ln>
            </c:spPr>
          </c:marker>
          <c:dLbls>
            <c:dLbl>
              <c:idx val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00" b="0" i="0" baseline="0">
                      <a:solidFill>
                        <a:srgbClr val="5B6170"/>
                      </a:solidFill>
                      <a:latin typeface="IBM Plex Sans"/>
                      <a:ea typeface="IBM Plex Sans"/>
                      <a:cs typeface="IBM Plex Sans"/>
                    </a:defRPr>
                  </a:pPr>
                  <a:endParaRPr lang="vi-VN"/>
                </a:p>
              </c:txPr>
              <c:dLblPos val="l"/>
              <c:showLegendKey val="0"/>
              <c:showVal val="0"/>
              <c:showCatName val="0"/>
              <c:showSerName val="1"/>
              <c:showPercent val="0"/>
              <c:showBubbleSize val="0"/>
              <c:separator> </c:separator>
            </c:dLbl>
            <c:dLbl>
              <c:idx val="5"/>
              <c:tx>
                <c:rich>
                  <a:bodyPr wrap="none" anchor="ctr"/>
                  <a:lstStyle/>
                  <a:p>
                    <a:pPr>
                      <a:defRPr lang="vi-VN" sz="1000" b="0" i="0" baseline="0">
                        <a:solidFill>
                          <a:srgbClr val="5B6170"/>
                        </a:solidFill>
                        <a:latin typeface="IBM Plex Sans"/>
                        <a:ea typeface="IBM Plex Sans"/>
                        <a:cs typeface="IBM Plex Sans"/>
                      </a:defRPr>
                    </a:pPr>
                    <a:r>
                      <a:rPr lang="vi-VN" sz="1000" b="0" i="0" baseline="0">
                        <a:solidFill>
                          <a:srgbClr val="5B6170"/>
                        </a:solidFill>
                        <a:latin typeface="IBM Plex Sans"/>
                        <a:ea typeface="IBM Plex Sans"/>
                        <a:cs typeface="IBM Plex Sans"/>
                      </a:rPr>
                      <a:t>Điện, khí đốt 4,4%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00" b="0" i="0" baseline="0">
                      <a:solidFill>
                        <a:srgbClr val="5B6170"/>
                      </a:solidFill>
                      <a:latin typeface="IBM Plex Sans"/>
                      <a:ea typeface="IBM Plex Sans"/>
                      <a:cs typeface="IBM Plex Sans"/>
                    </a:defRPr>
                  </a:pPr>
                  <a:endParaRPr lang="vi-VN"/>
                </a:p>
              </c:txPr>
              <c:dLblPos val="r"/>
              <c:showLegendKey val="0"/>
              <c:showVal val="0"/>
              <c:showCatName val="0"/>
              <c:showSerName val="1"/>
              <c:showPercent val="0"/>
              <c:showBubbleSize val="0"/>
              <c:separator> </c:separator>
            </c:dLbl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1000" b="0" i="0" baseline="0">
                    <a:solidFill>
                      <a:srgbClr val="5B6170"/>
                    </a:solidFill>
                    <a:latin typeface="IBM Plex Sans"/>
                    <a:ea typeface="IBM Plex Sans"/>
                    <a:cs typeface="IBM Plex Sans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2013</c:v>
                </c:pt>
                <c:pt idx="2">
                  <c:v>2016</c:v>
                </c:pt>
                <c:pt idx="3">
                  <c:v>2019</c:v>
                </c:pt>
                <c:pt idx="4">
                  <c:v>2022</c:v>
                </c:pt>
                <c:pt idx="5">
                  <c:v>2025</c:v>
                </c:pt>
              </c:strCache>
            </c:strRef>
          </c:cat>
          <c:val>
            <c:numRef>
              <c:f>Sheet1!$J$2:$J$7</c:f>
              <c:numCache>
                <c:formatCode>General</c:formatCode>
                <c:ptCount val="6"/>
                <c:pt idx="0">
                  <c:v>9.0</c:v>
                </c:pt>
                <c:pt idx="1">
                  <c:v>9.0</c:v>
                </c:pt>
                <c:pt idx="2">
                  <c:v>9.0</c:v>
                </c:pt>
                <c:pt idx="3">
                  <c:v>8.0</c:v>
                </c:pt>
                <c:pt idx="4">
                  <c:v>7.0</c:v>
                </c:pt>
                <c:pt idx="5">
                  <c:v>7.0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Sheet1!$B$1</c:f>
              <c:strCache>
                <c:ptCount val="1"/>
                <c:pt idx="0">
                  <c:v>Chế biến, chế tạo</c:v>
                </c:pt>
              </c:strCache>
            </c:strRef>
          </c:tx>
          <c:spPr>
            <a:ln w="28575" cap="rnd">
              <a:solidFill>
                <a:srgbClr val="2A78D6"/>
              </a:solidFill>
              <a:round/>
            </a:ln>
          </c:spPr>
          <c:marker>
            <c:symbol val="circle"/>
            <c:size val="6"/>
            <c:spPr>
              <a:solidFill>
                <a:srgbClr val="2A78D6"/>
              </a:solidFill>
              <a:ln w="9525" cap="rnd">
                <a:solidFill>
                  <a:srgbClr val="FFFFFF"/>
                </a:solidFill>
                <a:round/>
              </a:ln>
            </c:spPr>
          </c:marker>
          <c:dLbls>
            <c:dLbl>
              <c:idx val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0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l"/>
              <c:showLegendKey val="0"/>
              <c:showVal val="0"/>
              <c:showCatName val="0"/>
              <c:showSerName val="1"/>
              <c:showPercent val="0"/>
              <c:showBubbleSize val="0"/>
              <c:separator> </c:separator>
            </c:dLbl>
            <c:dLbl>
              <c:idx val="5"/>
              <c:tx>
                <c:rich>
                  <a:bodyPr wrap="none" anchor="ctr"/>
                  <a:lstStyle/>
                  <a:p>
                    <a:pPr>
                      <a:defRPr lang="vi-VN" sz="100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100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Chế biến, chế tạo 24,5%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0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r"/>
              <c:showLegendKey val="0"/>
              <c:showVal val="0"/>
              <c:showCatName val="0"/>
              <c:showSerName val="1"/>
              <c:showPercent val="0"/>
              <c:showBubbleSize val="0"/>
              <c:separator> </c:separator>
            </c:dLbl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1000" b="0" i="0" baseline="0">
                    <a:solidFill>
                      <a:srgbClr val="16181D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2013</c:v>
                </c:pt>
                <c:pt idx="2">
                  <c:v>2016</c:v>
                </c:pt>
                <c:pt idx="3">
                  <c:v>2019</c:v>
                </c:pt>
                <c:pt idx="4">
                  <c:v>2022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</c:numCache>
            </c:numRef>
          </c:val>
          <c:smooth val="0"/>
        </c:ser>
        <c:ser>
          <c:idx val="8"/>
          <c:order val="8"/>
          <c:tx>
            <c:strRef>
              <c:f>Sheet1!$E$1</c:f>
              <c:strCache>
                <c:ptCount val="1"/>
                <c:pt idx="0">
                  <c:v>Khai khoáng</c:v>
                </c:pt>
              </c:strCache>
            </c:strRef>
          </c:tx>
          <c:spPr>
            <a:ln w="28575" cap="rnd">
              <a:solidFill>
                <a:srgbClr val="EB6834"/>
              </a:solidFill>
              <a:round/>
            </a:ln>
          </c:spPr>
          <c:marker>
            <c:symbol val="circle"/>
            <c:size val="6"/>
            <c:spPr>
              <a:solidFill>
                <a:srgbClr val="EB6834"/>
              </a:solidFill>
              <a:ln w="9525" cap="rnd">
                <a:solidFill>
                  <a:srgbClr val="FFFFFF"/>
                </a:solidFill>
                <a:round/>
              </a:ln>
            </c:spPr>
          </c:marker>
          <c:dLbls>
            <c:dLbl>
              <c:idx val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0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l"/>
              <c:showLegendKey val="0"/>
              <c:showVal val="0"/>
              <c:showCatName val="0"/>
              <c:showSerName val="1"/>
              <c:showPercent val="0"/>
              <c:showBubbleSize val="0"/>
              <c:separator> </c:separator>
            </c:dLbl>
            <c:dLbl>
              <c:idx val="5"/>
              <c:tx>
                <c:rich>
                  <a:bodyPr wrap="none" anchor="ctr"/>
                  <a:lstStyle/>
                  <a:p>
                    <a:pPr>
                      <a:defRPr lang="vi-VN" sz="100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100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Khai khoáng 2,1%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0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r"/>
              <c:showLegendKey val="0"/>
              <c:showVal val="0"/>
              <c:showCatName val="0"/>
              <c:showSerName val="1"/>
              <c:showPercent val="0"/>
              <c:showBubbleSize val="0"/>
              <c:separator> </c:separator>
            </c:dLbl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1000" b="0" i="0" baseline="0">
                    <a:solidFill>
                      <a:srgbClr val="16181D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2013</c:v>
                </c:pt>
                <c:pt idx="2">
                  <c:v>2016</c:v>
                </c:pt>
                <c:pt idx="3">
                  <c:v>2019</c:v>
                </c:pt>
                <c:pt idx="4">
                  <c:v>2022</c:v>
                </c:pt>
                <c:pt idx="5">
                  <c:v>2025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4.0</c:v>
                </c:pt>
                <c:pt idx="1">
                  <c:v>4.0</c:v>
                </c:pt>
                <c:pt idx="2">
                  <c:v>8.0</c:v>
                </c:pt>
                <c:pt idx="3">
                  <c:v>9.0</c:v>
                </c:pt>
                <c:pt idx="4">
                  <c:v>9.0</c:v>
                </c:pt>
                <c:pt idx="5">
                  <c:v>9.0</c:v>
                </c:pt>
              </c:numCache>
            </c:numRef>
          </c:val>
          <c:smooth val="0"/>
        </c:ser>
        <c:marker val="1"/>
        <c:axId val="1"/>
        <c:axId val="2"/>
      </c:line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high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axMin"/>
          <c:max val="9.5"/>
          <c:min val="0.5"/>
        </c:scaling>
        <c:delete val="1"/>
        <c:axPos val="l"/>
        <c:numFmt formatCode="[$-42A]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midCat"/>
        <c:majorUnit val="1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29958"/>
          <c:y val="0.08454"/>
          <c:w val="0.62949"/>
          <c:h val="0.9051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Tiền vào (ròng, tỷ USD)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dLbls>
            <c:numFmt formatCode="[$-42A]+#,##0.0;&quot;−&quot;#,##0.0;#,##0.0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1000" b="0" i="0" baseline="0">
                    <a:solidFill>
                      <a:srgbClr val="16181D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Hàng hoá (ròng)</c:v>
                </c:pt>
                <c:pt idx="1">
                  <c:v>FDI (ròng)</c:v>
                </c:pt>
                <c:pt idx="2">
                  <c:v>Thu nhập thứ cấp (ròng)</c:v>
                </c:pt>
                <c:pt idx="3">
                  <c:v>Đầu tư gián tiếp (ròng)</c:v>
                </c:pt>
                <c:pt idx="4">
                  <c:v>Dịch vụ (ròng)</c:v>
                </c:pt>
                <c:pt idx="5">
                  <c:v>Thu nhập sơ cấp (ròng)</c:v>
                </c:pt>
                <c:pt idx="6">
                  <c:v>Đầu tư khác (ròng)</c:v>
                </c:pt>
                <c:pt idx="7">
                  <c:v>Lỗi và sai sót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41.89300000000003</c:v>
                </c:pt>
                <c:pt idx="1">
                  <c:v>21.29</c:v>
                </c:pt>
                <c:pt idx="2">
                  <c:v>15.870999999999999</c:v>
                </c:pt>
              </c:numCache>
            </c:numRef>
          </c:val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Tiền ra (ròng, tỷ USD)</c:v>
                </c:pt>
              </c:strCache>
            </c:strRef>
          </c:tx>
          <c:spPr>
            <a:solidFill>
              <a:srgbClr val="E34948"/>
            </a:solidFill>
          </c:spPr>
          <c:invertIfNegative val="0"/>
          <c:dLbls>
            <c:numFmt formatCode="[$-42A]+#,##0.0;&quot;−&quot;#,##0.0;#,##0.0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1000" b="0" i="0" baseline="0">
                    <a:solidFill>
                      <a:srgbClr val="16181D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Hàng hoá (ròng)</c:v>
                </c:pt>
                <c:pt idx="1">
                  <c:v>FDI (ròng)</c:v>
                </c:pt>
                <c:pt idx="2">
                  <c:v>Thu nhập thứ cấp (ròng)</c:v>
                </c:pt>
                <c:pt idx="3">
                  <c:v>Đầu tư gián tiếp (ròng)</c:v>
                </c:pt>
                <c:pt idx="4">
                  <c:v>Dịch vụ (ròng)</c:v>
                </c:pt>
                <c:pt idx="5">
                  <c:v>Thu nhập sơ cấp (ròng)</c:v>
                </c:pt>
                <c:pt idx="6">
                  <c:v>Đầu tư khác (ròng)</c:v>
                </c:pt>
                <c:pt idx="7">
                  <c:v>Lỗi và sai sót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3">
                  <c:v>-4.931</c:v>
                </c:pt>
                <c:pt idx="4">
                  <c:v>-10.23</c:v>
                </c:pt>
                <c:pt idx="5">
                  <c:v>-14.399</c:v>
                </c:pt>
                <c:pt idx="6">
                  <c:v>-19.769</c:v>
                </c:pt>
                <c:pt idx="7">
                  <c:v>-25.863</c:v>
                </c:pt>
              </c:numCache>
            </c:numRef>
          </c:val>
        </c:ser>
        <c:gapWidth val="79"/>
        <c:overlap val="100"/>
        <c:axId val="1"/>
        <c:axId val="2"/>
      </c:barChart>
      <c:catAx>
        <c:axId val="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noFill/>
          <a:ln w="12700" cap="flat">
            <a:solidFill>
              <a:srgbClr val="5B6170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50" b="0" i="0" baseline="0">
                <a:solidFill>
                  <a:srgbClr val="16181D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60"/>
          <c:min val="-40"/>
        </c:scaling>
        <c:delete val="1"/>
        <c:axPos val="b"/>
        <c:numFmt formatCode="[$-42A]#,##0;&quot;−&quot;#,##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max"/>
        <c:crossBetween val="between"/>
        <c:majorUnit val="2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20720"/>
          <c:y val="0.19606"/>
          <c:w val="0.78044"/>
          <c:h val="0.7045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Sheet1!$E$1</c:f>
              <c:strCache>
                <c:ptCount val="1"/>
                <c:pt idx="0">
                  <c:v>Biến ở mức thấp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dLbls>
            <c:numFmt formatCode="[$-42A]+#,##0.00;&quot;−&quot;#,##0.00;#,##0.00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950" b="0" i="0" baseline="0">
                    <a:solidFill>
                      <a:srgbClr val="5B6170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VN-Index, lợi suất 12 tháng</c:v>
                </c:pt>
                <c:pt idx="1">
                  <c:v>NHNN thay đổi lãi suất điều hành</c:v>
                </c:pt>
                <c:pt idx="2">
                  <c:v>Tỷ giá trung tâm, thay đổi 12 tháng</c:v>
                </c:pt>
                <c:pt idx="3">
                  <c:v>Chênh lệch vàng SJC – thế giới</c:v>
                </c:pt>
                <c:pt idx="4">
                  <c:v>Đà tăng giá căn hộ Hà Nội</c:v>
                </c:pt>
                <c:pt idx="5">
                  <c:v>Lạm phát CPI (y/y)</c:v>
                </c:pt>
                <c:pt idx="6">
                  <c:v>Tín dụng khác tăng thêm</c:v>
                </c:pt>
                <c:pt idx="7">
                  <c:v>Cán cân thương mại hàng hoá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-0.40859999999999985</c:v>
                </c:pt>
                <c:pt idx="1">
                  <c:v>-0.2809999999999997</c:v>
                </c:pt>
                <c:pt idx="2">
                  <c:v>-0.17499999999999982</c:v>
                </c:pt>
                <c:pt idx="3">
                  <c:v>-0.1913999999999998</c:v>
                </c:pt>
                <c:pt idx="4">
                  <c:v>-0.16999999999999993</c:v>
                </c:pt>
                <c:pt idx="5">
                  <c:v>-0.15799999999999947</c:v>
                </c:pt>
                <c:pt idx="6">
                  <c:v>-0.14239999999999942</c:v>
                </c:pt>
                <c:pt idx="7">
                  <c:v>0.09520000000000017</c:v>
                </c:pt>
              </c:numCache>
            </c:numRef>
          </c:val>
        </c:ser>
        <c:ser>
          <c:idx val="1"/>
          <c:order val="1"/>
          <c:tx>
            <c:strRef>
              <c:f>Sheet1!$F$1</c:f>
              <c:strCache>
                <c:ptCount val="1"/>
                <c:pt idx="0">
                  <c:v>Biến ở mức cao</c:v>
                </c:pt>
              </c:strCache>
            </c:strRef>
          </c:tx>
          <c:spPr>
            <a:solidFill>
              <a:srgbClr val="EB6834"/>
            </a:solidFill>
          </c:spPr>
          <c:invertIfNegative val="0"/>
          <c:dLbls>
            <c:numFmt formatCode="[$-42A]+#,##0.00;&quot;−&quot;#,##0.00;#,##0.00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950" b="0" i="0" baseline="0">
                    <a:solidFill>
                      <a:srgbClr val="5B6170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VN-Index, lợi suất 12 tháng</c:v>
                </c:pt>
                <c:pt idx="1">
                  <c:v>NHNN thay đổi lãi suất điều hành</c:v>
                </c:pt>
                <c:pt idx="2">
                  <c:v>Tỷ giá trung tâm, thay đổi 12 tháng</c:v>
                </c:pt>
                <c:pt idx="3">
                  <c:v>Chênh lệch vàng SJC – thế giới</c:v>
                </c:pt>
                <c:pt idx="4">
                  <c:v>Đà tăng giá căn hộ Hà Nội</c:v>
                </c:pt>
                <c:pt idx="5">
                  <c:v>Lạm phát CPI (y/y)</c:v>
                </c:pt>
                <c:pt idx="6">
                  <c:v>Tín dụng khác tăng thêm</c:v>
                </c:pt>
                <c:pt idx="7">
                  <c:v>Cán cân thương mại hàng hoá</c:v>
                </c:pt>
              </c:strCache>
            </c:strRef>
          </c:cat>
          <c:val>
            <c:numRef>
              <c:f>Sheet1!$F$2:$F$9</c:f>
              <c:numCache>
                <c:formatCode>General</c:formatCode>
                <c:ptCount val="8"/>
                <c:pt idx="0">
                  <c:v>0.5190000000000001</c:v>
                </c:pt>
                <c:pt idx="1">
                  <c:v>0.2810000000000006</c:v>
                </c:pt>
                <c:pt idx="2">
                  <c:v>0.3250000000000002</c:v>
                </c:pt>
                <c:pt idx="3">
                  <c:v>0.23360000000000003</c:v>
                </c:pt>
                <c:pt idx="4">
                  <c:v>0.1800000000000006</c:v>
                </c:pt>
                <c:pt idx="5">
                  <c:v>0.14200000000000035</c:v>
                </c:pt>
                <c:pt idx="6">
                  <c:v>0.1424000000000003</c:v>
                </c:pt>
                <c:pt idx="7">
                  <c:v>-0.12139999999999951</c:v>
                </c:pt>
              </c:numCache>
            </c:numRef>
          </c:val>
        </c:ser>
        <c:gapWidth val="66"/>
        <c:overlap val="100"/>
        <c:axId val="1"/>
        <c:axId val="2"/>
      </c:barChart>
      <c:catAx>
        <c:axId val="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noFill/>
          <a:ln w="1587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50" b="0" i="0" baseline="0">
                <a:solidFill>
                  <a:srgbClr val="16181D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0.75"/>
          <c:min val="-0.75"/>
        </c:scaling>
        <c:delete val="0"/>
        <c:axPos val="b"/>
        <c:majorGridlines>
          <c:spPr>
            <a:ln w="6350" cap="flat">
              <a:solidFill>
                <a:srgbClr val="E1E0D9"/>
              </a:solidFill>
              <a:round/>
            </a:ln>
          </c:spPr>
        </c:majorGridlines>
        <c:numFmt formatCode="[$-42A]+#,##0.00;&quot;−&quot;#,##0.00;#,##0.0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max"/>
        <c:crossBetween val="between"/>
        <c:majorUnit val="0.25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4213"/>
          <c:y val="0.19343"/>
          <c:w val="0.94963"/>
          <c:h val="0.7149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 thường xuyên</c:v>
                </c:pt>
              </c:strCache>
            </c:strRef>
          </c:tx>
          <c:spPr>
            <a:solidFill>
              <a:srgbClr val="2A78D6"/>
            </a:solidFill>
            <a:ln w="12700" cap="flat">
              <a:solidFill>
                <a:srgbClr val="FFFFFF"/>
              </a:solidFill>
              <a:round/>
            </a:ln>
          </c:spPr>
          <c:invertIfNegative val="0"/>
          <c:dPt>
            <c:idx val="7"/>
            <c:invertIfNegative val="0"/>
            <c:spPr>
              <a:solidFill>
                <a:srgbClr val="D0E1F6"/>
              </a:solidFill>
              <a:ln w="12700" cap="rnd">
                <a:solidFill>
                  <a:srgbClr val="2A78D6"/>
                </a:solidFill>
                <a:prstDash val="sysDash"/>
                <a:round/>
              </a:ln>
            </c:spPr>
          </c:dPt>
          <c:dPt>
            <c:idx val="8"/>
            <c:invertIfNegative val="0"/>
            <c:spPr>
              <a:solidFill>
                <a:srgbClr val="D0E1F6"/>
              </a:solidFill>
              <a:ln w="12700" cap="rnd">
                <a:solidFill>
                  <a:srgbClr val="2A78D6"/>
                </a:solidFill>
                <a:prstDash val="sysDash"/>
                <a:round/>
              </a:ln>
            </c:spPr>
          </c:dPt>
          <c:cat>
            <c:strRef>
              <c:f>Sheet1!$A$2:$A$10</c:f>
              <c:strCach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 ƯT</c:v>
                </c:pt>
                <c:pt idx="8">
                  <c:v>2026 DT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931.859</c:v>
                </c:pt>
                <c:pt idx="1">
                  <c:v>994.582</c:v>
                </c:pt>
                <c:pt idx="2">
                  <c:v>1013.449</c:v>
                </c:pt>
                <c:pt idx="3">
                  <c:v>1061.316</c:v>
                </c:pt>
                <c:pt idx="4">
                  <c:v>1034.25</c:v>
                </c:pt>
                <c:pt idx="5">
                  <c:v>1117.207</c:v>
                </c:pt>
                <c:pt idx="6">
                  <c:v>1320.495</c:v>
                </c:pt>
                <c:pt idx="7">
                  <c:v>1553.0</c:v>
                </c:pt>
                <c:pt idx="8">
                  <c:v>1808.996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Đầu tư phát triển</c:v>
                </c:pt>
              </c:strCache>
            </c:strRef>
          </c:tx>
          <c:spPr>
            <a:solidFill>
              <a:srgbClr val="EB6834"/>
            </a:solidFill>
            <a:ln w="12700" cap="flat">
              <a:solidFill>
                <a:srgbClr val="FFFFFF"/>
              </a:solidFill>
              <a:round/>
            </a:ln>
          </c:spPr>
          <c:invertIfNegative val="0"/>
          <c:dPt>
            <c:idx val="7"/>
            <c:invertIfNegative val="0"/>
            <c:spPr>
              <a:solidFill>
                <a:srgbClr val="FBDED2"/>
              </a:solidFill>
              <a:ln w="12700" cap="rnd">
                <a:solidFill>
                  <a:srgbClr val="EB6834"/>
                </a:solidFill>
                <a:prstDash val="sysDash"/>
                <a:round/>
              </a:ln>
            </c:spPr>
          </c:dPt>
          <c:dPt>
            <c:idx val="8"/>
            <c:invertIfNegative val="0"/>
            <c:spPr>
              <a:solidFill>
                <a:srgbClr val="FBDED2"/>
              </a:solidFill>
              <a:ln w="12700" cap="rnd">
                <a:solidFill>
                  <a:srgbClr val="EB6834"/>
                </a:solidFill>
                <a:prstDash val="sysDash"/>
                <a:round/>
              </a:ln>
            </c:spPr>
          </c:dPt>
          <c:cat>
            <c:strRef>
              <c:f>Sheet1!$A$2:$A$10</c:f>
              <c:strCach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 ƯT</c:v>
                </c:pt>
                <c:pt idx="8">
                  <c:v>2026 DT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393.304</c:v>
                </c:pt>
                <c:pt idx="1">
                  <c:v>421.845</c:v>
                </c:pt>
                <c:pt idx="2">
                  <c:v>576.432</c:v>
                </c:pt>
                <c:pt idx="3">
                  <c:v>540.046</c:v>
                </c:pt>
                <c:pt idx="4">
                  <c:v>615.64</c:v>
                </c:pt>
                <c:pt idx="5">
                  <c:v>723.839</c:v>
                </c:pt>
                <c:pt idx="6">
                  <c:v>720.862</c:v>
                </c:pt>
                <c:pt idx="7">
                  <c:v>732.0</c:v>
                </c:pt>
                <c:pt idx="8">
                  <c:v>1120.227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Trả lãi</c:v>
                </c:pt>
              </c:strCache>
            </c:strRef>
          </c:tx>
          <c:spPr>
            <a:solidFill>
              <a:srgbClr val="1BAF7A"/>
            </a:solidFill>
            <a:ln w="12700" cap="flat">
              <a:solidFill>
                <a:srgbClr val="FFFFFF"/>
              </a:solidFill>
              <a:round/>
            </a:ln>
          </c:spPr>
          <c:invertIfNegative val="0"/>
          <c:dPt>
            <c:idx val="7"/>
            <c:invertIfNegative val="0"/>
            <c:spPr>
              <a:solidFill>
                <a:srgbClr val="CDEDE2"/>
              </a:solidFill>
              <a:ln w="12700" cap="rnd">
                <a:solidFill>
                  <a:srgbClr val="1BAF7A"/>
                </a:solidFill>
                <a:prstDash val="sysDash"/>
                <a:round/>
              </a:ln>
            </c:spPr>
          </c:dPt>
          <c:dPt>
            <c:idx val="8"/>
            <c:invertIfNegative val="0"/>
            <c:spPr>
              <a:solidFill>
                <a:srgbClr val="CDEDE2"/>
              </a:solidFill>
              <a:ln w="12700" cap="rnd">
                <a:solidFill>
                  <a:srgbClr val="1BAF7A"/>
                </a:solidFill>
                <a:prstDash val="sysDash"/>
                <a:round/>
              </a:ln>
            </c:spPr>
          </c:dPt>
          <c:cat>
            <c:strRef>
              <c:f>Sheet1!$A$2:$A$10</c:f>
              <c:strCach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 ƯT</c:v>
                </c:pt>
                <c:pt idx="8">
                  <c:v>2026 DT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106.584</c:v>
                </c:pt>
                <c:pt idx="1">
                  <c:v>107.065</c:v>
                </c:pt>
                <c:pt idx="2">
                  <c:v>106.466</c:v>
                </c:pt>
                <c:pt idx="3">
                  <c:v>101.778</c:v>
                </c:pt>
                <c:pt idx="4">
                  <c:v>96.084</c:v>
                </c:pt>
                <c:pt idx="5">
                  <c:v>89.323</c:v>
                </c:pt>
                <c:pt idx="6">
                  <c:v>102.571</c:v>
                </c:pt>
                <c:pt idx="7">
                  <c:v>109.4</c:v>
                </c:pt>
                <c:pt idx="8">
                  <c:v>121.131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Khác</c:v>
                </c:pt>
              </c:strCache>
            </c:strRef>
          </c:tx>
          <c:spPr>
            <a:solidFill>
              <a:srgbClr val="C9CCD2"/>
            </a:solidFill>
            <a:ln w="12700" cap="flat">
              <a:solidFill>
                <a:srgbClr val="FFFFFF"/>
              </a:solidFill>
              <a:round/>
            </a:ln>
          </c:spPr>
          <c:invertIfNegative val="0"/>
          <c:dPt>
            <c:idx val="7"/>
            <c:invertIfNegative val="0"/>
            <c:spPr>
              <a:solidFill>
                <a:srgbClr val="F3F4F5"/>
              </a:solidFill>
              <a:ln w="12700" cap="rnd">
                <a:solidFill>
                  <a:srgbClr val="8A8F99"/>
                </a:solidFill>
                <a:prstDash val="sysDash"/>
                <a:round/>
              </a:ln>
            </c:spPr>
          </c:dPt>
          <c:dPt>
            <c:idx val="8"/>
            <c:invertIfNegative val="0"/>
            <c:spPr>
              <a:solidFill>
                <a:srgbClr val="F3F4F5"/>
              </a:solidFill>
              <a:ln w="12700" cap="rnd">
                <a:solidFill>
                  <a:srgbClr val="8A8F99"/>
                </a:solidFill>
                <a:prstDash val="sysDash"/>
                <a:round/>
              </a:ln>
            </c:spPr>
          </c:dPt>
          <c:cat>
            <c:strRef>
              <c:f>Sheet1!$A$2:$A$10</c:f>
              <c:strCach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 ƯT</c:v>
                </c:pt>
                <c:pt idx="8">
                  <c:v>2026 DT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3.688</c:v>
                </c:pt>
                <c:pt idx="1">
                  <c:v>3.401</c:v>
                </c:pt>
                <c:pt idx="2">
                  <c:v>13.177</c:v>
                </c:pt>
                <c:pt idx="3">
                  <c:v>4.948</c:v>
                </c:pt>
                <c:pt idx="4">
                  <c:v>4.816</c:v>
                </c:pt>
                <c:pt idx="5">
                  <c:v>6.543</c:v>
                </c:pt>
                <c:pt idx="6">
                  <c:v>4.549</c:v>
                </c:pt>
                <c:pt idx="7">
                  <c:v>7.1</c:v>
                </c:pt>
                <c:pt idx="8">
                  <c:v>108.752</c:v>
                </c:pt>
              </c:numCache>
            </c:numRef>
          </c:val>
        </c:ser>
        <c:gapWidth val="276"/>
        <c:overlap val="100"/>
        <c:axId val="1"/>
        <c:axId val="2"/>
      </c:barChart>
      <c:barChart>
        <c:barDir val="col"/>
        <c:grouping val="clustered"/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Tổng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numFmt formatCode="[$-42A]#,##0;&quot;−&quot;#,##0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950" b="0" i="0" baseline="0">
                    <a:solidFill>
                      <a:srgbClr val="5B6170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Sheet1!$A$2:$A$10</c:f>
              <c:strCach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 ƯT</c:v>
                </c:pt>
                <c:pt idx="8">
                  <c:v>2026 DT</c:v>
                </c:pt>
              </c:strCache>
            </c: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1435.435</c:v>
                </c:pt>
                <c:pt idx="1">
                  <c:v>1526.893</c:v>
                </c:pt>
                <c:pt idx="2">
                  <c:v>1709.524</c:v>
                </c:pt>
                <c:pt idx="3">
                  <c:v>1708.0880000000002</c:v>
                </c:pt>
                <c:pt idx="4">
                  <c:v>1750.79</c:v>
                </c:pt>
                <c:pt idx="5">
                  <c:v>1936.9120000000003</c:v>
                </c:pt>
                <c:pt idx="6">
                  <c:v>2148.477</c:v>
                </c:pt>
                <c:pt idx="7">
                  <c:v>2401.5</c:v>
                </c:pt>
                <c:pt idx="8">
                  <c:v>3159.106</c:v>
                </c:pt>
              </c:numCache>
            </c:numRef>
          </c:val>
        </c:ser>
        <c:gapWidth val="276"/>
        <c:overlap val="0"/>
        <c:axId val="3"/>
        <c:axId val="4"/>
      </c:bar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4000"/>
          <c:min val="0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round/>
            </a:ln>
          </c:spPr>
        </c:majorGridlines>
        <c:numFmt formatCode="[$-42A]#,##0;&quot;−&quot;#,##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  <c:majorUnit val="1000"/>
      </c:valAx>
      <c:catAx>
        <c:axId val="3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4"/>
        <c:crosses val="autoZero"/>
        <c:auto val="1"/>
        <c:lblAlgn val="ctr"/>
        <c:lblOffset val="60"/>
        <c:noMultiLvlLbl val="0"/>
      </c:catAx>
      <c:valAx>
        <c:axId val="4"/>
        <c:scaling>
          <c:orientation val="minMax"/>
          <c:max val="4000"/>
          <c:min val="0"/>
        </c:scaling>
        <c:delete val="1"/>
        <c:axPos val="r"/>
        <c:numFmt formatCode="[$-42A]#,##0;&quot;−&quot;#,##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3"/>
        <c:crosses val="max"/>
        <c:crossBetween val="between"/>
        <c:majorUnit val="100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4276"/>
          <c:y val="0.13255"/>
          <c:w val="0.94900"/>
          <c:h val="0.76804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Nhà nước</c:v>
                </c:pt>
              </c:strCache>
            </c:strRef>
          </c:tx>
          <c:spPr>
            <a:solidFill>
              <a:srgbClr val="EB6834"/>
            </a:solidFill>
            <a:ln w="12700" cap="flat">
              <a:solidFill>
                <a:srgbClr val="FFFFFF"/>
              </a:solidFill>
              <a:round/>
            </a:ln>
          </c:spPr>
          <c:invertIfNegative val="0"/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32%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30%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28%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26%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24%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26%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25%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26%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28%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28%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30%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[$-42A]#,##0&quot;%&quot;;&quot;−&quot;#,##0&quot;%&quot;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950" b="0" i="0" baseline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556380.0</c:v>
                </c:pt>
                <c:pt idx="1">
                  <c:v>587110.0</c:v>
                </c:pt>
                <c:pt idx="2">
                  <c:v>616459.0</c:v>
                </c:pt>
                <c:pt idx="3">
                  <c:v>630142.0</c:v>
                </c:pt>
                <c:pt idx="4">
                  <c:v>643094.0</c:v>
                </c:pt>
                <c:pt idx="5">
                  <c:v>734735.0</c:v>
                </c:pt>
                <c:pt idx="6">
                  <c:v>719293.0</c:v>
                </c:pt>
                <c:pt idx="7">
                  <c:v>832062.0</c:v>
                </c:pt>
                <c:pt idx="8">
                  <c:v>968187.0</c:v>
                </c:pt>
                <c:pt idx="9">
                  <c:v>1030281.0</c:v>
                </c:pt>
                <c:pt idx="10">
                  <c:v>1233578.0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Ngoài nhà nước</c:v>
                </c:pt>
              </c:strCache>
            </c:strRef>
          </c:tx>
          <c:spPr>
            <a:solidFill>
              <a:srgbClr val="2A78D6"/>
            </a:solidFill>
            <a:ln w="12700" cap="flat">
              <a:solidFill>
                <a:srgbClr val="FFFFFF"/>
              </a:solidFill>
              <a:round/>
            </a:ln>
          </c:spPr>
          <c:invertIfNegative val="0"/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50%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51%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54%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56%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58%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57%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59%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58%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56%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56%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54%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[$-42A]#,##0&quot;%&quot;;&quot;−&quot;#,##0&quot;%&quot;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950" b="0" i="0" baseline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881760.0</c:v>
                </c:pt>
                <c:pt idx="1">
                  <c:v>988651.0</c:v>
                </c:pt>
                <c:pt idx="2">
                  <c:v>1173901.0</c:v>
                </c:pt>
                <c:pt idx="3">
                  <c:v>1361156.0</c:v>
                </c:pt>
                <c:pt idx="4">
                  <c:v>1557937.0</c:v>
                </c:pt>
                <c:pt idx="5">
                  <c:v>1605050.0</c:v>
                </c:pt>
                <c:pt idx="6">
                  <c:v>1719354.0</c:v>
                </c:pt>
                <c:pt idx="7">
                  <c:v>1868642.0</c:v>
                </c:pt>
                <c:pt idx="8">
                  <c:v>1917451.0</c:v>
                </c:pt>
                <c:pt idx="9">
                  <c:v>2063810.0</c:v>
                </c:pt>
                <c:pt idx="10">
                  <c:v>2237087.0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FDI</c:v>
                </c:pt>
              </c:strCache>
            </c:strRef>
          </c:tx>
          <c:spPr>
            <a:solidFill>
              <a:srgbClr val="1BAF7A"/>
            </a:solidFill>
            <a:ln w="12700" cap="flat">
              <a:solidFill>
                <a:srgbClr val="FFFFFF"/>
              </a:solidFill>
              <a:round/>
            </a:ln>
          </c:spPr>
          <c:invertIfNegative val="0"/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18%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18%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18%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18%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18%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17%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16%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16%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16%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16%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16%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[$-42A]#,##0&quot;%&quot;;&quot;−&quot;#,##0&quot;%&quot;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950" b="0" i="0" baseline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318100.0</c:v>
                </c:pt>
                <c:pt idx="1">
                  <c:v>351103.0</c:v>
                </c:pt>
                <c:pt idx="2">
                  <c:v>396200.0</c:v>
                </c:pt>
                <c:pt idx="3">
                  <c:v>435102.0</c:v>
                </c:pt>
                <c:pt idx="4">
                  <c:v>469440.0</c:v>
                </c:pt>
                <c:pt idx="5">
                  <c:v>463280.0</c:v>
                </c:pt>
                <c:pt idx="6">
                  <c:v>458081.0</c:v>
                </c:pt>
                <c:pt idx="7">
                  <c:v>521975.0</c:v>
                </c:pt>
                <c:pt idx="8">
                  <c:v>550204.0</c:v>
                </c:pt>
                <c:pt idx="9">
                  <c:v>608621.0</c:v>
                </c:pt>
                <c:pt idx="10">
                  <c:v>679842.0</c:v>
                </c:pt>
              </c:numCache>
            </c:numRef>
          </c:val>
        </c:ser>
        <c:gapWidth val="207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round/>
            </a:ln>
          </c:spPr>
        </c:majorGridlines>
        <c:numFmt formatCode="[$-42A]0%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  <c:majorUnit val="0.25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10296"/>
          <c:y val="0.11125"/>
          <c:w val="0.84966"/>
          <c:h val="0.80192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Nông, lâm, thủy sản</c:v>
                </c:pt>
              </c:strCache>
            </c:strRef>
          </c:tx>
          <c:spPr>
            <a:solidFill>
              <a:srgbClr val="008300"/>
            </a:solidFill>
            <a:ln w="12700" cap="flat">
              <a:solidFill>
                <a:srgbClr val="FFFFFF"/>
              </a:solidFill>
              <a:round/>
            </a:ln>
          </c:spPr>
          <c:invertIfNegative val="0"/>
          <c:cat>
            <c:strRef>
              <c:f>Sheet1!$A$2:$A$9</c:f>
              <c:strCache>
                <c:ptCount val="8"/>
                <c:pt idx="0">
                  <c:v>TP. Hồ Chí Minh</c:v>
                </c:pt>
                <c:pt idx="1">
                  <c:v>Hà Nội</c:v>
                </c:pt>
                <c:pt idx="2">
                  <c:v>Hải Phòng</c:v>
                </c:pt>
                <c:pt idx="3">
                  <c:v>Đồng Nai</c:v>
                </c:pt>
                <c:pt idx="4">
                  <c:v>Bắc Ninh</c:v>
                </c:pt>
                <c:pt idx="5">
                  <c:v>Phú Thọ</c:v>
                </c:pt>
                <c:pt idx="6">
                  <c:v>Quảng Ninh</c:v>
                </c:pt>
                <c:pt idx="7">
                  <c:v>Ninh Bình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50.533112</c:v>
                </c:pt>
                <c:pt idx="1">
                  <c:v>29.537916</c:v>
                </c:pt>
                <c:pt idx="2">
                  <c:v>33.4206145</c:v>
                </c:pt>
                <c:pt idx="3">
                  <c:v>82.19748940000001</c:v>
                </c:pt>
                <c:pt idx="4">
                  <c:v>34.0419632</c:v>
                </c:pt>
                <c:pt idx="5">
                  <c:v>45.3778251</c:v>
                </c:pt>
                <c:pt idx="6">
                  <c:v>16.960521999999997</c:v>
                </c:pt>
                <c:pt idx="7">
                  <c:v>37.8428016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Công nghiệp, xây dựng</c:v>
                </c:pt>
              </c:strCache>
            </c:strRef>
          </c:tx>
          <c:spPr>
            <a:solidFill>
              <a:srgbClr val="EB6834"/>
            </a:solidFill>
            <a:ln w="12700" cap="flat">
              <a:solidFill>
                <a:srgbClr val="FFFFFF"/>
              </a:solidFill>
              <a:round/>
            </a:ln>
          </c:spPr>
          <c:invertIfNegative val="0"/>
          <c:cat>
            <c:strRef>
              <c:f>Sheet1!$A$2:$A$9</c:f>
              <c:strCache>
                <c:ptCount val="8"/>
                <c:pt idx="0">
                  <c:v>TP. Hồ Chí Minh</c:v>
                </c:pt>
                <c:pt idx="1">
                  <c:v>Hà Nội</c:v>
                </c:pt>
                <c:pt idx="2">
                  <c:v>Hải Phòng</c:v>
                </c:pt>
                <c:pt idx="3">
                  <c:v>Đồng Nai</c:v>
                </c:pt>
                <c:pt idx="4">
                  <c:v>Bắc Ninh</c:v>
                </c:pt>
                <c:pt idx="5">
                  <c:v>Phú Thọ</c:v>
                </c:pt>
                <c:pt idx="6">
                  <c:v>Quảng Ninh</c:v>
                </c:pt>
                <c:pt idx="7">
                  <c:v>Ninh Bình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1046.3326720000002</c:v>
                </c:pt>
                <c:pt idx="1">
                  <c:v>353.34335</c:v>
                </c:pt>
                <c:pt idx="2">
                  <c:v>396.3464524</c:v>
                </c:pt>
                <c:pt idx="3">
                  <c:v>372.49760860000004</c:v>
                </c:pt>
                <c:pt idx="4">
                  <c:v>371.38111079999993</c:v>
                </c:pt>
                <c:pt idx="5">
                  <c:v>201.2121182</c:v>
                </c:pt>
                <c:pt idx="6">
                  <c:v>170.342634</c:v>
                </c:pt>
                <c:pt idx="7">
                  <c:v>161.27751949999998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Dịch vụ</c:v>
                </c:pt>
              </c:strCache>
            </c:strRef>
          </c:tx>
          <c:spPr>
            <a:solidFill>
              <a:srgbClr val="2A78D6"/>
            </a:solidFill>
            <a:ln w="12700" cap="flat">
              <a:solidFill>
                <a:srgbClr val="FFFFFF"/>
              </a:solidFill>
              <a:round/>
            </a:ln>
          </c:spPr>
          <c:invertIfNegative val="0"/>
          <c:cat>
            <c:strRef>
              <c:f>Sheet1!$A$2:$A$9</c:f>
              <c:strCache>
                <c:ptCount val="8"/>
                <c:pt idx="0">
                  <c:v>TP. Hồ Chí Minh</c:v>
                </c:pt>
                <c:pt idx="1">
                  <c:v>Hà Nội</c:v>
                </c:pt>
                <c:pt idx="2">
                  <c:v>Hải Phòng</c:v>
                </c:pt>
                <c:pt idx="3">
                  <c:v>Đồng Nai</c:v>
                </c:pt>
                <c:pt idx="4">
                  <c:v>Bắc Ninh</c:v>
                </c:pt>
                <c:pt idx="5">
                  <c:v>Phú Thọ</c:v>
                </c:pt>
                <c:pt idx="6">
                  <c:v>Quảng Ninh</c:v>
                </c:pt>
                <c:pt idx="7">
                  <c:v>Ninh Bình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1551.6637920000003</c:v>
                </c:pt>
                <c:pt idx="1">
                  <c:v>1055.107064</c:v>
                </c:pt>
                <c:pt idx="2">
                  <c:v>258.55068800000004</c:v>
                </c:pt>
                <c:pt idx="3">
                  <c:v>179.03195960000002</c:v>
                </c:pt>
                <c:pt idx="4">
                  <c:v>101.34271559999999</c:v>
                </c:pt>
                <c:pt idx="5">
                  <c:v>116.3914424</c:v>
                </c:pt>
                <c:pt idx="6">
                  <c:v>139.37124599999999</c:v>
                </c:pt>
                <c:pt idx="7">
                  <c:v>117.8816981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Thuế sản phẩm</c:v>
                </c:pt>
              </c:strCache>
            </c:strRef>
          </c:tx>
          <c:spPr>
            <a:solidFill>
              <a:srgbClr val="EDA100"/>
            </a:solidFill>
            <a:ln w="12700" cap="flat">
              <a:solidFill>
                <a:srgbClr val="FFFFFF"/>
              </a:solidFill>
              <a:round/>
            </a:ln>
          </c:spPr>
          <c:invertIfNegative val="0"/>
          <c:cat>
            <c:strRef>
              <c:f>Sheet1!$A$2:$A$9</c:f>
              <c:strCache>
                <c:ptCount val="8"/>
                <c:pt idx="0">
                  <c:v>TP. Hồ Chí Minh</c:v>
                </c:pt>
                <c:pt idx="1">
                  <c:v>Hà Nội</c:v>
                </c:pt>
                <c:pt idx="2">
                  <c:v>Hải Phòng</c:v>
                </c:pt>
                <c:pt idx="3">
                  <c:v>Đồng Nai</c:v>
                </c:pt>
                <c:pt idx="4">
                  <c:v>Bắc Ninh</c:v>
                </c:pt>
                <c:pt idx="5">
                  <c:v>Phú Thọ</c:v>
                </c:pt>
                <c:pt idx="6">
                  <c:v>Quảng Ninh</c:v>
                </c:pt>
                <c:pt idx="7">
                  <c:v>Ninh Bình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324.006424</c:v>
                </c:pt>
                <c:pt idx="1">
                  <c:v>150.07166999999998</c:v>
                </c:pt>
                <c:pt idx="2">
                  <c:v>46.201245099999994</c:v>
                </c:pt>
                <c:pt idx="3">
                  <c:v>43.9109424</c:v>
                </c:pt>
                <c:pt idx="4">
                  <c:v>15.350210399999998</c:v>
                </c:pt>
                <c:pt idx="5">
                  <c:v>49.169614300000006</c:v>
                </c:pt>
                <c:pt idx="6">
                  <c:v>42.032598</c:v>
                </c:pt>
                <c:pt idx="7">
                  <c:v>25.776980799999997</c:v>
                </c:pt>
              </c:numCache>
            </c:numRef>
          </c:val>
        </c:ser>
        <c:gapWidth val="56"/>
        <c:overlap val="100"/>
        <c:axId val="1"/>
        <c:axId val="2"/>
      </c:barChart>
      <c:barChart>
        <c:barDir val="bar"/>
        <c:grouping val="clustered"/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Tổng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numFmt formatCode="[$-42A]#,##0;&quot;−&quot;#,##0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950" b="0" i="0" baseline="0">
                    <a:solidFill>
                      <a:srgbClr val="5B6170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TP. Hồ Chí Minh</c:v>
                </c:pt>
                <c:pt idx="1">
                  <c:v>Hà Nội</c:v>
                </c:pt>
                <c:pt idx="2">
                  <c:v>Hải Phòng</c:v>
                </c:pt>
                <c:pt idx="3">
                  <c:v>Đồng Nai</c:v>
                </c:pt>
                <c:pt idx="4">
                  <c:v>Bắc Ninh</c:v>
                </c:pt>
                <c:pt idx="5">
                  <c:v>Phú Thọ</c:v>
                </c:pt>
                <c:pt idx="6">
                  <c:v>Quảng Ninh</c:v>
                </c:pt>
                <c:pt idx="7">
                  <c:v>Ninh Bình</c:v>
                </c:pt>
              </c:strCache>
            </c:strRef>
          </c:cat>
          <c:val>
            <c:numRef>
              <c:f>Sheet1!$F$2:$F$9</c:f>
              <c:numCache>
                <c:formatCode>General</c:formatCode>
                <c:ptCount val="8"/>
                <c:pt idx="0">
                  <c:v>2972.5360000000005</c:v>
                </c:pt>
                <c:pt idx="1">
                  <c:v>1588.06</c:v>
                </c:pt>
                <c:pt idx="2">
                  <c:v>734.519</c:v>
                </c:pt>
                <c:pt idx="3">
                  <c:v>677.638</c:v>
                </c:pt>
                <c:pt idx="4">
                  <c:v>522.1159999999999</c:v>
                </c:pt>
                <c:pt idx="5">
                  <c:v>412.151</c:v>
                </c:pt>
                <c:pt idx="6">
                  <c:v>368.707</c:v>
                </c:pt>
                <c:pt idx="7">
                  <c:v>342.779</c:v>
                </c:pt>
              </c:numCache>
            </c:numRef>
          </c:val>
        </c:ser>
        <c:gapWidth val="56"/>
        <c:overlap val="0"/>
        <c:axId val="3"/>
        <c:axId val="4"/>
      </c:barChart>
      <c:catAx>
        <c:axId val="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50" b="0" i="0" baseline="0">
                <a:solidFill>
                  <a:srgbClr val="16181D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3000"/>
          <c:min val="0"/>
        </c:scaling>
        <c:delete val="0"/>
        <c:axPos val="b"/>
        <c:majorGridlines>
          <c:spPr>
            <a:ln w="6350" cap="flat">
              <a:solidFill>
                <a:srgbClr val="E1E0D9"/>
              </a:solidFill>
              <a:round/>
            </a:ln>
          </c:spPr>
        </c:majorGridlines>
        <c:numFmt formatCode="[$-42A]#,##0;&quot;−&quot;#,##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max"/>
        <c:crossBetween val="between"/>
        <c:majorUnit val="1000"/>
      </c:valAx>
      <c:catAx>
        <c:axId val="3"/>
        <c:scaling>
          <c:orientation val="maxMin"/>
        </c:scaling>
        <c:delete val="1"/>
        <c:axPos val="l"/>
        <c:majorTickMark val="none"/>
        <c:minorTickMark val="none"/>
        <c:tickLblPos val="nextTo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4"/>
        <c:crosses val="autoZero"/>
        <c:auto val="1"/>
        <c:lblAlgn val="ctr"/>
        <c:lblOffset val="60"/>
        <c:noMultiLvlLbl val="0"/>
      </c:catAx>
      <c:valAx>
        <c:axId val="4"/>
        <c:scaling>
          <c:orientation val="minMax"/>
          <c:max val="3000"/>
          <c:min val="0"/>
        </c:scaling>
        <c:delete val="1"/>
        <c:axPos val="t"/>
        <c:numFmt formatCode="[$-42A]#,##0;&quot;−&quot;#,##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3"/>
        <c:crosses val="max"/>
        <c:crossBetween val="between"/>
        <c:majorUnit val="100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10296"/>
          <c:y val="0.10435"/>
          <c:w val="0.88467"/>
          <c:h val="0.88292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Dịch vụ</c:v>
                </c:pt>
              </c:strCache>
            </c:strRef>
          </c:tx>
          <c:spPr>
            <a:solidFill>
              <a:srgbClr val="2A78D6"/>
            </a:solidFill>
            <a:ln w="12700" cap="flat">
              <a:solidFill>
                <a:srgbClr val="FFFFFF"/>
              </a:solidFill>
              <a:round/>
            </a:ln>
          </c:spPr>
          <c:invertIfNegative val="0"/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66%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52%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38%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35%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26%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30%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19%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40%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[$-42A]#,##0&quot;%&quot;;&quot;−&quot;#,##0&quot;%&quot;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950" b="0" i="0" baseline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Hà Nội</c:v>
                </c:pt>
                <c:pt idx="1">
                  <c:v>TP. Hồ Chí Minh</c:v>
                </c:pt>
                <c:pt idx="2">
                  <c:v>Quảng Ninh</c:v>
                </c:pt>
                <c:pt idx="3">
                  <c:v>Hải Phòng</c:v>
                </c:pt>
                <c:pt idx="4">
                  <c:v>Đồng Nai</c:v>
                </c:pt>
                <c:pt idx="5">
                  <c:v>Lai Châu</c:v>
                </c:pt>
                <c:pt idx="6">
                  <c:v>Bắc Ninh</c:v>
                </c:pt>
                <c:pt idx="7">
                  <c:v>Đắk Lắk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66.44</c:v>
                </c:pt>
                <c:pt idx="1">
                  <c:v>52.2</c:v>
                </c:pt>
                <c:pt idx="2">
                  <c:v>37.8</c:v>
                </c:pt>
                <c:pt idx="3">
                  <c:v>35.2</c:v>
                </c:pt>
                <c:pt idx="4">
                  <c:v>26.42</c:v>
                </c:pt>
                <c:pt idx="5">
                  <c:v>30.0</c:v>
                </c:pt>
                <c:pt idx="6">
                  <c:v>19.41</c:v>
                </c:pt>
                <c:pt idx="7">
                  <c:v>40.07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Công nghiệp, xây dựng</c:v>
                </c:pt>
              </c:strCache>
            </c:strRef>
          </c:tx>
          <c:spPr>
            <a:solidFill>
              <a:srgbClr val="EB6834"/>
            </a:solidFill>
            <a:ln w="12700" cap="flat">
              <a:solidFill>
                <a:srgbClr val="FFFFFF"/>
              </a:solidFill>
              <a:round/>
            </a:ln>
          </c:spPr>
          <c:invertIfNegative val="0"/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22%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35%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46%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54%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55%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54%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71%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18%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[$-42A]#,##0&quot;%&quot;;&quot;−&quot;#,##0&quot;%&quot;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950" b="0" i="0" baseline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Hà Nội</c:v>
                </c:pt>
                <c:pt idx="1">
                  <c:v>TP. Hồ Chí Minh</c:v>
                </c:pt>
                <c:pt idx="2">
                  <c:v>Quảng Ninh</c:v>
                </c:pt>
                <c:pt idx="3">
                  <c:v>Hải Phòng</c:v>
                </c:pt>
                <c:pt idx="4">
                  <c:v>Đồng Nai</c:v>
                </c:pt>
                <c:pt idx="5">
                  <c:v>Lai Châu</c:v>
                </c:pt>
                <c:pt idx="6">
                  <c:v>Bắc Ninh</c:v>
                </c:pt>
                <c:pt idx="7">
                  <c:v>Đắk Lắk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22.25</c:v>
                </c:pt>
                <c:pt idx="1">
                  <c:v>35.2</c:v>
                </c:pt>
                <c:pt idx="2">
                  <c:v>46.2</c:v>
                </c:pt>
                <c:pt idx="3">
                  <c:v>53.96</c:v>
                </c:pt>
                <c:pt idx="4">
                  <c:v>54.97</c:v>
                </c:pt>
                <c:pt idx="5">
                  <c:v>53.64</c:v>
                </c:pt>
                <c:pt idx="6">
                  <c:v>71.13</c:v>
                </c:pt>
                <c:pt idx="7">
                  <c:v>17.67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Nông, lâm, thủy sản</c:v>
                </c:pt>
              </c:strCache>
            </c:strRef>
          </c:tx>
          <c:spPr>
            <a:solidFill>
              <a:srgbClr val="008300"/>
            </a:solidFill>
            <a:ln w="12700" cap="flat">
              <a:solidFill>
                <a:srgbClr val="FFFFFF"/>
              </a:solidFill>
              <a:round/>
            </a:ln>
          </c:spPr>
          <c:invertIfNegative val="0"/>
          <c:dLbls>
            <c:dLbl>
              <c:idx val="2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5%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5%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12%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11%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7%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38%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[$-42A]#,##0&quot;%&quot;;&quot;−&quot;#,##0&quot;%&quot;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950" b="0" i="0" baseline="0">
                    <a:solidFill>
                      <a:srgbClr val="FFFFFF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Hà Nội</c:v>
                </c:pt>
                <c:pt idx="1">
                  <c:v>TP. Hồ Chí Minh</c:v>
                </c:pt>
                <c:pt idx="2">
                  <c:v>Quảng Ninh</c:v>
                </c:pt>
                <c:pt idx="3">
                  <c:v>Hải Phòng</c:v>
                </c:pt>
                <c:pt idx="4">
                  <c:v>Đồng Nai</c:v>
                </c:pt>
                <c:pt idx="5">
                  <c:v>Lai Châu</c:v>
                </c:pt>
                <c:pt idx="6">
                  <c:v>Bắc Ninh</c:v>
                </c:pt>
                <c:pt idx="7">
                  <c:v>Đắk Lắk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1.86</c:v>
                </c:pt>
                <c:pt idx="1">
                  <c:v>1.7</c:v>
                </c:pt>
                <c:pt idx="2">
                  <c:v>4.6</c:v>
                </c:pt>
                <c:pt idx="3">
                  <c:v>4.55</c:v>
                </c:pt>
                <c:pt idx="4">
                  <c:v>12.13</c:v>
                </c:pt>
                <c:pt idx="5">
                  <c:v>11.0</c:v>
                </c:pt>
                <c:pt idx="6">
                  <c:v>6.52</c:v>
                </c:pt>
                <c:pt idx="7">
                  <c:v>38.47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Thuế sản phẩm</c:v>
                </c:pt>
              </c:strCache>
            </c:strRef>
          </c:tx>
          <c:spPr>
            <a:solidFill>
              <a:srgbClr val="EDA100"/>
            </a:solidFill>
            <a:ln w="12700" cap="flat">
              <a:solidFill>
                <a:srgbClr val="FFFFFF"/>
              </a:solidFill>
              <a:round/>
            </a:ln>
          </c:spPr>
          <c:invertIfNegative val="0"/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9%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11%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11%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6%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6%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5%</a:t>
                    </a:r>
                  </a:p>
                </c:rich>
              </c:tx>
              <c:numFmt formatCode="[$-42A]#,##0&quot;%&quot;;&quot;−&quot;#,##0&quot;%&quot;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[$-42A]#,##0&quot;%&quot;;&quot;−&quot;#,##0&quot;%&quot;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950" b="0" i="0" baseline="0">
                    <a:solidFill>
                      <a:srgbClr val="16181D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Hà Nội</c:v>
                </c:pt>
                <c:pt idx="1">
                  <c:v>TP. Hồ Chí Minh</c:v>
                </c:pt>
                <c:pt idx="2">
                  <c:v>Quảng Ninh</c:v>
                </c:pt>
                <c:pt idx="3">
                  <c:v>Hải Phòng</c:v>
                </c:pt>
                <c:pt idx="4">
                  <c:v>Đồng Nai</c:v>
                </c:pt>
                <c:pt idx="5">
                  <c:v>Lai Châu</c:v>
                </c:pt>
                <c:pt idx="6">
                  <c:v>Bắc Ninh</c:v>
                </c:pt>
                <c:pt idx="7">
                  <c:v>Đắk Lắk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9.45</c:v>
                </c:pt>
                <c:pt idx="1">
                  <c:v>10.9</c:v>
                </c:pt>
                <c:pt idx="2">
                  <c:v>11.4</c:v>
                </c:pt>
                <c:pt idx="3">
                  <c:v>6.29</c:v>
                </c:pt>
                <c:pt idx="4">
                  <c:v>6.48</c:v>
                </c:pt>
                <c:pt idx="5">
                  <c:v>5.36</c:v>
                </c:pt>
                <c:pt idx="6">
                  <c:v>2.94</c:v>
                </c:pt>
                <c:pt idx="7">
                  <c:v>3.79</c:v>
                </c:pt>
              </c:numCache>
            </c:numRef>
          </c:val>
        </c:ser>
        <c:gapWidth val="56"/>
        <c:overlap val="100"/>
        <c:axId val="1"/>
        <c:axId val="2"/>
      </c:barChart>
      <c:catAx>
        <c:axId val="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50" b="0" i="0" baseline="0">
                <a:solidFill>
                  <a:srgbClr val="16181D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1"/>
          <c:min val="0"/>
        </c:scaling>
        <c:delete val="1"/>
        <c:axPos val="b"/>
        <c:numFmt formatCode="[$-42A]0%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max"/>
        <c:crossBetween val="between"/>
        <c:majorUnit val="0.25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4213"/>
          <c:y val="0.23841"/>
          <c:w val="0.94963"/>
          <c:h val="0.5744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Sheet1!$E$1</c:f>
              <c:strCache>
                <c:ptCount val="1"/>
                <c:pt idx="0">
                  <c:v>Nền (ẩn)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Chi 2025 (ước tính)</c:v>
                </c:pt>
                <c:pt idx="1">
                  <c:v>Chi thường xuyên</c:v>
                </c:pt>
                <c:pt idx="2">
                  <c:v>Đầu tư phát triển</c:v>
                </c:pt>
                <c:pt idx="3">
                  <c:v>Trả lãi</c:v>
                </c:pt>
                <c:pt idx="4">
                  <c:v>Khác</c:v>
                </c:pt>
                <c:pt idx="5">
                  <c:v>Chi 2026 (dự toán)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0.0</c:v>
                </c:pt>
                <c:pt idx="1">
                  <c:v>2401.5</c:v>
                </c:pt>
                <c:pt idx="2">
                  <c:v>2657.496</c:v>
                </c:pt>
                <c:pt idx="3">
                  <c:v>3045.723</c:v>
                </c:pt>
                <c:pt idx="4">
                  <c:v>3057.454</c:v>
                </c:pt>
                <c:pt idx="5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Sheet1!$H$1</c:f>
              <c:strCache>
                <c:ptCount val="1"/>
                <c:pt idx="0">
                  <c:v>Tổng</c:v>
                </c:pt>
              </c:strCache>
            </c:strRef>
          </c:tx>
          <c:spPr>
            <a:solidFill>
              <a:srgbClr val="16181D"/>
            </a:solidFill>
            <a:ln>
              <a:noFill/>
            </a:ln>
          </c:spPr>
          <c:invertIfNegative val="0"/>
          <c:dPt>
            <c:idx val="5"/>
            <c:invertIfNegative val="0"/>
            <c:spPr>
              <a:solidFill>
                <a:srgbClr val="D0D1D2"/>
              </a:solidFill>
              <a:ln w="12700" cap="rnd">
                <a:solidFill>
                  <a:srgbClr val="16181D"/>
                </a:solidFill>
                <a:prstDash val="sysDash"/>
                <a:round/>
              </a:ln>
            </c:spPr>
          </c:dPt>
          <c:cat>
            <c:strRef>
              <c:f>Sheet1!$A$2:$A$7</c:f>
              <c:strCache>
                <c:ptCount val="6"/>
                <c:pt idx="0">
                  <c:v>Chi 2025 (ước tính)</c:v>
                </c:pt>
                <c:pt idx="1">
                  <c:v>Chi thường xuyên</c:v>
                </c:pt>
                <c:pt idx="2">
                  <c:v>Đầu tư phát triển</c:v>
                </c:pt>
                <c:pt idx="3">
                  <c:v>Trả lãi</c:v>
                </c:pt>
                <c:pt idx="4">
                  <c:v>Khác</c:v>
                </c:pt>
                <c:pt idx="5">
                  <c:v>Chi 2026 (dự toán)</c:v>
                </c:pt>
              </c:strCache>
            </c:strRef>
          </c:cat>
          <c:val>
            <c:numRef>
              <c:f>Sheet1!$H$2:$H$7</c:f>
              <c:numCache>
                <c:formatCode>General</c:formatCode>
                <c:ptCount val="6"/>
                <c:pt idx="0">
                  <c:v>2401.5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3159.106</c:v>
                </c:pt>
              </c:numCache>
            </c:numRef>
          </c:val>
        </c:ser>
        <c:ser>
          <c:idx val="2"/>
          <c:order val="2"/>
          <c:tx>
            <c:strRef>
              <c:f>Sheet1!$F$1</c:f>
              <c:strCache>
                <c:ptCount val="1"/>
                <c:pt idx="0">
                  <c:v>Tăng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Chi 2025 (ước tính)</c:v>
                </c:pt>
                <c:pt idx="1">
                  <c:v>Chi thường xuyên</c:v>
                </c:pt>
                <c:pt idx="2">
                  <c:v>Đầu tư phát triển</c:v>
                </c:pt>
                <c:pt idx="3">
                  <c:v>Trả lãi</c:v>
                </c:pt>
                <c:pt idx="4">
                  <c:v>Khác</c:v>
                </c:pt>
                <c:pt idx="5">
                  <c:v>Chi 2026 (dự toán)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0.0</c:v>
                </c:pt>
                <c:pt idx="1">
                  <c:v>255.996</c:v>
                </c:pt>
                <c:pt idx="2">
                  <c:v>388.227</c:v>
                </c:pt>
                <c:pt idx="3">
                  <c:v>11.731</c:v>
                </c:pt>
                <c:pt idx="4">
                  <c:v>101.652</c:v>
                </c:pt>
                <c:pt idx="5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Sheet1!$G$1</c:f>
              <c:strCache>
                <c:ptCount val="1"/>
                <c:pt idx="0">
                  <c:v>Giảm</c:v>
                </c:pt>
              </c:strCache>
            </c:strRef>
          </c:tx>
          <c:spPr>
            <a:solidFill>
              <a:srgbClr val="E34948"/>
            </a:solidFill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Chi 2025 (ước tính)</c:v>
                </c:pt>
                <c:pt idx="1">
                  <c:v>Chi thường xuyên</c:v>
                </c:pt>
                <c:pt idx="2">
                  <c:v>Đầu tư phát triển</c:v>
                </c:pt>
                <c:pt idx="3">
                  <c:v>Trả lãi</c:v>
                </c:pt>
                <c:pt idx="4">
                  <c:v>Khác</c:v>
                </c:pt>
                <c:pt idx="5">
                  <c:v>Chi 2026 (dự toán)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</c:ser>
        <c:gapWidth val="351"/>
        <c:overlap val="100"/>
        <c:axId val="1"/>
        <c:axId val="2"/>
      </c:barChart>
      <c:barChart>
        <c:barDir val="col"/>
        <c:grouping val="clustered"/>
        <c:varyColors val="0"/>
        <c:ser>
          <c:idx val="4"/>
          <c:order val="4"/>
          <c:tx>
            <c:strRef>
              <c:f>Sheet1!$I$1</c:f>
              <c:strCache>
                <c:ptCount val="1"/>
                <c:pt idx="0">
                  <c:v>Đỉnh nhãn (ẩn)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lang="vi-VN" sz="100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100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2.402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0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lang="vi-VN" sz="1000" b="0" i="0" baseline="0">
                        <a:solidFill>
                          <a:srgbClr val="5B6170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1000" b="0" i="0" baseline="0">
                        <a:solidFill>
                          <a:srgbClr val="5B6170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+256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0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lang="vi-VN" sz="1000" b="0" i="0" baseline="0">
                        <a:solidFill>
                          <a:srgbClr val="5B6170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1000" b="0" i="0" baseline="0">
                        <a:solidFill>
                          <a:srgbClr val="5B6170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+388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0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lang="vi-VN" sz="1000" b="0" i="0" baseline="0">
                        <a:solidFill>
                          <a:srgbClr val="5B6170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1000" b="0" i="0" baseline="0">
                        <a:solidFill>
                          <a:srgbClr val="5B6170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+12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0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wrap="none" anchor="ctr"/>
                  <a:lstStyle/>
                  <a:p>
                    <a:pPr>
                      <a:defRPr lang="vi-VN" sz="1000" b="0" i="0" baseline="0">
                        <a:solidFill>
                          <a:srgbClr val="5B6170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1000" b="0" i="0" baseline="0">
                        <a:solidFill>
                          <a:srgbClr val="5B6170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+102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0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wrap="none" anchor="ctr"/>
                  <a:lstStyle/>
                  <a:p>
                    <a:pPr>
                      <a:defRPr lang="vi-VN" sz="100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100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3.159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0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1000" b="0" i="0" baseline="0">
                    <a:solidFill>
                      <a:srgbClr val="16181D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Chi 2025 (ước tính)</c:v>
                </c:pt>
                <c:pt idx="1">
                  <c:v>Chi thường xuyên</c:v>
                </c:pt>
                <c:pt idx="2">
                  <c:v>Đầu tư phát triển</c:v>
                </c:pt>
                <c:pt idx="3">
                  <c:v>Trả lãi</c:v>
                </c:pt>
                <c:pt idx="4">
                  <c:v>Khác</c:v>
                </c:pt>
                <c:pt idx="5">
                  <c:v>Chi 2026 (dự toán)</c:v>
                </c:pt>
              </c:strCache>
            </c:strRef>
          </c:cat>
          <c:val>
            <c:numRef>
              <c:f>Sheet1!$I$2:$I$7</c:f>
              <c:numCache>
                <c:formatCode>General</c:formatCode>
                <c:ptCount val="6"/>
                <c:pt idx="0">
                  <c:v>2401.5</c:v>
                </c:pt>
                <c:pt idx="1">
                  <c:v>2657.496</c:v>
                </c:pt>
                <c:pt idx="2">
                  <c:v>3045.723</c:v>
                </c:pt>
                <c:pt idx="3">
                  <c:v>3057.454</c:v>
                </c:pt>
                <c:pt idx="4">
                  <c:v>3159.106</c:v>
                </c:pt>
                <c:pt idx="5">
                  <c:v>3159.106</c:v>
                </c:pt>
              </c:numCache>
            </c:numRef>
          </c:val>
        </c:ser>
        <c:gapWidth val="351"/>
        <c:overlap val="0"/>
        <c:axId val="3"/>
        <c:axId val="4"/>
      </c:bar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4000"/>
          <c:min val="0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round/>
            </a:ln>
          </c:spPr>
        </c:majorGridlines>
        <c:numFmt formatCode="[$-42A]#,##0;&quot;−&quot;#,##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  <c:majorUnit val="1000"/>
      </c:valAx>
      <c:catAx>
        <c:axId val="3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4"/>
        <c:crosses val="autoZero"/>
        <c:auto val="1"/>
        <c:lblAlgn val="ctr"/>
        <c:lblOffset val="60"/>
        <c:noMultiLvlLbl val="0"/>
      </c:catAx>
      <c:valAx>
        <c:axId val="4"/>
        <c:scaling>
          <c:orientation val="minMax"/>
          <c:max val="4000"/>
          <c:min val="0"/>
        </c:scaling>
        <c:delete val="1"/>
        <c:axPos val="r"/>
        <c:numFmt formatCode="[$-42A]#,##0;&quot;−&quot;#,##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3"/>
        <c:crosses val="max"/>
        <c:crossBetween val="between"/>
        <c:majorUnit val="100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2713"/>
          <c:y val="0.02713"/>
          <c:w val="0.94573"/>
          <c:h val="0.9457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Giá trị</c:v>
                </c:pt>
              </c:strCache>
            </c:strRef>
          </c:tx>
          <c:spPr>
            <a:solidFill>
              <a:srgbClr val="2A78D6"/>
            </a:solidFill>
            <a:ln w="19050" cap="flat">
              <a:solidFill>
                <a:srgbClr val="FFFFFF"/>
              </a:solidFill>
              <a:round/>
            </a:ln>
          </c:spPr>
          <c:dPt>
            <c:idx val="0"/>
            <c:spPr>
              <a:solidFill>
                <a:srgbClr val="2A78D6"/>
              </a:solidFill>
              <a:ln w="19050" cap="rnd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EDA100"/>
              </a:solidFill>
              <a:ln w="19050" cap="rnd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solidFill>
                <a:srgbClr val="EB6834"/>
              </a:solidFill>
              <a:ln w="19050" cap="rnd">
                <a:solidFill>
                  <a:srgbClr val="FFFFFF"/>
                </a:solidFill>
                <a:round/>
              </a:ln>
            </c:spPr>
          </c:dPt>
          <c:dPt>
            <c:idx val="3"/>
            <c:spPr>
              <a:solidFill>
                <a:srgbClr val="1BAF7A"/>
              </a:solidFill>
              <a:ln w="19050" cap="rnd">
                <a:solidFill>
                  <a:srgbClr val="FFFFFF"/>
                </a:solidFill>
                <a:round/>
              </a:ln>
            </c:spPr>
          </c:dPt>
          <c:dLbls>
            <c:dLbl>
              <c:idx val="0"/>
              <c:numFmt formatCode="[$-42A]0%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[$-42A]0%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05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[$-42A]0%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1050" b="0" i="0" baseline="0">
                    <a:solidFill>
                      <a:srgbClr val="5B6170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Thu nội địa</c:v>
                </c:pt>
                <c:pt idx="1">
                  <c:v>Dầu thô</c:v>
                </c:pt>
                <c:pt idx="2">
                  <c:v>Xuất nhập khẩu</c:v>
                </c:pt>
                <c:pt idx="3">
                  <c:v>Viện trợ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1723.643</c:v>
                </c:pt>
                <c:pt idx="1">
                  <c:v>58.646</c:v>
                </c:pt>
                <c:pt idx="2">
                  <c:v>272.006</c:v>
                </c:pt>
                <c:pt idx="3">
                  <c:v>3.249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4276"/>
          <c:y val="0.12373"/>
          <c:w val="0.95312"/>
          <c:h val="0.68917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Dịch vụ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invertIfNegative val="0"/>
          <c:cat>
            <c:strRef>
              <c:f>Sheet1!$A$2:$A$210</c:f>
              <c:strCache>
                <c:ptCount val="20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</c:strCache>
            </c:strRef>
          </c:cat>
          <c:val>
            <c:numRef>
              <c:f>Sheet1!$B$2:$B$210</c:f>
              <c:numCache>
                <c:formatCode>General</c:formatCode>
                <c:ptCount val="209"/>
                <c:pt idx="0">
                  <c:v>52.2</c:v>
                </c:pt>
                <c:pt idx="1">
                  <c:v>52.2</c:v>
                </c:pt>
                <c:pt idx="2">
                  <c:v>52.2</c:v>
                </c:pt>
                <c:pt idx="3">
                  <c:v>52.2</c:v>
                </c:pt>
                <c:pt idx="4">
                  <c:v>52.2</c:v>
                </c:pt>
                <c:pt idx="5">
                  <c:v>52.2</c:v>
                </c:pt>
                <c:pt idx="6">
                  <c:v>52.2</c:v>
                </c:pt>
                <c:pt idx="7">
                  <c:v>52.2</c:v>
                </c:pt>
                <c:pt idx="8">
                  <c:v>52.2</c:v>
                </c:pt>
                <c:pt idx="9">
                  <c:v>52.2</c:v>
                </c:pt>
                <c:pt idx="10">
                  <c:v>52.2</c:v>
                </c:pt>
                <c:pt idx="11">
                  <c:v>52.2</c:v>
                </c:pt>
                <c:pt idx="12">
                  <c:v>52.2</c:v>
                </c:pt>
                <c:pt idx="13">
                  <c:v>52.2</c:v>
                </c:pt>
                <c:pt idx="14">
                  <c:v>52.2</c:v>
                </c:pt>
                <c:pt idx="15">
                  <c:v>52.2</c:v>
                </c:pt>
                <c:pt idx="16">
                  <c:v>52.2</c:v>
                </c:pt>
                <c:pt idx="17">
                  <c:v>52.2</c:v>
                </c:pt>
                <c:pt idx="18">
                  <c:v>52.2</c:v>
                </c:pt>
                <c:pt idx="19">
                  <c:v>52.2</c:v>
                </c:pt>
                <c:pt idx="20">
                  <c:v>52.2</c:v>
                </c:pt>
                <c:pt idx="21">
                  <c:v>52.2</c:v>
                </c:pt>
                <c:pt idx="22">
                  <c:v>52.2</c:v>
                </c:pt>
                <c:pt idx="23">
                  <c:v>52.2</c:v>
                </c:pt>
                <c:pt idx="24">
                  <c:v>52.2</c:v>
                </c:pt>
                <c:pt idx="25">
                  <c:v>52.2</c:v>
                </c:pt>
                <c:pt idx="26">
                  <c:v>52.2</c:v>
                </c:pt>
                <c:pt idx="27">
                  <c:v>52.2</c:v>
                </c:pt>
                <c:pt idx="28">
                  <c:v>52.2</c:v>
                </c:pt>
                <c:pt idx="29">
                  <c:v>52.2</c:v>
                </c:pt>
                <c:pt idx="30">
                  <c:v>52.2</c:v>
                </c:pt>
                <c:pt idx="31">
                  <c:v>52.2</c:v>
                </c:pt>
                <c:pt idx="32">
                  <c:v>52.2</c:v>
                </c:pt>
                <c:pt idx="33">
                  <c:v>52.2</c:v>
                </c:pt>
                <c:pt idx="34">
                  <c:v>52.2</c:v>
                </c:pt>
                <c:pt idx="35">
                  <c:v>52.2</c:v>
                </c:pt>
                <c:pt idx="36">
                  <c:v>52.2</c:v>
                </c:pt>
                <c:pt idx="37">
                  <c:v>52.2</c:v>
                </c:pt>
                <c:pt idx="38">
                  <c:v>52.2</c:v>
                </c:pt>
                <c:pt idx="39">
                  <c:v>52.2</c:v>
                </c:pt>
                <c:pt idx="40">
                  <c:v>52.2</c:v>
                </c:pt>
                <c:pt idx="41">
                  <c:v>52.2</c:v>
                </c:pt>
                <c:pt idx="42">
                  <c:v>52.2</c:v>
                </c:pt>
                <c:pt idx="43">
                  <c:v>52.2</c:v>
                </c:pt>
                <c:pt idx="44">
                  <c:v>52.2</c:v>
                </c:pt>
                <c:pt idx="45">
                  <c:v>52.2</c:v>
                </c:pt>
                <c:pt idx="46">
                  <c:v>52.2</c:v>
                </c:pt>
                <c:pt idx="47">
                  <c:v>52.2</c:v>
                </c:pt>
                <c:pt idx="48">
                  <c:v>52.2</c:v>
                </c:pt>
                <c:pt idx="49">
                  <c:v>52.2</c:v>
                </c:pt>
                <c:pt idx="50">
                  <c:v>52.2</c:v>
                </c:pt>
                <c:pt idx="51">
                  <c:v>52.2</c:v>
                </c:pt>
                <c:pt idx="52">
                  <c:v>52.2</c:v>
                </c:pt>
                <c:pt idx="53">
                  <c:v>52.2</c:v>
                </c:pt>
                <c:pt idx="54">
                  <c:v>52.2</c:v>
                </c:pt>
                <c:pt idx="55">
                  <c:v>52.2</c:v>
                </c:pt>
                <c:pt idx="56">
                  <c:v>52.2</c:v>
                </c:pt>
                <c:pt idx="57">
                  <c:v>52.2</c:v>
                </c:pt>
                <c:pt idx="58">
                  <c:v>52.2</c:v>
                </c:pt>
                <c:pt idx="59">
                  <c:v>52.2</c:v>
                </c:pt>
                <c:pt idx="60">
                  <c:v>52.2</c:v>
                </c:pt>
                <c:pt idx="61">
                  <c:v>52.2</c:v>
                </c:pt>
                <c:pt idx="62">
                  <c:v>52.2</c:v>
                </c:pt>
                <c:pt idx="63">
                  <c:v>52.2</c:v>
                </c:pt>
                <c:pt idx="64">
                  <c:v>52.2</c:v>
                </c:pt>
                <c:pt idx="65">
                  <c:v>52.2</c:v>
                </c:pt>
                <c:pt idx="66">
                  <c:v>52.2</c:v>
                </c:pt>
                <c:pt idx="67">
                  <c:v>52.2</c:v>
                </c:pt>
                <c:pt idx="68">
                  <c:v>52.2</c:v>
                </c:pt>
                <c:pt idx="69">
                  <c:v>52.2</c:v>
                </c:pt>
                <c:pt idx="70">
                  <c:v>52.2</c:v>
                </c:pt>
                <c:pt idx="71">
                  <c:v>52.2</c:v>
                </c:pt>
                <c:pt idx="73">
                  <c:v>66.44</c:v>
                </c:pt>
                <c:pt idx="74">
                  <c:v>66.44</c:v>
                </c:pt>
                <c:pt idx="75">
                  <c:v>66.44</c:v>
                </c:pt>
                <c:pt idx="76">
                  <c:v>66.44</c:v>
                </c:pt>
                <c:pt idx="77">
                  <c:v>66.44</c:v>
                </c:pt>
                <c:pt idx="78">
                  <c:v>66.44</c:v>
                </c:pt>
                <c:pt idx="79">
                  <c:v>66.44</c:v>
                </c:pt>
                <c:pt idx="80">
                  <c:v>66.44</c:v>
                </c:pt>
                <c:pt idx="81">
                  <c:v>66.44</c:v>
                </c:pt>
                <c:pt idx="82">
                  <c:v>66.44</c:v>
                </c:pt>
                <c:pt idx="83">
                  <c:v>66.44</c:v>
                </c:pt>
                <c:pt idx="84">
                  <c:v>66.44</c:v>
                </c:pt>
                <c:pt idx="85">
                  <c:v>66.44</c:v>
                </c:pt>
                <c:pt idx="86">
                  <c:v>66.44</c:v>
                </c:pt>
                <c:pt idx="87">
                  <c:v>66.44</c:v>
                </c:pt>
                <c:pt idx="88">
                  <c:v>66.44</c:v>
                </c:pt>
                <c:pt idx="89">
                  <c:v>66.44</c:v>
                </c:pt>
                <c:pt idx="90">
                  <c:v>66.44</c:v>
                </c:pt>
                <c:pt idx="91">
                  <c:v>66.44</c:v>
                </c:pt>
                <c:pt idx="92">
                  <c:v>66.44</c:v>
                </c:pt>
                <c:pt idx="93">
                  <c:v>66.44</c:v>
                </c:pt>
                <c:pt idx="94">
                  <c:v>66.44</c:v>
                </c:pt>
                <c:pt idx="95">
                  <c:v>66.44</c:v>
                </c:pt>
                <c:pt idx="96">
                  <c:v>66.44</c:v>
                </c:pt>
                <c:pt idx="97">
                  <c:v>66.44</c:v>
                </c:pt>
                <c:pt idx="98">
                  <c:v>66.44</c:v>
                </c:pt>
                <c:pt idx="99">
                  <c:v>66.44</c:v>
                </c:pt>
                <c:pt idx="100">
                  <c:v>66.44</c:v>
                </c:pt>
                <c:pt idx="101">
                  <c:v>66.44</c:v>
                </c:pt>
                <c:pt idx="102">
                  <c:v>66.44</c:v>
                </c:pt>
                <c:pt idx="103">
                  <c:v>66.44</c:v>
                </c:pt>
                <c:pt idx="104">
                  <c:v>66.44</c:v>
                </c:pt>
                <c:pt idx="105">
                  <c:v>66.44</c:v>
                </c:pt>
                <c:pt idx="106">
                  <c:v>66.44</c:v>
                </c:pt>
                <c:pt idx="107">
                  <c:v>66.44</c:v>
                </c:pt>
                <c:pt idx="108">
                  <c:v>66.44</c:v>
                </c:pt>
                <c:pt idx="109">
                  <c:v>66.44</c:v>
                </c:pt>
                <c:pt idx="110">
                  <c:v>66.44</c:v>
                </c:pt>
                <c:pt idx="112">
                  <c:v>35.2</c:v>
                </c:pt>
                <c:pt idx="113">
                  <c:v>35.2</c:v>
                </c:pt>
                <c:pt idx="114">
                  <c:v>35.2</c:v>
                </c:pt>
                <c:pt idx="115">
                  <c:v>35.2</c:v>
                </c:pt>
                <c:pt idx="116">
                  <c:v>35.2</c:v>
                </c:pt>
                <c:pt idx="117">
                  <c:v>35.2</c:v>
                </c:pt>
                <c:pt idx="118">
                  <c:v>35.2</c:v>
                </c:pt>
                <c:pt idx="119">
                  <c:v>35.2</c:v>
                </c:pt>
                <c:pt idx="120">
                  <c:v>35.2</c:v>
                </c:pt>
                <c:pt idx="121">
                  <c:v>35.2</c:v>
                </c:pt>
                <c:pt idx="122">
                  <c:v>35.2</c:v>
                </c:pt>
                <c:pt idx="123">
                  <c:v>35.2</c:v>
                </c:pt>
                <c:pt idx="124">
                  <c:v>35.2</c:v>
                </c:pt>
                <c:pt idx="125">
                  <c:v>35.2</c:v>
                </c:pt>
                <c:pt idx="126">
                  <c:v>35.2</c:v>
                </c:pt>
                <c:pt idx="127">
                  <c:v>35.2</c:v>
                </c:pt>
                <c:pt idx="128">
                  <c:v>35.2</c:v>
                </c:pt>
                <c:pt idx="129">
                  <c:v>35.2</c:v>
                </c:pt>
                <c:pt idx="131">
                  <c:v>26.42</c:v>
                </c:pt>
                <c:pt idx="132">
                  <c:v>26.42</c:v>
                </c:pt>
                <c:pt idx="133">
                  <c:v>26.42</c:v>
                </c:pt>
                <c:pt idx="134">
                  <c:v>26.42</c:v>
                </c:pt>
                <c:pt idx="135">
                  <c:v>26.42</c:v>
                </c:pt>
                <c:pt idx="136">
                  <c:v>26.42</c:v>
                </c:pt>
                <c:pt idx="137">
                  <c:v>26.42</c:v>
                </c:pt>
                <c:pt idx="138">
                  <c:v>26.42</c:v>
                </c:pt>
                <c:pt idx="139">
                  <c:v>26.42</c:v>
                </c:pt>
                <c:pt idx="140">
                  <c:v>26.42</c:v>
                </c:pt>
                <c:pt idx="141">
                  <c:v>26.42</c:v>
                </c:pt>
                <c:pt idx="142">
                  <c:v>26.42</c:v>
                </c:pt>
                <c:pt idx="143">
                  <c:v>26.42</c:v>
                </c:pt>
                <c:pt idx="144">
                  <c:v>26.42</c:v>
                </c:pt>
                <c:pt idx="145">
                  <c:v>26.42</c:v>
                </c:pt>
                <c:pt idx="146">
                  <c:v>26.42</c:v>
                </c:pt>
                <c:pt idx="148">
                  <c:v>19.41</c:v>
                </c:pt>
                <c:pt idx="149">
                  <c:v>19.41</c:v>
                </c:pt>
                <c:pt idx="150">
                  <c:v>19.41</c:v>
                </c:pt>
                <c:pt idx="151">
                  <c:v>19.41</c:v>
                </c:pt>
                <c:pt idx="152">
                  <c:v>19.41</c:v>
                </c:pt>
                <c:pt idx="153">
                  <c:v>19.41</c:v>
                </c:pt>
                <c:pt idx="154">
                  <c:v>19.41</c:v>
                </c:pt>
                <c:pt idx="155">
                  <c:v>19.41</c:v>
                </c:pt>
                <c:pt idx="156">
                  <c:v>19.41</c:v>
                </c:pt>
                <c:pt idx="157">
                  <c:v>19.41</c:v>
                </c:pt>
                <c:pt idx="158">
                  <c:v>19.41</c:v>
                </c:pt>
                <c:pt idx="159">
                  <c:v>19.41</c:v>
                </c:pt>
                <c:pt idx="160">
                  <c:v>19.41</c:v>
                </c:pt>
                <c:pt idx="162">
                  <c:v>28.24</c:v>
                </c:pt>
                <c:pt idx="163">
                  <c:v>28.24</c:v>
                </c:pt>
                <c:pt idx="164">
                  <c:v>28.24</c:v>
                </c:pt>
                <c:pt idx="165">
                  <c:v>28.24</c:v>
                </c:pt>
                <c:pt idx="166">
                  <c:v>28.24</c:v>
                </c:pt>
                <c:pt idx="167">
                  <c:v>28.24</c:v>
                </c:pt>
                <c:pt idx="168">
                  <c:v>28.24</c:v>
                </c:pt>
                <c:pt idx="169">
                  <c:v>28.24</c:v>
                </c:pt>
                <c:pt idx="170">
                  <c:v>28.24</c:v>
                </c:pt>
                <c:pt idx="171">
                  <c:v>28.24</c:v>
                </c:pt>
                <c:pt idx="173">
                  <c:v>37.8</c:v>
                </c:pt>
                <c:pt idx="174">
                  <c:v>37.8</c:v>
                </c:pt>
                <c:pt idx="175">
                  <c:v>37.8</c:v>
                </c:pt>
                <c:pt idx="176">
                  <c:v>37.8</c:v>
                </c:pt>
                <c:pt idx="177">
                  <c:v>37.8</c:v>
                </c:pt>
                <c:pt idx="178">
                  <c:v>37.8</c:v>
                </c:pt>
                <c:pt idx="179">
                  <c:v>37.8</c:v>
                </c:pt>
                <c:pt idx="180">
                  <c:v>37.8</c:v>
                </c:pt>
                <c:pt idx="181">
                  <c:v>37.8</c:v>
                </c:pt>
                <c:pt idx="183">
                  <c:v>35.83</c:v>
                </c:pt>
                <c:pt idx="184">
                  <c:v>35.83</c:v>
                </c:pt>
                <c:pt idx="185">
                  <c:v>35.83</c:v>
                </c:pt>
                <c:pt idx="186">
                  <c:v>35.83</c:v>
                </c:pt>
                <c:pt idx="187">
                  <c:v>35.83</c:v>
                </c:pt>
                <c:pt idx="188">
                  <c:v>35.83</c:v>
                </c:pt>
                <c:pt idx="189">
                  <c:v>35.83</c:v>
                </c:pt>
                <c:pt idx="190">
                  <c:v>35.83</c:v>
                </c:pt>
                <c:pt idx="192">
                  <c:v>34.39</c:v>
                </c:pt>
                <c:pt idx="193">
                  <c:v>34.39</c:v>
                </c:pt>
                <c:pt idx="194">
                  <c:v>34.39</c:v>
                </c:pt>
                <c:pt idx="195">
                  <c:v>34.39</c:v>
                </c:pt>
                <c:pt idx="196">
                  <c:v>34.39</c:v>
                </c:pt>
                <c:pt idx="197">
                  <c:v>34.39</c:v>
                </c:pt>
                <c:pt idx="198">
                  <c:v>34.39</c:v>
                </c:pt>
                <c:pt idx="199">
                  <c:v>34.39</c:v>
                </c:pt>
                <c:pt idx="201">
                  <c:v>32.93</c:v>
                </c:pt>
                <c:pt idx="202">
                  <c:v>32.93</c:v>
                </c:pt>
                <c:pt idx="203">
                  <c:v>32.93</c:v>
                </c:pt>
                <c:pt idx="204">
                  <c:v>32.93</c:v>
                </c:pt>
                <c:pt idx="205">
                  <c:v>32.93</c:v>
                </c:pt>
                <c:pt idx="206">
                  <c:v>32.93</c:v>
                </c:pt>
                <c:pt idx="207">
                  <c:v>32.93</c:v>
                </c:pt>
                <c:pt idx="208">
                  <c:v>32.93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Công nghiệp, xây dựng</c:v>
                </c:pt>
              </c:strCache>
            </c:strRef>
          </c:tx>
          <c:spPr>
            <a:solidFill>
              <a:srgbClr val="EB6834"/>
            </a:solidFill>
            <a:ln>
              <a:noFill/>
            </a:ln>
          </c:spPr>
          <c:invertIfNegative val="0"/>
          <c:cat>
            <c:strRef>
              <c:f>Sheet1!$A$2:$A$210</c:f>
              <c:strCache>
                <c:ptCount val="20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</c:strCache>
            </c:strRef>
          </c:cat>
          <c:val>
            <c:numRef>
              <c:f>Sheet1!$C$2:$C$210</c:f>
              <c:numCache>
                <c:formatCode>General</c:formatCode>
                <c:ptCount val="209"/>
                <c:pt idx="0">
                  <c:v>35.2</c:v>
                </c:pt>
                <c:pt idx="1">
                  <c:v>35.2</c:v>
                </c:pt>
                <c:pt idx="2">
                  <c:v>35.2</c:v>
                </c:pt>
                <c:pt idx="3">
                  <c:v>35.2</c:v>
                </c:pt>
                <c:pt idx="4">
                  <c:v>35.2</c:v>
                </c:pt>
                <c:pt idx="5">
                  <c:v>35.2</c:v>
                </c:pt>
                <c:pt idx="6">
                  <c:v>35.2</c:v>
                </c:pt>
                <c:pt idx="7">
                  <c:v>35.2</c:v>
                </c:pt>
                <c:pt idx="8">
                  <c:v>35.2</c:v>
                </c:pt>
                <c:pt idx="9">
                  <c:v>35.2</c:v>
                </c:pt>
                <c:pt idx="10">
                  <c:v>35.2</c:v>
                </c:pt>
                <c:pt idx="11">
                  <c:v>35.2</c:v>
                </c:pt>
                <c:pt idx="12">
                  <c:v>35.2</c:v>
                </c:pt>
                <c:pt idx="13">
                  <c:v>35.2</c:v>
                </c:pt>
                <c:pt idx="14">
                  <c:v>35.2</c:v>
                </c:pt>
                <c:pt idx="15">
                  <c:v>35.2</c:v>
                </c:pt>
                <c:pt idx="16">
                  <c:v>35.2</c:v>
                </c:pt>
                <c:pt idx="17">
                  <c:v>35.2</c:v>
                </c:pt>
                <c:pt idx="18">
                  <c:v>35.2</c:v>
                </c:pt>
                <c:pt idx="19">
                  <c:v>35.2</c:v>
                </c:pt>
                <c:pt idx="20">
                  <c:v>35.2</c:v>
                </c:pt>
                <c:pt idx="21">
                  <c:v>35.2</c:v>
                </c:pt>
                <c:pt idx="22">
                  <c:v>35.2</c:v>
                </c:pt>
                <c:pt idx="23">
                  <c:v>35.2</c:v>
                </c:pt>
                <c:pt idx="24">
                  <c:v>35.2</c:v>
                </c:pt>
                <c:pt idx="25">
                  <c:v>35.2</c:v>
                </c:pt>
                <c:pt idx="26">
                  <c:v>35.2</c:v>
                </c:pt>
                <c:pt idx="27">
                  <c:v>35.2</c:v>
                </c:pt>
                <c:pt idx="28">
                  <c:v>35.2</c:v>
                </c:pt>
                <c:pt idx="29">
                  <c:v>35.2</c:v>
                </c:pt>
                <c:pt idx="30">
                  <c:v>35.2</c:v>
                </c:pt>
                <c:pt idx="31">
                  <c:v>35.2</c:v>
                </c:pt>
                <c:pt idx="32">
                  <c:v>35.2</c:v>
                </c:pt>
                <c:pt idx="33">
                  <c:v>35.2</c:v>
                </c:pt>
                <c:pt idx="34">
                  <c:v>35.2</c:v>
                </c:pt>
                <c:pt idx="35">
                  <c:v>35.2</c:v>
                </c:pt>
                <c:pt idx="36">
                  <c:v>35.2</c:v>
                </c:pt>
                <c:pt idx="37">
                  <c:v>35.2</c:v>
                </c:pt>
                <c:pt idx="38">
                  <c:v>35.2</c:v>
                </c:pt>
                <c:pt idx="39">
                  <c:v>35.2</c:v>
                </c:pt>
                <c:pt idx="40">
                  <c:v>35.2</c:v>
                </c:pt>
                <c:pt idx="41">
                  <c:v>35.2</c:v>
                </c:pt>
                <c:pt idx="42">
                  <c:v>35.2</c:v>
                </c:pt>
                <c:pt idx="43">
                  <c:v>35.2</c:v>
                </c:pt>
                <c:pt idx="44">
                  <c:v>35.2</c:v>
                </c:pt>
                <c:pt idx="45">
                  <c:v>35.2</c:v>
                </c:pt>
                <c:pt idx="46">
                  <c:v>35.2</c:v>
                </c:pt>
                <c:pt idx="47">
                  <c:v>35.2</c:v>
                </c:pt>
                <c:pt idx="48">
                  <c:v>35.2</c:v>
                </c:pt>
                <c:pt idx="49">
                  <c:v>35.2</c:v>
                </c:pt>
                <c:pt idx="50">
                  <c:v>35.2</c:v>
                </c:pt>
                <c:pt idx="51">
                  <c:v>35.2</c:v>
                </c:pt>
                <c:pt idx="52">
                  <c:v>35.2</c:v>
                </c:pt>
                <c:pt idx="53">
                  <c:v>35.2</c:v>
                </c:pt>
                <c:pt idx="54">
                  <c:v>35.2</c:v>
                </c:pt>
                <c:pt idx="55">
                  <c:v>35.2</c:v>
                </c:pt>
                <c:pt idx="56">
                  <c:v>35.2</c:v>
                </c:pt>
                <c:pt idx="57">
                  <c:v>35.2</c:v>
                </c:pt>
                <c:pt idx="58">
                  <c:v>35.2</c:v>
                </c:pt>
                <c:pt idx="59">
                  <c:v>35.2</c:v>
                </c:pt>
                <c:pt idx="60">
                  <c:v>35.2</c:v>
                </c:pt>
                <c:pt idx="61">
                  <c:v>35.2</c:v>
                </c:pt>
                <c:pt idx="62">
                  <c:v>35.2</c:v>
                </c:pt>
                <c:pt idx="63">
                  <c:v>35.2</c:v>
                </c:pt>
                <c:pt idx="64">
                  <c:v>35.2</c:v>
                </c:pt>
                <c:pt idx="65">
                  <c:v>35.2</c:v>
                </c:pt>
                <c:pt idx="66">
                  <c:v>35.2</c:v>
                </c:pt>
                <c:pt idx="67">
                  <c:v>35.2</c:v>
                </c:pt>
                <c:pt idx="68">
                  <c:v>35.2</c:v>
                </c:pt>
                <c:pt idx="69">
                  <c:v>35.2</c:v>
                </c:pt>
                <c:pt idx="70">
                  <c:v>35.2</c:v>
                </c:pt>
                <c:pt idx="71">
                  <c:v>35.2</c:v>
                </c:pt>
                <c:pt idx="73">
                  <c:v>22.25</c:v>
                </c:pt>
                <c:pt idx="74">
                  <c:v>22.25</c:v>
                </c:pt>
                <c:pt idx="75">
                  <c:v>22.25</c:v>
                </c:pt>
                <c:pt idx="76">
                  <c:v>22.25</c:v>
                </c:pt>
                <c:pt idx="77">
                  <c:v>22.25</c:v>
                </c:pt>
                <c:pt idx="78">
                  <c:v>22.25</c:v>
                </c:pt>
                <c:pt idx="79">
                  <c:v>22.25</c:v>
                </c:pt>
                <c:pt idx="80">
                  <c:v>22.25</c:v>
                </c:pt>
                <c:pt idx="81">
                  <c:v>22.25</c:v>
                </c:pt>
                <c:pt idx="82">
                  <c:v>22.25</c:v>
                </c:pt>
                <c:pt idx="83">
                  <c:v>22.25</c:v>
                </c:pt>
                <c:pt idx="84">
                  <c:v>22.25</c:v>
                </c:pt>
                <c:pt idx="85">
                  <c:v>22.25</c:v>
                </c:pt>
                <c:pt idx="86">
                  <c:v>22.25</c:v>
                </c:pt>
                <c:pt idx="87">
                  <c:v>22.25</c:v>
                </c:pt>
                <c:pt idx="88">
                  <c:v>22.25</c:v>
                </c:pt>
                <c:pt idx="89">
                  <c:v>22.25</c:v>
                </c:pt>
                <c:pt idx="90">
                  <c:v>22.25</c:v>
                </c:pt>
                <c:pt idx="91">
                  <c:v>22.25</c:v>
                </c:pt>
                <c:pt idx="92">
                  <c:v>22.25</c:v>
                </c:pt>
                <c:pt idx="93">
                  <c:v>22.25</c:v>
                </c:pt>
                <c:pt idx="94">
                  <c:v>22.25</c:v>
                </c:pt>
                <c:pt idx="95">
                  <c:v>22.25</c:v>
                </c:pt>
                <c:pt idx="96">
                  <c:v>22.25</c:v>
                </c:pt>
                <c:pt idx="97">
                  <c:v>22.25</c:v>
                </c:pt>
                <c:pt idx="98">
                  <c:v>22.25</c:v>
                </c:pt>
                <c:pt idx="99">
                  <c:v>22.25</c:v>
                </c:pt>
                <c:pt idx="100">
                  <c:v>22.25</c:v>
                </c:pt>
                <c:pt idx="101">
                  <c:v>22.25</c:v>
                </c:pt>
                <c:pt idx="102">
                  <c:v>22.25</c:v>
                </c:pt>
                <c:pt idx="103">
                  <c:v>22.25</c:v>
                </c:pt>
                <c:pt idx="104">
                  <c:v>22.25</c:v>
                </c:pt>
                <c:pt idx="105">
                  <c:v>22.25</c:v>
                </c:pt>
                <c:pt idx="106">
                  <c:v>22.25</c:v>
                </c:pt>
                <c:pt idx="107">
                  <c:v>22.25</c:v>
                </c:pt>
                <c:pt idx="108">
                  <c:v>22.25</c:v>
                </c:pt>
                <c:pt idx="109">
                  <c:v>22.25</c:v>
                </c:pt>
                <c:pt idx="110">
                  <c:v>22.25</c:v>
                </c:pt>
                <c:pt idx="112">
                  <c:v>53.96</c:v>
                </c:pt>
                <c:pt idx="113">
                  <c:v>53.96</c:v>
                </c:pt>
                <c:pt idx="114">
                  <c:v>53.96</c:v>
                </c:pt>
                <c:pt idx="115">
                  <c:v>53.96</c:v>
                </c:pt>
                <c:pt idx="116">
                  <c:v>53.96</c:v>
                </c:pt>
                <c:pt idx="117">
                  <c:v>53.96</c:v>
                </c:pt>
                <c:pt idx="118">
                  <c:v>53.96</c:v>
                </c:pt>
                <c:pt idx="119">
                  <c:v>53.96</c:v>
                </c:pt>
                <c:pt idx="120">
                  <c:v>53.96</c:v>
                </c:pt>
                <c:pt idx="121">
                  <c:v>53.96</c:v>
                </c:pt>
                <c:pt idx="122">
                  <c:v>53.96</c:v>
                </c:pt>
                <c:pt idx="123">
                  <c:v>53.96</c:v>
                </c:pt>
                <c:pt idx="124">
                  <c:v>53.96</c:v>
                </c:pt>
                <c:pt idx="125">
                  <c:v>53.96</c:v>
                </c:pt>
                <c:pt idx="126">
                  <c:v>53.96</c:v>
                </c:pt>
                <c:pt idx="127">
                  <c:v>53.96</c:v>
                </c:pt>
                <c:pt idx="128">
                  <c:v>53.96</c:v>
                </c:pt>
                <c:pt idx="129">
                  <c:v>53.96</c:v>
                </c:pt>
                <c:pt idx="131">
                  <c:v>54.97</c:v>
                </c:pt>
                <c:pt idx="132">
                  <c:v>54.97</c:v>
                </c:pt>
                <c:pt idx="133">
                  <c:v>54.97</c:v>
                </c:pt>
                <c:pt idx="134">
                  <c:v>54.97</c:v>
                </c:pt>
                <c:pt idx="135">
                  <c:v>54.97</c:v>
                </c:pt>
                <c:pt idx="136">
                  <c:v>54.97</c:v>
                </c:pt>
                <c:pt idx="137">
                  <c:v>54.97</c:v>
                </c:pt>
                <c:pt idx="138">
                  <c:v>54.97</c:v>
                </c:pt>
                <c:pt idx="139">
                  <c:v>54.97</c:v>
                </c:pt>
                <c:pt idx="140">
                  <c:v>54.97</c:v>
                </c:pt>
                <c:pt idx="141">
                  <c:v>54.97</c:v>
                </c:pt>
                <c:pt idx="142">
                  <c:v>54.97</c:v>
                </c:pt>
                <c:pt idx="143">
                  <c:v>54.97</c:v>
                </c:pt>
                <c:pt idx="144">
                  <c:v>54.97</c:v>
                </c:pt>
                <c:pt idx="145">
                  <c:v>54.97</c:v>
                </c:pt>
                <c:pt idx="146">
                  <c:v>54.97</c:v>
                </c:pt>
                <c:pt idx="148">
                  <c:v>71.13</c:v>
                </c:pt>
                <c:pt idx="149">
                  <c:v>71.13</c:v>
                </c:pt>
                <c:pt idx="150">
                  <c:v>71.13</c:v>
                </c:pt>
                <c:pt idx="151">
                  <c:v>71.13</c:v>
                </c:pt>
                <c:pt idx="152">
                  <c:v>71.13</c:v>
                </c:pt>
                <c:pt idx="153">
                  <c:v>71.13</c:v>
                </c:pt>
                <c:pt idx="154">
                  <c:v>71.13</c:v>
                </c:pt>
                <c:pt idx="155">
                  <c:v>71.13</c:v>
                </c:pt>
                <c:pt idx="156">
                  <c:v>71.13</c:v>
                </c:pt>
                <c:pt idx="157">
                  <c:v>71.13</c:v>
                </c:pt>
                <c:pt idx="158">
                  <c:v>71.13</c:v>
                </c:pt>
                <c:pt idx="159">
                  <c:v>71.13</c:v>
                </c:pt>
                <c:pt idx="160">
                  <c:v>71.13</c:v>
                </c:pt>
                <c:pt idx="162">
                  <c:v>48.82</c:v>
                </c:pt>
                <c:pt idx="163">
                  <c:v>48.82</c:v>
                </c:pt>
                <c:pt idx="164">
                  <c:v>48.82</c:v>
                </c:pt>
                <c:pt idx="165">
                  <c:v>48.82</c:v>
                </c:pt>
                <c:pt idx="166">
                  <c:v>48.82</c:v>
                </c:pt>
                <c:pt idx="167">
                  <c:v>48.82</c:v>
                </c:pt>
                <c:pt idx="168">
                  <c:v>48.82</c:v>
                </c:pt>
                <c:pt idx="169">
                  <c:v>48.82</c:v>
                </c:pt>
                <c:pt idx="170">
                  <c:v>48.82</c:v>
                </c:pt>
                <c:pt idx="171">
                  <c:v>48.82</c:v>
                </c:pt>
                <c:pt idx="173">
                  <c:v>46.2</c:v>
                </c:pt>
                <c:pt idx="174">
                  <c:v>46.2</c:v>
                </c:pt>
                <c:pt idx="175">
                  <c:v>46.2</c:v>
                </c:pt>
                <c:pt idx="176">
                  <c:v>46.2</c:v>
                </c:pt>
                <c:pt idx="177">
                  <c:v>46.2</c:v>
                </c:pt>
                <c:pt idx="178">
                  <c:v>46.2</c:v>
                </c:pt>
                <c:pt idx="179">
                  <c:v>46.2</c:v>
                </c:pt>
                <c:pt idx="180">
                  <c:v>46.2</c:v>
                </c:pt>
                <c:pt idx="181">
                  <c:v>46.2</c:v>
                </c:pt>
                <c:pt idx="183">
                  <c:v>20.87</c:v>
                </c:pt>
                <c:pt idx="184">
                  <c:v>20.87</c:v>
                </c:pt>
                <c:pt idx="185">
                  <c:v>20.87</c:v>
                </c:pt>
                <c:pt idx="186">
                  <c:v>20.87</c:v>
                </c:pt>
                <c:pt idx="187">
                  <c:v>20.87</c:v>
                </c:pt>
                <c:pt idx="188">
                  <c:v>20.87</c:v>
                </c:pt>
                <c:pt idx="189">
                  <c:v>20.87</c:v>
                </c:pt>
                <c:pt idx="190">
                  <c:v>20.87</c:v>
                </c:pt>
                <c:pt idx="192">
                  <c:v>47.05</c:v>
                </c:pt>
                <c:pt idx="193">
                  <c:v>47.05</c:v>
                </c:pt>
                <c:pt idx="194">
                  <c:v>47.05</c:v>
                </c:pt>
                <c:pt idx="195">
                  <c:v>47.05</c:v>
                </c:pt>
                <c:pt idx="196">
                  <c:v>47.05</c:v>
                </c:pt>
                <c:pt idx="197">
                  <c:v>47.05</c:v>
                </c:pt>
                <c:pt idx="198">
                  <c:v>47.05</c:v>
                </c:pt>
                <c:pt idx="199">
                  <c:v>47.05</c:v>
                </c:pt>
                <c:pt idx="201">
                  <c:v>47.94</c:v>
                </c:pt>
                <c:pt idx="202">
                  <c:v>47.94</c:v>
                </c:pt>
                <c:pt idx="203">
                  <c:v>47.94</c:v>
                </c:pt>
                <c:pt idx="204">
                  <c:v>47.94</c:v>
                </c:pt>
                <c:pt idx="205">
                  <c:v>47.94</c:v>
                </c:pt>
                <c:pt idx="206">
                  <c:v>47.94</c:v>
                </c:pt>
                <c:pt idx="207">
                  <c:v>47.94</c:v>
                </c:pt>
                <c:pt idx="208">
                  <c:v>47.94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Nông, lâm, thủy sản</c:v>
                </c:pt>
              </c:strCache>
            </c:strRef>
          </c:tx>
          <c:spPr>
            <a:solidFill>
              <a:srgbClr val="008300"/>
            </a:solidFill>
            <a:ln>
              <a:noFill/>
            </a:ln>
          </c:spPr>
          <c:invertIfNegative val="0"/>
          <c:cat>
            <c:strRef>
              <c:f>Sheet1!$A$2:$A$210</c:f>
              <c:strCache>
                <c:ptCount val="20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</c:strCache>
            </c:strRef>
          </c:cat>
          <c:val>
            <c:numRef>
              <c:f>Sheet1!$D$2:$D$210</c:f>
              <c:numCache>
                <c:formatCode>General</c:formatCode>
                <c:ptCount val="209"/>
                <c:pt idx="0">
                  <c:v>1.7</c:v>
                </c:pt>
                <c:pt idx="1">
                  <c:v>1.7</c:v>
                </c:pt>
                <c:pt idx="2">
                  <c:v>1.7</c:v>
                </c:pt>
                <c:pt idx="3">
                  <c:v>1.7</c:v>
                </c:pt>
                <c:pt idx="4">
                  <c:v>1.7</c:v>
                </c:pt>
                <c:pt idx="5">
                  <c:v>1.7</c:v>
                </c:pt>
                <c:pt idx="6">
                  <c:v>1.7</c:v>
                </c:pt>
                <c:pt idx="7">
                  <c:v>1.7</c:v>
                </c:pt>
                <c:pt idx="8">
                  <c:v>1.7</c:v>
                </c:pt>
                <c:pt idx="9">
                  <c:v>1.7</c:v>
                </c:pt>
                <c:pt idx="10">
                  <c:v>1.7</c:v>
                </c:pt>
                <c:pt idx="11">
                  <c:v>1.7</c:v>
                </c:pt>
                <c:pt idx="12">
                  <c:v>1.7</c:v>
                </c:pt>
                <c:pt idx="13">
                  <c:v>1.7</c:v>
                </c:pt>
                <c:pt idx="14">
                  <c:v>1.7</c:v>
                </c:pt>
                <c:pt idx="15">
                  <c:v>1.7</c:v>
                </c:pt>
                <c:pt idx="16">
                  <c:v>1.7</c:v>
                </c:pt>
                <c:pt idx="17">
                  <c:v>1.7</c:v>
                </c:pt>
                <c:pt idx="18">
                  <c:v>1.7</c:v>
                </c:pt>
                <c:pt idx="19">
                  <c:v>1.7</c:v>
                </c:pt>
                <c:pt idx="20">
                  <c:v>1.7</c:v>
                </c:pt>
                <c:pt idx="21">
                  <c:v>1.7</c:v>
                </c:pt>
                <c:pt idx="22">
                  <c:v>1.7</c:v>
                </c:pt>
                <c:pt idx="23">
                  <c:v>1.7</c:v>
                </c:pt>
                <c:pt idx="24">
                  <c:v>1.7</c:v>
                </c:pt>
                <c:pt idx="25">
                  <c:v>1.7</c:v>
                </c:pt>
                <c:pt idx="26">
                  <c:v>1.7</c:v>
                </c:pt>
                <c:pt idx="27">
                  <c:v>1.7</c:v>
                </c:pt>
                <c:pt idx="28">
                  <c:v>1.7</c:v>
                </c:pt>
                <c:pt idx="29">
                  <c:v>1.7</c:v>
                </c:pt>
                <c:pt idx="30">
                  <c:v>1.7</c:v>
                </c:pt>
                <c:pt idx="31">
                  <c:v>1.7</c:v>
                </c:pt>
                <c:pt idx="32">
                  <c:v>1.7</c:v>
                </c:pt>
                <c:pt idx="33">
                  <c:v>1.7</c:v>
                </c:pt>
                <c:pt idx="34">
                  <c:v>1.7</c:v>
                </c:pt>
                <c:pt idx="35">
                  <c:v>1.7</c:v>
                </c:pt>
                <c:pt idx="36">
                  <c:v>1.7</c:v>
                </c:pt>
                <c:pt idx="37">
                  <c:v>1.7</c:v>
                </c:pt>
                <c:pt idx="38">
                  <c:v>1.7</c:v>
                </c:pt>
                <c:pt idx="39">
                  <c:v>1.7</c:v>
                </c:pt>
                <c:pt idx="40">
                  <c:v>1.7</c:v>
                </c:pt>
                <c:pt idx="41">
                  <c:v>1.7</c:v>
                </c:pt>
                <c:pt idx="42">
                  <c:v>1.7</c:v>
                </c:pt>
                <c:pt idx="43">
                  <c:v>1.7</c:v>
                </c:pt>
                <c:pt idx="44">
                  <c:v>1.7</c:v>
                </c:pt>
                <c:pt idx="45">
                  <c:v>1.7</c:v>
                </c:pt>
                <c:pt idx="46">
                  <c:v>1.7</c:v>
                </c:pt>
                <c:pt idx="47">
                  <c:v>1.7</c:v>
                </c:pt>
                <c:pt idx="48">
                  <c:v>1.7</c:v>
                </c:pt>
                <c:pt idx="49">
                  <c:v>1.7</c:v>
                </c:pt>
                <c:pt idx="50">
                  <c:v>1.7</c:v>
                </c:pt>
                <c:pt idx="51">
                  <c:v>1.7</c:v>
                </c:pt>
                <c:pt idx="52">
                  <c:v>1.7</c:v>
                </c:pt>
                <c:pt idx="53">
                  <c:v>1.7</c:v>
                </c:pt>
                <c:pt idx="54">
                  <c:v>1.7</c:v>
                </c:pt>
                <c:pt idx="55">
                  <c:v>1.7</c:v>
                </c:pt>
                <c:pt idx="56">
                  <c:v>1.7</c:v>
                </c:pt>
                <c:pt idx="57">
                  <c:v>1.7</c:v>
                </c:pt>
                <c:pt idx="58">
                  <c:v>1.7</c:v>
                </c:pt>
                <c:pt idx="59">
                  <c:v>1.7</c:v>
                </c:pt>
                <c:pt idx="60">
                  <c:v>1.7</c:v>
                </c:pt>
                <c:pt idx="61">
                  <c:v>1.7</c:v>
                </c:pt>
                <c:pt idx="62">
                  <c:v>1.7</c:v>
                </c:pt>
                <c:pt idx="63">
                  <c:v>1.7</c:v>
                </c:pt>
                <c:pt idx="64">
                  <c:v>1.7</c:v>
                </c:pt>
                <c:pt idx="65">
                  <c:v>1.7</c:v>
                </c:pt>
                <c:pt idx="66">
                  <c:v>1.7</c:v>
                </c:pt>
                <c:pt idx="67">
                  <c:v>1.7</c:v>
                </c:pt>
                <c:pt idx="68">
                  <c:v>1.7</c:v>
                </c:pt>
                <c:pt idx="69">
                  <c:v>1.7</c:v>
                </c:pt>
                <c:pt idx="70">
                  <c:v>1.7</c:v>
                </c:pt>
                <c:pt idx="71">
                  <c:v>1.7</c:v>
                </c:pt>
                <c:pt idx="73">
                  <c:v>1.86</c:v>
                </c:pt>
                <c:pt idx="74">
                  <c:v>1.86</c:v>
                </c:pt>
                <c:pt idx="75">
                  <c:v>1.86</c:v>
                </c:pt>
                <c:pt idx="76">
                  <c:v>1.86</c:v>
                </c:pt>
                <c:pt idx="77">
                  <c:v>1.86</c:v>
                </c:pt>
                <c:pt idx="78">
                  <c:v>1.86</c:v>
                </c:pt>
                <c:pt idx="79">
                  <c:v>1.86</c:v>
                </c:pt>
                <c:pt idx="80">
                  <c:v>1.86</c:v>
                </c:pt>
                <c:pt idx="81">
                  <c:v>1.86</c:v>
                </c:pt>
                <c:pt idx="82">
                  <c:v>1.86</c:v>
                </c:pt>
                <c:pt idx="83">
                  <c:v>1.86</c:v>
                </c:pt>
                <c:pt idx="84">
                  <c:v>1.86</c:v>
                </c:pt>
                <c:pt idx="85">
                  <c:v>1.86</c:v>
                </c:pt>
                <c:pt idx="86">
                  <c:v>1.86</c:v>
                </c:pt>
                <c:pt idx="87">
                  <c:v>1.86</c:v>
                </c:pt>
                <c:pt idx="88">
                  <c:v>1.86</c:v>
                </c:pt>
                <c:pt idx="89">
                  <c:v>1.86</c:v>
                </c:pt>
                <c:pt idx="90">
                  <c:v>1.86</c:v>
                </c:pt>
                <c:pt idx="91">
                  <c:v>1.86</c:v>
                </c:pt>
                <c:pt idx="92">
                  <c:v>1.86</c:v>
                </c:pt>
                <c:pt idx="93">
                  <c:v>1.86</c:v>
                </c:pt>
                <c:pt idx="94">
                  <c:v>1.86</c:v>
                </c:pt>
                <c:pt idx="95">
                  <c:v>1.86</c:v>
                </c:pt>
                <c:pt idx="96">
                  <c:v>1.86</c:v>
                </c:pt>
                <c:pt idx="97">
                  <c:v>1.86</c:v>
                </c:pt>
                <c:pt idx="98">
                  <c:v>1.86</c:v>
                </c:pt>
                <c:pt idx="99">
                  <c:v>1.86</c:v>
                </c:pt>
                <c:pt idx="100">
                  <c:v>1.86</c:v>
                </c:pt>
                <c:pt idx="101">
                  <c:v>1.86</c:v>
                </c:pt>
                <c:pt idx="102">
                  <c:v>1.86</c:v>
                </c:pt>
                <c:pt idx="103">
                  <c:v>1.86</c:v>
                </c:pt>
                <c:pt idx="104">
                  <c:v>1.86</c:v>
                </c:pt>
                <c:pt idx="105">
                  <c:v>1.86</c:v>
                </c:pt>
                <c:pt idx="106">
                  <c:v>1.86</c:v>
                </c:pt>
                <c:pt idx="107">
                  <c:v>1.86</c:v>
                </c:pt>
                <c:pt idx="108">
                  <c:v>1.86</c:v>
                </c:pt>
                <c:pt idx="109">
                  <c:v>1.86</c:v>
                </c:pt>
                <c:pt idx="110">
                  <c:v>1.86</c:v>
                </c:pt>
                <c:pt idx="112">
                  <c:v>4.55</c:v>
                </c:pt>
                <c:pt idx="113">
                  <c:v>4.55</c:v>
                </c:pt>
                <c:pt idx="114">
                  <c:v>4.55</c:v>
                </c:pt>
                <c:pt idx="115">
                  <c:v>4.55</c:v>
                </c:pt>
                <c:pt idx="116">
                  <c:v>4.55</c:v>
                </c:pt>
                <c:pt idx="117">
                  <c:v>4.55</c:v>
                </c:pt>
                <c:pt idx="118">
                  <c:v>4.55</c:v>
                </c:pt>
                <c:pt idx="119">
                  <c:v>4.55</c:v>
                </c:pt>
                <c:pt idx="120">
                  <c:v>4.55</c:v>
                </c:pt>
                <c:pt idx="121">
                  <c:v>4.55</c:v>
                </c:pt>
                <c:pt idx="122">
                  <c:v>4.55</c:v>
                </c:pt>
                <c:pt idx="123">
                  <c:v>4.55</c:v>
                </c:pt>
                <c:pt idx="124">
                  <c:v>4.55</c:v>
                </c:pt>
                <c:pt idx="125">
                  <c:v>4.55</c:v>
                </c:pt>
                <c:pt idx="126">
                  <c:v>4.55</c:v>
                </c:pt>
                <c:pt idx="127">
                  <c:v>4.55</c:v>
                </c:pt>
                <c:pt idx="128">
                  <c:v>4.55</c:v>
                </c:pt>
                <c:pt idx="129">
                  <c:v>4.55</c:v>
                </c:pt>
                <c:pt idx="131">
                  <c:v>12.13</c:v>
                </c:pt>
                <c:pt idx="132">
                  <c:v>12.13</c:v>
                </c:pt>
                <c:pt idx="133">
                  <c:v>12.13</c:v>
                </c:pt>
                <c:pt idx="134">
                  <c:v>12.13</c:v>
                </c:pt>
                <c:pt idx="135">
                  <c:v>12.13</c:v>
                </c:pt>
                <c:pt idx="136">
                  <c:v>12.13</c:v>
                </c:pt>
                <c:pt idx="137">
                  <c:v>12.13</c:v>
                </c:pt>
                <c:pt idx="138">
                  <c:v>12.13</c:v>
                </c:pt>
                <c:pt idx="139">
                  <c:v>12.13</c:v>
                </c:pt>
                <c:pt idx="140">
                  <c:v>12.13</c:v>
                </c:pt>
                <c:pt idx="141">
                  <c:v>12.13</c:v>
                </c:pt>
                <c:pt idx="142">
                  <c:v>12.13</c:v>
                </c:pt>
                <c:pt idx="143">
                  <c:v>12.13</c:v>
                </c:pt>
                <c:pt idx="144">
                  <c:v>12.13</c:v>
                </c:pt>
                <c:pt idx="145">
                  <c:v>12.13</c:v>
                </c:pt>
                <c:pt idx="146">
                  <c:v>12.13</c:v>
                </c:pt>
                <c:pt idx="148">
                  <c:v>6.52</c:v>
                </c:pt>
                <c:pt idx="149">
                  <c:v>6.52</c:v>
                </c:pt>
                <c:pt idx="150">
                  <c:v>6.52</c:v>
                </c:pt>
                <c:pt idx="151">
                  <c:v>6.52</c:v>
                </c:pt>
                <c:pt idx="152">
                  <c:v>6.52</c:v>
                </c:pt>
                <c:pt idx="153">
                  <c:v>6.52</c:v>
                </c:pt>
                <c:pt idx="154">
                  <c:v>6.52</c:v>
                </c:pt>
                <c:pt idx="155">
                  <c:v>6.52</c:v>
                </c:pt>
                <c:pt idx="156">
                  <c:v>6.52</c:v>
                </c:pt>
                <c:pt idx="157">
                  <c:v>6.52</c:v>
                </c:pt>
                <c:pt idx="158">
                  <c:v>6.52</c:v>
                </c:pt>
                <c:pt idx="159">
                  <c:v>6.52</c:v>
                </c:pt>
                <c:pt idx="160">
                  <c:v>6.52</c:v>
                </c:pt>
                <c:pt idx="162">
                  <c:v>11.01</c:v>
                </c:pt>
                <c:pt idx="163">
                  <c:v>11.01</c:v>
                </c:pt>
                <c:pt idx="164">
                  <c:v>11.01</c:v>
                </c:pt>
                <c:pt idx="165">
                  <c:v>11.01</c:v>
                </c:pt>
                <c:pt idx="166">
                  <c:v>11.01</c:v>
                </c:pt>
                <c:pt idx="167">
                  <c:v>11.01</c:v>
                </c:pt>
                <c:pt idx="168">
                  <c:v>11.01</c:v>
                </c:pt>
                <c:pt idx="169">
                  <c:v>11.01</c:v>
                </c:pt>
                <c:pt idx="170">
                  <c:v>11.01</c:v>
                </c:pt>
                <c:pt idx="171">
                  <c:v>11.01</c:v>
                </c:pt>
                <c:pt idx="173">
                  <c:v>4.6</c:v>
                </c:pt>
                <c:pt idx="174">
                  <c:v>4.6</c:v>
                </c:pt>
                <c:pt idx="175">
                  <c:v>4.6</c:v>
                </c:pt>
                <c:pt idx="176">
                  <c:v>4.6</c:v>
                </c:pt>
                <c:pt idx="177">
                  <c:v>4.6</c:v>
                </c:pt>
                <c:pt idx="178">
                  <c:v>4.6</c:v>
                </c:pt>
                <c:pt idx="179">
                  <c:v>4.6</c:v>
                </c:pt>
                <c:pt idx="180">
                  <c:v>4.6</c:v>
                </c:pt>
                <c:pt idx="181">
                  <c:v>4.6</c:v>
                </c:pt>
                <c:pt idx="183">
                  <c:v>38.59</c:v>
                </c:pt>
                <c:pt idx="184">
                  <c:v>38.59</c:v>
                </c:pt>
                <c:pt idx="185">
                  <c:v>38.59</c:v>
                </c:pt>
                <c:pt idx="186">
                  <c:v>38.59</c:v>
                </c:pt>
                <c:pt idx="187">
                  <c:v>38.59</c:v>
                </c:pt>
                <c:pt idx="188">
                  <c:v>38.59</c:v>
                </c:pt>
                <c:pt idx="189">
                  <c:v>38.59</c:v>
                </c:pt>
                <c:pt idx="190">
                  <c:v>38.59</c:v>
                </c:pt>
                <c:pt idx="192">
                  <c:v>11.04</c:v>
                </c:pt>
                <c:pt idx="193">
                  <c:v>11.04</c:v>
                </c:pt>
                <c:pt idx="194">
                  <c:v>11.04</c:v>
                </c:pt>
                <c:pt idx="195">
                  <c:v>11.04</c:v>
                </c:pt>
                <c:pt idx="196">
                  <c:v>11.04</c:v>
                </c:pt>
                <c:pt idx="197">
                  <c:v>11.04</c:v>
                </c:pt>
                <c:pt idx="198">
                  <c:v>11.04</c:v>
                </c:pt>
                <c:pt idx="199">
                  <c:v>11.04</c:v>
                </c:pt>
                <c:pt idx="201">
                  <c:v>13.25</c:v>
                </c:pt>
                <c:pt idx="202">
                  <c:v>13.25</c:v>
                </c:pt>
                <c:pt idx="203">
                  <c:v>13.25</c:v>
                </c:pt>
                <c:pt idx="204">
                  <c:v>13.25</c:v>
                </c:pt>
                <c:pt idx="205">
                  <c:v>13.25</c:v>
                </c:pt>
                <c:pt idx="206">
                  <c:v>13.25</c:v>
                </c:pt>
                <c:pt idx="207">
                  <c:v>13.25</c:v>
                </c:pt>
                <c:pt idx="208">
                  <c:v>13.25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Thuế sản phẩm</c:v>
                </c:pt>
              </c:strCache>
            </c:strRef>
          </c:tx>
          <c:spPr>
            <a:solidFill>
              <a:srgbClr val="EDA100"/>
            </a:solidFill>
            <a:ln>
              <a:noFill/>
            </a:ln>
          </c:spPr>
          <c:invertIfNegative val="0"/>
          <c:cat>
            <c:strRef>
              <c:f>Sheet1!$A$2:$A$210</c:f>
              <c:strCache>
                <c:ptCount val="20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</c:strCache>
            </c:strRef>
          </c:cat>
          <c:val>
            <c:numRef>
              <c:f>Sheet1!$E$2:$E$210</c:f>
              <c:numCache>
                <c:formatCode>General</c:formatCode>
                <c:ptCount val="209"/>
                <c:pt idx="0">
                  <c:v>10.9</c:v>
                </c:pt>
                <c:pt idx="1">
                  <c:v>10.9</c:v>
                </c:pt>
                <c:pt idx="2">
                  <c:v>10.9</c:v>
                </c:pt>
                <c:pt idx="3">
                  <c:v>10.9</c:v>
                </c:pt>
                <c:pt idx="4">
                  <c:v>10.9</c:v>
                </c:pt>
                <c:pt idx="5">
                  <c:v>10.9</c:v>
                </c:pt>
                <c:pt idx="6">
                  <c:v>10.9</c:v>
                </c:pt>
                <c:pt idx="7">
                  <c:v>10.9</c:v>
                </c:pt>
                <c:pt idx="8">
                  <c:v>10.9</c:v>
                </c:pt>
                <c:pt idx="9">
                  <c:v>10.9</c:v>
                </c:pt>
                <c:pt idx="10">
                  <c:v>10.9</c:v>
                </c:pt>
                <c:pt idx="11">
                  <c:v>10.9</c:v>
                </c:pt>
                <c:pt idx="12">
                  <c:v>10.9</c:v>
                </c:pt>
                <c:pt idx="13">
                  <c:v>10.9</c:v>
                </c:pt>
                <c:pt idx="14">
                  <c:v>10.9</c:v>
                </c:pt>
                <c:pt idx="15">
                  <c:v>10.9</c:v>
                </c:pt>
                <c:pt idx="16">
                  <c:v>10.9</c:v>
                </c:pt>
                <c:pt idx="17">
                  <c:v>10.9</c:v>
                </c:pt>
                <c:pt idx="18">
                  <c:v>10.9</c:v>
                </c:pt>
                <c:pt idx="19">
                  <c:v>10.9</c:v>
                </c:pt>
                <c:pt idx="20">
                  <c:v>10.9</c:v>
                </c:pt>
                <c:pt idx="21">
                  <c:v>10.9</c:v>
                </c:pt>
                <c:pt idx="22">
                  <c:v>10.9</c:v>
                </c:pt>
                <c:pt idx="23">
                  <c:v>10.9</c:v>
                </c:pt>
                <c:pt idx="24">
                  <c:v>10.9</c:v>
                </c:pt>
                <c:pt idx="25">
                  <c:v>10.9</c:v>
                </c:pt>
                <c:pt idx="26">
                  <c:v>10.9</c:v>
                </c:pt>
                <c:pt idx="27">
                  <c:v>10.9</c:v>
                </c:pt>
                <c:pt idx="28">
                  <c:v>10.9</c:v>
                </c:pt>
                <c:pt idx="29">
                  <c:v>10.9</c:v>
                </c:pt>
                <c:pt idx="30">
                  <c:v>10.9</c:v>
                </c:pt>
                <c:pt idx="31">
                  <c:v>10.9</c:v>
                </c:pt>
                <c:pt idx="32">
                  <c:v>10.9</c:v>
                </c:pt>
                <c:pt idx="33">
                  <c:v>10.9</c:v>
                </c:pt>
                <c:pt idx="34">
                  <c:v>10.9</c:v>
                </c:pt>
                <c:pt idx="35">
                  <c:v>10.9</c:v>
                </c:pt>
                <c:pt idx="36">
                  <c:v>10.9</c:v>
                </c:pt>
                <c:pt idx="37">
                  <c:v>10.9</c:v>
                </c:pt>
                <c:pt idx="38">
                  <c:v>10.9</c:v>
                </c:pt>
                <c:pt idx="39">
                  <c:v>10.9</c:v>
                </c:pt>
                <c:pt idx="40">
                  <c:v>10.9</c:v>
                </c:pt>
                <c:pt idx="41">
                  <c:v>10.9</c:v>
                </c:pt>
                <c:pt idx="42">
                  <c:v>10.9</c:v>
                </c:pt>
                <c:pt idx="43">
                  <c:v>10.9</c:v>
                </c:pt>
                <c:pt idx="44">
                  <c:v>10.9</c:v>
                </c:pt>
                <c:pt idx="45">
                  <c:v>10.9</c:v>
                </c:pt>
                <c:pt idx="46">
                  <c:v>10.9</c:v>
                </c:pt>
                <c:pt idx="47">
                  <c:v>10.9</c:v>
                </c:pt>
                <c:pt idx="48">
                  <c:v>10.9</c:v>
                </c:pt>
                <c:pt idx="49">
                  <c:v>10.9</c:v>
                </c:pt>
                <c:pt idx="50">
                  <c:v>10.9</c:v>
                </c:pt>
                <c:pt idx="51">
                  <c:v>10.9</c:v>
                </c:pt>
                <c:pt idx="52">
                  <c:v>10.9</c:v>
                </c:pt>
                <c:pt idx="53">
                  <c:v>10.9</c:v>
                </c:pt>
                <c:pt idx="54">
                  <c:v>10.9</c:v>
                </c:pt>
                <c:pt idx="55">
                  <c:v>10.9</c:v>
                </c:pt>
                <c:pt idx="56">
                  <c:v>10.9</c:v>
                </c:pt>
                <c:pt idx="57">
                  <c:v>10.9</c:v>
                </c:pt>
                <c:pt idx="58">
                  <c:v>10.9</c:v>
                </c:pt>
                <c:pt idx="59">
                  <c:v>10.9</c:v>
                </c:pt>
                <c:pt idx="60">
                  <c:v>10.9</c:v>
                </c:pt>
                <c:pt idx="61">
                  <c:v>10.9</c:v>
                </c:pt>
                <c:pt idx="62">
                  <c:v>10.9</c:v>
                </c:pt>
                <c:pt idx="63">
                  <c:v>10.9</c:v>
                </c:pt>
                <c:pt idx="64">
                  <c:v>10.9</c:v>
                </c:pt>
                <c:pt idx="65">
                  <c:v>10.9</c:v>
                </c:pt>
                <c:pt idx="66">
                  <c:v>10.9</c:v>
                </c:pt>
                <c:pt idx="67">
                  <c:v>10.9</c:v>
                </c:pt>
                <c:pt idx="68">
                  <c:v>10.9</c:v>
                </c:pt>
                <c:pt idx="69">
                  <c:v>10.9</c:v>
                </c:pt>
                <c:pt idx="70">
                  <c:v>10.9</c:v>
                </c:pt>
                <c:pt idx="71">
                  <c:v>10.9</c:v>
                </c:pt>
                <c:pt idx="73">
                  <c:v>9.45</c:v>
                </c:pt>
                <c:pt idx="74">
                  <c:v>9.45</c:v>
                </c:pt>
                <c:pt idx="75">
                  <c:v>9.45</c:v>
                </c:pt>
                <c:pt idx="76">
                  <c:v>9.45</c:v>
                </c:pt>
                <c:pt idx="77">
                  <c:v>9.45</c:v>
                </c:pt>
                <c:pt idx="78">
                  <c:v>9.45</c:v>
                </c:pt>
                <c:pt idx="79">
                  <c:v>9.45</c:v>
                </c:pt>
                <c:pt idx="80">
                  <c:v>9.45</c:v>
                </c:pt>
                <c:pt idx="81">
                  <c:v>9.45</c:v>
                </c:pt>
                <c:pt idx="82">
                  <c:v>9.45</c:v>
                </c:pt>
                <c:pt idx="83">
                  <c:v>9.45</c:v>
                </c:pt>
                <c:pt idx="84">
                  <c:v>9.45</c:v>
                </c:pt>
                <c:pt idx="85">
                  <c:v>9.45</c:v>
                </c:pt>
                <c:pt idx="86">
                  <c:v>9.45</c:v>
                </c:pt>
                <c:pt idx="87">
                  <c:v>9.45</c:v>
                </c:pt>
                <c:pt idx="88">
                  <c:v>9.45</c:v>
                </c:pt>
                <c:pt idx="89">
                  <c:v>9.45</c:v>
                </c:pt>
                <c:pt idx="90">
                  <c:v>9.45</c:v>
                </c:pt>
                <c:pt idx="91">
                  <c:v>9.45</c:v>
                </c:pt>
                <c:pt idx="92">
                  <c:v>9.45</c:v>
                </c:pt>
                <c:pt idx="93">
                  <c:v>9.45</c:v>
                </c:pt>
                <c:pt idx="94">
                  <c:v>9.45</c:v>
                </c:pt>
                <c:pt idx="95">
                  <c:v>9.45</c:v>
                </c:pt>
                <c:pt idx="96">
                  <c:v>9.45</c:v>
                </c:pt>
                <c:pt idx="97">
                  <c:v>9.45</c:v>
                </c:pt>
                <c:pt idx="98">
                  <c:v>9.45</c:v>
                </c:pt>
                <c:pt idx="99">
                  <c:v>9.45</c:v>
                </c:pt>
                <c:pt idx="100">
                  <c:v>9.45</c:v>
                </c:pt>
                <c:pt idx="101">
                  <c:v>9.45</c:v>
                </c:pt>
                <c:pt idx="102">
                  <c:v>9.45</c:v>
                </c:pt>
                <c:pt idx="103">
                  <c:v>9.45</c:v>
                </c:pt>
                <c:pt idx="104">
                  <c:v>9.45</c:v>
                </c:pt>
                <c:pt idx="105">
                  <c:v>9.45</c:v>
                </c:pt>
                <c:pt idx="106">
                  <c:v>9.45</c:v>
                </c:pt>
                <c:pt idx="107">
                  <c:v>9.45</c:v>
                </c:pt>
                <c:pt idx="108">
                  <c:v>9.45</c:v>
                </c:pt>
                <c:pt idx="109">
                  <c:v>9.45</c:v>
                </c:pt>
                <c:pt idx="110">
                  <c:v>9.45</c:v>
                </c:pt>
                <c:pt idx="112">
                  <c:v>6.29</c:v>
                </c:pt>
                <c:pt idx="113">
                  <c:v>6.29</c:v>
                </c:pt>
                <c:pt idx="114">
                  <c:v>6.29</c:v>
                </c:pt>
                <c:pt idx="115">
                  <c:v>6.29</c:v>
                </c:pt>
                <c:pt idx="116">
                  <c:v>6.29</c:v>
                </c:pt>
                <c:pt idx="117">
                  <c:v>6.29</c:v>
                </c:pt>
                <c:pt idx="118">
                  <c:v>6.29</c:v>
                </c:pt>
                <c:pt idx="119">
                  <c:v>6.29</c:v>
                </c:pt>
                <c:pt idx="120">
                  <c:v>6.29</c:v>
                </c:pt>
                <c:pt idx="121">
                  <c:v>6.29</c:v>
                </c:pt>
                <c:pt idx="122">
                  <c:v>6.29</c:v>
                </c:pt>
                <c:pt idx="123">
                  <c:v>6.29</c:v>
                </c:pt>
                <c:pt idx="124">
                  <c:v>6.29</c:v>
                </c:pt>
                <c:pt idx="125">
                  <c:v>6.29</c:v>
                </c:pt>
                <c:pt idx="126">
                  <c:v>6.29</c:v>
                </c:pt>
                <c:pt idx="127">
                  <c:v>6.29</c:v>
                </c:pt>
                <c:pt idx="128">
                  <c:v>6.29</c:v>
                </c:pt>
                <c:pt idx="129">
                  <c:v>6.29</c:v>
                </c:pt>
                <c:pt idx="131">
                  <c:v>6.48</c:v>
                </c:pt>
                <c:pt idx="132">
                  <c:v>6.48</c:v>
                </c:pt>
                <c:pt idx="133">
                  <c:v>6.48</c:v>
                </c:pt>
                <c:pt idx="134">
                  <c:v>6.48</c:v>
                </c:pt>
                <c:pt idx="135">
                  <c:v>6.48</c:v>
                </c:pt>
                <c:pt idx="136">
                  <c:v>6.48</c:v>
                </c:pt>
                <c:pt idx="137">
                  <c:v>6.48</c:v>
                </c:pt>
                <c:pt idx="138">
                  <c:v>6.48</c:v>
                </c:pt>
                <c:pt idx="139">
                  <c:v>6.48</c:v>
                </c:pt>
                <c:pt idx="140">
                  <c:v>6.48</c:v>
                </c:pt>
                <c:pt idx="141">
                  <c:v>6.48</c:v>
                </c:pt>
                <c:pt idx="142">
                  <c:v>6.48</c:v>
                </c:pt>
                <c:pt idx="143">
                  <c:v>6.48</c:v>
                </c:pt>
                <c:pt idx="144">
                  <c:v>6.48</c:v>
                </c:pt>
                <c:pt idx="145">
                  <c:v>6.48</c:v>
                </c:pt>
                <c:pt idx="146">
                  <c:v>6.48</c:v>
                </c:pt>
                <c:pt idx="148">
                  <c:v>2.94</c:v>
                </c:pt>
                <c:pt idx="149">
                  <c:v>2.94</c:v>
                </c:pt>
                <c:pt idx="150">
                  <c:v>2.94</c:v>
                </c:pt>
                <c:pt idx="151">
                  <c:v>2.94</c:v>
                </c:pt>
                <c:pt idx="152">
                  <c:v>2.94</c:v>
                </c:pt>
                <c:pt idx="153">
                  <c:v>2.94</c:v>
                </c:pt>
                <c:pt idx="154">
                  <c:v>2.94</c:v>
                </c:pt>
                <c:pt idx="155">
                  <c:v>2.94</c:v>
                </c:pt>
                <c:pt idx="156">
                  <c:v>2.94</c:v>
                </c:pt>
                <c:pt idx="157">
                  <c:v>2.94</c:v>
                </c:pt>
                <c:pt idx="158">
                  <c:v>2.94</c:v>
                </c:pt>
                <c:pt idx="159">
                  <c:v>2.94</c:v>
                </c:pt>
                <c:pt idx="160">
                  <c:v>2.94</c:v>
                </c:pt>
                <c:pt idx="162">
                  <c:v>11.93</c:v>
                </c:pt>
                <c:pt idx="163">
                  <c:v>11.93</c:v>
                </c:pt>
                <c:pt idx="164">
                  <c:v>11.93</c:v>
                </c:pt>
                <c:pt idx="165">
                  <c:v>11.93</c:v>
                </c:pt>
                <c:pt idx="166">
                  <c:v>11.93</c:v>
                </c:pt>
                <c:pt idx="167">
                  <c:v>11.93</c:v>
                </c:pt>
                <c:pt idx="168">
                  <c:v>11.93</c:v>
                </c:pt>
                <c:pt idx="169">
                  <c:v>11.93</c:v>
                </c:pt>
                <c:pt idx="170">
                  <c:v>11.93</c:v>
                </c:pt>
                <c:pt idx="171">
                  <c:v>11.93</c:v>
                </c:pt>
                <c:pt idx="173">
                  <c:v>11.4</c:v>
                </c:pt>
                <c:pt idx="174">
                  <c:v>11.4</c:v>
                </c:pt>
                <c:pt idx="175">
                  <c:v>11.4</c:v>
                </c:pt>
                <c:pt idx="176">
                  <c:v>11.4</c:v>
                </c:pt>
                <c:pt idx="177">
                  <c:v>11.4</c:v>
                </c:pt>
                <c:pt idx="178">
                  <c:v>11.4</c:v>
                </c:pt>
                <c:pt idx="179">
                  <c:v>11.4</c:v>
                </c:pt>
                <c:pt idx="180">
                  <c:v>11.4</c:v>
                </c:pt>
                <c:pt idx="181">
                  <c:v>11.4</c:v>
                </c:pt>
                <c:pt idx="183">
                  <c:v>4.71</c:v>
                </c:pt>
                <c:pt idx="184">
                  <c:v>4.71</c:v>
                </c:pt>
                <c:pt idx="185">
                  <c:v>4.71</c:v>
                </c:pt>
                <c:pt idx="186">
                  <c:v>4.71</c:v>
                </c:pt>
                <c:pt idx="187">
                  <c:v>4.71</c:v>
                </c:pt>
                <c:pt idx="188">
                  <c:v>4.71</c:v>
                </c:pt>
                <c:pt idx="189">
                  <c:v>4.71</c:v>
                </c:pt>
                <c:pt idx="190">
                  <c:v>4.71</c:v>
                </c:pt>
                <c:pt idx="192">
                  <c:v>7.52</c:v>
                </c:pt>
                <c:pt idx="193">
                  <c:v>7.52</c:v>
                </c:pt>
                <c:pt idx="194">
                  <c:v>7.52</c:v>
                </c:pt>
                <c:pt idx="195">
                  <c:v>7.52</c:v>
                </c:pt>
                <c:pt idx="196">
                  <c:v>7.52</c:v>
                </c:pt>
                <c:pt idx="197">
                  <c:v>7.52</c:v>
                </c:pt>
                <c:pt idx="198">
                  <c:v>7.52</c:v>
                </c:pt>
                <c:pt idx="199">
                  <c:v>7.52</c:v>
                </c:pt>
                <c:pt idx="201">
                  <c:v>5.87</c:v>
                </c:pt>
                <c:pt idx="202">
                  <c:v>5.87</c:v>
                </c:pt>
                <c:pt idx="203">
                  <c:v>5.87</c:v>
                </c:pt>
                <c:pt idx="204">
                  <c:v>5.87</c:v>
                </c:pt>
                <c:pt idx="205">
                  <c:v>5.87</c:v>
                </c:pt>
                <c:pt idx="206">
                  <c:v>5.87</c:v>
                </c:pt>
                <c:pt idx="207">
                  <c:v>5.87</c:v>
                </c:pt>
                <c:pt idx="208">
                  <c:v>5.87</c:v>
                </c:pt>
              </c:numCache>
            </c:numRef>
          </c:val>
        </c:ser>
        <c:gapWidth val="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1"/>
          <c:min val="0"/>
        </c:scaling>
        <c:delete val="0"/>
        <c:axPos val="l"/>
        <c:numFmt formatCode="[$-42A]0%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  <c:majorUnit val="0.25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20867"/>
          <c:y val="0.03018"/>
          <c:w val="0.77485"/>
          <c:h val="0.9396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Đệm (ẩn)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Tổng kế hoạch (gồm vốn kéo dài)</c:v>
                </c:pt>
                <c:pt idx="1">
                  <c:v>Kế hoạch Thủ tướng giao (≈)</c:v>
                </c:pt>
                <c:pt idx="2">
                  <c:v>Đã giải ngân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</c:v>
                </c:pt>
                <c:pt idx="1">
                  <c:v>5.71842783505155</c:v>
                </c:pt>
                <c:pt idx="2">
                  <c:v>8.765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Giá trị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dPt>
            <c:idx val="0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5F9AE0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8AB5E8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lang="vi-VN" sz="120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120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100,0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20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lang="vi-VN" sz="120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1200" b="0" i="0" baseline="0">
                        <a:solidFill>
                          <a:srgbClr val="FFFFFF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88,6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200" b="0" i="0" baseline="0">
                      <a:solidFill>
                        <a:srgbClr val="FFFFFF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lang="vi-VN" sz="120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120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82,5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120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1200" b="0" i="0" baseline="0">
                    <a:solidFill>
                      <a:srgbClr val="5B6170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Tổng kế hoạch (gồm vốn kéo dài)</c:v>
                </c:pt>
                <c:pt idx="1">
                  <c:v>Kế hoạch Thủ tướng giao (≈)</c:v>
                </c:pt>
                <c:pt idx="2">
                  <c:v>Đã giải ngân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100.0</c:v>
                </c:pt>
                <c:pt idx="1">
                  <c:v>88.5631443298969</c:v>
                </c:pt>
                <c:pt idx="2">
                  <c:v>82.47</c:v>
                </c:pt>
              </c:numCache>
            </c:numRef>
          </c:val>
        </c:ser>
        <c:gapWidth val="67"/>
        <c:overlap val="100"/>
        <c:axId val="1"/>
        <c:axId val="2"/>
      </c:barChart>
      <c:catAx>
        <c:axId val="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100" b="0" i="0" baseline="0">
                <a:solidFill>
                  <a:srgbClr val="16181D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100.0"/>
          <c:min val="0"/>
        </c:scaling>
        <c:delete val="1"/>
        <c:axPos val="b"/>
        <c:numFmt formatCode="[$-42A]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max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3526"/>
          <c:y val="0.10311"/>
          <c:w val="0.95650"/>
          <c:h val="0.747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Số lượng</c:v>
                </c:pt>
              </c:strCache>
            </c:strRef>
          </c:tx>
          <c:spPr>
            <a:solidFill>
              <a:srgbClr val="2A78D6"/>
            </a:solidFill>
            <a:ln w="19050" cap="flat">
              <a:solidFill>
                <a:srgbClr val="FFFFFF"/>
              </a:solidFill>
              <a:round/>
            </a:ln>
          </c:spPr>
          <c:invertIfNegative val="0"/>
          <c:dPt>
            <c:idx val="0"/>
            <c:invertIfNegative val="0"/>
            <c:spPr>
              <a:solidFill>
                <a:srgbClr val="C9CCD2"/>
              </a:solidFill>
              <a:ln w="19050" cap="rnd">
                <a:solidFill>
                  <a:srgbClr val="FFFFFF"/>
                </a:solidFill>
                <a:round/>
              </a:ln>
            </c:spPr>
          </c:dPt>
          <c:dPt>
            <c:idx val="1"/>
            <c:invertIfNegative val="0"/>
            <c:spPr>
              <a:solidFill>
                <a:srgbClr val="C9CCD2"/>
              </a:solidFill>
              <a:ln w="19050" cap="rnd">
                <a:solidFill>
                  <a:srgbClr val="FFFFFF"/>
                </a:solidFill>
                <a:round/>
              </a:ln>
            </c:spPr>
          </c:dPt>
          <c:dPt>
            <c:idx val="2"/>
            <c:invertIfNegative val="0"/>
            <c:spPr>
              <a:solidFill>
                <a:srgbClr val="C9CCD2"/>
              </a:solidFill>
              <a:ln w="19050" cap="rnd">
                <a:solidFill>
                  <a:srgbClr val="FFFFFF"/>
                </a:solidFill>
                <a:round/>
              </a:ln>
            </c:spPr>
          </c:dPt>
          <c:dPt>
            <c:idx val="4"/>
            <c:invertIfNegative val="0"/>
            <c:spPr>
              <a:solidFill>
                <a:srgbClr val="C9CCD2"/>
              </a:solidFill>
              <a:ln w="19050" cap="rnd">
                <a:solidFill>
                  <a:srgbClr val="FFFFFF"/>
                </a:solidFill>
                <a:round/>
              </a:ln>
            </c:spPr>
          </c:dPt>
          <c:dPt>
            <c:idx val="5"/>
            <c:invertIfNegative val="0"/>
            <c:spPr>
              <a:solidFill>
                <a:srgbClr val="C9CCD2"/>
              </a:solidFill>
              <a:ln w="19050" cap="rnd">
                <a:solidFill>
                  <a:srgbClr val="FFFFFF"/>
                </a:solidFill>
                <a:round/>
              </a:ln>
            </c:spPr>
          </c:dPt>
          <c:dPt>
            <c:idx val="6"/>
            <c:invertIfNegative val="0"/>
            <c:spPr>
              <a:solidFill>
                <a:srgbClr val="C9CCD2"/>
              </a:solidFill>
              <a:ln w="19050" cap="rnd">
                <a:solidFill>
                  <a:srgbClr val="FFFFFF"/>
                </a:solidFill>
                <a:round/>
              </a:ln>
            </c:spPr>
          </c:dPt>
          <c:dLbls>
            <c:dLbl>
              <c:idx val="0"/>
              <c:numFmt formatCode="[$-42A]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[$-42A]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[$-42A]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[$-42A]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[$-42A]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[$-42A]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[$-42A]0" sourceLinked="0"/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5B6170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[$-42A]0" sourceLinked="0"/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950" b="0" i="0" baseline="0">
                    <a:solidFill>
                      <a:srgbClr val="5B6170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5–6%</c:v>
                </c:pt>
                <c:pt idx="1">
                  <c:v>6–7%</c:v>
                </c:pt>
                <c:pt idx="2">
                  <c:v>7–8%</c:v>
                </c:pt>
                <c:pt idx="3">
                  <c:v>8–9%</c:v>
                </c:pt>
                <c:pt idx="4">
                  <c:v>9–10%</c:v>
                </c:pt>
                <c:pt idx="5">
                  <c:v>10–11%</c:v>
                </c:pt>
                <c:pt idx="6">
                  <c:v>11–12%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1.0</c:v>
                </c:pt>
                <c:pt idx="1">
                  <c:v>4.0</c:v>
                </c:pt>
                <c:pt idx="2">
                  <c:v>9.0</c:v>
                </c:pt>
                <c:pt idx="3">
                  <c:v>11.0</c:v>
                </c:pt>
                <c:pt idx="4">
                  <c:v>3.0</c:v>
                </c:pt>
                <c:pt idx="5">
                  <c:v>4.0</c:v>
                </c:pt>
                <c:pt idx="6">
                  <c:v>2.0</c:v>
                </c:pt>
              </c:numCache>
            </c:numRef>
          </c:val>
        </c:ser>
        <c:gapWidth val="4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12"/>
          <c:min val="0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round/>
            </a:ln>
          </c:spPr>
        </c:majorGridlines>
        <c:numFmt formatCode="[$-42A]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  <c:majorUnit val="3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2528"/>
          <c:y val="0.11598"/>
          <c:w val="0.77692"/>
          <c:h val="0.7846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Sheet1!$G$1</c:f>
              <c:strCache>
                <c:ptCount val="1"/>
                <c:pt idx="0">
                  <c:v>Q1 (nền ẩn)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errBars>
            <c:errBarType val="minus"/>
            <c:errValType val="cust"/>
            <c:noEndCap val="1"/>
            <c:minus>
              <c:numRef>
                <c:f>Sheet1!$J$2:$J$5</c:f>
                <c:numCache>
                  <c:formatCode>General</c:formatCode>
                  <c:ptCount val="4"/>
                  <c:pt idx="0">
                    <c:v>1.317499999999999</c:v>
                  </c:pt>
                  <c:pt idx="1">
                    <c:v>2.9499999999999993</c:v>
                  </c:pt>
                  <c:pt idx="2">
                    <c:v>1.3375000000000004</c:v>
                  </c:pt>
                  <c:pt idx="3">
                    <c:v>0.5699999999999994</c:v>
                  </c:pt>
                </c:numCache>
              </c:numRef>
            </c:minus>
            <c:spPr>
              <a:ln w="15875" cap="flat">
                <a:solidFill>
                  <a:srgbClr val="16181D"/>
                </a:solidFill>
                <a:round/>
              </a:ln>
            </c:spPr>
          </c:errBars>
          <c:cat>
            <c:strRef>
              <c:f>Sheet1!$A$2:$A$5</c:f>
              <c:strCache>
                <c:ptCount val="4"/>
                <c:pt idx="0">
                  <c:v>Miền Bắc · 2025</c:v>
                </c:pt>
                <c:pt idx="1">
                  <c:v>Miền Bắc · 9T/2026</c:v>
                </c:pt>
                <c:pt idx="2">
                  <c:v>Trung, Nam · 2025</c:v>
                </c:pt>
                <c:pt idx="3">
                  <c:v>Trung, Nam · 9T/2026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7.647499999999999</c:v>
                </c:pt>
                <c:pt idx="1">
                  <c:v>8.54</c:v>
                </c:pt>
                <c:pt idx="2">
                  <c:v>7.1775</c:v>
                </c:pt>
                <c:pt idx="3">
                  <c:v>7.89</c:v>
                </c:pt>
              </c:numCache>
            </c:numRef>
          </c:val>
        </c:ser>
        <c:ser>
          <c:idx val="1"/>
          <c:order val="1"/>
          <c:tx>
            <c:strRef>
              <c:f>Sheet1!$H$1</c:f>
              <c:strCache>
                <c:ptCount val="1"/>
                <c:pt idx="0">
                  <c:v>Q1→trung vị</c:v>
                </c:pt>
              </c:strCache>
            </c:strRef>
          </c:tx>
          <c:spPr>
            <a:solidFill>
              <a:srgbClr val="8AB5E8"/>
            </a:solidFill>
            <a:ln w="12700" cap="flat">
              <a:solidFill>
                <a:srgbClr val="FFFFFF"/>
              </a:solidFill>
              <a:round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Miền Bắc · 2025</c:v>
                </c:pt>
                <c:pt idx="1">
                  <c:v>Miền Bắc · 9T/2026</c:v>
                </c:pt>
                <c:pt idx="2">
                  <c:v>Trung, Nam · 2025</c:v>
                </c:pt>
                <c:pt idx="3">
                  <c:v>Trung, Nam · 9T/2026</c:v>
                </c:pt>
              </c:strCache>
            </c: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0.5675000000000008</c:v>
                </c:pt>
                <c:pt idx="1">
                  <c:v>1.2100000000000009</c:v>
                </c:pt>
                <c:pt idx="2">
                  <c:v>0.27749999999999986</c:v>
                </c:pt>
                <c:pt idx="3">
                  <c:v>1.1700000000000008</c:v>
                </c:pt>
              </c:numCache>
            </c:numRef>
          </c:val>
        </c:ser>
        <c:ser>
          <c:idx val="2"/>
          <c:order val="2"/>
          <c:tx>
            <c:strRef>
              <c:f>Sheet1!$I$1</c:f>
              <c:strCache>
                <c:ptCount val="1"/>
                <c:pt idx="0">
                  <c:v>Trung vị→Q3</c:v>
                </c:pt>
              </c:strCache>
            </c:strRef>
          </c:tx>
          <c:spPr>
            <a:solidFill>
              <a:srgbClr val="2A78D6"/>
            </a:solidFill>
            <a:ln w="12700" cap="flat">
              <a:solidFill>
                <a:srgbClr val="FFFFFF"/>
              </a:solidFill>
              <a:round/>
            </a:ln>
          </c:spPr>
          <c:invertIfNegative val="0"/>
          <c:errBars>
            <c:errBarType val="plus"/>
            <c:errValType val="cust"/>
            <c:noEndCap val="1"/>
            <c:plus>
              <c:numRef>
                <c:f>Sheet1!$K$2:$K$5</c:f>
                <c:numCache>
                  <c:formatCode>General</c:formatCode>
                  <c:ptCount val="4"/>
                  <c:pt idx="0">
                    <c:v>1.9925000000000015</c:v>
                  </c:pt>
                  <c:pt idx="1">
                    <c:v>1.2299999999999986</c:v>
                  </c:pt>
                  <c:pt idx="2">
                    <c:v>1.3499999999999996</c:v>
                  </c:pt>
                  <c:pt idx="3">
                    <c:v>1.200000000000001</c:v>
                  </c:pt>
                </c:numCache>
              </c:numRef>
            </c:plus>
            <c:spPr>
              <a:ln w="15875" cap="flat">
                <a:solidFill>
                  <a:srgbClr val="16181D"/>
                </a:solidFill>
                <a:round/>
              </a:ln>
            </c:spPr>
          </c:errBars>
          <c:cat>
            <c:strRef>
              <c:f>Sheet1!$A$2:$A$5</c:f>
              <c:strCache>
                <c:ptCount val="4"/>
                <c:pt idx="0">
                  <c:v>Miền Bắc · 2025</c:v>
                </c:pt>
                <c:pt idx="1">
                  <c:v>Miền Bắc · 9T/2026</c:v>
                </c:pt>
                <c:pt idx="2">
                  <c:v>Trung, Nam · 2025</c:v>
                </c:pt>
                <c:pt idx="3">
                  <c:v>Trung, Nam · 9T/2026</c:v>
                </c:pt>
              </c:strCache>
            </c:strRef>
          </c:cat>
          <c:val>
            <c:numRef>
              <c:f>Sheet1!$I$2:$I$5</c:f>
              <c:numCache>
                <c:formatCode>General</c:formatCode>
                <c:ptCount val="4"/>
                <c:pt idx="0">
                  <c:v>1.6824999999999992</c:v>
                </c:pt>
                <c:pt idx="1">
                  <c:v>1.5600000000000005</c:v>
                </c:pt>
                <c:pt idx="2">
                  <c:v>1.2149999999999999</c:v>
                </c:pt>
                <c:pt idx="3">
                  <c:v>0.9499999999999993</c:v>
                </c:pt>
              </c:numCache>
            </c:numRef>
          </c:val>
        </c:ser>
        <c:gapWidth val="236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>
            <a:solidFill>
              <a:srgbClr val="C3C2B7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50" b="0" i="0" baseline="0">
                <a:solidFill>
                  <a:srgbClr val="16181D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At val="4"/>
        <c:auto val="1"/>
        <c:lblAlgn val="ctr"/>
        <c:lblOffset val="60"/>
        <c:noMultiLvlLbl val="0"/>
      </c:catAx>
      <c:valAx>
        <c:axId val="2"/>
        <c:scaling>
          <c:orientation val="minMax"/>
          <c:max val="14"/>
          <c:min val="4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round/>
            </a:ln>
          </c:spPr>
        </c:majorGridlines>
        <c:numFmt formatCode="[$-42A]#,##0;&quot;−&quot;#,##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  <c:majorUnit val="2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2528"/>
          <c:y val="0.21426"/>
          <c:w val="0.95000"/>
          <c:h val="0.59863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Sheet1!$H$1</c:f>
              <c:strCache>
                <c:ptCount val="1"/>
                <c:pt idx="0">
                  <c:v>Xu hướng</c:v>
                </c:pt>
              </c:strCache>
            </c:strRef>
          </c:tx>
          <c:spPr>
            <a:ln>
              <a:noFill/>
            </a:ln>
          </c:spPr>
          <c:marker>
            <c:symbol val="none"/>
          </c:marker>
          <c:trendline>
            <c:spPr>
              <a:ln w="15875" cap="rnd">
                <a:solidFill>
                  <a:srgbClr val="5B6170"/>
                </a:solidFill>
                <a:prstDash val="dash"/>
                <a:round/>
              </a:ln>
            </c:spPr>
            <c:trendlineType val="linear"/>
            <c:dispRSqr val="0"/>
            <c:dispEq val="0"/>
          </c:trendline>
          <c:xVal>
            <c:numRef>
              <c:f>Sheet1!$G$2:$G$35</c:f>
              <c:numCache>
                <c:formatCode>General</c:formatCode>
                <c:ptCount val="34"/>
                <c:pt idx="0">
                  <c:v>3.18</c:v>
                </c:pt>
                <c:pt idx="1">
                  <c:v>3.39</c:v>
                </c:pt>
                <c:pt idx="2">
                  <c:v>2.186</c:v>
                </c:pt>
                <c:pt idx="3">
                  <c:v>1.985</c:v>
                </c:pt>
                <c:pt idx="4">
                  <c:v>2.137</c:v>
                </c:pt>
                <c:pt idx="5">
                  <c:v>2.858</c:v>
                </c:pt>
                <c:pt idx="6">
                  <c:v>4.458</c:v>
                </c:pt>
                <c:pt idx="7">
                  <c:v>4.5</c:v>
                </c:pt>
                <c:pt idx="8">
                  <c:v>2.841</c:v>
                </c:pt>
                <c:pt idx="9">
                  <c:v>7.178</c:v>
                </c:pt>
                <c:pt idx="10">
                  <c:v>5.852</c:v>
                </c:pt>
                <c:pt idx="11">
                  <c:v>10.458</c:v>
                </c:pt>
                <c:pt idx="12">
                  <c:v>3.57</c:v>
                </c:pt>
                <c:pt idx="13">
                  <c:v>3.958</c:v>
                </c:pt>
                <c:pt idx="14">
                  <c:v>7.086</c:v>
                </c:pt>
                <c:pt idx="15">
                  <c:v>3.543</c:v>
                </c:pt>
                <c:pt idx="16">
                  <c:v>2.707</c:v>
                </c:pt>
                <c:pt idx="17">
                  <c:v>3.624</c:v>
                </c:pt>
                <c:pt idx="18">
                  <c:v>3.099</c:v>
                </c:pt>
                <c:pt idx="19">
                  <c:v>3.014</c:v>
                </c:pt>
                <c:pt idx="20">
                  <c:v>4.43</c:v>
                </c:pt>
                <c:pt idx="21">
                  <c:v>4.078</c:v>
                </c:pt>
                <c:pt idx="22">
                  <c:v>3.405</c:v>
                </c:pt>
                <c:pt idx="23">
                  <c:v>3.225</c:v>
                </c:pt>
                <c:pt idx="24">
                  <c:v>4.417</c:v>
                </c:pt>
                <c:pt idx="25">
                  <c:v>4.214</c:v>
                </c:pt>
                <c:pt idx="26">
                  <c:v>4.629</c:v>
                </c:pt>
                <c:pt idx="27">
                  <c:v>6.037</c:v>
                </c:pt>
                <c:pt idx="28">
                  <c:v>8.622</c:v>
                </c:pt>
                <c:pt idx="29">
                  <c:v>3.364</c:v>
                </c:pt>
                <c:pt idx="30">
                  <c:v>3.212</c:v>
                </c:pt>
                <c:pt idx="31">
                  <c:v>3.299</c:v>
                </c:pt>
                <c:pt idx="32">
                  <c:v>3.8</c:v>
                </c:pt>
                <c:pt idx="33">
                  <c:v>3.147</c:v>
                </c:pt>
              </c:numCache>
            </c:numRef>
          </c:xVal>
          <c:yVal>
            <c:numRef>
              <c:f>Sheet1!$H$2:$H$35</c:f>
              <c:numCache>
                <c:formatCode>General</c:formatCode>
                <c:ptCount val="34"/>
                <c:pt idx="0">
                  <c:v>7.52</c:v>
                </c:pt>
                <c:pt idx="1">
                  <c:v>8.14</c:v>
                </c:pt>
                <c:pt idx="2">
                  <c:v>6.4</c:v>
                </c:pt>
                <c:pt idx="3">
                  <c:v>7.22</c:v>
                </c:pt>
                <c:pt idx="4">
                  <c:v>7.34</c:v>
                </c:pt>
                <c:pt idx="5">
                  <c:v>8.03</c:v>
                </c:pt>
                <c:pt idx="6">
                  <c:v>10.52</c:v>
                </c:pt>
                <c:pt idx="7">
                  <c:v>6.33</c:v>
                </c:pt>
                <c:pt idx="8">
                  <c:v>8.06</c:v>
                </c:pt>
                <c:pt idx="9">
                  <c:v>8.16</c:v>
                </c:pt>
                <c:pt idx="10">
                  <c:v>10.27</c:v>
                </c:pt>
                <c:pt idx="11">
                  <c:v>11.89</c:v>
                </c:pt>
                <c:pt idx="12">
                  <c:v>10.65</c:v>
                </c:pt>
                <c:pt idx="13">
                  <c:v>8.78</c:v>
                </c:pt>
                <c:pt idx="14">
                  <c:v>11.81</c:v>
                </c:pt>
                <c:pt idx="15">
                  <c:v>8.27</c:v>
                </c:pt>
                <c:pt idx="16">
                  <c:v>8.44</c:v>
                </c:pt>
                <c:pt idx="17">
                  <c:v>8.78</c:v>
                </c:pt>
                <c:pt idx="18">
                  <c:v>8.0</c:v>
                </c:pt>
                <c:pt idx="19">
                  <c:v>8.5</c:v>
                </c:pt>
                <c:pt idx="20">
                  <c:v>9.18</c:v>
                </c:pt>
                <c:pt idx="21">
                  <c:v>10.02</c:v>
                </c:pt>
                <c:pt idx="22">
                  <c:v>7.2</c:v>
                </c:pt>
                <c:pt idx="23">
                  <c:v>6.68</c:v>
                </c:pt>
                <c:pt idx="24">
                  <c:v>7.11</c:v>
                </c:pt>
                <c:pt idx="25">
                  <c:v>6.42</c:v>
                </c:pt>
                <c:pt idx="26">
                  <c:v>9.52</c:v>
                </c:pt>
                <c:pt idx="27">
                  <c:v>9.63</c:v>
                </c:pt>
                <c:pt idx="28">
                  <c:v>7.53</c:v>
                </c:pt>
                <c:pt idx="29">
                  <c:v>7.38</c:v>
                </c:pt>
                <c:pt idx="30">
                  <c:v>8.39</c:v>
                </c:pt>
                <c:pt idx="31">
                  <c:v>5.84</c:v>
                </c:pt>
                <c:pt idx="32">
                  <c:v>7.23</c:v>
                </c:pt>
                <c:pt idx="33">
                  <c:v>7.23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Địa phương được ghi tên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7"/>
            <c:spPr>
              <a:solidFill>
                <a:srgbClr val="2A78D6"/>
              </a:solidFill>
              <a:ln w="9525" cap="rnd">
                <a:solidFill>
                  <a:srgbClr val="FFFFFF"/>
                </a:solidFill>
                <a:round/>
              </a:ln>
            </c:spPr>
          </c:marker>
          <c:dLbls>
            <c:dLbl>
              <c:idx val="0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Tuyên Quang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Cao Bằng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Phú Thọ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Thái Nguyên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Hà Nội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Bắc Ninh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Quảng Ninh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Ninh Bình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Hải Phòng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Đồng Nai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TP.HCM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Vĩnh Long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950" b="0" i="0" baseline="0">
                    <a:solidFill>
                      <a:srgbClr val="16181D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xVal>
            <c:numRef>
              <c:f>Sheet1!$B$2:$B$13</c:f>
              <c:numCache>
                <c:formatCode>General</c:formatCode>
                <c:ptCount val="12"/>
                <c:pt idx="0">
                  <c:v>2.186</c:v>
                </c:pt>
                <c:pt idx="1">
                  <c:v>1.985</c:v>
                </c:pt>
                <c:pt idx="2">
                  <c:v>4.458</c:v>
                </c:pt>
                <c:pt idx="3">
                  <c:v>4.5</c:v>
                </c:pt>
                <c:pt idx="4">
                  <c:v>7.178</c:v>
                </c:pt>
                <c:pt idx="5">
                  <c:v>5.852</c:v>
                </c:pt>
                <c:pt idx="6">
                  <c:v>10.458</c:v>
                </c:pt>
                <c:pt idx="7">
                  <c:v>3.57</c:v>
                </c:pt>
                <c:pt idx="8">
                  <c:v>7.086</c:v>
                </c:pt>
                <c:pt idx="9">
                  <c:v>6.037</c:v>
                </c:pt>
                <c:pt idx="10">
                  <c:v>8.622</c:v>
                </c:pt>
                <c:pt idx="11">
                  <c:v>3.299</c:v>
                </c:pt>
              </c:numCache>
            </c:numRef>
          </c:xVal>
          <c:yVal>
            <c:numRef>
              <c:f>Sheet1!$C$2:$C$13</c:f>
              <c:numCache>
                <c:formatCode>General</c:formatCode>
                <c:ptCount val="12"/>
                <c:pt idx="0">
                  <c:v>6.4</c:v>
                </c:pt>
                <c:pt idx="1">
                  <c:v>7.22</c:v>
                </c:pt>
                <c:pt idx="2">
                  <c:v>10.52</c:v>
                </c:pt>
                <c:pt idx="3">
                  <c:v>6.33</c:v>
                </c:pt>
                <c:pt idx="4">
                  <c:v>8.16</c:v>
                </c:pt>
                <c:pt idx="5">
                  <c:v>10.27</c:v>
                </c:pt>
                <c:pt idx="6">
                  <c:v>11.89</c:v>
                </c:pt>
                <c:pt idx="7">
                  <c:v>10.65</c:v>
                </c:pt>
                <c:pt idx="8">
                  <c:v>11.81</c:v>
                </c:pt>
                <c:pt idx="9">
                  <c:v>9.63</c:v>
                </c:pt>
                <c:pt idx="10">
                  <c:v>7.53</c:v>
                </c:pt>
                <c:pt idx="11">
                  <c:v>5.84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Sheet1!$F$1</c:f>
              <c:strCache>
                <c:ptCount val="1"/>
                <c:pt idx="0">
                  <c:v>Địa phương khác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6"/>
            <c:spPr>
              <a:solidFill>
                <a:srgbClr val="C9CCD2"/>
              </a:solidFill>
              <a:ln w="9525" cap="rnd">
                <a:solidFill>
                  <a:srgbClr val="FFFFFF"/>
                </a:solidFill>
                <a:round/>
              </a:ln>
            </c:spPr>
          </c:marker>
          <c:xVal>
            <c:numRef>
              <c:f>Sheet1!$E$2:$E$23</c:f>
              <c:numCache>
                <c:formatCode>General</c:formatCode>
                <c:ptCount val="22"/>
                <c:pt idx="0">
                  <c:v>3.18</c:v>
                </c:pt>
                <c:pt idx="1">
                  <c:v>3.39</c:v>
                </c:pt>
                <c:pt idx="2">
                  <c:v>2.137</c:v>
                </c:pt>
                <c:pt idx="3">
                  <c:v>2.858</c:v>
                </c:pt>
                <c:pt idx="4">
                  <c:v>2.841</c:v>
                </c:pt>
                <c:pt idx="5">
                  <c:v>3.958</c:v>
                </c:pt>
                <c:pt idx="6">
                  <c:v>3.543</c:v>
                </c:pt>
                <c:pt idx="7">
                  <c:v>2.707</c:v>
                </c:pt>
                <c:pt idx="8">
                  <c:v>3.624</c:v>
                </c:pt>
                <c:pt idx="9">
                  <c:v>3.099</c:v>
                </c:pt>
                <c:pt idx="10">
                  <c:v>3.014</c:v>
                </c:pt>
                <c:pt idx="11">
                  <c:v>4.43</c:v>
                </c:pt>
                <c:pt idx="12">
                  <c:v>4.078</c:v>
                </c:pt>
                <c:pt idx="13">
                  <c:v>3.405</c:v>
                </c:pt>
                <c:pt idx="14">
                  <c:v>3.225</c:v>
                </c:pt>
                <c:pt idx="15">
                  <c:v>4.417</c:v>
                </c:pt>
                <c:pt idx="16">
                  <c:v>4.214</c:v>
                </c:pt>
                <c:pt idx="17">
                  <c:v>4.629</c:v>
                </c:pt>
                <c:pt idx="18">
                  <c:v>3.364</c:v>
                </c:pt>
                <c:pt idx="19">
                  <c:v>3.212</c:v>
                </c:pt>
                <c:pt idx="20">
                  <c:v>3.8</c:v>
                </c:pt>
                <c:pt idx="21">
                  <c:v>3.147</c:v>
                </c:pt>
              </c:numCache>
            </c:numRef>
          </c:xVal>
          <c:yVal>
            <c:numRef>
              <c:f>Sheet1!$F$2:$F$23</c:f>
              <c:numCache>
                <c:formatCode>General</c:formatCode>
                <c:ptCount val="22"/>
                <c:pt idx="0">
                  <c:v>7.52</c:v>
                </c:pt>
                <c:pt idx="1">
                  <c:v>8.14</c:v>
                </c:pt>
                <c:pt idx="2">
                  <c:v>7.34</c:v>
                </c:pt>
                <c:pt idx="3">
                  <c:v>8.03</c:v>
                </c:pt>
                <c:pt idx="4">
                  <c:v>8.06</c:v>
                </c:pt>
                <c:pt idx="5">
                  <c:v>8.78</c:v>
                </c:pt>
                <c:pt idx="6">
                  <c:v>8.27</c:v>
                </c:pt>
                <c:pt idx="7">
                  <c:v>8.44</c:v>
                </c:pt>
                <c:pt idx="8">
                  <c:v>8.78</c:v>
                </c:pt>
                <c:pt idx="9">
                  <c:v>8.0</c:v>
                </c:pt>
                <c:pt idx="10">
                  <c:v>8.5</c:v>
                </c:pt>
                <c:pt idx="11">
                  <c:v>9.18</c:v>
                </c:pt>
                <c:pt idx="12">
                  <c:v>10.02</c:v>
                </c:pt>
                <c:pt idx="13">
                  <c:v>7.2</c:v>
                </c:pt>
                <c:pt idx="14">
                  <c:v>6.68</c:v>
                </c:pt>
                <c:pt idx="15">
                  <c:v>7.11</c:v>
                </c:pt>
                <c:pt idx="16">
                  <c:v>6.42</c:v>
                </c:pt>
                <c:pt idx="17">
                  <c:v>9.52</c:v>
                </c:pt>
                <c:pt idx="18">
                  <c:v>7.38</c:v>
                </c:pt>
                <c:pt idx="19">
                  <c:v>8.39</c:v>
                </c:pt>
                <c:pt idx="20">
                  <c:v>7.23</c:v>
                </c:pt>
                <c:pt idx="21">
                  <c:v>7.23</c:v>
                </c:pt>
              </c:numCache>
            </c:numRef>
          </c:yVal>
          <c:smooth val="0"/>
        </c:ser>
        <c:axId val="1"/>
        <c:axId val="2"/>
      </c:scatterChart>
      <c:valAx>
        <c:axId val="1"/>
        <c:scaling>
          <c:orientation val="minMax"/>
          <c:max val="12"/>
          <c:min val="0"/>
        </c:scaling>
        <c:delete val="0"/>
        <c:axPos val="b"/>
        <c:majorGridlines>
          <c:spPr>
            <a:ln w="6350" cap="flat">
              <a:solidFill>
                <a:srgbClr val="E1E0D9"/>
              </a:solidFill>
              <a:round/>
            </a:ln>
          </c:spPr>
        </c:majorGridlines>
        <c:numFmt formatCode="[$-42A]#,##0;&quot;−&quot;#,##0" sourceLinked="0"/>
        <c:majorTickMark val="none"/>
        <c:minorTickMark val="none"/>
        <c:tickLblPos val="nextTo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crossBetween val="between"/>
        <c:majorUnit val="2"/>
      </c:valAx>
      <c:valAx>
        <c:axId val="2"/>
        <c:scaling>
          <c:orientation val="minMax"/>
          <c:max val="12"/>
          <c:min val="4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round/>
            </a:ln>
          </c:spPr>
        </c:majorGridlines>
        <c:numFmt formatCode="[$-42A]#,##0;&quot;−&quot;#,##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  <c:majorUnit val="2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2528"/>
          <c:y val="0.19606"/>
          <c:w val="0.95000"/>
          <c:h val="0.63273"/>
        </c:manualLayout>
      </c:layout>
      <c:bubbleChart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Miền Bắc</c:v>
                </c:pt>
              </c:strCache>
            </c:strRef>
          </c:tx>
          <c:spPr>
            <a:solidFill>
              <a:srgbClr val="2A78D6">
                <a:alpha val="72000"/>
              </a:srgbClr>
            </a:solidFill>
            <a:ln w="9525" cap="flat">
              <a:solidFill>
                <a:srgbClr val="FFFFFF"/>
              </a:solidFill>
              <a:round/>
            </a:ln>
          </c:spPr>
          <c:invertIfNegative val="0"/>
          <c:dLbls>
            <c:dLbl>
              <c:idx val="9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Hà Nội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Bắc Ninh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Quảng Ninh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Hải Phòng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950" b="0" i="0" baseline="0">
                    <a:solidFill>
                      <a:srgbClr val="16181D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xVal>
            <c:numRef>
              <c:f>Sheet1!$B$2:$B$19</c:f>
              <c:numCache>
                <c:formatCode>General</c:formatCode>
                <c:ptCount val="18"/>
                <c:pt idx="0">
                  <c:v>3.18</c:v>
                </c:pt>
                <c:pt idx="1">
                  <c:v>3.39</c:v>
                </c:pt>
                <c:pt idx="2">
                  <c:v>2.186</c:v>
                </c:pt>
                <c:pt idx="3">
                  <c:v>1.985</c:v>
                </c:pt>
                <c:pt idx="4">
                  <c:v>2.137</c:v>
                </c:pt>
                <c:pt idx="5">
                  <c:v>2.858</c:v>
                </c:pt>
                <c:pt idx="6">
                  <c:v>4.458</c:v>
                </c:pt>
                <c:pt idx="7">
                  <c:v>4.5</c:v>
                </c:pt>
                <c:pt idx="8">
                  <c:v>2.841</c:v>
                </c:pt>
                <c:pt idx="9">
                  <c:v>7.178</c:v>
                </c:pt>
                <c:pt idx="10">
                  <c:v>5.852</c:v>
                </c:pt>
                <c:pt idx="11">
                  <c:v>10.458</c:v>
                </c:pt>
                <c:pt idx="12">
                  <c:v>3.57</c:v>
                </c:pt>
                <c:pt idx="13">
                  <c:v>3.958</c:v>
                </c:pt>
                <c:pt idx="14">
                  <c:v>7.086</c:v>
                </c:pt>
                <c:pt idx="15">
                  <c:v>3.543</c:v>
                </c:pt>
                <c:pt idx="16">
                  <c:v>2.707</c:v>
                </c:pt>
                <c:pt idx="17">
                  <c:v>3.624</c:v>
                </c:pt>
              </c:numCache>
            </c:numRef>
          </c:xVal>
          <c:yVal>
            <c:numRef>
              <c:f>Sheet1!$C$2:$C$19</c:f>
              <c:numCache>
                <c:formatCode>General</c:formatCode>
                <c:ptCount val="18"/>
                <c:pt idx="0">
                  <c:v>7.52</c:v>
                </c:pt>
                <c:pt idx="1">
                  <c:v>8.14</c:v>
                </c:pt>
                <c:pt idx="2">
                  <c:v>6.4</c:v>
                </c:pt>
                <c:pt idx="3">
                  <c:v>7.22</c:v>
                </c:pt>
                <c:pt idx="4">
                  <c:v>7.34</c:v>
                </c:pt>
                <c:pt idx="5">
                  <c:v>8.03</c:v>
                </c:pt>
                <c:pt idx="6">
                  <c:v>10.52</c:v>
                </c:pt>
                <c:pt idx="7">
                  <c:v>6.33</c:v>
                </c:pt>
                <c:pt idx="8">
                  <c:v>8.06</c:v>
                </c:pt>
                <c:pt idx="9">
                  <c:v>8.16</c:v>
                </c:pt>
                <c:pt idx="10">
                  <c:v>10.27</c:v>
                </c:pt>
                <c:pt idx="11">
                  <c:v>11.89</c:v>
                </c:pt>
                <c:pt idx="12">
                  <c:v>10.65</c:v>
                </c:pt>
                <c:pt idx="13">
                  <c:v>8.78</c:v>
                </c:pt>
                <c:pt idx="14">
                  <c:v>11.81</c:v>
                </c:pt>
                <c:pt idx="15">
                  <c:v>8.27</c:v>
                </c:pt>
                <c:pt idx="16">
                  <c:v>8.44</c:v>
                </c:pt>
                <c:pt idx="17">
                  <c:v>8.78</c:v>
                </c:pt>
              </c:numCache>
            </c:numRef>
          </c:yVal>
          <c:bubbleSize>
            <c:numRef>
              <c:f>Sheet1!$D$2:$D$19</c:f>
              <c:numCache>
                <c:formatCode>General</c:formatCode>
                <c:ptCount val="18"/>
                <c:pt idx="0">
                  <c:v>501.16</c:v>
                </c:pt>
                <c:pt idx="1">
                  <c:v>1675.67</c:v>
                </c:pt>
                <c:pt idx="2">
                  <c:v>1748.25</c:v>
                </c:pt>
                <c:pt idx="3">
                  <c:v>562.93</c:v>
                </c:pt>
                <c:pt idx="4">
                  <c:v>667.42</c:v>
                </c:pt>
                <c:pt idx="5">
                  <c:v>1341.22</c:v>
                </c:pt>
                <c:pt idx="6">
                  <c:v>3701.53</c:v>
                </c:pt>
                <c:pt idx="7">
                  <c:v>1711.58</c:v>
                </c:pt>
                <c:pt idx="8">
                  <c:v>820.63</c:v>
                </c:pt>
                <c:pt idx="9">
                  <c:v>8857.53</c:v>
                </c:pt>
                <c:pt idx="10">
                  <c:v>3572.35</c:v>
                </c:pt>
                <c:pt idx="11">
                  <c:v>1411.58</c:v>
                </c:pt>
                <c:pt idx="12">
                  <c:v>3843.77</c:v>
                </c:pt>
                <c:pt idx="13">
                  <c:v>3235.17</c:v>
                </c:pt>
                <c:pt idx="14">
                  <c:v>4149.87</c:v>
                </c:pt>
                <c:pt idx="15">
                  <c:v>3771.77</c:v>
                </c:pt>
                <c:pt idx="16">
                  <c:v>3497.75</c:v>
                </c:pt>
                <c:pt idx="17">
                  <c:v>1335.14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f>Sheet1!$G$1</c:f>
              <c:strCache>
                <c:ptCount val="1"/>
                <c:pt idx="0">
                  <c:v>Miền Trung, Tây Nguyên</c:v>
                </c:pt>
              </c:strCache>
            </c:strRef>
          </c:tx>
          <c:spPr>
            <a:solidFill>
              <a:srgbClr val="EB6834">
                <a:alpha val="72000"/>
              </a:srgbClr>
            </a:solidFill>
            <a:ln w="9525" cap="flat">
              <a:solidFill>
                <a:srgbClr val="FFFFFF"/>
              </a:solidFill>
              <a:round/>
            </a:ln>
          </c:spPr>
          <c:invertIfNegative val="0"/>
          <c:xVal>
            <c:numRef>
              <c:f>Sheet1!$F$2:$F$9</c:f>
              <c:numCache>
                <c:formatCode>General</c:formatCode>
                <c:ptCount val="8"/>
                <c:pt idx="0">
                  <c:v>3.099</c:v>
                </c:pt>
                <c:pt idx="1">
                  <c:v>3.014</c:v>
                </c:pt>
                <c:pt idx="2">
                  <c:v>4.43</c:v>
                </c:pt>
                <c:pt idx="3">
                  <c:v>4.078</c:v>
                </c:pt>
                <c:pt idx="4">
                  <c:v>3.405</c:v>
                </c:pt>
                <c:pt idx="5">
                  <c:v>3.225</c:v>
                </c:pt>
                <c:pt idx="6">
                  <c:v>4.417</c:v>
                </c:pt>
                <c:pt idx="7">
                  <c:v>4.214</c:v>
                </c:pt>
              </c:numCache>
            </c:numRef>
          </c:xVal>
          <c:yVal>
            <c:numRef>
              <c:f>Sheet1!$G$2:$G$9</c:f>
              <c:numCache>
                <c:formatCode>General</c:formatCode>
                <c:ptCount val="8"/>
                <c:pt idx="0">
                  <c:v>8.0</c:v>
                </c:pt>
                <c:pt idx="1">
                  <c:v>8.5</c:v>
                </c:pt>
                <c:pt idx="2">
                  <c:v>9.18</c:v>
                </c:pt>
                <c:pt idx="3">
                  <c:v>10.02</c:v>
                </c:pt>
                <c:pt idx="4">
                  <c:v>7.2</c:v>
                </c:pt>
                <c:pt idx="5">
                  <c:v>6.68</c:v>
                </c:pt>
                <c:pt idx="6">
                  <c:v>7.11</c:v>
                </c:pt>
                <c:pt idx="7">
                  <c:v>6.42</c:v>
                </c:pt>
              </c:numCache>
            </c:numRef>
          </c:yVal>
          <c:bubbleSize>
            <c:numRef>
              <c:f>Sheet1!$H$2:$H$9</c:f>
              <c:numCache>
                <c:formatCode>General</c:formatCode>
                <c:ptCount val="8"/>
                <c:pt idx="0">
                  <c:v>1594.13</c:v>
                </c:pt>
                <c:pt idx="1">
                  <c:v>1190.34</c:v>
                </c:pt>
                <c:pt idx="2">
                  <c:v>2856.38</c:v>
                </c:pt>
                <c:pt idx="3">
                  <c:v>1881.24</c:v>
                </c:pt>
                <c:pt idx="4">
                  <c:v>3182.65</c:v>
                </c:pt>
                <c:pt idx="5">
                  <c:v>2849.2</c:v>
                </c:pt>
                <c:pt idx="6">
                  <c:v>1898.55</c:v>
                </c:pt>
                <c:pt idx="7">
                  <c:v>3356.38</c:v>
                </c:pt>
              </c:numCache>
            </c:numRef>
          </c:bubbleSize>
          <c:bubble3D val="0"/>
        </c:ser>
        <c:ser>
          <c:idx val="2"/>
          <c:order val="2"/>
          <c:tx>
            <c:strRef>
              <c:f>Sheet1!$K$1</c:f>
              <c:strCache>
                <c:ptCount val="1"/>
                <c:pt idx="0">
                  <c:v>Miền Nam</c:v>
                </c:pt>
              </c:strCache>
            </c:strRef>
          </c:tx>
          <c:spPr>
            <a:solidFill>
              <a:srgbClr val="1BAF7A">
                <a:alpha val="72000"/>
              </a:srgbClr>
            </a:solidFill>
            <a:ln w="9525" cap="flat">
              <a:solidFill>
                <a:srgbClr val="FFFFFF"/>
              </a:solidFill>
              <a:round/>
            </a:ln>
          </c:spPr>
          <c:invertIfNegative val="0"/>
          <c:dLbls>
            <c:dLbl>
              <c:idx val="1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Đồng Nai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 anchor="ctr"/>
                  <a:lstStyle/>
                  <a:p>
                    <a:pPr>
                      <a:def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defRPr>
                    </a:pPr>
                    <a:r>
                      <a:rPr lang="vi-VN" sz="950" b="0" i="0" baseline="0">
                        <a:solidFill>
                          <a:srgbClr val="16181D"/>
                        </a:solidFill>
                        <a:latin typeface="IBM Plex Sans SemiBold"/>
                        <a:ea typeface="IBM Plex Sans SemiBold"/>
                        <a:cs typeface="IBM Plex Sans SemiBold"/>
                      </a:rPr>
                      <a:t>TP.HCM</a:t>
                    </a:r>
                  </a:p>
                </c:rich>
              </c:tx>
              <c:spPr>
                <a:noFill/>
                <a:ln>
                  <a:noFill/>
                </a:ln>
              </c:spPr>
              <c:txPr>
                <a:bodyPr spcFirstLastPara="1" vertOverflow="overflow" wrap="none" anchor="ctr" anchorCtr="1"/>
                <a:lstStyle/>
                <a:p>
                  <a:pPr>
                    <a:defRPr sz="950" b="0" i="0" baseline="0">
                      <a:solidFill>
                        <a:srgbClr val="16181D"/>
                      </a:solidFill>
                      <a:latin typeface="IBM Plex Sans SemiBold"/>
                      <a:ea typeface="IBM Plex Sans SemiBold"/>
                      <a:cs typeface="IBM Plex Sans SemiBold"/>
                    </a:defRPr>
                  </a:pPr>
                  <a:endParaRPr lang="vi-V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</c:spPr>
            <c:txPr>
              <a:bodyPr spcFirstLastPara="1" vertOverflow="overflow" wrap="none" anchor="ctr" anchorCtr="1"/>
              <a:lstStyle/>
              <a:p>
                <a:pPr>
                  <a:defRPr sz="950" b="0" i="0" baseline="0">
                    <a:solidFill>
                      <a:srgbClr val="16181D"/>
                    </a:solidFill>
                    <a:latin typeface="IBM Plex Sans SemiBold"/>
                    <a:ea typeface="IBM Plex Sans SemiBold"/>
                    <a:cs typeface="IBM Plex Sans SemiBold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xVal>
            <c:numRef>
              <c:f>Sheet1!$J$2:$J$9</c:f>
              <c:numCache>
                <c:formatCode>General</c:formatCode>
                <c:ptCount val="8"/>
                <c:pt idx="0">
                  <c:v>4.629</c:v>
                </c:pt>
                <c:pt idx="1">
                  <c:v>6.037</c:v>
                </c:pt>
                <c:pt idx="2">
                  <c:v>8.622</c:v>
                </c:pt>
                <c:pt idx="3">
                  <c:v>3.364</c:v>
                </c:pt>
                <c:pt idx="4">
                  <c:v>3.212</c:v>
                </c:pt>
                <c:pt idx="5">
                  <c:v>3.299</c:v>
                </c:pt>
                <c:pt idx="6">
                  <c:v>3.8</c:v>
                </c:pt>
                <c:pt idx="7">
                  <c:v>3.147</c:v>
                </c:pt>
              </c:numCache>
            </c:numRef>
          </c:xVal>
          <c:yVal>
            <c:numRef>
              <c:f>Sheet1!$K$2:$K$9</c:f>
              <c:numCache>
                <c:formatCode>General</c:formatCode>
                <c:ptCount val="8"/>
                <c:pt idx="0">
                  <c:v>9.52</c:v>
                </c:pt>
                <c:pt idx="1">
                  <c:v>9.63</c:v>
                </c:pt>
                <c:pt idx="2">
                  <c:v>7.53</c:v>
                </c:pt>
                <c:pt idx="3">
                  <c:v>7.38</c:v>
                </c:pt>
                <c:pt idx="4">
                  <c:v>8.39</c:v>
                </c:pt>
                <c:pt idx="5">
                  <c:v>5.84</c:v>
                </c:pt>
                <c:pt idx="6">
                  <c:v>7.23</c:v>
                </c:pt>
                <c:pt idx="7">
                  <c:v>7.23</c:v>
                </c:pt>
              </c:numCache>
            </c:numRef>
          </c:yVal>
          <c:bubbleSize>
            <c:numRef>
              <c:f>Sheet1!$L$2:$L$9</c:f>
              <c:numCache>
                <c:formatCode>General</c:formatCode>
                <c:ptCount val="8"/>
                <c:pt idx="0">
                  <c:v>2980.28</c:v>
                </c:pt>
                <c:pt idx="1">
                  <c:v>4493.7</c:v>
                </c:pt>
                <c:pt idx="2">
                  <c:v>13803.8</c:v>
                </c:pt>
                <c:pt idx="3">
                  <c:v>3403.78</c:v>
                </c:pt>
                <c:pt idx="4">
                  <c:v>3694.6</c:v>
                </c:pt>
                <c:pt idx="5">
                  <c:v>3379.61</c:v>
                </c:pt>
                <c:pt idx="6">
                  <c:v>3224.94</c:v>
                </c:pt>
                <c:pt idx="7">
                  <c:v>2150.44</c:v>
                </c:pt>
              </c:numCache>
            </c:numRef>
          </c:bubbleSize>
          <c:bubble3D val="0"/>
        </c:ser>
        <c:bubbleScale val="55"/>
        <c:showNegBubbles val="0"/>
        <c:sizeRepresents val="area"/>
        <c:axId val="1"/>
        <c:axId val="2"/>
      </c:bubbleChart>
      <c:valAx>
        <c:axId val="1"/>
        <c:scaling>
          <c:orientation val="minMax"/>
          <c:max val="12"/>
          <c:min val="0"/>
        </c:scaling>
        <c:delete val="0"/>
        <c:axPos val="b"/>
        <c:majorGridlines>
          <c:spPr>
            <a:ln w="6350" cap="flat">
              <a:solidFill>
                <a:srgbClr val="E1E0D9"/>
              </a:solidFill>
              <a:round/>
            </a:ln>
          </c:spPr>
        </c:majorGridlines>
        <c:numFmt formatCode="[$-42A]#,##0;&quot;−&quot;#,##0" sourceLinked="0"/>
        <c:majorTickMark val="none"/>
        <c:minorTickMark val="none"/>
        <c:tickLblPos val="nextTo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crossBetween val="between"/>
        <c:majorUnit val="2"/>
      </c:valAx>
      <c:valAx>
        <c:axId val="2"/>
        <c:scaling>
          <c:orientation val="minMax"/>
          <c:max val="12"/>
          <c:min val="4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round/>
            </a:ln>
          </c:spPr>
        </c:majorGridlines>
        <c:numFmt formatCode="[$-42A]#,##0;&quot;−&quot;#,##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  <c:majorUnit val="2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7278"/>
          <c:y val="0.08567"/>
          <c:w val="0.91443"/>
          <c:h val="0.8432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Nam 2025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cat>
            <c:strRef>
              <c:f>Sheet1!$A$2:$A$18</c:f>
              <c:strCache>
                <c:ptCount val="17"/>
                <c:pt idx="0">
                  <c:v>0-4</c:v>
                </c:pt>
                <c:pt idx="1">
                  <c:v>5-9</c:v>
                </c:pt>
                <c:pt idx="2">
                  <c:v>10-14</c:v>
                </c:pt>
                <c:pt idx="3">
                  <c:v>15-19</c:v>
                </c:pt>
                <c:pt idx="4">
                  <c:v>20-24</c:v>
                </c:pt>
                <c:pt idx="5">
                  <c:v>25-29</c:v>
                </c:pt>
                <c:pt idx="6">
                  <c:v>30-34</c:v>
                </c:pt>
                <c:pt idx="7">
                  <c:v>35-39</c:v>
                </c:pt>
                <c:pt idx="8">
                  <c:v>40-44</c:v>
                </c:pt>
                <c:pt idx="9">
                  <c:v>45-49</c:v>
                </c:pt>
                <c:pt idx="10">
                  <c:v>50-54</c:v>
                </c:pt>
                <c:pt idx="11">
                  <c:v>55-59</c:v>
                </c:pt>
                <c:pt idx="12">
                  <c:v>60-64</c:v>
                </c:pt>
                <c:pt idx="13">
                  <c:v>65-69</c:v>
                </c:pt>
                <c:pt idx="14">
                  <c:v>70-74</c:v>
                </c:pt>
                <c:pt idx="15">
                  <c:v>75-79</c:v>
                </c:pt>
                <c:pt idx="16">
                  <c:v>80+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-3.51</c:v>
                </c:pt>
                <c:pt idx="1">
                  <c:v>-3.82</c:v>
                </c:pt>
                <c:pt idx="2">
                  <c:v>-4.41</c:v>
                </c:pt>
                <c:pt idx="3">
                  <c:v>-3.72</c:v>
                </c:pt>
                <c:pt idx="4">
                  <c:v>-3.23</c:v>
                </c:pt>
                <c:pt idx="5">
                  <c:v>-3.14</c:v>
                </c:pt>
                <c:pt idx="6">
                  <c:v>-3.9</c:v>
                </c:pt>
                <c:pt idx="7">
                  <c:v>-4.26</c:v>
                </c:pt>
                <c:pt idx="8">
                  <c:v>-3.98</c:v>
                </c:pt>
                <c:pt idx="9">
                  <c:v>-3.28</c:v>
                </c:pt>
                <c:pt idx="10">
                  <c:v>-2.97</c:v>
                </c:pt>
                <c:pt idx="11">
                  <c:v>-2.62</c:v>
                </c:pt>
                <c:pt idx="12">
                  <c:v>-2.32</c:v>
                </c:pt>
                <c:pt idx="13">
                  <c:v>-1.71</c:v>
                </c:pt>
                <c:pt idx="14">
                  <c:v>-1.08</c:v>
                </c:pt>
                <c:pt idx="15">
                  <c:v>-0.59</c:v>
                </c:pt>
                <c:pt idx="16">
                  <c:v>-0.42</c:v>
                </c:pt>
              </c:numCache>
            </c:numRef>
          </c:val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Nữ 2025</c:v>
                </c:pt>
              </c:strCache>
            </c:strRef>
          </c:tx>
          <c:spPr>
            <a:solidFill>
              <a:srgbClr val="EB6834"/>
            </a:solidFill>
          </c:spPr>
          <c:invertIfNegative val="0"/>
          <c:cat>
            <c:strRef>
              <c:f>Sheet1!$A$2:$A$18</c:f>
              <c:strCache>
                <c:ptCount val="17"/>
                <c:pt idx="0">
                  <c:v>0-4</c:v>
                </c:pt>
                <c:pt idx="1">
                  <c:v>5-9</c:v>
                </c:pt>
                <c:pt idx="2">
                  <c:v>10-14</c:v>
                </c:pt>
                <c:pt idx="3">
                  <c:v>15-19</c:v>
                </c:pt>
                <c:pt idx="4">
                  <c:v>20-24</c:v>
                </c:pt>
                <c:pt idx="5">
                  <c:v>25-29</c:v>
                </c:pt>
                <c:pt idx="6">
                  <c:v>30-34</c:v>
                </c:pt>
                <c:pt idx="7">
                  <c:v>35-39</c:v>
                </c:pt>
                <c:pt idx="8">
                  <c:v>40-44</c:v>
                </c:pt>
                <c:pt idx="9">
                  <c:v>45-49</c:v>
                </c:pt>
                <c:pt idx="10">
                  <c:v>50-54</c:v>
                </c:pt>
                <c:pt idx="11">
                  <c:v>55-59</c:v>
                </c:pt>
                <c:pt idx="12">
                  <c:v>60-64</c:v>
                </c:pt>
                <c:pt idx="13">
                  <c:v>65-69</c:v>
                </c:pt>
                <c:pt idx="14">
                  <c:v>70-74</c:v>
                </c:pt>
                <c:pt idx="15">
                  <c:v>75-79</c:v>
                </c:pt>
                <c:pt idx="16">
                  <c:v>80+</c:v>
                </c:pt>
              </c:strCache>
            </c:strRef>
          </c:cat>
          <c:val>
            <c:numRef>
              <c:f>Sheet1!$D$2:$D$18</c:f>
              <c:numCache>
                <c:formatCode>General</c:formatCode>
                <c:ptCount val="17"/>
                <c:pt idx="0">
                  <c:v>3.18</c:v>
                </c:pt>
                <c:pt idx="1">
                  <c:v>3.54</c:v>
                </c:pt>
                <c:pt idx="2">
                  <c:v>4.23</c:v>
                </c:pt>
                <c:pt idx="3">
                  <c:v>3.63</c:v>
                </c:pt>
                <c:pt idx="4">
                  <c:v>3.21</c:v>
                </c:pt>
                <c:pt idx="5">
                  <c:v>3.12</c:v>
                </c:pt>
                <c:pt idx="6">
                  <c:v>3.91</c:v>
                </c:pt>
                <c:pt idx="7">
                  <c:v>4.24</c:v>
                </c:pt>
                <c:pt idx="8">
                  <c:v>4.01</c:v>
                </c:pt>
                <c:pt idx="9">
                  <c:v>3.38</c:v>
                </c:pt>
                <c:pt idx="10">
                  <c:v>3.1</c:v>
                </c:pt>
                <c:pt idx="11">
                  <c:v>2.86</c:v>
                </c:pt>
                <c:pt idx="12">
                  <c:v>2.7</c:v>
                </c:pt>
                <c:pt idx="13">
                  <c:v>2.27</c:v>
                </c:pt>
                <c:pt idx="14">
                  <c:v>1.55</c:v>
                </c:pt>
                <c:pt idx="15">
                  <c:v>0.98</c:v>
                </c:pt>
                <c:pt idx="16">
                  <c:v>1.11</c:v>
                </c:pt>
              </c:numCache>
            </c:numRef>
          </c:val>
        </c:ser>
        <c:gapWidth val="18"/>
        <c:overlap val="100"/>
        <c:axId val="1"/>
        <c:axId val="2"/>
      </c:barChart>
      <c:barChart>
        <c:barDir val="bar"/>
        <c:grouping val="clustered"/>
        <c:varyColors val="0"/>
        <c:ser>
          <c:idx val="2"/>
          <c:order val="2"/>
          <c:tx>
            <c:strRef>
              <c:f>Sheet1!$F$1</c:f>
              <c:strCache>
                <c:ptCount val="1"/>
                <c:pt idx="0">
                  <c:v>2050 (dự báo)</c:v>
                </c:pt>
              </c:strCache>
            </c:strRef>
          </c:tx>
          <c:spPr>
            <a:noFill/>
            <a:ln w="12700" cap="flat">
              <a:solidFill>
                <a:srgbClr val="16181D"/>
              </a:solidFill>
              <a:prstDash val="sysDash"/>
              <a:round/>
            </a:ln>
          </c:spPr>
          <c:invertIfNegative val="0"/>
          <c:cat>
            <c:strRef>
              <c:f>Sheet1!$A$2:$A$18</c:f>
              <c:strCache>
                <c:ptCount val="17"/>
                <c:pt idx="0">
                  <c:v>0-4</c:v>
                </c:pt>
                <c:pt idx="1">
                  <c:v>5-9</c:v>
                </c:pt>
                <c:pt idx="2">
                  <c:v>10-14</c:v>
                </c:pt>
                <c:pt idx="3">
                  <c:v>15-19</c:v>
                </c:pt>
                <c:pt idx="4">
                  <c:v>20-24</c:v>
                </c:pt>
                <c:pt idx="5">
                  <c:v>25-29</c:v>
                </c:pt>
                <c:pt idx="6">
                  <c:v>30-34</c:v>
                </c:pt>
                <c:pt idx="7">
                  <c:v>35-39</c:v>
                </c:pt>
                <c:pt idx="8">
                  <c:v>40-44</c:v>
                </c:pt>
                <c:pt idx="9">
                  <c:v>45-49</c:v>
                </c:pt>
                <c:pt idx="10">
                  <c:v>50-54</c:v>
                </c:pt>
                <c:pt idx="11">
                  <c:v>55-59</c:v>
                </c:pt>
                <c:pt idx="12">
                  <c:v>60-64</c:v>
                </c:pt>
                <c:pt idx="13">
                  <c:v>65-69</c:v>
                </c:pt>
                <c:pt idx="14">
                  <c:v>70-74</c:v>
                </c:pt>
                <c:pt idx="15">
                  <c:v>75-79</c:v>
                </c:pt>
                <c:pt idx="16">
                  <c:v>80+</c:v>
                </c:pt>
              </c:strCache>
            </c:strRef>
          </c:cat>
          <c:val>
            <c:numRef>
              <c:f>Sheet1!$F$2:$F$18</c:f>
              <c:numCache>
                <c:formatCode>General</c:formatCode>
                <c:ptCount val="17"/>
                <c:pt idx="0">
                  <c:v>-2.75</c:v>
                </c:pt>
                <c:pt idx="1">
                  <c:v>-2.95</c:v>
                </c:pt>
                <c:pt idx="2">
                  <c:v>-3.02</c:v>
                </c:pt>
                <c:pt idx="3">
                  <c:v>-2.95</c:v>
                </c:pt>
                <c:pt idx="4">
                  <c:v>-2.88</c:v>
                </c:pt>
                <c:pt idx="5">
                  <c:v>-3.08</c:v>
                </c:pt>
                <c:pt idx="6">
                  <c:v>-3.35</c:v>
                </c:pt>
                <c:pt idx="7">
                  <c:v>-3.86</c:v>
                </c:pt>
                <c:pt idx="8">
                  <c:v>-3.22</c:v>
                </c:pt>
                <c:pt idx="9">
                  <c:v>-2.8</c:v>
                </c:pt>
                <c:pt idx="10">
                  <c:v>-2.7</c:v>
                </c:pt>
                <c:pt idx="11">
                  <c:v>-3.26</c:v>
                </c:pt>
                <c:pt idx="12">
                  <c:v>-3.42</c:v>
                </c:pt>
                <c:pt idx="13">
                  <c:v>-2.98</c:v>
                </c:pt>
                <c:pt idx="14">
                  <c:v>-2.19</c:v>
                </c:pt>
                <c:pt idx="15">
                  <c:v>-1.63</c:v>
                </c:pt>
                <c:pt idx="16">
                  <c:v>-1.72</c:v>
                </c:pt>
              </c:numCache>
            </c:numRef>
          </c:val>
        </c:ser>
        <c:ser>
          <c:idx val="3"/>
          <c:order val="3"/>
          <c:tx>
            <c:strRef>
              <c:f>Sheet1!$G$1</c:f>
              <c:strCache>
                <c:ptCount val="1"/>
                <c:pt idx="0">
                  <c:v>2050 (dự báo) · phải</c:v>
                </c:pt>
              </c:strCache>
            </c:strRef>
          </c:tx>
          <c:spPr>
            <a:noFill/>
            <a:ln w="12700" cap="flat">
              <a:solidFill>
                <a:srgbClr val="16181D"/>
              </a:solidFill>
              <a:prstDash val="sysDash"/>
              <a:round/>
            </a:ln>
          </c:spPr>
          <c:invertIfNegative val="0"/>
          <c:cat>
            <c:strRef>
              <c:f>Sheet1!$A$2:$A$18</c:f>
              <c:strCache>
                <c:ptCount val="17"/>
                <c:pt idx="0">
                  <c:v>0-4</c:v>
                </c:pt>
                <c:pt idx="1">
                  <c:v>5-9</c:v>
                </c:pt>
                <c:pt idx="2">
                  <c:v>10-14</c:v>
                </c:pt>
                <c:pt idx="3">
                  <c:v>15-19</c:v>
                </c:pt>
                <c:pt idx="4">
                  <c:v>20-24</c:v>
                </c:pt>
                <c:pt idx="5">
                  <c:v>25-29</c:v>
                </c:pt>
                <c:pt idx="6">
                  <c:v>30-34</c:v>
                </c:pt>
                <c:pt idx="7">
                  <c:v>35-39</c:v>
                </c:pt>
                <c:pt idx="8">
                  <c:v>40-44</c:v>
                </c:pt>
                <c:pt idx="9">
                  <c:v>45-49</c:v>
                </c:pt>
                <c:pt idx="10">
                  <c:v>50-54</c:v>
                </c:pt>
                <c:pt idx="11">
                  <c:v>55-59</c:v>
                </c:pt>
                <c:pt idx="12">
                  <c:v>60-64</c:v>
                </c:pt>
                <c:pt idx="13">
                  <c:v>65-69</c:v>
                </c:pt>
                <c:pt idx="14">
                  <c:v>70-74</c:v>
                </c:pt>
                <c:pt idx="15">
                  <c:v>75-79</c:v>
                </c:pt>
                <c:pt idx="16">
                  <c:v>80+</c:v>
                </c:pt>
              </c:strCache>
            </c:strRef>
          </c:cat>
          <c:val>
            <c:numRef>
              <c:f>Sheet1!$G$2:$G$18</c:f>
              <c:numCache>
                <c:formatCode>General</c:formatCode>
                <c:ptCount val="17"/>
                <c:pt idx="0">
                  <c:v>2.58</c:v>
                </c:pt>
                <c:pt idx="1">
                  <c:v>2.76</c:v>
                </c:pt>
                <c:pt idx="2">
                  <c:v>2.83</c:v>
                </c:pt>
                <c:pt idx="3">
                  <c:v>2.75</c:v>
                </c:pt>
                <c:pt idx="4">
                  <c:v>2.67</c:v>
                </c:pt>
                <c:pt idx="5">
                  <c:v>2.83</c:v>
                </c:pt>
                <c:pt idx="6">
                  <c:v>3.17</c:v>
                </c:pt>
                <c:pt idx="7">
                  <c:v>3.8</c:v>
                </c:pt>
                <c:pt idx="8">
                  <c:v>3.25</c:v>
                </c:pt>
                <c:pt idx="9">
                  <c:v>2.89</c:v>
                </c:pt>
                <c:pt idx="10">
                  <c:v>2.8</c:v>
                </c:pt>
                <c:pt idx="11">
                  <c:v>3.47</c:v>
                </c:pt>
                <c:pt idx="12">
                  <c:v>3.69</c:v>
                </c:pt>
                <c:pt idx="13">
                  <c:v>3.39</c:v>
                </c:pt>
                <c:pt idx="14">
                  <c:v>2.69</c:v>
                </c:pt>
                <c:pt idx="15">
                  <c:v>2.21</c:v>
                </c:pt>
                <c:pt idx="16">
                  <c:v>3.46</c:v>
                </c:pt>
              </c:numCache>
            </c:numRef>
          </c:val>
        </c:ser>
        <c:gapWidth val="18"/>
        <c:overlap val="100"/>
        <c:axId val="3"/>
        <c:axId val="4"/>
      </c:barChart>
      <c:catAx>
        <c:axId val="1"/>
        <c:scaling>
          <c:orientation val="minMax"/>
        </c:scaling>
        <c:delete val="0"/>
        <c:axPos val="l"/>
        <c:majorTickMark val="none"/>
        <c:minorTickMark val="none"/>
        <c:tickLblPos val="low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95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6"/>
          <c:min val="-6"/>
        </c:scaling>
        <c:delete val="0"/>
        <c:axPos val="b"/>
        <c:majorGridlines>
          <c:spPr>
            <a:ln w="6350" cap="flat">
              <a:solidFill>
                <a:srgbClr val="E1E0D9"/>
              </a:solidFill>
              <a:round/>
            </a:ln>
          </c:spPr>
        </c:majorGridlines>
        <c:numFmt formatCode="[$-42A]#,##0&quot;%&quot;;#,##0&quot;%&quot;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  <c:majorUnit val="2"/>
      </c:valAx>
      <c:catAx>
        <c:axId val="3"/>
        <c:scaling>
          <c:orientation val="minMax"/>
        </c:scaling>
        <c:delete val="1"/>
        <c:axPos val="l"/>
        <c:majorTickMark val="none"/>
        <c:minorTickMark val="none"/>
        <c:tickLblPos val="nextTo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4"/>
        <c:crosses val="autoZero"/>
        <c:auto val="1"/>
        <c:lblAlgn val="ctr"/>
        <c:lblOffset val="60"/>
        <c:noMultiLvlLbl val="0"/>
      </c:catAx>
      <c:valAx>
        <c:axId val="4"/>
        <c:scaling>
          <c:orientation val="minMax"/>
          <c:max val="6"/>
          <c:min val="-6"/>
        </c:scaling>
        <c:delete val="1"/>
        <c:axPos val="t"/>
        <c:numFmt formatCode="[$-42A]#,##0&quot;%&quot;;#,##0&quot;%&quot;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3"/>
        <c:crosses val="max"/>
        <c:crossBetween val="between"/>
        <c:majorUnit val="2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Hà Nội</c:v>
                </c:pt>
              </c:strCache>
            </c:strRef>
          </c:tx>
          <c:spPr>
            <a:ln w="25400" cap="rnd">
              <a:solidFill>
                <a:srgbClr val="2A78D6"/>
              </a:solidFill>
              <a:round/>
            </a:ln>
          </c:spPr>
          <c:marker>
            <c:symbol val="circle"/>
            <c:size val="5"/>
            <c:spPr>
              <a:solidFill>
                <a:srgbClr val="2A78D6"/>
              </a:solidFill>
              <a:ln w="9525" cap="rnd">
                <a:solidFill>
                  <a:srgbClr val="FFFFFF"/>
                </a:solidFill>
                <a:round/>
              </a:ln>
            </c:spPr>
          </c:marker>
          <c:cat>
            <c:strRef>
              <c:f>Sheet1!$A$2:$A$5</c:f>
              <c:strCache>
                <c:ptCount val="4"/>
                <c:pt idx="0">
                  <c:v>Nông, lâm, thủy sản</c:v>
                </c:pt>
                <c:pt idx="1">
                  <c:v>Công nghiệp, xây dựng</c:v>
                </c:pt>
                <c:pt idx="2">
                  <c:v>Dịch vụ</c:v>
                </c:pt>
                <c:pt idx="3">
                  <c:v>Thuế sản phẩm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1.86</c:v>
                </c:pt>
                <c:pt idx="1">
                  <c:v>22.25</c:v>
                </c:pt>
                <c:pt idx="2">
                  <c:v>66.44</c:v>
                </c:pt>
                <c:pt idx="3">
                  <c:v>9.45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Bắc Ninh</c:v>
                </c:pt>
              </c:strCache>
            </c:strRef>
          </c:tx>
          <c:spPr>
            <a:ln w="25400" cap="rnd">
              <a:solidFill>
                <a:srgbClr val="EB6834"/>
              </a:solidFill>
              <a:round/>
            </a:ln>
          </c:spPr>
          <c:marker>
            <c:symbol val="circle"/>
            <c:size val="5"/>
            <c:spPr>
              <a:solidFill>
                <a:srgbClr val="EB6834"/>
              </a:solidFill>
              <a:ln w="9525" cap="rnd">
                <a:solidFill>
                  <a:srgbClr val="FFFFFF"/>
                </a:solidFill>
                <a:round/>
              </a:ln>
            </c:spPr>
          </c:marker>
          <c:cat>
            <c:strRef>
              <c:f>Sheet1!$A$2:$A$5</c:f>
              <c:strCache>
                <c:ptCount val="4"/>
                <c:pt idx="0">
                  <c:v>Nông, lâm, thủy sản</c:v>
                </c:pt>
                <c:pt idx="1">
                  <c:v>Công nghiệp, xây dựng</c:v>
                </c:pt>
                <c:pt idx="2">
                  <c:v>Dịch vụ</c:v>
                </c:pt>
                <c:pt idx="3">
                  <c:v>Thuế sản phẩm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6.52</c:v>
                </c:pt>
                <c:pt idx="1">
                  <c:v>71.13</c:v>
                </c:pt>
                <c:pt idx="2">
                  <c:v>19.41</c:v>
                </c:pt>
                <c:pt idx="3">
                  <c:v>2.94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Đắk Lắk</c:v>
                </c:pt>
              </c:strCache>
            </c:strRef>
          </c:tx>
          <c:spPr>
            <a:ln w="25400" cap="rnd">
              <a:solidFill>
                <a:srgbClr val="008300"/>
              </a:solidFill>
              <a:round/>
            </a:ln>
          </c:spPr>
          <c:marker>
            <c:symbol val="circle"/>
            <c:size val="5"/>
            <c:spPr>
              <a:solidFill>
                <a:srgbClr val="008300"/>
              </a:solidFill>
              <a:ln w="9525" cap="rnd">
                <a:solidFill>
                  <a:srgbClr val="FFFFFF"/>
                </a:solidFill>
                <a:round/>
              </a:ln>
            </c:spPr>
          </c:marker>
          <c:cat>
            <c:strRef>
              <c:f>Sheet1!$A$2:$A$5</c:f>
              <c:strCache>
                <c:ptCount val="4"/>
                <c:pt idx="0">
                  <c:v>Nông, lâm, thủy sản</c:v>
                </c:pt>
                <c:pt idx="1">
                  <c:v>Công nghiệp, xây dựng</c:v>
                </c:pt>
                <c:pt idx="2">
                  <c:v>Dịch vụ</c:v>
                </c:pt>
                <c:pt idx="3">
                  <c:v>Thuế sản phẩm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38.47</c:v>
                </c:pt>
                <c:pt idx="1">
                  <c:v>17.67</c:v>
                </c:pt>
                <c:pt idx="2">
                  <c:v>40.07</c:v>
                </c:pt>
                <c:pt idx="3">
                  <c:v>3.79</c:v>
                </c:pt>
              </c:numCache>
            </c:numRef>
          </c:val>
        </c:ser>
        <c:axId val="1"/>
        <c:axId val="2"/>
      </c:radarChart>
      <c:catAx>
        <c:axId val="1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1E0D9"/>
              </a:solidFill>
              <a:round/>
            </a:ln>
          </c:spPr>
        </c:majorGridlines>
        <c:majorTickMark val="none"/>
        <c:minorTickMark val="none"/>
        <c:tickLblPos val="nextTo"/>
        <c:spPr>
          <a:noFill/>
          <a:ln w="9525" cap="flat">
            <a:solidFill>
              <a:srgbClr val="E1E0D9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50" b="0" i="0" baseline="0">
                <a:solidFill>
                  <a:srgbClr val="16181D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round/>
            </a:ln>
          </c:spPr>
        </c:majorGridlines>
        <c:numFmt formatCode="[$-42A]#,##0&quot;%&quot;;&quot;−&quot;#,##0&quot;%&quot;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9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  <c:majorUnit val="2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17656"/>
          <c:y val="0.03347"/>
          <c:w val="0.80015"/>
          <c:h val="0.8995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Vùng 1</c:v>
                </c:pt>
              </c:strCache>
            </c:strRef>
          </c:tx>
          <c:spPr>
            <a:solidFill>
              <a:srgbClr val="EEECE6"/>
            </a:solidFill>
            <a:ln>
              <a:noFill/>
            </a:ln>
          </c:spPr>
          <c:invertIfNegative val="0"/>
          <c:cat>
            <c:strRef>
              <c:f>Sheet1!$A$2:$A$2</c:f>
              <c:strCache>
                <c:ptCount val="1"/>
                <c:pt idx="0">
                  <c:v>Tăng trưởng GDP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Vùng 2</c:v>
                </c:pt>
              </c:strCache>
            </c:strRef>
          </c:tx>
          <c:spPr>
            <a:solidFill>
              <a:srgbClr val="E4E2DB"/>
            </a:solidFill>
            <a:ln>
              <a:noFill/>
            </a:ln>
          </c:spPr>
          <c:invertIfNegative val="0"/>
          <c:cat>
            <c:strRef>
              <c:f>Sheet1!$A$2:$A$2</c:f>
              <c:strCache>
                <c:ptCount val="1"/>
                <c:pt idx="0">
                  <c:v>Tăng trưởng GDP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0.7000000000000002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Vùng 3</c:v>
                </c:pt>
              </c:strCache>
            </c:strRef>
          </c:tx>
          <c:spPr>
            <a:solidFill>
              <a:srgbClr val="D9D7CF"/>
            </a:solidFill>
            <a:ln>
              <a:noFill/>
            </a:ln>
          </c:spPr>
          <c:invertIfNegative val="0"/>
          <c:cat>
            <c:strRef>
              <c:f>Sheet1!$A$2:$A$2</c:f>
              <c:strCache>
                <c:ptCount val="1"/>
                <c:pt idx="0">
                  <c:v>Tăng trưởng GDP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4.2</c:v>
                </c:pt>
              </c:numCache>
            </c:numRef>
          </c:val>
        </c:ser>
        <c:gapWidth val="177"/>
        <c:overlap val="100"/>
        <c:axId val="1"/>
        <c:axId val="2"/>
      </c:barChart>
      <c:lineChart>
        <c:grouping val="standard"/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Thực hiện</c:v>
                </c:pt>
              </c:strCache>
            </c:strRef>
          </c:tx>
          <c:spPr>
            <a:ln>
              <a:noFill/>
            </a:ln>
          </c:spPr>
          <c:marker>
            <c:symbol val="none"/>
          </c:marker>
          <c:errBars>
            <c:errBarType val="minus"/>
            <c:errValType val="cust"/>
            <c:noEndCap val="1"/>
            <c:minus>
              <c:numRef>
                <c:f>Sheet1!$F$2:$F$2</c:f>
                <c:numCache>
                  <c:formatCode>General</c:formatCode>
                  <c:ptCount val="1"/>
                  <c:pt idx="0">
                    <c:v>9.01</c:v>
                  </c:pt>
                </c:numCache>
              </c:numRef>
            </c:minus>
            <c:spPr>
              <a:ln w="204094" cap="flat">
                <a:solidFill>
                  <a:srgbClr val="16181D"/>
                </a:solidFill>
                <a:round/>
              </a:ln>
            </c:spPr>
          </c:errBars>
          <c:cat>
            <c:strRef>
              <c:f>Sheet1!$A$2:$A$2</c:f>
              <c:strCache>
                <c:ptCount val="1"/>
                <c:pt idx="0">
                  <c:v>Tăng trưởng GDP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9.01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Sheet1!$G$1</c:f>
              <c:strCache>
                <c:ptCount val="1"/>
                <c:pt idx="0">
                  <c:v>Mục tiêu</c:v>
                </c:pt>
              </c:strCache>
            </c:strRef>
          </c:tx>
          <c:spPr>
            <a:ln>
              <a:noFill/>
            </a:ln>
          </c:spPr>
          <c:marker>
            <c:symbol val="dash"/>
            <c:size val="42"/>
            <c:spPr>
              <a:solidFill>
                <a:srgbClr val="C2362F"/>
              </a:solidFill>
              <a:ln w="9525" cap="rnd">
                <a:solidFill>
                  <a:srgbClr val="C2362F"/>
                </a:solidFill>
                <a:round/>
              </a:ln>
            </c:spPr>
          </c:marker>
          <c:cat>
            <c:strRef>
              <c:f>Sheet1!$A$2:$A$2</c:f>
              <c:strCache>
                <c:ptCount val="1"/>
                <c:pt idx="0">
                  <c:v>Tăng trưởng GDP</c:v>
                </c:pt>
              </c:strCache>
            </c:strRef>
          </c:cat>
          <c:val>
            <c:numRef>
              <c:f>Sheet1!$G$2:$G$2</c:f>
              <c:numCache>
                <c:formatCode>General</c:formatCode>
                <c:ptCount val="1"/>
                <c:pt idx="0">
                  <c:v>10.0</c:v>
                </c:pt>
              </c:numCache>
            </c:numRef>
          </c:val>
          <c:smooth val="0"/>
        </c:ser>
        <c:marker val="1"/>
        <c:axId val="1"/>
        <c:axId val="2"/>
      </c:line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12"/>
          <c:min val="0"/>
        </c:scaling>
        <c:delete val="0"/>
        <c:axPos val="l"/>
        <c:numFmt formatCode="[$-42A]#,##0.0;&quot;−&quot;#,##0.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9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  <c:majorUnit val="2.5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9084"/>
          <c:y val="0.03347"/>
          <c:w val="0.88587"/>
          <c:h val="0.8995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Vùng 1</c:v>
                </c:pt>
              </c:strCache>
            </c:strRef>
          </c:tx>
          <c:spPr>
            <a:solidFill>
              <a:srgbClr val="EEECE6"/>
            </a:solidFill>
            <a:ln>
              <a:noFill/>
            </a:ln>
          </c:spPr>
          <c:invertIfNegative val="0"/>
          <c:cat>
            <c:strRef>
              <c:f>Sheet1!$A$2:$A$2</c:f>
              <c:strCache>
                <c:ptCount val="1"/>
                <c:pt idx="0">
                  <c:v>Lạm phát bình quân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6.0</c:v>
                </c:pt>
              </c:numCache>
            </c:numRef>
          </c:val>
        </c:ser>
        <c:gapWidth val="206"/>
        <c:overlap val="100"/>
        <c:axId val="1"/>
        <c:axId val="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Thực hiện</c:v>
                </c:pt>
              </c:strCache>
            </c:strRef>
          </c:tx>
          <c:spPr>
            <a:ln>
              <a:noFill/>
            </a:ln>
          </c:spPr>
          <c:marker>
            <c:symbol val="none"/>
          </c:marker>
          <c:errBars>
            <c:errBarType val="minus"/>
            <c:errValType val="cust"/>
            <c:noEndCap val="1"/>
            <c:minus>
              <c:numRef>
                <c:f>Sheet1!$D$2:$D$2</c:f>
                <c:numCache>
                  <c:formatCode>General</c:formatCode>
                  <c:ptCount val="1"/>
                  <c:pt idx="0">
                    <c:v>4.52</c:v>
                  </c:pt>
                </c:numCache>
              </c:numRef>
            </c:minus>
            <c:spPr>
              <a:ln w="204094" cap="flat">
                <a:solidFill>
                  <a:srgbClr val="E34948"/>
                </a:solidFill>
                <a:round/>
              </a:ln>
            </c:spPr>
          </c:errBars>
          <c:cat>
            <c:strRef>
              <c:f>Sheet1!$A$2:$A$2</c:f>
              <c:strCache>
                <c:ptCount val="1"/>
                <c:pt idx="0">
                  <c:v>Lạm phát bình quân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4.52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Mục tiêu</c:v>
                </c:pt>
              </c:strCache>
            </c:strRef>
          </c:tx>
          <c:spPr>
            <a:ln>
              <a:noFill/>
            </a:ln>
          </c:spPr>
          <c:marker>
            <c:symbol val="dash"/>
            <c:size val="42"/>
            <c:spPr>
              <a:solidFill>
                <a:srgbClr val="C2362F"/>
              </a:solidFill>
              <a:ln w="9525" cap="rnd">
                <a:solidFill>
                  <a:srgbClr val="C2362F"/>
                </a:solidFill>
                <a:round/>
              </a:ln>
            </c:spPr>
          </c:marker>
          <c:cat>
            <c:strRef>
              <c:f>Sheet1!$A$2:$A$2</c:f>
              <c:strCache>
                <c:ptCount val="1"/>
                <c:pt idx="0">
                  <c:v>Lạm phát bình quân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4.5</c:v>
                </c:pt>
              </c:numCache>
            </c:numRef>
          </c:val>
          <c:smooth val="0"/>
        </c:ser>
        <c:marker val="1"/>
        <c:axId val="1"/>
        <c:axId val="2"/>
      </c:line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6"/>
          <c:min val="0"/>
        </c:scaling>
        <c:delete val="0"/>
        <c:axPos val="l"/>
        <c:numFmt formatCode="[$-42A]#,##0;&quot;−&quot;#,##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9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  <c:majorUnit val="2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12578"/>
          <c:y val="0.03347"/>
          <c:w val="0.85093"/>
          <c:h val="0.8995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Vùng 1</c:v>
                </c:pt>
              </c:strCache>
            </c:strRef>
          </c:tx>
          <c:spPr>
            <a:solidFill>
              <a:srgbClr val="EEECE6"/>
            </a:solidFill>
            <a:ln>
              <a:noFill/>
            </a:ln>
          </c:spPr>
          <c:invertIfNegative val="0"/>
          <c:cat>
            <c:strRef>
              <c:f>Sheet1!$A$2:$A$2</c:f>
              <c:strCache>
                <c:ptCount val="1"/>
                <c:pt idx="0">
                  <c:v>Tín dụng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20.0</c:v>
                </c:pt>
              </c:numCache>
            </c:numRef>
          </c:val>
        </c:ser>
        <c:gapWidth val="194"/>
        <c:overlap val="100"/>
        <c:axId val="1"/>
        <c:axId val="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Thực hiện</c:v>
                </c:pt>
              </c:strCache>
            </c:strRef>
          </c:tx>
          <c:spPr>
            <a:ln>
              <a:noFill/>
            </a:ln>
          </c:spPr>
          <c:marker>
            <c:symbol val="none"/>
          </c:marker>
          <c:errBars>
            <c:errBarType val="minus"/>
            <c:errValType val="cust"/>
            <c:noEndCap val="1"/>
            <c:minus>
              <c:numRef>
                <c:f>Sheet1!$D$2:$D$2</c:f>
                <c:numCache>
                  <c:formatCode>General</c:formatCode>
                  <c:ptCount val="1"/>
                  <c:pt idx="0">
                    <c:v>11.59</c:v>
                  </c:pt>
                </c:numCache>
              </c:numRef>
            </c:minus>
            <c:spPr>
              <a:ln w="204094" cap="flat">
                <a:solidFill>
                  <a:srgbClr val="16181D"/>
                </a:solidFill>
                <a:round/>
              </a:ln>
            </c:spPr>
          </c:errBars>
          <c:cat>
            <c:strRef>
              <c:f>Sheet1!$A$2:$A$2</c:f>
              <c:strCache>
                <c:ptCount val="1"/>
                <c:pt idx="0">
                  <c:v>Tín dụng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11.59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Mục tiêu</c:v>
                </c:pt>
              </c:strCache>
            </c:strRef>
          </c:tx>
          <c:spPr>
            <a:ln>
              <a:noFill/>
            </a:ln>
          </c:spPr>
          <c:marker>
            <c:symbol val="dash"/>
            <c:size val="42"/>
            <c:spPr>
              <a:solidFill>
                <a:srgbClr val="C2362F"/>
              </a:solidFill>
              <a:ln w="9525" cap="rnd">
                <a:solidFill>
                  <a:srgbClr val="C2362F"/>
                </a:solidFill>
                <a:round/>
              </a:ln>
            </c:spPr>
          </c:marker>
          <c:cat>
            <c:strRef>
              <c:f>Sheet1!$A$2:$A$2</c:f>
              <c:strCache>
                <c:ptCount val="1"/>
                <c:pt idx="0">
                  <c:v>Tín dụng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15.0</c:v>
                </c:pt>
              </c:numCache>
            </c:numRef>
          </c:val>
          <c:smooth val="0"/>
        </c:ser>
        <c:marker val="1"/>
        <c:axId val="1"/>
        <c:axId val="2"/>
      </c:line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20"/>
          <c:min val="0"/>
        </c:scaling>
        <c:delete val="0"/>
        <c:axPos val="l"/>
        <c:numFmt formatCode="[$-42A]#,##0;&quot;−&quot;#,##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9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  <c:majorUnit val="5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21150"/>
          <c:y val="0.03347"/>
          <c:w val="0.76521"/>
          <c:h val="0.8995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Vùng 1</c:v>
                </c:pt>
              </c:strCache>
            </c:strRef>
          </c:tx>
          <c:spPr>
            <a:solidFill>
              <a:srgbClr val="EEECE6"/>
            </a:solidFill>
            <a:ln>
              <a:noFill/>
            </a:ln>
          </c:spPr>
          <c:invertIfNegative val="0"/>
          <c:cat>
            <c:strRef>
              <c:f>Sheet1!$A$2:$A$2</c:f>
              <c:strCache>
                <c:ptCount val="1"/>
                <c:pt idx="0">
                  <c:v>Thu ngân sách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3000.0</c:v>
                </c:pt>
              </c:numCache>
            </c:numRef>
          </c:val>
        </c:ser>
        <c:gapWidth val="164"/>
        <c:overlap val="100"/>
        <c:axId val="1"/>
        <c:axId val="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Thực hiện</c:v>
                </c:pt>
              </c:strCache>
            </c:strRef>
          </c:tx>
          <c:spPr>
            <a:ln>
              <a:noFill/>
            </a:ln>
          </c:spPr>
          <c:marker>
            <c:symbol val="none"/>
          </c:marker>
          <c:errBars>
            <c:errBarType val="minus"/>
            <c:errValType val="cust"/>
            <c:noEndCap val="1"/>
            <c:minus>
              <c:numRef>
                <c:f>Sheet1!$D$2:$D$2</c:f>
                <c:numCache>
                  <c:formatCode>General</c:formatCode>
                  <c:ptCount val="1"/>
                  <c:pt idx="0">
                    <c:v>2187.3</c:v>
                  </c:pt>
                </c:numCache>
              </c:numRef>
            </c:minus>
            <c:spPr>
              <a:ln w="204094" cap="flat">
                <a:solidFill>
                  <a:srgbClr val="16181D"/>
                </a:solidFill>
                <a:round/>
              </a:ln>
            </c:spPr>
          </c:errBars>
          <c:cat>
            <c:strRef>
              <c:f>Sheet1!$A$2:$A$2</c:f>
              <c:strCache>
                <c:ptCount val="1"/>
                <c:pt idx="0">
                  <c:v>Thu ngân sách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2187.3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Mục tiêu</c:v>
                </c:pt>
              </c:strCache>
            </c:strRef>
          </c:tx>
          <c:spPr>
            <a:ln>
              <a:noFill/>
            </a:ln>
          </c:spPr>
          <c:marker>
            <c:symbol val="dash"/>
            <c:size val="42"/>
            <c:spPr>
              <a:solidFill>
                <a:srgbClr val="C2362F"/>
              </a:solidFill>
              <a:ln w="9525" cap="rnd">
                <a:solidFill>
                  <a:srgbClr val="C2362F"/>
                </a:solidFill>
                <a:round/>
              </a:ln>
            </c:spPr>
          </c:marker>
          <c:cat>
            <c:strRef>
              <c:f>Sheet1!$A$2:$A$2</c:f>
              <c:strCache>
                <c:ptCount val="1"/>
                <c:pt idx="0">
                  <c:v>Thu ngân sách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2529.467</c:v>
                </c:pt>
              </c:numCache>
            </c:numRef>
          </c:val>
          <c:smooth val="0"/>
        </c:ser>
        <c:marker val="1"/>
        <c:axId val="1"/>
        <c:axId val="2"/>
      </c:line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3000"/>
          <c:min val="0"/>
        </c:scaling>
        <c:delete val="0"/>
        <c:axPos val="l"/>
        <c:numFmt formatCode="[$-42A]#,##0;&quot;−&quot;#,##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9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  <c:majorUnit val="100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12578"/>
          <c:y val="0.03347"/>
          <c:w val="0.85093"/>
          <c:h val="0.8995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Vùng 1</c:v>
                </c:pt>
              </c:strCache>
            </c:strRef>
          </c:tx>
          <c:spPr>
            <a:solidFill>
              <a:srgbClr val="EEECE6"/>
            </a:solidFill>
            <a:ln>
              <a:noFill/>
            </a:ln>
          </c:spPr>
          <c:invertIfNegative val="0"/>
          <c:cat>
            <c:strRef>
              <c:f>Sheet1!$A$2:$A$2</c:f>
              <c:strCache>
                <c:ptCount val="1"/>
                <c:pt idx="0">
                  <c:v>FDI giải ngân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40.0</c:v>
                </c:pt>
              </c:numCache>
            </c:numRef>
          </c:val>
        </c:ser>
        <c:gapWidth val="194"/>
        <c:overlap val="100"/>
        <c:axId val="1"/>
        <c:axId val="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Thực hiện</c:v>
                </c:pt>
              </c:strCache>
            </c:strRef>
          </c:tx>
          <c:spPr>
            <a:ln>
              <a:noFill/>
            </a:ln>
          </c:spPr>
          <c:marker>
            <c:symbol val="none"/>
          </c:marker>
          <c:errBars>
            <c:errBarType val="minus"/>
            <c:errValType val="cust"/>
            <c:noEndCap val="1"/>
            <c:minus>
              <c:numRef>
                <c:f>Sheet1!$D$2:$D$2</c:f>
                <c:numCache>
                  <c:formatCode>General</c:formatCode>
                  <c:ptCount val="1"/>
                  <c:pt idx="0">
                    <c:v>21.07</c:v>
                  </c:pt>
                </c:numCache>
              </c:numRef>
            </c:minus>
            <c:spPr>
              <a:ln w="204094" cap="flat">
                <a:solidFill>
                  <a:srgbClr val="16181D"/>
                </a:solidFill>
                <a:round/>
              </a:ln>
            </c:spPr>
          </c:errBars>
          <c:cat>
            <c:strRef>
              <c:f>Sheet1!$A$2:$A$2</c:f>
              <c:strCache>
                <c:ptCount val="1"/>
                <c:pt idx="0">
                  <c:v>FDI giải ngân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21.07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Mục tiêu</c:v>
                </c:pt>
              </c:strCache>
            </c:strRef>
          </c:tx>
          <c:spPr>
            <a:ln>
              <a:noFill/>
            </a:ln>
          </c:spPr>
          <c:marker>
            <c:symbol val="dash"/>
            <c:size val="42"/>
            <c:spPr>
              <a:solidFill>
                <a:srgbClr val="C2362F"/>
              </a:solidFill>
              <a:ln w="9525" cap="rnd">
                <a:solidFill>
                  <a:srgbClr val="C2362F"/>
                </a:solidFill>
                <a:round/>
              </a:ln>
            </c:spPr>
          </c:marker>
          <c:cat>
            <c:strRef>
              <c:f>Sheet1!$A$2:$A$2</c:f>
              <c:strCache>
                <c:ptCount val="1"/>
                <c:pt idx="0">
                  <c:v>FDI giải ngân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30.0</c:v>
                </c:pt>
              </c:numCache>
            </c:numRef>
          </c:val>
          <c:smooth val="0"/>
        </c:ser>
        <c:marker val="1"/>
        <c:axId val="1"/>
        <c:axId val="2"/>
      </c:line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noFill/>
          <a:ln w="9525" cap="flat">
            <a:solidFill>
              <a:srgbClr val="16181D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40"/>
          <c:min val="0"/>
        </c:scaling>
        <c:delete val="0"/>
        <c:axPos val="l"/>
        <c:numFmt formatCode="[$-42A]#,##0;&quot;−&quot;#,##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9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  <c:majorUnit val="1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0799"/>
          <c:y val="0.00799"/>
          <c:w val="0.98402"/>
          <c:h val="0.9840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Giá trị</c:v>
                </c:pt>
              </c:strCache>
            </c:strRef>
          </c:tx>
          <c:spPr>
            <a:solidFill>
              <a:srgbClr val="2A78D6"/>
            </a:solidFill>
            <a:ln w="19050" cap="flat">
              <a:solidFill>
                <a:srgbClr val="FFFFFF"/>
              </a:solidFill>
              <a:round/>
            </a:ln>
          </c:spPr>
          <c:dPt>
            <c:idx val="0"/>
            <c:spPr>
              <a:solidFill>
                <a:srgbClr val="2A78D6"/>
              </a:solidFill>
              <a:ln w="19050" cap="rnd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E6E4DE"/>
              </a:solidFill>
              <a:ln w="19050" cap="rnd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noFill/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Đã đạt</c:v>
                </c:pt>
                <c:pt idx="1">
                  <c:v>Còn lại</c:v>
                </c:pt>
                <c:pt idx="2">
                  <c:v>(nửa dưới, ẩn)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86.47276283896964</c:v>
                </c:pt>
                <c:pt idx="1">
                  <c:v>13.527237161030357</c:v>
                </c:pt>
                <c:pt idx="2">
                  <c:v>100.0</c:v>
                </c:pt>
              </c:numCache>
            </c:numRef>
          </c:val>
        </c:ser>
        <c:firstSliceAng val="270"/>
        <c:holeSize val="66"/>
      </c:doughnut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0000"/>
          <c:y val="0.00000"/>
          <c:w val="1.00000"/>
          <c:h val="1.00000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Cán cân vãng lai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dPt>
            <c:idx val="0"/>
            <c:invertIfNegative val="0"/>
            <c:spPr>
              <a:solidFill>
                <a:srgbClr val="E34948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E34948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E34948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8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9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10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-2.041</c:v>
                </c:pt>
                <c:pt idx="1">
                  <c:v>0.625</c:v>
                </c:pt>
                <c:pt idx="2">
                  <c:v>-1.649</c:v>
                </c:pt>
                <c:pt idx="3">
                  <c:v>5.899</c:v>
                </c:pt>
                <c:pt idx="4">
                  <c:v>13.101</c:v>
                </c:pt>
                <c:pt idx="5">
                  <c:v>15.06</c:v>
                </c:pt>
                <c:pt idx="6">
                  <c:v>-4.628</c:v>
                </c:pt>
                <c:pt idx="7">
                  <c:v>1.402</c:v>
                </c:pt>
                <c:pt idx="8">
                  <c:v>25.793</c:v>
                </c:pt>
                <c:pt idx="9">
                  <c:v>30.175</c:v>
                </c:pt>
                <c:pt idx="10">
                  <c:v>33.135</c:v>
                </c:pt>
              </c:numCache>
            </c:numRef>
          </c:val>
        </c:ser>
        <c:gapWidth val="51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noFill/>
          <a:ln w="9525" cap="flat">
            <a:solidFill>
              <a:srgbClr val="C3C2B7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33.135"/>
          <c:min val="-4.628"/>
        </c:scaling>
        <c:delete val="1"/>
        <c:axPos val="l"/>
        <c:numFmt formatCode="[$-42A]#,##0.0;&quot;−&quot;#,##0.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0000"/>
          <c:y val="0.00000"/>
          <c:w val="1.00000"/>
          <c:h val="1.00000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FDI ròng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dPt>
            <c:idx val="0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8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9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10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10.7</c:v>
                </c:pt>
                <c:pt idx="1">
                  <c:v>11.6</c:v>
                </c:pt>
                <c:pt idx="2">
                  <c:v>13.62</c:v>
                </c:pt>
                <c:pt idx="3">
                  <c:v>14.902</c:v>
                </c:pt>
                <c:pt idx="4">
                  <c:v>15.635</c:v>
                </c:pt>
                <c:pt idx="5">
                  <c:v>15.42</c:v>
                </c:pt>
                <c:pt idx="6">
                  <c:v>15.341</c:v>
                </c:pt>
                <c:pt idx="7">
                  <c:v>15.226</c:v>
                </c:pt>
                <c:pt idx="8">
                  <c:v>20.05</c:v>
                </c:pt>
                <c:pt idx="9">
                  <c:v>19.57</c:v>
                </c:pt>
                <c:pt idx="10">
                  <c:v>21.29</c:v>
                </c:pt>
              </c:numCache>
            </c:numRef>
          </c:val>
        </c:ser>
        <c:gapWidth val="51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noFill/>
          <a:ln w="9525" cap="flat">
            <a:solidFill>
              <a:srgbClr val="C3C2B7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21.29"/>
          <c:min val="0"/>
        </c:scaling>
        <c:delete val="1"/>
        <c:axPos val="l"/>
        <c:numFmt formatCode="[$-42A]#,##0.0;&quot;−&quot;#,##0.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0000"/>
          <c:y val="0.00000"/>
          <c:w val="1.00000"/>
          <c:h val="1.00000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Đầu tư gián tiếp ròng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dPt>
            <c:idx val="0"/>
            <c:invertIfNegative val="0"/>
            <c:spPr>
              <a:solidFill>
                <a:srgbClr val="E34948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E34948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8"/>
            <c:invertIfNegative val="0"/>
            <c:spPr>
              <a:solidFill>
                <a:srgbClr val="E34948"/>
              </a:solidFill>
              <a:ln>
                <a:noFill/>
              </a:ln>
            </c:spPr>
          </c:dPt>
          <c:dPt>
            <c:idx val="9"/>
            <c:invertIfNegative val="0"/>
            <c:spPr>
              <a:solidFill>
                <a:srgbClr val="E34948"/>
              </a:solidFill>
              <a:ln>
                <a:noFill/>
              </a:ln>
            </c:spPr>
          </c:dPt>
          <c:dPt>
            <c:idx val="10"/>
            <c:invertIfNegative val="0"/>
            <c:spPr>
              <a:solidFill>
                <a:srgbClr val="E34948"/>
              </a:solidFill>
              <a:ln>
                <a:noFill/>
              </a:ln>
            </c:spPr>
          </c:dPt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-0.065</c:v>
                </c:pt>
                <c:pt idx="1">
                  <c:v>0.228</c:v>
                </c:pt>
                <c:pt idx="2">
                  <c:v>2.069</c:v>
                </c:pt>
                <c:pt idx="3">
                  <c:v>3.021</c:v>
                </c:pt>
                <c:pt idx="4">
                  <c:v>2.997</c:v>
                </c:pt>
                <c:pt idx="5">
                  <c:v>-1.256</c:v>
                </c:pt>
                <c:pt idx="6">
                  <c:v>0.281</c:v>
                </c:pt>
                <c:pt idx="7">
                  <c:v>1.512</c:v>
                </c:pt>
                <c:pt idx="8">
                  <c:v>-1.189</c:v>
                </c:pt>
                <c:pt idx="9">
                  <c:v>-5.713</c:v>
                </c:pt>
                <c:pt idx="10">
                  <c:v>-4.931</c:v>
                </c:pt>
              </c:numCache>
            </c:numRef>
          </c:val>
        </c:ser>
        <c:gapWidth val="51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noFill/>
          <a:ln w="9525" cap="flat">
            <a:solidFill>
              <a:srgbClr val="C3C2B7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3.021"/>
          <c:min val="-5.713"/>
        </c:scaling>
        <c:delete val="1"/>
        <c:axPos val="l"/>
        <c:numFmt formatCode="[$-42A]#,##0.0;&quot;−&quot;#,##0.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0000"/>
          <c:y val="0.00000"/>
          <c:w val="1.00000"/>
          <c:h val="1.00000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Đầu tư khác ròng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dPt>
            <c:idx val="0"/>
            <c:invertIfNegative val="0"/>
            <c:spPr>
              <a:solidFill>
                <a:srgbClr val="E34948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E34948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E34948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E34948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E34948"/>
              </a:solidFill>
              <a:ln>
                <a:noFill/>
              </a:ln>
            </c:spPr>
          </c:dPt>
          <c:dPt>
            <c:idx val="8"/>
            <c:invertIfNegative val="0"/>
            <c:spPr>
              <a:solidFill>
                <a:srgbClr val="E34948"/>
              </a:solidFill>
              <a:ln>
                <a:noFill/>
              </a:ln>
            </c:spPr>
          </c:dPt>
          <c:dPt>
            <c:idx val="9"/>
            <c:invertIfNegative val="0"/>
            <c:spPr>
              <a:solidFill>
                <a:srgbClr val="E34948"/>
              </a:solidFill>
              <a:ln>
                <a:noFill/>
              </a:ln>
            </c:spPr>
          </c:dPt>
          <c:dPt>
            <c:idx val="10"/>
            <c:invertIfNegative val="0"/>
            <c:spPr>
              <a:solidFill>
                <a:srgbClr val="E34948"/>
              </a:solidFill>
              <a:ln>
                <a:noFill/>
              </a:ln>
            </c:spPr>
          </c:dPt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-9.668</c:v>
                </c:pt>
                <c:pt idx="1">
                  <c:v>-1.101</c:v>
                </c:pt>
                <c:pt idx="2">
                  <c:v>4.339</c:v>
                </c:pt>
                <c:pt idx="3">
                  <c:v>-9.457</c:v>
                </c:pt>
                <c:pt idx="4">
                  <c:v>0.742</c:v>
                </c:pt>
                <c:pt idx="5">
                  <c:v>-5.68</c:v>
                </c:pt>
                <c:pt idx="6">
                  <c:v>15.273</c:v>
                </c:pt>
                <c:pt idx="7">
                  <c:v>-7.268</c:v>
                </c:pt>
                <c:pt idx="8">
                  <c:v>-21.699</c:v>
                </c:pt>
                <c:pt idx="9">
                  <c:v>-21.886</c:v>
                </c:pt>
                <c:pt idx="10">
                  <c:v>-19.769</c:v>
                </c:pt>
              </c:numCache>
            </c:numRef>
          </c:val>
        </c:ser>
        <c:gapWidth val="51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noFill/>
          <a:ln w="9525" cap="flat">
            <a:solidFill>
              <a:srgbClr val="C3C2B7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15.273"/>
          <c:min val="-21.886"/>
        </c:scaling>
        <c:delete val="1"/>
        <c:axPos val="l"/>
        <c:numFmt formatCode="[$-42A]#,##0.0;&quot;−&quot;#,##0.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0000"/>
          <c:y val="0.00000"/>
          <c:w val="1.00000"/>
          <c:h val="1.00000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Lỗi và sai sót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dPt>
            <c:idx val="0"/>
            <c:invertIfNegative val="0"/>
            <c:spPr>
              <a:solidFill>
                <a:srgbClr val="E34948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E34948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E34948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E34948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E34948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E34948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E34948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E34948"/>
              </a:solidFill>
              <a:ln>
                <a:noFill/>
              </a:ln>
            </c:spPr>
          </c:dPt>
          <c:dPt>
            <c:idx val="8"/>
            <c:invertIfNegative val="0"/>
            <c:spPr>
              <a:solidFill>
                <a:srgbClr val="E34948"/>
              </a:solidFill>
              <a:ln>
                <a:noFill/>
              </a:ln>
            </c:spPr>
          </c:dPt>
          <c:dPt>
            <c:idx val="9"/>
            <c:invertIfNegative val="0"/>
            <c:spPr>
              <a:solidFill>
                <a:srgbClr val="E34948"/>
              </a:solidFill>
              <a:ln>
                <a:noFill/>
              </a:ln>
            </c:spPr>
          </c:dPt>
          <c:dPt>
            <c:idx val="10"/>
            <c:invertIfNegative val="0"/>
            <c:spPr>
              <a:solidFill>
                <a:srgbClr val="E34948"/>
              </a:solidFill>
              <a:ln>
                <a:noFill/>
              </a:ln>
            </c:spPr>
          </c:dPt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-4.958</c:v>
                </c:pt>
                <c:pt idx="1">
                  <c:v>-2.962</c:v>
                </c:pt>
                <c:pt idx="2">
                  <c:v>-5.835</c:v>
                </c:pt>
                <c:pt idx="3">
                  <c:v>-8.334</c:v>
                </c:pt>
                <c:pt idx="4">
                  <c:v>-9.221</c:v>
                </c:pt>
                <c:pt idx="5">
                  <c:v>-6.912</c:v>
                </c:pt>
                <c:pt idx="6">
                  <c:v>-11.977</c:v>
                </c:pt>
                <c:pt idx="7">
                  <c:v>-33.617</c:v>
                </c:pt>
                <c:pt idx="8">
                  <c:v>-17.347</c:v>
                </c:pt>
                <c:pt idx="9">
                  <c:v>-31.313</c:v>
                </c:pt>
                <c:pt idx="10">
                  <c:v>-25.863</c:v>
                </c:pt>
              </c:numCache>
            </c:numRef>
          </c:val>
        </c:ser>
        <c:gapWidth val="51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noFill/>
          <a:ln w="9525" cap="flat">
            <a:solidFill>
              <a:srgbClr val="C3C2B7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0"/>
          <c:min val="-33.617"/>
        </c:scaling>
        <c:delete val="1"/>
        <c:axPos val="l"/>
        <c:numFmt formatCode="[$-42A]#,##0.0;&quot;−&quot;#,##0.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0000"/>
          <c:y val="0.00000"/>
          <c:w val="1.00000"/>
          <c:h val="1.00000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Thay đổi dự trữ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dPt>
            <c:idx val="0"/>
            <c:invertIfNegative val="0"/>
            <c:spPr>
              <a:solidFill>
                <a:srgbClr val="E34948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E34948"/>
              </a:solidFill>
              <a:ln>
                <a:noFill/>
              </a:ln>
            </c:spPr>
          </c:dPt>
          <c:dPt>
            <c:idx val="8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9"/>
            <c:invertIfNegative val="0"/>
            <c:spPr>
              <a:solidFill>
                <a:srgbClr val="E34948"/>
              </a:solidFill>
              <a:ln>
                <a:noFill/>
              </a:ln>
            </c:spPr>
          </c:dPt>
          <c:dPt>
            <c:idx val="10"/>
            <c:invertIfNegative val="0"/>
            <c:spPr>
              <a:solidFill>
                <a:srgbClr val="2A78D6"/>
              </a:solidFill>
              <a:ln>
                <a:noFill/>
              </a:ln>
            </c:spPr>
          </c:dPt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-6.032</c:v>
                </c:pt>
                <c:pt idx="1">
                  <c:v>8.39</c:v>
                </c:pt>
                <c:pt idx="2">
                  <c:v>12.544</c:v>
                </c:pt>
                <c:pt idx="3">
                  <c:v>6.031</c:v>
                </c:pt>
                <c:pt idx="4">
                  <c:v>23.254</c:v>
                </c:pt>
                <c:pt idx="5">
                  <c:v>16.632</c:v>
                </c:pt>
                <c:pt idx="6">
                  <c:v>14.29</c:v>
                </c:pt>
                <c:pt idx="7">
                  <c:v>-22.745</c:v>
                </c:pt>
                <c:pt idx="8">
                  <c:v>5.608</c:v>
                </c:pt>
                <c:pt idx="9">
                  <c:v>-9.167</c:v>
                </c:pt>
                <c:pt idx="10">
                  <c:v>3.862</c:v>
                </c:pt>
              </c:numCache>
            </c:numRef>
          </c:val>
        </c:ser>
        <c:gapWidth val="51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noFill/>
          <a:ln w="9525" cap="flat">
            <a:solidFill>
              <a:srgbClr val="C3C2B7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23.254"/>
          <c:min val="-22.745"/>
        </c:scaling>
        <c:delete val="1"/>
        <c:axPos val="l"/>
        <c:numFmt formatCode="[$-42A]#,##0.0;&quot;−&quot;#,##0.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0000"/>
          <c:y val="0.00000"/>
          <c:w val="1.00000"/>
          <c:h val="1.00000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Nợ xấu / dư nợ</c:v>
                </c:pt>
              </c:strCache>
            </c:strRef>
          </c:tx>
          <c:spPr>
            <a:ln w="19050" cap="rnd">
              <a:solidFill>
                <a:srgbClr val="5B6170"/>
              </a:solidFill>
              <a:round/>
            </a:ln>
          </c:spPr>
          <c:marker>
            <c:symbol val="none"/>
          </c:marker>
          <c:dPt>
            <c:idx val="6"/>
            <c:marker>
              <c:symbol val="circle"/>
              <c:size val="4"/>
              <c:spPr>
                <a:solidFill>
                  <a:srgbClr val="C9CCD2"/>
                </a:solidFill>
                <a:ln w="9525" cap="rnd">
                  <a:solidFill>
                    <a:srgbClr val="FFFFFF"/>
                  </a:solidFill>
                  <a:round/>
                </a:ln>
              </c:spPr>
            </c:marker>
          </c:dPt>
          <c:dPt>
            <c:idx val="10"/>
            <c:marker>
              <c:symbol val="circle"/>
              <c:size val="5"/>
              <c:spPr>
                <a:solidFill>
                  <a:srgbClr val="2A78D6"/>
                </a:solidFill>
                <a:ln w="9525" cap="rnd">
                  <a:solidFill>
                    <a:srgbClr val="FFFFFF"/>
                  </a:solidFill>
                  <a:round/>
                </a:ln>
              </c:spPr>
            </c:marker>
          </c:dPt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2.76</c:v>
                </c:pt>
                <c:pt idx="1">
                  <c:v>2.64</c:v>
                </c:pt>
                <c:pt idx="2">
                  <c:v>2.11</c:v>
                </c:pt>
                <c:pt idx="3">
                  <c:v>2.13</c:v>
                </c:pt>
                <c:pt idx="4">
                  <c:v>1.77</c:v>
                </c:pt>
                <c:pt idx="5">
                  <c:v>1.87</c:v>
                </c:pt>
                <c:pt idx="6">
                  <c:v>1.6</c:v>
                </c:pt>
                <c:pt idx="7">
                  <c:v>2.32</c:v>
                </c:pt>
                <c:pt idx="8">
                  <c:v>5.41</c:v>
                </c:pt>
                <c:pt idx="9">
                  <c:v>4.85</c:v>
                </c:pt>
                <c:pt idx="10">
                  <c:v>4.21</c:v>
                </c:pt>
              </c:numCache>
            </c:numRef>
          </c:val>
          <c:smooth val="0"/>
        </c:ser>
        <c:marker val="1"/>
        <c:axId val="1"/>
        <c:axId val="2"/>
      </c:line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5.7148"/>
          <c:min val="1.2952000000000001"/>
        </c:scaling>
        <c:delete val="1"/>
        <c:axPos val="l"/>
        <c:numFmt formatCode="[$-42A]#,##0.00;&quot;−&quot;#,##0.0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midCat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0000"/>
          <c:y val="0.00000"/>
          <c:w val="1.00000"/>
          <c:h val="1.00000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Hệ số an toàn vốn (CAR)</c:v>
                </c:pt>
              </c:strCache>
            </c:strRef>
          </c:tx>
          <c:spPr>
            <a:ln w="19050" cap="rnd">
              <a:solidFill>
                <a:srgbClr val="5B6170"/>
              </a:solidFill>
              <a:round/>
            </a:ln>
          </c:spPr>
          <c:marker>
            <c:symbol val="none"/>
          </c:marker>
          <c:dPt>
            <c:idx val="5"/>
            <c:marker>
              <c:symbol val="circle"/>
              <c:size val="4"/>
              <c:spPr>
                <a:solidFill>
                  <a:srgbClr val="C9CCD2"/>
                </a:solidFill>
                <a:ln w="9525" cap="rnd">
                  <a:solidFill>
                    <a:srgbClr val="FFFFFF"/>
                  </a:solidFill>
                  <a:round/>
                </a:ln>
              </c:spPr>
            </c:marker>
          </c:dPt>
          <c:dPt>
            <c:idx val="10"/>
            <c:marker>
              <c:symbol val="circle"/>
              <c:size val="5"/>
              <c:spPr>
                <a:solidFill>
                  <a:srgbClr val="2A78D6"/>
                </a:solidFill>
                <a:ln w="9525" cap="rnd">
                  <a:solidFill>
                    <a:srgbClr val="FFFFFF"/>
                  </a:solidFill>
                  <a:round/>
                </a:ln>
              </c:spPr>
            </c:marker>
          </c:dPt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12.77</c:v>
                </c:pt>
                <c:pt idx="1">
                  <c:v>12.64</c:v>
                </c:pt>
                <c:pt idx="2">
                  <c:v>12.1</c:v>
                </c:pt>
                <c:pt idx="3">
                  <c:v>11.95</c:v>
                </c:pt>
                <c:pt idx="4">
                  <c:v>11.79</c:v>
                </c:pt>
                <c:pt idx="5">
                  <c:v>11.14</c:v>
                </c:pt>
                <c:pt idx="6">
                  <c:v>11.31</c:v>
                </c:pt>
                <c:pt idx="7">
                  <c:v>11.55</c:v>
                </c:pt>
                <c:pt idx="8">
                  <c:v>11.74</c:v>
                </c:pt>
                <c:pt idx="9">
                  <c:v>12.33</c:v>
                </c:pt>
                <c:pt idx="10">
                  <c:v>12.06</c:v>
                </c:pt>
              </c:numCache>
            </c:numRef>
          </c:val>
          <c:smooth val="0"/>
        </c:ser>
        <c:marker val="1"/>
        <c:axId val="1"/>
        <c:axId val="2"/>
      </c:line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12.9004"/>
          <c:min val="11.0096"/>
        </c:scaling>
        <c:delete val="1"/>
        <c:axPos val="l"/>
        <c:numFmt formatCode="[$-42A]#,##0.00;&quot;−&quot;#,##0.0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midCat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0000"/>
          <c:y val="0.00000"/>
          <c:w val="1.00000"/>
          <c:h val="1.00000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Dự phòng / nợ xấu</c:v>
                </c:pt>
              </c:strCache>
            </c:strRef>
          </c:tx>
          <c:spPr>
            <a:ln w="19050" cap="rnd">
              <a:solidFill>
                <a:srgbClr val="5B6170"/>
              </a:solidFill>
              <a:round/>
            </a:ln>
          </c:spPr>
          <c:marker>
            <c:symbol val="none"/>
          </c:marker>
          <c:dPt>
            <c:idx val="2"/>
            <c:marker>
              <c:symbol val="circle"/>
              <c:size val="4"/>
              <c:spPr>
                <a:solidFill>
                  <a:srgbClr val="C9CCD2"/>
                </a:solidFill>
                <a:ln w="9525" cap="rnd">
                  <a:solidFill>
                    <a:srgbClr val="FFFFFF"/>
                  </a:solidFill>
                  <a:round/>
                </a:ln>
              </c:spPr>
            </c:marker>
          </c:dPt>
          <c:dPt>
            <c:idx val="10"/>
            <c:marker>
              <c:symbol val="circle"/>
              <c:size val="5"/>
              <c:spPr>
                <a:solidFill>
                  <a:srgbClr val="2A78D6"/>
                </a:solidFill>
                <a:ln w="9525" cap="rnd">
                  <a:solidFill>
                    <a:srgbClr val="FFFFFF"/>
                  </a:solidFill>
                  <a:round/>
                </a:ln>
              </c:spPr>
            </c:marker>
          </c:dPt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45.73</c:v>
                </c:pt>
                <c:pt idx="1">
                  <c:v>46.37</c:v>
                </c:pt>
                <c:pt idx="2">
                  <c:v>41.34</c:v>
                </c:pt>
                <c:pt idx="3">
                  <c:v>50.69</c:v>
                </c:pt>
                <c:pt idx="4">
                  <c:v>52.49</c:v>
                </c:pt>
                <c:pt idx="5">
                  <c:v>44.5</c:v>
                </c:pt>
                <c:pt idx="6">
                  <c:v>64.07</c:v>
                </c:pt>
                <c:pt idx="7">
                  <c:v>50.6</c:v>
                </c:pt>
                <c:pt idx="8">
                  <c:v>66.84</c:v>
                </c:pt>
                <c:pt idx="9">
                  <c:v>68.62</c:v>
                </c:pt>
                <c:pt idx="10">
                  <c:v>66.77</c:v>
                </c:pt>
              </c:numCache>
            </c:numRef>
          </c:val>
          <c:smooth val="0"/>
        </c:ser>
        <c:marker val="1"/>
        <c:axId val="1"/>
        <c:axId val="2"/>
      </c:line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70.8024"/>
          <c:min val="39.1576"/>
        </c:scaling>
        <c:delete val="1"/>
        <c:axPos val="l"/>
        <c:numFmt formatCode="[$-42A]#,##0.0;&quot;−&quot;#,##0.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midCat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0000"/>
          <c:y val="0.00000"/>
          <c:w val="1.00000"/>
          <c:h val="1.00000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ROA</c:v>
                </c:pt>
              </c:strCache>
            </c:strRef>
          </c:tx>
          <c:spPr>
            <a:ln w="19050" cap="rnd">
              <a:solidFill>
                <a:srgbClr val="5B6170"/>
              </a:solidFill>
              <a:round/>
            </a:ln>
          </c:spPr>
          <c:marker>
            <c:symbol val="none"/>
          </c:marker>
          <c:dPt>
            <c:idx val="8"/>
            <c:marker>
              <c:symbol val="circle"/>
              <c:size val="4"/>
              <c:spPr>
                <a:solidFill>
                  <a:srgbClr val="C9CCD2"/>
                </a:solidFill>
                <a:ln w="9525" cap="rnd">
                  <a:solidFill>
                    <a:srgbClr val="FFFFFF"/>
                  </a:solidFill>
                  <a:round/>
                </a:ln>
              </c:spPr>
            </c:marker>
          </c:dPt>
          <c:dPt>
            <c:idx val="10"/>
            <c:marker>
              <c:symbol val="circle"/>
              <c:size val="5"/>
              <c:spPr>
                <a:solidFill>
                  <a:srgbClr val="2A78D6"/>
                </a:solidFill>
                <a:ln w="9525" cap="rnd">
                  <a:solidFill>
                    <a:srgbClr val="FFFFFF"/>
                  </a:solidFill>
                  <a:round/>
                </a:ln>
              </c:spPr>
            </c:marker>
          </c:dPt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0.64</c:v>
                </c:pt>
                <c:pt idx="1">
                  <c:v>0.69</c:v>
                </c:pt>
                <c:pt idx="2">
                  <c:v>0.8</c:v>
                </c:pt>
                <c:pt idx="3">
                  <c:v>1.15</c:v>
                </c:pt>
                <c:pt idx="4">
                  <c:v>1.21</c:v>
                </c:pt>
                <c:pt idx="5">
                  <c:v>1.2</c:v>
                </c:pt>
                <c:pt idx="6">
                  <c:v>1.54</c:v>
                </c:pt>
                <c:pt idx="7">
                  <c:v>1.55</c:v>
                </c:pt>
                <c:pt idx="8">
                  <c:v>-1.03</c:v>
                </c:pt>
                <c:pt idx="9">
                  <c:v>1.43</c:v>
                </c:pt>
                <c:pt idx="10">
                  <c:v>1.49</c:v>
                </c:pt>
              </c:numCache>
            </c:numRef>
          </c:val>
          <c:smooth val="0"/>
        </c:ser>
        <c:marker val="1"/>
        <c:axId val="1"/>
        <c:axId val="2"/>
      </c:line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noFill/>
          <a:ln w="9525" cap="flat">
            <a:solidFill>
              <a:srgbClr val="C3C2B7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1.7564"/>
          <c:min val="-1.2364"/>
        </c:scaling>
        <c:delete val="1"/>
        <c:axPos val="l"/>
        <c:numFmt formatCode="[$-42A]#,##0.00;&quot;−&quot;#,##0.0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midCat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0000"/>
          <c:y val="0.00000"/>
          <c:w val="1.00000"/>
          <c:h val="1.00000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ROE</c:v>
                </c:pt>
              </c:strCache>
            </c:strRef>
          </c:tx>
          <c:spPr>
            <a:ln w="19050" cap="rnd">
              <a:solidFill>
                <a:srgbClr val="5B6170"/>
              </a:solidFill>
              <a:round/>
            </a:ln>
          </c:spPr>
          <c:marker>
            <c:symbol val="none"/>
          </c:marker>
          <c:dPt>
            <c:idx val="8"/>
            <c:marker>
              <c:symbol val="circle"/>
              <c:size val="4"/>
              <c:spPr>
                <a:solidFill>
                  <a:srgbClr val="C9CCD2"/>
                </a:solidFill>
                <a:ln w="9525" cap="rnd">
                  <a:solidFill>
                    <a:srgbClr val="FFFFFF"/>
                  </a:solidFill>
                  <a:round/>
                </a:ln>
              </c:spPr>
            </c:marker>
          </c:dPt>
          <c:dPt>
            <c:idx val="10"/>
            <c:marker>
              <c:symbol val="circle"/>
              <c:size val="5"/>
              <c:spPr>
                <a:solidFill>
                  <a:srgbClr val="2A78D6"/>
                </a:solidFill>
                <a:ln w="9525" cap="rnd">
                  <a:solidFill>
                    <a:srgbClr val="FFFFFF"/>
                  </a:solidFill>
                  <a:round/>
                </a:ln>
              </c:spPr>
            </c:marker>
          </c:dPt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5.63</c:v>
                </c:pt>
                <c:pt idx="1">
                  <c:v>6.77</c:v>
                </c:pt>
                <c:pt idx="2">
                  <c:v>8.23</c:v>
                </c:pt>
                <c:pt idx="3">
                  <c:v>12.3</c:v>
                </c:pt>
                <c:pt idx="4">
                  <c:v>12.39</c:v>
                </c:pt>
                <c:pt idx="5">
                  <c:v>11.91</c:v>
                </c:pt>
                <c:pt idx="6">
                  <c:v>14.94</c:v>
                </c:pt>
                <c:pt idx="7">
                  <c:v>14.52</c:v>
                </c:pt>
                <c:pt idx="8">
                  <c:v>-20.1</c:v>
                </c:pt>
                <c:pt idx="9">
                  <c:v>18.43</c:v>
                </c:pt>
                <c:pt idx="10">
                  <c:v>19.95</c:v>
                </c:pt>
              </c:numCache>
            </c:numRef>
          </c:val>
          <c:smooth val="0"/>
        </c:ser>
        <c:marker val="1"/>
        <c:axId val="1"/>
        <c:axId val="2"/>
      </c:line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noFill/>
          <a:ln w="9525" cap="flat">
            <a:solidFill>
              <a:srgbClr val="C3C2B7"/>
            </a:solidFill>
            <a:round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23.154"/>
          <c:min val="-23.304000000000002"/>
        </c:scaling>
        <c:delete val="1"/>
        <c:axPos val="l"/>
        <c:numFmt formatCode="[$-42A]#,##0.0;&quot;−&quot;#,##0.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midCat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0000"/>
          <c:y val="0.00000"/>
          <c:w val="1.00000"/>
          <c:h val="1.00000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Tăng trưởng tín dụng</c:v>
                </c:pt>
              </c:strCache>
            </c:strRef>
          </c:tx>
          <c:spPr>
            <a:ln w="19050" cap="rnd">
              <a:solidFill>
                <a:srgbClr val="5B6170"/>
              </a:solidFill>
              <a:round/>
            </a:ln>
          </c:spPr>
          <c:marker>
            <c:symbol val="none"/>
          </c:marker>
          <c:dPt>
            <c:idx val="5"/>
            <c:marker>
              <c:symbol val="circle"/>
              <c:size val="4"/>
              <c:spPr>
                <a:solidFill>
                  <a:srgbClr val="C9CCD2"/>
                </a:solidFill>
                <a:ln w="9525" cap="rnd">
                  <a:solidFill>
                    <a:srgbClr val="FFFFFF"/>
                  </a:solidFill>
                  <a:round/>
                </a:ln>
              </c:spPr>
            </c:marker>
          </c:dPt>
          <c:dPt>
            <c:idx val="10"/>
            <c:marker>
              <c:symbol val="circle"/>
              <c:size val="5"/>
              <c:spPr>
                <a:solidFill>
                  <a:srgbClr val="2A78D6"/>
                </a:solidFill>
                <a:ln w="9525" cap="rnd">
                  <a:solidFill>
                    <a:srgbClr val="FFFFFF"/>
                  </a:solidFill>
                  <a:round/>
                </a:ln>
              </c:spPr>
            </c:marker>
          </c:dPt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18.0</c:v>
                </c:pt>
                <c:pt idx="1">
                  <c:v>18.25</c:v>
                </c:pt>
                <c:pt idx="2">
                  <c:v>18.28</c:v>
                </c:pt>
                <c:pt idx="3">
                  <c:v>13.89</c:v>
                </c:pt>
                <c:pt idx="4">
                  <c:v>13.65</c:v>
                </c:pt>
                <c:pt idx="5">
                  <c:v>12.2</c:v>
                </c:pt>
                <c:pt idx="6">
                  <c:v>13.6</c:v>
                </c:pt>
                <c:pt idx="7">
                  <c:v>14.2</c:v>
                </c:pt>
                <c:pt idx="8">
                  <c:v>13.78</c:v>
                </c:pt>
                <c:pt idx="9">
                  <c:v>15.09</c:v>
                </c:pt>
                <c:pt idx="10">
                  <c:v>19.07</c:v>
                </c:pt>
              </c:numCache>
            </c:numRef>
          </c:val>
          <c:smooth val="0"/>
        </c:ser>
        <c:marker val="1"/>
        <c:axId val="1"/>
        <c:axId val="2"/>
      </c:line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19.619600000000002"/>
          <c:min val="11.6504"/>
        </c:scaling>
        <c:delete val="1"/>
        <c:axPos val="l"/>
        <c:numFmt formatCode="[$-42A]#,##0.00;&quot;−&quot;#,##0.0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midCat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vi-VN"/>
  <c:roundedCorners val="0"/>
  <c:chart>
    <c:autoTitleDeleted val="1"/>
    <c:plotArea>
      <c:layout>
        <c:manualLayout>
          <c:layoutTarget val="inner"/>
          <c:xMode val="edge"/>
          <c:yMode val="edge"/>
          <c:x val="0.00000"/>
          <c:y val="0.00000"/>
          <c:w val="1.00000"/>
          <c:h val="1.00000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Tăng trưởng huy động</c:v>
                </c:pt>
              </c:strCache>
            </c:strRef>
          </c:tx>
          <c:spPr>
            <a:ln w="19050" cap="rnd">
              <a:solidFill>
                <a:srgbClr val="5B6170"/>
              </a:solidFill>
              <a:round/>
            </a:ln>
          </c:spPr>
          <c:marker>
            <c:symbol val="none"/>
          </c:marker>
          <c:dPt>
            <c:idx val="7"/>
            <c:marker>
              <c:symbol val="circle"/>
              <c:size val="4"/>
              <c:spPr>
                <a:solidFill>
                  <a:srgbClr val="C9CCD2"/>
                </a:solidFill>
                <a:ln w="9525" cap="rnd">
                  <a:solidFill>
                    <a:srgbClr val="FFFFFF"/>
                  </a:solidFill>
                  <a:round/>
                </a:ln>
              </c:spPr>
            </c:marker>
          </c:dPt>
          <c:dPt>
            <c:idx val="10"/>
            <c:marker>
              <c:symbol val="circle"/>
              <c:size val="5"/>
              <c:spPr>
                <a:solidFill>
                  <a:srgbClr val="2A78D6"/>
                </a:solidFill>
                <a:ln w="9525" cap="rnd">
                  <a:solidFill>
                    <a:srgbClr val="FFFFFF"/>
                  </a:solidFill>
                  <a:round/>
                </a:ln>
              </c:spPr>
            </c:marker>
          </c:dPt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13.59</c:v>
                </c:pt>
                <c:pt idx="1">
                  <c:v>17.75</c:v>
                </c:pt>
                <c:pt idx="2">
                  <c:v>14.59</c:v>
                </c:pt>
                <c:pt idx="3">
                  <c:v>12.29</c:v>
                </c:pt>
                <c:pt idx="4">
                  <c:v>14.54</c:v>
                </c:pt>
                <c:pt idx="5">
                  <c:v>13.3</c:v>
                </c:pt>
                <c:pt idx="6">
                  <c:v>10.3</c:v>
                </c:pt>
                <c:pt idx="7">
                  <c:v>5.99</c:v>
                </c:pt>
                <c:pt idx="8">
                  <c:v>13.2</c:v>
                </c:pt>
                <c:pt idx="9">
                  <c:v>10.66</c:v>
                </c:pt>
                <c:pt idx="10">
                  <c:v>15.42</c:v>
                </c:pt>
              </c:numCache>
            </c:numRef>
          </c:val>
          <c:smooth val="0"/>
        </c:ser>
        <c:marker val="1"/>
        <c:axId val="1"/>
        <c:axId val="2"/>
      </c:line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2"/>
        <c:crosses val="autoZero"/>
        <c:auto val="1"/>
        <c:lblAlgn val="ctr"/>
        <c:lblOffset val="60"/>
        <c:noMultiLvlLbl val="0"/>
      </c:catAx>
      <c:valAx>
        <c:axId val="2"/>
        <c:scaling>
          <c:orientation val="minMax"/>
          <c:max val="18.6908"/>
          <c:min val="5.0492"/>
        </c:scaling>
        <c:delete val="1"/>
        <c:axPos val="l"/>
        <c:numFmt formatCode="[$-42A]#,##0.00;&quot;−&quot;#,##0.0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spcFirstLastPara="1" vertOverflow="ellipsis" wrap="square" anchor="ctr" anchorCtr="1"/>
          <a:lstStyle/>
          <a:p>
            <a:pPr>
              <a:defRPr sz="1000" b="0" i="0" baseline="0">
                <a:solidFill>
                  <a:srgbClr val="5B6170"/>
                </a:solidFill>
                <a:latin typeface="IBM Plex Sans"/>
                <a:ea typeface="IBM Plex Sans"/>
                <a:cs typeface="IBM Plex Sans"/>
              </a:defRPr>
            </a:pPr>
            <a:endParaRPr lang="vi-VN"/>
          </a:p>
        </c:txPr>
        <c:crossAx val="1"/>
        <c:crosses val="autoZero"/>
        <c:crossBetween val="midCat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spcFirstLastPara="1" vertOverflow="ellipsis" wrap="square" anchor="ctr" anchorCtr="1"/>
    <a:lstStyle/>
    <a:p>
      <a:pPr>
        <a:defRPr sz="1000" b="0" i="0" baseline="0">
          <a:solidFill>
            <a:srgbClr val="5B6170"/>
          </a:solidFill>
          <a:latin typeface="IBM Plex Sans"/>
          <a:ea typeface="IBM Plex Sans"/>
          <a:cs typeface="IBM Plex Sans"/>
        </a:defRPr>
      </a:pPr>
      <a:endParaRPr lang="vi-VN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Số liệu nguồn của sơ đồ (treemap) — sửa ở đây rồi sửa hình tương ứng:</a:t>
            </a:r>
          </a:p>
          <a:p>
            <a:r>
              <a:t>TP. Hồ Chí Minh: 2.972.536 tỷ đồng (23,3%)</a:t>
            </a:r>
          </a:p>
          <a:p>
            <a:r>
              <a:t>Hà Nội: 1.588.060 tỷ đồng (12,4%)</a:t>
            </a:r>
          </a:p>
          <a:p>
            <a:r>
              <a:t>Hải Phòng: 734.519 tỷ đồng (5,7%)</a:t>
            </a:r>
          </a:p>
          <a:p>
            <a:r>
              <a:t>Đồng Nai: 677.638 tỷ đồng (5,3%)</a:t>
            </a:r>
          </a:p>
          <a:p>
            <a:r>
              <a:t>Bắc Ninh: 522.116 tỷ đồng (4,1%)</a:t>
            </a:r>
          </a:p>
          <a:p>
            <a:r>
              <a:t>Phú Thọ: 412.151 tỷ đồng (3,2%)</a:t>
            </a:r>
          </a:p>
          <a:p>
            <a:r>
              <a:t>Quảng Ninh: 368.707 tỷ đồng (2,9%)</a:t>
            </a:r>
          </a:p>
          <a:p>
            <a:r>
              <a:t>Lâm Đồng: 353.258 tỷ đồng (2,8%)</a:t>
            </a:r>
          </a:p>
          <a:p>
            <a:r>
              <a:t>Tây Ninh: 344.556 tỷ đồng (2,7%)</a:t>
            </a:r>
          </a:p>
          <a:p>
            <a:r>
              <a:t>Ninh Bình: 342.779 tỷ đồng (2,7%)</a:t>
            </a:r>
          </a:p>
          <a:p>
            <a:r>
              <a:t>Thanh Hóa: 333.754 tỷ đồng (2,6%)</a:t>
            </a:r>
          </a:p>
          <a:p>
            <a:r>
              <a:t>Hưng Yên: 319.824 tỷ đồng (2,5%)</a:t>
            </a:r>
          </a:p>
          <a:p>
            <a:r>
              <a:t>Đà Nẵng: 316.054 tỷ đồng (2,5%)</a:t>
            </a:r>
          </a:p>
          <a:p>
            <a:r>
              <a:t>Cần Thơ: 306.118 tỷ đồng (2,4%)</a:t>
            </a:r>
          </a:p>
          <a:p>
            <a:r>
              <a:t>An Giang: 296.383 tỷ đồng (2,3%)</a:t>
            </a:r>
          </a:p>
          <a:p>
            <a:r>
              <a:t>Đồng Tháp: 285.983 tỷ đồng (2,2%)</a:t>
            </a:r>
          </a:p>
          <a:p>
            <a:r>
              <a:t>Vĩnh Long: 278.466 tỷ đồng (2,2%)</a:t>
            </a:r>
          </a:p>
          <a:p>
            <a:r>
              <a:t>Gia Lai: 270.640 tỷ đồng (2,1%)</a:t>
            </a:r>
          </a:p>
          <a:p>
            <a:r>
              <a:t>Nghệ An: 236.488 tỷ đồng (1,9%)</a:t>
            </a:r>
          </a:p>
          <a:p>
            <a:r>
              <a:t>Đắk Lắk: 229.539 tỷ đồng (1,8%)</a:t>
            </a:r>
          </a:p>
          <a:p>
            <a:r>
              <a:t>Khánh Hòa: 209.446 tỷ đồng (1,6%)</a:t>
            </a:r>
          </a:p>
          <a:p>
            <a:r>
              <a:t>Thái Nguyên: 192.385 tỷ đồng (1,5%)</a:t>
            </a:r>
          </a:p>
          <a:p>
            <a:r>
              <a:t>Quảng Ngãi: 191.614 tỷ đồng (1,5%)</a:t>
            </a:r>
          </a:p>
          <a:p>
            <a:r>
              <a:t>Cà Mau: 169.047 tỷ đồng (1,3%)</a:t>
            </a:r>
          </a:p>
          <a:p>
            <a:r>
              <a:t>Lào Cai: 141.887 tỷ đồng (1,1%)</a:t>
            </a:r>
          </a:p>
          <a:p>
            <a:r>
              <a:t>Quảng Trị: 123.401 tỷ đồng (1,0%)</a:t>
            </a:r>
          </a:p>
          <a:p>
            <a:r>
              <a:t>Hà Tĩnh: 120.845 tỷ đồng (0,9%)</a:t>
            </a:r>
          </a:p>
          <a:p>
            <a:r>
              <a:t>Sơn La: 95.738 tỷ đồng (0,7%)</a:t>
            </a:r>
          </a:p>
          <a:p>
            <a:r>
              <a:t>Tuyên Quang: 95.471 tỷ đồng (0,7%)</a:t>
            </a:r>
          </a:p>
          <a:p>
            <a:r>
              <a:t>Huế: 89.600 tỷ đồng (0,7%)</a:t>
            </a:r>
          </a:p>
          <a:p>
            <a:r>
              <a:t>Lạng Sơn: 58.223 tỷ đồng (0,5%)</a:t>
            </a:r>
          </a:p>
          <a:p>
            <a:r>
              <a:t>Lai Châu: 39.807 tỷ đồng (0,3%)</a:t>
            </a:r>
          </a:p>
          <a:p>
            <a:r>
              <a:t>Điện Biên: 35.631 tỷ đồng (0,3%)</a:t>
            </a:r>
          </a:p>
          <a:p>
            <a:r>
              <a:t>Cao Bằng: 27.914 tỷ đồng (0,2%)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Số liệu nguồn của sơ đồ (tilemap) — sửa ở đây rồi sửa hình tương ứng:</a:t>
            </a:r>
          </a:p>
          <a:p>
            <a:r>
              <a:t>Lai Châu: 7,52%</a:t>
            </a:r>
          </a:p>
          <a:p>
            <a:r>
              <a:t>Lào Cai: 8,14%</a:t>
            </a:r>
          </a:p>
          <a:p>
            <a:r>
              <a:t>Tuyên Quang: 6,40%</a:t>
            </a:r>
          </a:p>
          <a:p>
            <a:r>
              <a:t>Cao Bằng: 7,22%</a:t>
            </a:r>
          </a:p>
          <a:p>
            <a:r>
              <a:t>Điện Biên: 7,34%</a:t>
            </a:r>
          </a:p>
          <a:p>
            <a:r>
              <a:t>Sơn La: 8,03%</a:t>
            </a:r>
          </a:p>
          <a:p>
            <a:r>
              <a:t>Phú Thọ: 10,52%</a:t>
            </a:r>
          </a:p>
          <a:p>
            <a:r>
              <a:t>Thái Nguyên: 6,33%</a:t>
            </a:r>
          </a:p>
          <a:p>
            <a:r>
              <a:t>Lạng Sơn: 8,06%</a:t>
            </a:r>
          </a:p>
          <a:p>
            <a:r>
              <a:t>Hà Nội: 8,16%</a:t>
            </a:r>
          </a:p>
          <a:p>
            <a:r>
              <a:t>Bắc Ninh: 10,27%</a:t>
            </a:r>
          </a:p>
          <a:p>
            <a:r>
              <a:t>Quảng Ninh: 11,89%</a:t>
            </a:r>
          </a:p>
          <a:p>
            <a:r>
              <a:t>Ninh Bình: 10,65%</a:t>
            </a:r>
          </a:p>
          <a:p>
            <a:r>
              <a:t>Hưng Yên: 8,78%</a:t>
            </a:r>
          </a:p>
          <a:p>
            <a:r>
              <a:t>Hải Phòng: 11,81%</a:t>
            </a:r>
          </a:p>
          <a:p>
            <a:r>
              <a:t>Thanh Hóa: 8,27%</a:t>
            </a:r>
          </a:p>
          <a:p>
            <a:r>
              <a:t>Nghệ An: 8,44%</a:t>
            </a:r>
          </a:p>
          <a:p>
            <a:r>
              <a:t>Hà Tĩnh: 8,78%</a:t>
            </a:r>
          </a:p>
          <a:p>
            <a:r>
              <a:t>Quảng Trị: 8,00%</a:t>
            </a:r>
          </a:p>
          <a:p>
            <a:r>
              <a:t>Huế: 8,50%</a:t>
            </a:r>
          </a:p>
          <a:p>
            <a:r>
              <a:t>Đà Nẵng: 9,18%</a:t>
            </a:r>
          </a:p>
          <a:p>
            <a:r>
              <a:t>Quảng Ngãi: 10,02%</a:t>
            </a:r>
          </a:p>
          <a:p>
            <a:r>
              <a:t>Gia Lai: 7,20%</a:t>
            </a:r>
          </a:p>
          <a:p>
            <a:r>
              <a:t>Đắk Lắk: 6,68%</a:t>
            </a:r>
          </a:p>
          <a:p>
            <a:r>
              <a:t>Khánh Hòa: 7,11%</a:t>
            </a:r>
          </a:p>
          <a:p>
            <a:r>
              <a:t>Lâm Đồng: 6,42%</a:t>
            </a:r>
          </a:p>
          <a:p>
            <a:r>
              <a:t>Tây Ninh: 9,52%</a:t>
            </a:r>
          </a:p>
          <a:p>
            <a:r>
              <a:t>Đồng Nai: 9,63%</a:t>
            </a:r>
          </a:p>
          <a:p>
            <a:r>
              <a:t>TP. Hồ Chí Minh: 7,53%</a:t>
            </a:r>
          </a:p>
          <a:p>
            <a:r>
              <a:t>Đồng Tháp: 7,38%</a:t>
            </a:r>
          </a:p>
          <a:p>
            <a:r>
              <a:t>An Giang: 8,39%</a:t>
            </a:r>
          </a:p>
          <a:p>
            <a:r>
              <a:t>Vĩnh Long: 5,84%</a:t>
            </a:r>
          </a:p>
          <a:p>
            <a:r>
              <a:t>Cần Thơ: 7,23%</a:t>
            </a:r>
          </a:p>
          <a:p>
            <a:r>
              <a:t>Cà Mau: 7,23%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Số liệu nguồn của sơ đồ (flow) — sửa ở đây rồi sửa hình tương ứng:</a:t>
            </a:r>
          </a:p>
          <a:p>
            <a:r>
              <a:t>Thu nội địa → Tổng chi 2024: 1.723,6</a:t>
            </a:r>
          </a:p>
          <a:p>
            <a:r>
              <a:t>Thu xuất nhập khẩu → Tổng chi 2024: 272,0</a:t>
            </a:r>
          </a:p>
          <a:p>
            <a:r>
              <a:t>Dầu thô → Tổng chi 2024: 58,6</a:t>
            </a:r>
          </a:p>
          <a:p>
            <a:r>
              <a:t>Viện trợ → Tổng chi 2024: 3,2</a:t>
            </a:r>
          </a:p>
          <a:p>
            <a:r>
              <a:t>Chi vượt thu (≈) → Tổng chi 2024: 90,9</a:t>
            </a:r>
          </a:p>
          <a:p>
            <a:r>
              <a:t>Tổng chi 2024 → Chi thường xuyên: 1.320,5</a:t>
            </a:r>
          </a:p>
          <a:p>
            <a:r>
              <a:t>Tổng chi 2024 → Đầu tư phát triển: 720,9</a:t>
            </a:r>
          </a:p>
          <a:p>
            <a:r>
              <a:t>Tổng chi 2024 → Trả lãi: 102,6</a:t>
            </a:r>
          </a:p>
          <a:p>
            <a:r>
              <a:t>Tổng chi 2024 → Khác: 4,5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Số liệu nguồn của sơ đồ (levers) — sửa ở đây rồi sửa hình tương ứng:</a:t>
            </a:r>
          </a:p>
          <a:p>
            <a:r>
              <a:t>Công cụ NHNN: Lãi suất điều hành; Thị trường mở (OMO); Mua bán ngoại tệ</a:t>
            </a:r>
          </a:p>
          <a:p>
            <a:r>
              <a:t>Thị trường tiền tệ: Lãi suất liên ngân hàng; Thanh khoản hệ thống</a:t>
            </a:r>
          </a:p>
          <a:p>
            <a:r>
              <a:t>Ngân hàng: Lãi suất huy động, cho vay; Tín dụng</a:t>
            </a:r>
          </a:p>
          <a:p>
            <a:r>
              <a:t>Kết quả: Lạm phát (CPI); Tăng trưởng GDP</a:t>
            </a:r>
          </a:p>
          <a:p>
            <a:r>
              <a:t>Lãi suất điều hành → Lãi suất liên ngân hàng</a:t>
            </a:r>
          </a:p>
          <a:p>
            <a:r>
              <a:t>Thị trường mở (OMO) → Lãi suất liên ngân hàng</a:t>
            </a:r>
          </a:p>
          <a:p>
            <a:r>
              <a:t>Thị trường mở (OMO) → Thanh khoản hệ thống</a:t>
            </a:r>
          </a:p>
          <a:p>
            <a:r>
              <a:t>Mua bán ngoại tệ → Thanh khoản hệ thống</a:t>
            </a:r>
          </a:p>
          <a:p>
            <a:r>
              <a:t>Lãi suất liên ngân hàng → Lãi suất huy động, cho vay</a:t>
            </a:r>
          </a:p>
          <a:p>
            <a:r>
              <a:t>Thanh khoản hệ thống → Lãi suất huy động, cho vay</a:t>
            </a:r>
          </a:p>
          <a:p>
            <a:r>
              <a:t>Lãi suất huy động, cho vay → Tín dụng</a:t>
            </a:r>
          </a:p>
          <a:p>
            <a:r>
              <a:t>Tín dụng → Lạm phát (CPI)</a:t>
            </a:r>
          </a:p>
          <a:p>
            <a:r>
              <a:t>Tín dụng → Tăng trưởng GDP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Số liệu nguồn của sơ đồ (timeline) — sửa ở đây rồi sửa hình tương ứng:</a:t>
            </a:r>
          </a:p>
          <a:p>
            <a:r>
              <a:t>08/6/2026 · NQ 10-NQ/TW — Mục tiêu FDI giải ngân 30–40 tỷ USD/năm</a:t>
            </a:r>
          </a:p>
          <a:p>
            <a:r>
              <a:t>27/6/2026 · Nghị định 245/2026 — Gia hạn nộp thuế GTGT, TNDN, TNCN</a:t>
            </a:r>
          </a:p>
          <a:p>
            <a:r>
              <a:t>01/8/2026 · Tiền gửi KBNN — 50% được tính vào nguồn vốn khi tính LDR</a:t>
            </a:r>
          </a:p>
          <a:p>
            <a:r>
              <a:t>9/2026 · Công văn 8509/NHNN — Loại cho vay khách sạn, nghỉ dưỡng khỏi tín dụng BĐS</a:t>
            </a:r>
          </a:p>
          <a:p>
            <a:r>
              <a:t>03/10/2026 · Số liệu quý III — GDP 9 tháng tăng 9,01%</a:t>
            </a:r>
          </a:p>
          <a:p>
            <a:r>
              <a:t>13/10/2026 · IMF WEO tháng 10 — Cập nhật dự báo tăng trưởng (sắp tới)</a:t>
            </a:r>
          </a:p>
          <a:p>
            <a:r>
              <a:t>01/12/2026 · Thông tư 50/2026 — Trần LDR 95%, LCR/NSFR có hiệu lực (sắp tới)</a:t>
            </a:r>
          </a:p>
          <a:p>
            <a:r>
              <a:t>31/12/2026 · Hết hạn giảm thuế GTGT — Thuế suất 8% về lại 10% (sắp tới)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Relationship Id="rId5" Type="http://schemas.openxmlformats.org/officeDocument/2006/relationships/chart" Target="../charts/char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0.xml"/><Relationship Id="rId3" Type="http://schemas.openxmlformats.org/officeDocument/2006/relationships/chart" Target="../charts/chart41.xml"/><Relationship Id="rId4" Type="http://schemas.openxmlformats.org/officeDocument/2006/relationships/chart" Target="../charts/chart42.xml"/><Relationship Id="rId5" Type="http://schemas.openxmlformats.org/officeDocument/2006/relationships/chart" Target="../charts/chart43.xml"/><Relationship Id="rId6" Type="http://schemas.openxmlformats.org/officeDocument/2006/relationships/chart" Target="../charts/chart4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6.xml"/><Relationship Id="rId3" Type="http://schemas.openxmlformats.org/officeDocument/2006/relationships/chart" Target="../charts/chart47.xml"/><Relationship Id="rId4" Type="http://schemas.openxmlformats.org/officeDocument/2006/relationships/chart" Target="../charts/chart48.xml"/><Relationship Id="rId5" Type="http://schemas.openxmlformats.org/officeDocument/2006/relationships/chart" Target="../charts/chart49.xml"/><Relationship Id="rId6" Type="http://schemas.openxmlformats.org/officeDocument/2006/relationships/chart" Target="../charts/chart50.xml"/><Relationship Id="rId7" Type="http://schemas.openxmlformats.org/officeDocument/2006/relationships/chart" Target="../charts/chart5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2.xml"/><Relationship Id="rId3" Type="http://schemas.openxmlformats.org/officeDocument/2006/relationships/chart" Target="../charts/chart53.xml"/><Relationship Id="rId4" Type="http://schemas.openxmlformats.org/officeDocument/2006/relationships/chart" Target="../charts/chart54.xml"/><Relationship Id="rId5" Type="http://schemas.openxmlformats.org/officeDocument/2006/relationships/chart" Target="../charts/chart55.xml"/><Relationship Id="rId6" Type="http://schemas.openxmlformats.org/officeDocument/2006/relationships/chart" Target="../charts/chart56.xml"/><Relationship Id="rId7" Type="http://schemas.openxmlformats.org/officeDocument/2006/relationships/chart" Target="../charts/chart57.xml"/><Relationship Id="rId8" Type="http://schemas.openxmlformats.org/officeDocument/2006/relationships/chart" Target="../charts/chart5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48640"/>
            <a:ext cx="11094415" cy="0"/>
          </a:xfrm>
          <a:prstGeom prst="line">
            <a:avLst/>
          </a:prstGeom>
          <a:ln w="15875" cap="flat">
            <a:solidFill>
              <a:srgbClr val="16181D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7132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60">
                <a:solidFill>
                  <a:srgbClr val="16181D"/>
                </a:solidFill>
                <a:latin typeface="IBM Plex Sans SemiBold"/>
              </a:rPr>
              <a:t>VIETNAM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7132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00" b="0" i="0" lang="vi-VN">
                <a:solidFill>
                  <a:srgbClr val="5B6170"/>
                </a:solidFill>
                <a:latin typeface="IBM Plex Sans"/>
              </a:rPr>
              <a:t>Cập nhật 7/10/2026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639554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 lang="vi-VN" spc="160">
                <a:solidFill>
                  <a:srgbClr val="C2362F"/>
                </a:solidFill>
                <a:latin typeface="IBM Plex Sans SemiBold"/>
              </a:rPr>
              <a:t>BÁO CÁO KINH TẾ · NGÂN HÀNG · BỘ MẪU TRÌNH BÀY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12848"/>
            <a:ext cx="6395542" cy="20884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4200" b="0" i="0" lang="vi-VN">
                <a:solidFill>
                  <a:srgbClr val="16181D"/>
                </a:solidFill>
                <a:latin typeface="Newsreader SemiBold"/>
              </a:rPr>
              <a:t>Kinh tế 9 tháng 2026: GDP tăng 9,01%, tín dụng chạy trước huy động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84218"/>
            <a:ext cx="5455768" cy="10241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600" b="0" i="0" lang="vi-VN">
                <a:solidFill>
                  <a:srgbClr val="5B6170"/>
                </a:solidFill>
                <a:latin typeface="IBM Plex Sans"/>
              </a:rPr>
              <a:t>Năm mươi mốt cách trình bày dữ liệu theo phong cách Vietnam Dashboard — biểu đồ PowerPoint gốc, sửa được số liệu; mỗi trang một phát hiện.</a:t>
            </a:r>
          </a:p>
        </p:txBody>
      </p:sp>
      <p:graphicFrame>
        <p:nvGraphicFramePr>
          <p:cNvPr id="8" name="Chart · column"/>
          <p:cNvGraphicFramePr>
            <a:graphicFrameLocks noGrp="1"/>
          </p:cNvGraphicFramePr>
          <p:nvPr/>
        </p:nvGraphicFramePr>
        <p:xfrm>
          <a:off x="8066837" y="1828800"/>
          <a:ext cx="3576218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9" name="Chart labels"/>
          <p:cNvGrpSpPr/>
          <p:nvPr/>
        </p:nvGrpSpPr>
        <p:grpSpPr>
          <a:xfrm>
            <a:off x="8066837" y="1823530"/>
            <a:ext cx="1116057" cy="156845"/>
            <a:chOff x="8066837" y="1823530"/>
            <a:chExt cx="1116057" cy="156845"/>
          </a:xfrm>
        </p:grpSpPr>
        <p:sp>
          <p:nvSpPr>
            <p:cNvPr id="10" name="TextBox 9"/>
            <p:cNvSpPr txBox="1"/>
            <p:nvPr/>
          </p:nvSpPr>
          <p:spPr>
            <a:xfrm>
              <a:off x="8066837" y="1823530"/>
              <a:ext cx="1116057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Tăng trưởng GDP, %</a:t>
              </a:r>
            </a:p>
          </p:txBody>
        </p:sp>
      </p:grpSp>
      <p:cxnSp>
        <p:nvCxnSpPr>
          <p:cNvPr id="11" name="Connector 10"/>
          <p:cNvCxnSpPr/>
          <p:nvPr/>
        </p:nvCxnSpPr>
        <p:spPr>
          <a:xfrm>
            <a:off x="548640" y="5989320"/>
            <a:ext cx="11094415" cy="0"/>
          </a:xfrm>
          <a:prstGeom prst="line">
            <a:avLst/>
          </a:prstGeom>
          <a:ln w="9525" cap="flat">
            <a:solidFill>
              <a:srgbClr val="16181D"/>
            </a:solidFill>
            <a:round/>
          </a:ln>
        </p:spPr>
      </p:cxnSp>
      <p:sp>
        <p:nvSpPr>
          <p:cNvPr id="12" name="TextBox 11"/>
          <p:cNvSpPr txBox="1"/>
          <p:nvPr/>
        </p:nvSpPr>
        <p:spPr>
          <a:xfrm>
            <a:off x="548640" y="6108192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lang="vi-VN">
                <a:solidFill>
                  <a:srgbClr val="5B6170"/>
                </a:solidFill>
                <a:latin typeface="IBM Plex Sans"/>
              </a:rPr>
              <a:t>Nguồn số liệu: NSO, NHNN, Bộ Tài chính, IMF, World Bank, UN WPP 2024 và mô hình của dashboard. Mô tả số liệu — không phải khuyến nghị đầu tư.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MỤC LỤC · DANH MỤC CÁCH TRÌNH BÀY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6907987" cy="4498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Năm mươi mốt cách trình bày, mỗi cách một trang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6269"/>
            <a:ext cx="6395542" cy="2880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50" b="0" i="0" lang="vi-VN">
                <a:solidFill>
                  <a:srgbClr val="5B6170"/>
                </a:solidFill>
                <a:latin typeface="IBM Plex Sans"/>
              </a:rPr>
              <a:t>Mỗi dòng: số trang, tên cách trình bày và cách dựng trong PowerPoint.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55648"/>
            <a:ext cx="357621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i="0" lang="vi-VN" spc="90">
                <a:solidFill>
                  <a:srgbClr val="C2362F"/>
                </a:solidFill>
                <a:latin typeface="IBM Plex Sans SemiBold"/>
              </a:rPr>
              <a:t>CON SỐ MỞ ĐẦU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950720"/>
            <a:ext cx="3576218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8" name="TextBox 7"/>
          <p:cNvSpPr txBox="1"/>
          <p:nvPr/>
        </p:nvSpPr>
        <p:spPr>
          <a:xfrm>
            <a:off x="548640" y="1969008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969008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Con số lớn (hero)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4778" y="1969008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82368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182368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Thẻ chỉ số (KPI)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4778" y="2182368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hình+bđ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95728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395728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Trích dẫn nhận định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4778" y="2395728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chữ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673096"/>
            <a:ext cx="357621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i="0" lang="vi-VN" spc="90">
                <a:solidFill>
                  <a:srgbClr val="C2362F"/>
                </a:solidFill>
                <a:latin typeface="IBM Plex Sans SemiBold"/>
              </a:rPr>
              <a:t>DIỄN BIẾN THEO THỜI GIAN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2868168"/>
            <a:ext cx="3576218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9" name="TextBox 18"/>
          <p:cNvSpPr txBox="1"/>
          <p:nvPr/>
        </p:nvSpPr>
        <p:spPr>
          <a:xfrm>
            <a:off x="548640" y="2886456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2886456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Đường (line)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4778" y="2886456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099816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3099816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Nhiều đường, tô một đường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84778" y="3099816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313176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3313176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Đường bậc thang (step)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84778" y="3313176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526536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3526536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Vùng (area)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84778" y="3526536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739896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3739896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Vùng chồng (stacked area)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84778" y="3739896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53256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3953256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Vùng chồng 100%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84778" y="3953256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166616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" y="4166616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Quạt dự báo (fan)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84778" y="4166616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379976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4379976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Kết hợp cột + đường (hai trục)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84778" y="4379976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657344"/>
            <a:ext cx="357621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i="0" lang="vi-VN" spc="90">
                <a:solidFill>
                  <a:srgbClr val="C2362F"/>
                </a:solidFill>
                <a:latin typeface="IBM Plex Sans SemiBold"/>
              </a:rPr>
              <a:t>SO SÁNH VÀ XẾP HẠNG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48640" y="4852416"/>
            <a:ext cx="3576218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45" name="TextBox 44"/>
          <p:cNvSpPr txBox="1"/>
          <p:nvPr/>
        </p:nvSpPr>
        <p:spPr>
          <a:xfrm>
            <a:off x="548640" y="4870704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" y="4870704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Cột (column)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84778" y="4870704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084064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" y="5084064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Cột nhóm (grouped column)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84778" y="5084064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297424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" y="5297424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Thanh ngang xếp hạng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84778" y="5297424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510784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" y="5510784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Thanh ngang nhóm (grouped bar)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84778" y="5510784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5724144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21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9536" y="5724144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Kẹo mút (lollipop)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84778" y="5724144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5937504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22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9536" y="5937504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Biểu đồ chấm (dot plot)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84778" y="5937504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150864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23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9536" y="6150864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Quả tạ (dumbbell)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84778" y="6150864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07738" y="1755648"/>
            <a:ext cx="357621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i="0" lang="vi-VN" spc="90">
                <a:solidFill>
                  <a:srgbClr val="C2362F"/>
                </a:solidFill>
                <a:latin typeface="IBM Plex Sans SemiBold"/>
              </a:rPr>
              <a:t>SO SÁNH VÀ XẾP HẠNG (TIẾP)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4307738" y="1950720"/>
            <a:ext cx="3576219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68" name="TextBox 67"/>
          <p:cNvSpPr txBox="1"/>
          <p:nvPr/>
        </p:nvSpPr>
        <p:spPr>
          <a:xfrm>
            <a:off x="4307738" y="1969008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24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18634" y="1969008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Độ dốc (slope)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43877" y="1969008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07738" y="2182368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25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18634" y="2182368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Thứ hạng (bump)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43877" y="2182368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07738" y="2395728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26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18634" y="2395728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Thanh phân kỳ (diverging)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43877" y="2395728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07738" y="2609088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27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618634" y="2609088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Lốc xoáy (tornado)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43877" y="2609088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07738" y="2886456"/>
            <a:ext cx="357621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i="0" lang="vi-VN" spc="90">
                <a:solidFill>
                  <a:srgbClr val="C2362F"/>
                </a:solidFill>
                <a:latin typeface="IBM Plex Sans SemiBold"/>
              </a:rPr>
              <a:t>CƠ CẤU VÀ ĐÓNG GÓP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4307738" y="3081528"/>
            <a:ext cx="3576219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82" name="TextBox 81"/>
          <p:cNvSpPr txBox="1"/>
          <p:nvPr/>
        </p:nvSpPr>
        <p:spPr>
          <a:xfrm>
            <a:off x="4307738" y="3099816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29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618634" y="3099816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Cột chồng (stacked column)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43877" y="3099816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07738" y="3313176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30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618634" y="3313176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Cột chồng 100%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243877" y="3313176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07738" y="3526536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31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18634" y="3526536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Thanh ngang chồng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243877" y="3526536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307738" y="3739896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32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618634" y="3739896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Thanh ngang chồng 100%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243877" y="3739896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307738" y="3953256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33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618634" y="3953256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Thác nước (waterfall)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243877" y="3953256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307738" y="4166616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34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618634" y="4166616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Vành khuyên (donut)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43877" y="4166616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307738" y="4379976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35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618634" y="4379976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Ô vuông (waffle)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43877" y="4379976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bảng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307738" y="4593336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36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618634" y="4593336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Bản đồ cây (treemap)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243877" y="4593336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hình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307738" y="4806696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37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618634" y="4806696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Marimekko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243877" y="4806696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307738" y="5020056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38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18634" y="5020056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Phễu (funnel)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243877" y="5020056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307738" y="5297424"/>
            <a:ext cx="357621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i="0" lang="vi-VN" spc="90">
                <a:solidFill>
                  <a:srgbClr val="C2362F"/>
                </a:solidFill>
                <a:latin typeface="IBM Plex Sans SemiBold"/>
              </a:rPr>
              <a:t>PHÂN PHỐI VÀ QUAN HỆ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4307738" y="5492496"/>
            <a:ext cx="3576219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14" name="TextBox 113"/>
          <p:cNvSpPr txBox="1"/>
          <p:nvPr/>
        </p:nvSpPr>
        <p:spPr>
          <a:xfrm>
            <a:off x="4307738" y="5510784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40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18634" y="5510784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Tần suất (histogram)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243877" y="5510784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307738" y="5724144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41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618634" y="5724144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Hộp (box plot)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243877" y="5724144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307738" y="5937504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42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618634" y="5937504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Phân tán (scatter)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243877" y="5937504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307738" y="6150864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43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618634" y="6150864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Bong bóng (bubble)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243877" y="6150864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066837" y="1755648"/>
            <a:ext cx="357621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i="0" lang="vi-VN" spc="90">
                <a:solidFill>
                  <a:srgbClr val="C2362F"/>
                </a:solidFill>
                <a:latin typeface="IBM Plex Sans SemiBold"/>
              </a:rPr>
              <a:t>PHÂN PHỐI VÀ QUAN HỆ (TIẾP)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8066837" y="1950720"/>
            <a:ext cx="3576218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28" name="TextBox 127"/>
          <p:cNvSpPr txBox="1"/>
          <p:nvPr/>
        </p:nvSpPr>
        <p:spPr>
          <a:xfrm>
            <a:off x="8066837" y="1969008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44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377733" y="1969008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Tháp dân số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1002975" y="1969008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066837" y="2182368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45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377733" y="2182368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Mạng nhện (radar)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002975" y="2182368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066837" y="2459736"/>
            <a:ext cx="357621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i="0" lang="vi-VN" spc="90">
                <a:solidFill>
                  <a:srgbClr val="C2362F"/>
                </a:solidFill>
                <a:latin typeface="IBM Plex Sans SemiBold"/>
              </a:rPr>
              <a:t>TIẾN ĐỘ, LƯỚI VÀ BẢN ĐỒ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8066837" y="2654808"/>
            <a:ext cx="3576218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36" name="TextBox 135"/>
          <p:cNvSpPr txBox="1"/>
          <p:nvPr/>
        </p:nvSpPr>
        <p:spPr>
          <a:xfrm>
            <a:off x="8066837" y="2673096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47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377733" y="2673096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Bullet (so với mục tiêu)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002975" y="2673096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066837" y="2886456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48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377733" y="2886456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Đồng hồ (gauge)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1002975" y="2886456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066837" y="3099816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49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377733" y="3099816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Nhiều ô nhỏ (small multiples)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1002975" y="3099816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066837" y="3313176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50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377733" y="3313176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Bảng có biểu đồ nhỏ (sparklines)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002975" y="3313176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bảng+bđ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066837" y="3526536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51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377733" y="3526536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Bản đồ nhiệt (heatmap)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1002975" y="3526536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bảng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066837" y="3739896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52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377733" y="3739896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Lịch nhiệt (calendar heatmap)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1002975" y="3739896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bảng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066837" y="3953256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53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377733" y="3953256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Bản đồ ô (tile map)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1002975" y="3953256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hình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066837" y="4230624"/>
            <a:ext cx="357621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i="0" lang="vi-VN" spc="90">
                <a:solidFill>
                  <a:srgbClr val="C2362F"/>
                </a:solidFill>
                <a:latin typeface="IBM Plex Sans SemiBold"/>
              </a:rPr>
              <a:t>SƠ ĐỒ, DÒNG CHẢY VÀ LỊCH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8066837" y="4425696"/>
            <a:ext cx="3576218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59" name="TextBox 158"/>
          <p:cNvSpPr txBox="1"/>
          <p:nvPr/>
        </p:nvSpPr>
        <p:spPr>
          <a:xfrm>
            <a:off x="8066837" y="4443984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55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377733" y="4443984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Dòng chảy (Sankey)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1002975" y="4443984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hình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066837" y="4657344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56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377733" y="4657344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Sơ đồ đòn bẩy / nhân quả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1002975" y="4657344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hình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066837" y="4870704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57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377733" y="4870704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Dòng thời gian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1002975" y="4870704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hình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066837" y="5084064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58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377733" y="5084064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Điều cần theo dõi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1002975" y="5084064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chữ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066837" y="5361432"/>
            <a:ext cx="357621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i="0" lang="vi-VN" spc="90">
                <a:solidFill>
                  <a:srgbClr val="C2362F"/>
                </a:solidFill>
                <a:latin typeface="IBM Plex Sans SemiBold"/>
              </a:rPr>
              <a:t>PHỤ LỤC</a:t>
            </a:r>
          </a:p>
        </p:txBody>
      </p:sp>
      <p:cxnSp>
        <p:nvCxnSpPr>
          <p:cNvPr id="172" name="Connector 171"/>
          <p:cNvCxnSpPr/>
          <p:nvPr/>
        </p:nvCxnSpPr>
        <p:spPr>
          <a:xfrm>
            <a:off x="8066837" y="5556504"/>
            <a:ext cx="3576218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73" name="TextBox 172"/>
          <p:cNvSpPr txBox="1"/>
          <p:nvPr/>
        </p:nvSpPr>
        <p:spPr>
          <a:xfrm>
            <a:off x="8066837" y="5574792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60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377733" y="5574792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Bảng số liệu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1002975" y="5574792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bảng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066837" y="5788152"/>
            <a:ext cx="292608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 SemiBold"/>
              </a:rPr>
              <a:t>61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8377733" y="5788152"/>
            <a:ext cx="2625242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lang="vi-VN">
                <a:solidFill>
                  <a:srgbClr val="16181D"/>
                </a:solidFill>
                <a:latin typeface="IBM Plex Sans"/>
              </a:rPr>
              <a:t>Nguồn và phương pháp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1002975" y="5788152"/>
            <a:ext cx="640080" cy="213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chữ</a:t>
            </a:r>
          </a:p>
        </p:txBody>
      </p:sp>
      <p:cxnSp>
        <p:nvCxnSpPr>
          <p:cNvPr id="179" name="Connector 178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80" name="TextBox 179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Biểu đồ = biểu đồ PowerPoint gốc (Edit Data); bảng = bảng gốc; bđ = kèm biểu đồ gốc nhỏ; hình = nhóm hình sửa được, số liệu trong ghi chú trang.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48640"/>
            <a:ext cx="11094415" cy="0"/>
          </a:xfrm>
          <a:prstGeom prst="line">
            <a:avLst/>
          </a:prstGeom>
          <a:ln w="15875" cap="flat">
            <a:solidFill>
              <a:srgbClr val="16181D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141732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1000" b="0" i="0" lang="vi-VN">
                <a:solidFill>
                  <a:srgbClr val="C2362F"/>
                </a:solidFill>
                <a:latin typeface="Newsreader SemiBold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3094330" cy="6675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0" i="0" lang="vi-VN">
                <a:solidFill>
                  <a:srgbClr val="16181D"/>
                </a:solidFill>
                <a:latin typeface="Newsreader SemiBold"/>
              </a:rPr>
              <a:t>Con số mở đầu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67912"/>
            <a:ext cx="5455768" cy="6492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500" b="0" i="0" lang="vi-VN">
                <a:solidFill>
                  <a:srgbClr val="5B6170"/>
                </a:solidFill>
                <a:latin typeface="IBM Plex Sans"/>
              </a:rPr>
              <a:t>Một con số lớn, bốn chỉ số và một nhận định — cách mở một báo cáo.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66837" y="1554480"/>
            <a:ext cx="357621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lang="vi-VN" spc="120">
                <a:solidFill>
                  <a:srgbClr val="5B6170"/>
                </a:solidFill>
                <a:latin typeface="IBM Plex Sans SemiBold"/>
              </a:rPr>
              <a:t>TRONG CHƯƠNG NÀY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066837" y="1920240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8" name="TextBox 7"/>
          <p:cNvSpPr txBox="1"/>
          <p:nvPr/>
        </p:nvSpPr>
        <p:spPr>
          <a:xfrm>
            <a:off x="8066837" y="2002536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Con số lớn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66837" y="2377821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0" name="TextBox 9"/>
          <p:cNvSpPr txBox="1"/>
          <p:nvPr/>
        </p:nvSpPr>
        <p:spPr>
          <a:xfrm>
            <a:off x="8066837" y="2460117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Bốn thẻ chỉ số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66837" y="2835402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2" name="TextBox 11"/>
          <p:cNvSpPr txBox="1"/>
          <p:nvPr/>
        </p:nvSpPr>
        <p:spPr>
          <a:xfrm>
            <a:off x="8066837" y="2917698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Trích dẫn nhận định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4" name="TextBox 13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TỔNG QUAN · 9 THÁNG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7659624" cy="4498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GDP 9 tháng 2026 tăng 9,01%; riêng quý 3 tăng 9,95%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455768" cy="1173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8800" b="1" i="0" lang="vi-VN">
                <a:solidFill>
                  <a:srgbClr val="16181D"/>
                </a:solidFill>
                <a:latin typeface="IBM Plex Sans"/>
              </a:rPr>
              <a:t>9,01</a:t>
            </a:r>
            <a:r>
              <a:rPr sz="2400" b="0" i="0" lang="vi-VN">
                <a:solidFill>
                  <a:srgbClr val="5B6170"/>
                </a:solidFill>
                <a:latin typeface="IBM Plex Sans SemiBold"/>
              </a:rPr>
              <a:t>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10840"/>
            <a:ext cx="5181448" cy="9281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400" b="0" i="0" lang="vi-VN">
                <a:solidFill>
                  <a:srgbClr val="5B6170"/>
                </a:solidFill>
                <a:latin typeface="IBM Plex Sans"/>
              </a:rPr>
              <a:t>So với cùng kỳ 2025. Tốc độ tăng dần qua từng quý; mục tiêu cả năm của Quốc hội là từ 10%. Mức cả năm cao nhất 2010–2025 là 8,54% (2022).</a:t>
            </a:r>
          </a:p>
        </p:txBody>
      </p:sp>
      <p:grpSp>
        <p:nvGrpSpPr>
          <p:cNvPr id="7" name="Counters"/>
          <p:cNvGrpSpPr/>
          <p:nvPr/>
        </p:nvGrpSpPr>
        <p:grpSpPr>
          <a:xfrm>
            <a:off x="548640" y="4104665"/>
            <a:ext cx="5272888" cy="1544269"/>
            <a:chOff x="548640" y="4104665"/>
            <a:chExt cx="5272888" cy="1544269"/>
          </a:xfrm>
        </p:grpSpPr>
        <p:cxnSp>
          <p:nvCxnSpPr>
            <p:cNvPr id="8" name="Connector 7"/>
            <p:cNvCxnSpPr/>
            <p:nvPr/>
          </p:nvCxnSpPr>
          <p:spPr>
            <a:xfrm>
              <a:off x="548640" y="4113276"/>
              <a:ext cx="1635709" cy="0"/>
            </a:xfrm>
            <a:prstGeom prst="line">
              <a:avLst/>
            </a:prstGeom>
            <a:ln w="15875" cap="flat">
              <a:solidFill>
                <a:srgbClr val="16181D"/>
              </a:solidFill>
              <a:round/>
            </a:ln>
          </p:spPr>
        </p:cxnSp>
        <p:sp>
          <p:nvSpPr>
            <p:cNvPr id="9" name="TextBox 8"/>
            <p:cNvSpPr txBox="1"/>
            <p:nvPr/>
          </p:nvSpPr>
          <p:spPr>
            <a:xfrm>
              <a:off x="548640" y="4186428"/>
              <a:ext cx="599129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 spc="80">
                  <a:solidFill>
                    <a:srgbClr val="5B6170"/>
                  </a:solidFill>
                  <a:latin typeface="IBM Plex Sans SemiBold"/>
                </a:rPr>
                <a:t>Q1/2026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48640" y="4388866"/>
              <a:ext cx="882117" cy="3632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2200" b="0" i="0" lang="vi-VN">
                  <a:solidFill>
                    <a:srgbClr val="16181D"/>
                  </a:solidFill>
                  <a:latin typeface="IBM Plex Sans SemiBold"/>
                </a:rPr>
                <a:t>8,15%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48640" y="4844796"/>
              <a:ext cx="1544269" cy="64008"/>
            </a:xfrm>
            <a:prstGeom prst="rect">
              <a:avLst/>
            </a:prstGeom>
            <a:solidFill>
              <a:srgbClr val="EEECE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 Same Side Corner Rectangle 11"/>
            <p:cNvSpPr/>
            <p:nvPr/>
          </p:nvSpPr>
          <p:spPr>
            <a:xfrm rot="5400000">
              <a:off x="1149088" y="4244348"/>
              <a:ext cx="64008" cy="1264904"/>
            </a:xfrm>
            <a:prstGeom prst="round2SameRect">
              <a:avLst>
                <a:gd name="adj1" fmla="val 49999"/>
                <a:gd name="adj2" fmla="val 0"/>
              </a:avLst>
            </a:prstGeom>
            <a:solidFill>
              <a:srgbClr val="C9CCD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2367229" y="4113276"/>
              <a:ext cx="1635709" cy="0"/>
            </a:xfrm>
            <a:prstGeom prst="line">
              <a:avLst/>
            </a:prstGeom>
            <a:ln w="15875" cap="flat">
              <a:solidFill>
                <a:srgbClr val="16181D"/>
              </a:solidFill>
              <a:round/>
            </a:ln>
          </p:spPr>
        </p:cxnSp>
        <p:sp>
          <p:nvSpPr>
            <p:cNvPr id="14" name="TextBox 13"/>
            <p:cNvSpPr txBox="1"/>
            <p:nvPr/>
          </p:nvSpPr>
          <p:spPr>
            <a:xfrm>
              <a:off x="2367229" y="4186428"/>
              <a:ext cx="599129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 spc="80">
                  <a:solidFill>
                    <a:srgbClr val="5B6170"/>
                  </a:solidFill>
                  <a:latin typeface="IBM Plex Sans SemiBold"/>
                </a:rPr>
                <a:t>Q2/2026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367229" y="4388866"/>
              <a:ext cx="882117" cy="3632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2200" b="0" i="0" lang="vi-VN">
                  <a:solidFill>
                    <a:srgbClr val="16181D"/>
                  </a:solidFill>
                  <a:latin typeface="IBM Plex Sans SemiBold"/>
                </a:rPr>
                <a:t>8,81%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367229" y="4844796"/>
              <a:ext cx="1544269" cy="64008"/>
            </a:xfrm>
            <a:prstGeom prst="rect">
              <a:avLst/>
            </a:prstGeom>
            <a:solidFill>
              <a:srgbClr val="EEECE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 Same Side Corner Rectangle 16"/>
            <p:cNvSpPr/>
            <p:nvPr/>
          </p:nvSpPr>
          <p:spPr>
            <a:xfrm rot="5400000">
              <a:off x="3018894" y="4193131"/>
              <a:ext cx="64008" cy="1367338"/>
            </a:xfrm>
            <a:prstGeom prst="round2SameRect">
              <a:avLst>
                <a:gd name="adj1" fmla="val 49999"/>
                <a:gd name="adj2" fmla="val 0"/>
              </a:avLst>
            </a:prstGeom>
            <a:solidFill>
              <a:srgbClr val="C9CCD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4185818" y="4113276"/>
              <a:ext cx="1635710" cy="0"/>
            </a:xfrm>
            <a:prstGeom prst="line">
              <a:avLst/>
            </a:prstGeom>
            <a:ln w="15875" cap="flat">
              <a:solidFill>
                <a:srgbClr val="16181D"/>
              </a:solidFill>
              <a:round/>
            </a:ln>
          </p:spPr>
        </p:cxnSp>
        <p:sp>
          <p:nvSpPr>
            <p:cNvPr id="19" name="TextBox 18"/>
            <p:cNvSpPr txBox="1"/>
            <p:nvPr/>
          </p:nvSpPr>
          <p:spPr>
            <a:xfrm>
              <a:off x="4185818" y="4186428"/>
              <a:ext cx="599129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 spc="80">
                  <a:solidFill>
                    <a:srgbClr val="5B6170"/>
                  </a:solidFill>
                  <a:latin typeface="IBM Plex Sans SemiBold"/>
                </a:rPr>
                <a:t>Q3/2026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185818" y="4388866"/>
              <a:ext cx="882117" cy="3632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2200" b="0" i="0" lang="vi-VN">
                  <a:solidFill>
                    <a:srgbClr val="16181D"/>
                  </a:solidFill>
                  <a:latin typeface="IBM Plex Sans SemiBold"/>
                </a:rPr>
                <a:t>9,95%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185818" y="4844796"/>
              <a:ext cx="1544269" cy="64008"/>
            </a:xfrm>
            <a:prstGeom prst="rect">
              <a:avLst/>
            </a:prstGeom>
            <a:solidFill>
              <a:srgbClr val="EEECE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 Same Side Corner Rectangle 21"/>
            <p:cNvSpPr/>
            <p:nvPr/>
          </p:nvSpPr>
          <p:spPr>
            <a:xfrm rot="5400000">
              <a:off x="4925949" y="4104665"/>
              <a:ext cx="64008" cy="1544269"/>
            </a:xfrm>
            <a:prstGeom prst="round2SameRect">
              <a:avLst>
                <a:gd name="adj1" fmla="val 49999"/>
                <a:gd name="adj2" fmla="val 0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3" name="Rectangle 22"/>
          <p:cNvSpPr/>
          <p:nvPr/>
        </p:nvSpPr>
        <p:spPr>
          <a:xfrm>
            <a:off x="6278728" y="1755648"/>
            <a:ext cx="5364328" cy="443484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048" y="1956816"/>
            <a:ext cx="481568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>
                <a:solidFill>
                  <a:srgbClr val="16181D"/>
                </a:solidFill>
                <a:latin typeface="IBM Plex Sans SemiBold"/>
              </a:rPr>
              <a:t>Tăng trưởng GDP cả năm, 2015–2025 (%)</a:t>
            </a:r>
          </a:p>
        </p:txBody>
      </p:sp>
      <p:graphicFrame>
        <p:nvGraphicFramePr>
          <p:cNvPr id="25" name="Chart · column"/>
          <p:cNvGraphicFramePr>
            <a:graphicFrameLocks noGrp="1"/>
          </p:cNvGraphicFramePr>
          <p:nvPr/>
        </p:nvGraphicFramePr>
        <p:xfrm>
          <a:off x="6553048" y="2304288"/>
          <a:ext cx="4815688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48640" y="5326685"/>
            <a:ext cx="5272888" cy="9095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Quý 3/2026 tăng 9,95%, cao hơn 1,80 điểm % so với quý 1.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Số 9 tháng so với cùng kỳ, không so trực tiếp với số cả năm ở biểu đồ bên phải.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28" name="TextBox 27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NSO — thông cáo quý III và 9 tháng 2026 (03/10/2026); GDP năm theo chuỗi đánh giá lại; 2025 ước tính.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BỐN CHỈ SỐ · THÁNG 9/2026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7050176" cy="4498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Xuất khẩu 9 tháng tăng 24,5%; lạm phát lên 5,08%</a:t>
            </a:r>
          </a:p>
        </p:txBody>
      </p:sp>
      <p:grpSp>
        <p:nvGrpSpPr>
          <p:cNvPr id="5" name="Chart · tiles"/>
          <p:cNvGrpSpPr/>
          <p:nvPr/>
        </p:nvGrpSpPr>
        <p:grpSpPr>
          <a:xfrm>
            <a:off x="548640" y="1931822"/>
            <a:ext cx="11094415" cy="3017520"/>
            <a:chOff x="548640" y="1931822"/>
            <a:chExt cx="11094415" cy="3017520"/>
          </a:xfrm>
        </p:grpSpPr>
        <p:sp>
          <p:nvSpPr>
            <p:cNvPr id="6" name="Rectangle 5"/>
            <p:cNvSpPr/>
            <p:nvPr/>
          </p:nvSpPr>
          <p:spPr>
            <a:xfrm>
              <a:off x="548640" y="1931822"/>
              <a:ext cx="2533574" cy="3017520"/>
            </a:xfrm>
            <a:prstGeom prst="rect">
              <a:avLst/>
            </a:prstGeom>
            <a:solidFill>
              <a:srgbClr val="FAF8F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548640" y="1931822"/>
              <a:ext cx="2533574" cy="0"/>
            </a:xfrm>
            <a:prstGeom prst="line">
              <a:avLst/>
            </a:prstGeom>
            <a:ln w="31750" cap="flat">
              <a:solidFill>
                <a:srgbClr val="16181D"/>
              </a:solidFill>
              <a:round/>
            </a:ln>
          </p:spPr>
        </p:cxnSp>
        <p:sp>
          <p:nvSpPr>
            <p:cNvPr id="8" name="TextBox 7"/>
            <p:cNvSpPr txBox="1"/>
            <p:nvPr/>
          </p:nvSpPr>
          <p:spPr>
            <a:xfrm>
              <a:off x="749808" y="2127720"/>
              <a:ext cx="1111828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 spc="80">
                  <a:solidFill>
                    <a:srgbClr val="5B6170"/>
                  </a:solidFill>
                  <a:latin typeface="IBM Plex Sans SemiBold"/>
                </a:rPr>
                <a:t>CPI SO CÙNG KỲ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9808" y="2422804"/>
              <a:ext cx="1282700" cy="6273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3800" b="1" i="0" lang="vi-VN">
                  <a:solidFill>
                    <a:srgbClr val="16181D"/>
                  </a:solidFill>
                  <a:latin typeface="IBM Plex Sans"/>
                </a:rPr>
                <a:t>5,08</a:t>
              </a:r>
              <a:r>
                <a:rPr sz="1500" b="0" i="0" lang="vi-VN">
                  <a:solidFill>
                    <a:srgbClr val="5B6170"/>
                  </a:solidFill>
                  <a:latin typeface="IBM Plex Sans SemiBold"/>
                </a:rPr>
                <a:t> %</a:t>
              </a:r>
            </a:p>
          </p:txBody>
        </p:sp>
        <p:sp>
          <p:nvSpPr>
            <p:cNvPr id="10" name="Isosceles Triangle 9"/>
            <p:cNvSpPr/>
            <p:nvPr/>
          </p:nvSpPr>
          <p:spPr>
            <a:xfrm>
              <a:off x="754380" y="3206587"/>
              <a:ext cx="118872" cy="102230"/>
            </a:xfrm>
            <a:prstGeom prst="triangle">
              <a:avLst/>
            </a:prstGeom>
            <a:solidFill>
              <a:srgbClr val="E3494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32688" y="3158642"/>
              <a:ext cx="1940814" cy="1981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 i="0" lang="vi-VN">
                  <a:solidFill>
                    <a:srgbClr val="16181D"/>
                  </a:solidFill>
                  <a:latin typeface="IBM Plex Sans SemiBold"/>
                </a:rPr>
                <a:t>+1,70 điểm %</a:t>
              </a:r>
              <a:r>
                <a:rPr sz="1000" b="0" i="0" lang="vi-VN">
                  <a:solidFill>
                    <a:srgbClr val="5B6170"/>
                  </a:solidFill>
                  <a:latin typeface="IBM Plex Sans"/>
                </a:rPr>
                <a:t>  so với T9/2025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9808" y="4473854"/>
              <a:ext cx="2131238" cy="34747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950" b="0" i="0" lang="vi-VN">
                  <a:solidFill>
                    <a:srgbClr val="8A8F99"/>
                  </a:solidFill>
                  <a:latin typeface="IBM Plex Sans"/>
                </a:rPr>
                <a:t>Tháng 9/2026. Đường nhỏ: 12 tháng gần nhất.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402254" y="1931822"/>
              <a:ext cx="2533574" cy="3017520"/>
            </a:xfrm>
            <a:prstGeom prst="rect">
              <a:avLst/>
            </a:prstGeom>
            <a:solidFill>
              <a:srgbClr val="FAF8F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3402254" y="1931822"/>
              <a:ext cx="2533574" cy="0"/>
            </a:xfrm>
            <a:prstGeom prst="line">
              <a:avLst/>
            </a:prstGeom>
            <a:ln w="31750" cap="flat">
              <a:solidFill>
                <a:srgbClr val="16181D"/>
              </a:solidFill>
              <a:round/>
            </a:ln>
          </p:spPr>
        </p:cxnSp>
        <p:sp>
          <p:nvSpPr>
            <p:cNvPr id="16" name="TextBox 15"/>
            <p:cNvSpPr txBox="1"/>
            <p:nvPr/>
          </p:nvSpPr>
          <p:spPr>
            <a:xfrm>
              <a:off x="3603422" y="2127720"/>
              <a:ext cx="1548467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 spc="80">
                  <a:solidFill>
                    <a:srgbClr val="5B6170"/>
                  </a:solidFill>
                  <a:latin typeface="IBM Plex Sans SemiBold"/>
                </a:rPr>
                <a:t>TÍN DỤNG TỪ ĐẦU NĂM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603422" y="2422804"/>
              <a:ext cx="1572260" cy="6273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3800" b="1" i="0" lang="vi-VN">
                  <a:solidFill>
                    <a:srgbClr val="16181D"/>
                  </a:solidFill>
                  <a:latin typeface="IBM Plex Sans"/>
                </a:rPr>
                <a:t>11,59</a:t>
              </a:r>
              <a:r>
                <a:rPr sz="1500" b="0" i="0" lang="vi-VN">
                  <a:solidFill>
                    <a:srgbClr val="5B6170"/>
                  </a:solidFill>
                  <a:latin typeface="IBM Plex Sans SemiBold"/>
                </a:rPr>
                <a:t> %</a:t>
              </a:r>
            </a:p>
          </p:txBody>
        </p:sp>
        <p:sp>
          <p:nvSpPr>
            <p:cNvPr id="18" name="Isosceles Triangle 17"/>
            <p:cNvSpPr/>
            <p:nvPr/>
          </p:nvSpPr>
          <p:spPr>
            <a:xfrm rot="10800000">
              <a:off x="3607994" y="3206587"/>
              <a:ext cx="118872" cy="102230"/>
            </a:xfrm>
            <a:prstGeom prst="triangle">
              <a:avLst/>
            </a:prstGeom>
            <a:solidFill>
              <a:srgbClr val="E3494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786302" y="3158642"/>
              <a:ext cx="2069211" cy="1981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 i="0" lang="vi-VN">
                  <a:solidFill>
                    <a:srgbClr val="16181D"/>
                  </a:solidFill>
                  <a:latin typeface="IBM Plex Sans SemiBold"/>
                </a:rPr>
                <a:t>−2,27 điểm %</a:t>
              </a:r>
              <a:r>
                <a:rPr sz="1000" b="0" i="0" lang="vi-VN">
                  <a:solidFill>
                    <a:srgbClr val="5B6170"/>
                  </a:solidFill>
                  <a:latin typeface="IBM Plex Sans"/>
                </a:rPr>
                <a:t>  so với 30/9/2025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603422" y="4473854"/>
              <a:ext cx="2131238" cy="34747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950" b="0" i="0" lang="vi-VN">
                  <a:solidFill>
                    <a:srgbClr val="8A8F99"/>
                  </a:solidFill>
                  <a:latin typeface="IBM Plex Sans"/>
                </a:rPr>
                <a:t>Đến 30/9/2026. Cột nhỏ: tăng trưởng cả năm 2015–2025.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255868" y="1931822"/>
              <a:ext cx="2533574" cy="3017520"/>
            </a:xfrm>
            <a:prstGeom prst="rect">
              <a:avLst/>
            </a:prstGeom>
            <a:solidFill>
              <a:srgbClr val="FAF8F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Connector 22"/>
            <p:cNvCxnSpPr/>
            <p:nvPr/>
          </p:nvCxnSpPr>
          <p:spPr>
            <a:xfrm>
              <a:off x="6255868" y="1931822"/>
              <a:ext cx="2533573" cy="0"/>
            </a:xfrm>
            <a:prstGeom prst="line">
              <a:avLst/>
            </a:prstGeom>
            <a:ln w="31750" cap="flat">
              <a:solidFill>
                <a:srgbClr val="16181D"/>
              </a:solidFill>
              <a:round/>
            </a:ln>
          </p:spPr>
        </p:cxnSp>
        <p:sp>
          <p:nvSpPr>
            <p:cNvPr id="24" name="TextBox 23"/>
            <p:cNvSpPr txBox="1"/>
            <p:nvPr/>
          </p:nvSpPr>
          <p:spPr>
            <a:xfrm>
              <a:off x="6457036" y="2127720"/>
              <a:ext cx="1414374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 spc="80">
                  <a:solidFill>
                    <a:srgbClr val="5B6170"/>
                  </a:solidFill>
                  <a:latin typeface="IBM Plex Sans SemiBold"/>
                </a:rPr>
                <a:t>XUẤT KHẨU 9 THÁNG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457036" y="2422804"/>
              <a:ext cx="1984312" cy="6273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3800" b="1" i="0" lang="vi-VN">
                  <a:solidFill>
                    <a:srgbClr val="16181D"/>
                  </a:solidFill>
                  <a:latin typeface="IBM Plex Sans"/>
                </a:rPr>
                <a:t>434,3</a:t>
              </a:r>
              <a:r>
                <a:rPr sz="1500" b="0" i="0" lang="vi-VN">
                  <a:solidFill>
                    <a:srgbClr val="5B6170"/>
                  </a:solidFill>
                  <a:latin typeface="IBM Plex Sans SemiBold"/>
                </a:rPr>
                <a:t> tỷ USD</a:t>
              </a:r>
            </a:p>
          </p:txBody>
        </p:sp>
        <p:sp>
          <p:nvSpPr>
            <p:cNvPr id="26" name="Isosceles Triangle 25"/>
            <p:cNvSpPr/>
            <p:nvPr/>
          </p:nvSpPr>
          <p:spPr>
            <a:xfrm>
              <a:off x="6461608" y="3206587"/>
              <a:ext cx="118872" cy="102230"/>
            </a:xfrm>
            <a:prstGeom prst="triangle">
              <a:avLst/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639916" y="3158642"/>
              <a:ext cx="1514704" cy="1981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 i="0" lang="vi-VN">
                  <a:solidFill>
                    <a:srgbClr val="16181D"/>
                  </a:solidFill>
                  <a:latin typeface="IBM Plex Sans SemiBold"/>
                </a:rPr>
                <a:t>+24,5%</a:t>
              </a:r>
              <a:r>
                <a:rPr sz="1000" b="0" i="0" lang="vi-VN">
                  <a:solidFill>
                    <a:srgbClr val="5B6170"/>
                  </a:solidFill>
                  <a:latin typeface="IBM Plex Sans"/>
                </a:rPr>
                <a:t>  so với 9T/2025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457036" y="4473854"/>
              <a:ext cx="2131238" cy="34747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950" b="0" i="0" lang="vi-VN">
                  <a:solidFill>
                    <a:srgbClr val="8A8F99"/>
                  </a:solidFill>
                  <a:latin typeface="IBM Plex Sans"/>
                </a:rPr>
                <a:t>Hàng hoá, tháng 1–9/2026. Cột nhỏ: cả năm 2015–2025.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9109481" y="1931822"/>
              <a:ext cx="2533574" cy="3017520"/>
            </a:xfrm>
            <a:prstGeom prst="rect">
              <a:avLst/>
            </a:prstGeom>
            <a:solidFill>
              <a:srgbClr val="FAF8F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Connector 30"/>
            <p:cNvCxnSpPr/>
            <p:nvPr/>
          </p:nvCxnSpPr>
          <p:spPr>
            <a:xfrm>
              <a:off x="9109481" y="1931822"/>
              <a:ext cx="2533574" cy="0"/>
            </a:xfrm>
            <a:prstGeom prst="line">
              <a:avLst/>
            </a:prstGeom>
            <a:ln w="31750" cap="flat">
              <a:solidFill>
                <a:srgbClr val="16181D"/>
              </a:solidFill>
              <a:round/>
            </a:ln>
          </p:spPr>
        </p:cxnSp>
        <p:sp>
          <p:nvSpPr>
            <p:cNvPr id="32" name="TextBox 31"/>
            <p:cNvSpPr txBox="1"/>
            <p:nvPr/>
          </p:nvSpPr>
          <p:spPr>
            <a:xfrm>
              <a:off x="9310649" y="2127720"/>
              <a:ext cx="1650829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 spc="80">
                  <a:solidFill>
                    <a:srgbClr val="5B6170"/>
                  </a:solidFill>
                  <a:latin typeface="IBM Plex Sans SemiBold"/>
                </a:rPr>
                <a:t>FDI GIẢI NGÂN 9 THÁNG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310649" y="2422804"/>
              <a:ext cx="1984312" cy="6273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3800" b="1" i="0" lang="vi-VN">
                  <a:solidFill>
                    <a:srgbClr val="16181D"/>
                  </a:solidFill>
                  <a:latin typeface="IBM Plex Sans"/>
                </a:rPr>
                <a:t>21,07</a:t>
              </a:r>
              <a:r>
                <a:rPr sz="1500" b="0" i="0" lang="vi-VN">
                  <a:solidFill>
                    <a:srgbClr val="5B6170"/>
                  </a:solidFill>
                  <a:latin typeface="IBM Plex Sans SemiBold"/>
                </a:rPr>
                <a:t> tỷ USD</a:t>
              </a:r>
            </a:p>
          </p:txBody>
        </p:sp>
        <p:sp>
          <p:nvSpPr>
            <p:cNvPr id="34" name="Isosceles Triangle 33"/>
            <p:cNvSpPr/>
            <p:nvPr/>
          </p:nvSpPr>
          <p:spPr>
            <a:xfrm>
              <a:off x="9315221" y="3206587"/>
              <a:ext cx="118872" cy="102230"/>
            </a:xfrm>
            <a:prstGeom prst="triangle">
              <a:avLst/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493529" y="3158642"/>
              <a:ext cx="1514704" cy="1981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 i="0" lang="vi-VN">
                  <a:solidFill>
                    <a:srgbClr val="16181D"/>
                  </a:solidFill>
                  <a:latin typeface="IBM Plex Sans SemiBold"/>
                </a:rPr>
                <a:t>+12,1%</a:t>
              </a:r>
              <a:r>
                <a:rPr sz="1000" b="0" i="0" lang="vi-VN">
                  <a:solidFill>
                    <a:srgbClr val="5B6170"/>
                  </a:solidFill>
                  <a:latin typeface="IBM Plex Sans"/>
                </a:rPr>
                <a:t>  so với 9T/2025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310649" y="4473854"/>
              <a:ext cx="2131238" cy="34747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950" b="0" i="0" lang="vi-VN">
                  <a:solidFill>
                    <a:srgbClr val="8A8F99"/>
                  </a:solidFill>
                  <a:latin typeface="IBM Plex Sans"/>
                </a:rPr>
                <a:t>Vốn thực hiện, tháng 1–9/2026. Cột nhỏ: cả năm 2015–2025.</a:t>
              </a:r>
            </a:p>
          </p:txBody>
        </p:sp>
      </p:grpSp>
      <p:graphicFrame>
        <p:nvGraphicFramePr>
          <p:cNvPr id="12" name="Chart · mini"/>
          <p:cNvGraphicFramePr>
            <a:graphicFrameLocks noGrp="1"/>
          </p:cNvGraphicFramePr>
          <p:nvPr/>
        </p:nvGraphicFramePr>
        <p:xfrm>
          <a:off x="749808" y="3623462"/>
          <a:ext cx="1674038" cy="502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0" name="Chart · mini"/>
          <p:cNvGraphicFramePr>
            <a:graphicFrameLocks noGrp="1"/>
          </p:cNvGraphicFramePr>
          <p:nvPr/>
        </p:nvGraphicFramePr>
        <p:xfrm>
          <a:off x="3603422" y="3623462"/>
          <a:ext cx="1674038" cy="502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8" name="Chart · mini"/>
          <p:cNvGraphicFramePr>
            <a:graphicFrameLocks noGrp="1"/>
          </p:cNvGraphicFramePr>
          <p:nvPr/>
        </p:nvGraphicFramePr>
        <p:xfrm>
          <a:off x="6457036" y="3623462"/>
          <a:ext cx="1674038" cy="5029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36" name="Chart · mini"/>
          <p:cNvGraphicFramePr>
            <a:graphicFrameLocks noGrp="1"/>
          </p:cNvGraphicFramePr>
          <p:nvPr/>
        </p:nvGraphicFramePr>
        <p:xfrm>
          <a:off x="9310649" y="3623462"/>
          <a:ext cx="1674038" cy="5029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548640" y="5363261"/>
            <a:ext cx="6395542" cy="9095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CPI tháng 9/2026 tăng 5,08% so với cùng kỳ, cao hơn 1,70 điểm % so với một năm trước; tín dụng tăng 11,59% từ đầu năm.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Tín dụng tăng chậm hơn cùng kỳ 2025 (13,86%), dù vẫn nhanh hơn huy động.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40" name="TextBox 39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NSO (CPI, xuất khẩu, FDI; 03/10/2026); NHNN (tín dụng đến 30/9/2026). Mũi tên: xanh = tăng, đỏ = giảm, trừ CPI (đỏ = giá tăng).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1 · NHẬN ĐỊNH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59536"/>
            <a:ext cx="7335317" cy="5285232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859536"/>
            <a:ext cx="45720" cy="5285232"/>
          </a:xfrm>
          <a:prstGeom prst="rect">
            <a:avLst/>
          </a:prstGeom>
          <a:solidFill>
            <a:srgbClr val="1618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813816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0000"/>
              </a:lnSpc>
            </a:pPr>
            <a:r>
              <a:rPr sz="9000" b="0" i="0" lang="vi-VN">
                <a:solidFill>
                  <a:srgbClr val="C2362F"/>
                </a:solidFill>
                <a:latin typeface="Newsreader SemiBold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82496"/>
            <a:ext cx="6420917" cy="2270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0" i="0" lang="vi-VN">
                <a:solidFill>
                  <a:srgbClr val="16181D"/>
                </a:solidFill>
                <a:latin typeface="Newsreader Medium"/>
              </a:rPr>
              <a:t>Tín dụng tăng nhanh hơn huy động trong 9/11 năm 2015–2025, trừ 2019 (13,65% so với 14,54%) và 2020 (12,2% so với 13,3%); khoảng chênh mở rộng từ 2021, lớn nhất năm 2022 (14,2% so với 5,99%) và 2024 (15,09% so với 10,66%).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136136"/>
            <a:ext cx="642091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i="0" lang="vi-VN">
                <a:solidFill>
                  <a:srgbClr val="16181D"/>
                </a:solidFill>
                <a:latin typeface="IBM Plex Sans SemiBold"/>
              </a:rPr>
              <a:t>— Vietnam Dashboard</a:t>
            </a:r>
          </a:p>
          <a:p>
            <a:pPr algn="l">
              <a:lnSpc>
                <a:spcPct val="130000"/>
              </a:lnSpc>
            </a:pPr>
            <a:r>
              <a:rPr sz="1050" b="0" i="0" lang="vi-VN">
                <a:solidFill>
                  <a:srgbClr val="5B6170"/>
                </a:solidFill>
                <a:latin typeface="IBM Plex Sans"/>
              </a:rPr>
              <a:t>Phân tích Hệ thống tài chính · 6/10/2026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006611" y="996696"/>
            <a:ext cx="0" cy="914400"/>
          </a:xfrm>
          <a:prstGeom prst="line">
            <a:avLst/>
          </a:prstGeom>
          <a:ln w="31750" cap="flat">
            <a:solidFill>
              <a:srgbClr val="16181D"/>
            </a:solidFill>
            <a:round/>
          </a:ln>
        </p:spPr>
      </p:cxnSp>
      <p:sp>
        <p:nvSpPr>
          <p:cNvPr id="10" name="TextBox 9"/>
          <p:cNvSpPr txBox="1"/>
          <p:nvPr/>
        </p:nvSpPr>
        <p:spPr>
          <a:xfrm>
            <a:off x="9189491" y="996696"/>
            <a:ext cx="245356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 lang="vi-VN" spc="80">
                <a:solidFill>
                  <a:srgbClr val="5B6170"/>
                </a:solidFill>
                <a:latin typeface="IBM Plex Sans SemiBold"/>
              </a:rPr>
              <a:t>NĂM TÍN DỤNG NHANH HƠN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491" y="1243584"/>
            <a:ext cx="245356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400" b="1" i="0" lang="vi-VN">
                <a:solidFill>
                  <a:srgbClr val="16181D"/>
                </a:solidFill>
                <a:latin typeface="IBM Plex Sans"/>
              </a:rPr>
              <a:t>9/11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491" y="1664208"/>
            <a:ext cx="245356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 lang="vi-VN">
                <a:solidFill>
                  <a:srgbClr val="8A8F99"/>
                </a:solidFill>
                <a:latin typeface="IBM Plex Sans"/>
              </a:rPr>
              <a:t>2015–2025, NHNN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06611" y="2231136"/>
            <a:ext cx="0" cy="914400"/>
          </a:xfrm>
          <a:prstGeom prst="line">
            <a:avLst/>
          </a:prstGeom>
          <a:ln w="31750" cap="flat">
            <a:solidFill>
              <a:srgbClr val="16181D"/>
            </a:solidFill>
            <a:round/>
          </a:ln>
        </p:spPr>
      </p:cxnSp>
      <p:sp>
        <p:nvSpPr>
          <p:cNvPr id="14" name="TextBox 13"/>
          <p:cNvSpPr txBox="1"/>
          <p:nvPr/>
        </p:nvSpPr>
        <p:spPr>
          <a:xfrm>
            <a:off x="9189491" y="2231136"/>
            <a:ext cx="245356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 lang="vi-VN" spc="80">
                <a:solidFill>
                  <a:srgbClr val="5B6170"/>
                </a:solidFill>
                <a:latin typeface="IBM Plex Sans SemiBold"/>
              </a:rPr>
              <a:t>CHÊNH LỆCH 2022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491" y="2478024"/>
            <a:ext cx="245356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400" b="1" i="0" lang="vi-VN">
                <a:solidFill>
                  <a:srgbClr val="16181D"/>
                </a:solidFill>
                <a:latin typeface="IBM Plex Sans"/>
              </a:rPr>
              <a:t>8,21 đ.%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491" y="2898648"/>
            <a:ext cx="245356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 lang="vi-VN">
                <a:solidFill>
                  <a:srgbClr val="8A8F99"/>
                </a:solidFill>
                <a:latin typeface="IBM Plex Sans"/>
              </a:rPr>
              <a:t>14,2% so với 5,99%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006611" y="3465576"/>
            <a:ext cx="0" cy="914400"/>
          </a:xfrm>
          <a:prstGeom prst="line">
            <a:avLst/>
          </a:prstGeom>
          <a:ln w="31750" cap="flat">
            <a:solidFill>
              <a:srgbClr val="16181D"/>
            </a:solidFill>
            <a:round/>
          </a:ln>
        </p:spPr>
      </p:cxnSp>
      <p:sp>
        <p:nvSpPr>
          <p:cNvPr id="18" name="TextBox 17"/>
          <p:cNvSpPr txBox="1"/>
          <p:nvPr/>
        </p:nvSpPr>
        <p:spPr>
          <a:xfrm>
            <a:off x="9189491" y="3465576"/>
            <a:ext cx="245356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 lang="vi-VN" spc="80">
                <a:solidFill>
                  <a:srgbClr val="5B6170"/>
                </a:solidFill>
                <a:latin typeface="IBM Plex Sans SemiBold"/>
              </a:rPr>
              <a:t>CHO VAY VƯỢT TIỀN GỬI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491" y="3712464"/>
            <a:ext cx="245356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400" b="1" i="0" lang="vi-VN">
                <a:solidFill>
                  <a:srgbClr val="16181D"/>
                </a:solidFill>
                <a:latin typeface="IBM Plex Sans"/>
              </a:rPr>
              <a:t>2023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491" y="4133088"/>
            <a:ext cx="245356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 lang="vi-VN">
                <a:solidFill>
                  <a:srgbClr val="8A8F99"/>
                </a:solidFill>
                <a:latin typeface="IBM Plex Sans"/>
              </a:rPr>
              <a:t>13,30 so với 13,26 triệu tỷ (IMF FSI)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071567"/>
            <a:ext cx="6420917" cy="8446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200" b="0" i="0" lang="vi-VN">
                <a:solidFill>
                  <a:srgbClr val="16181D"/>
                </a:solidFill>
                <a:latin typeface="IBM Plex Sans"/>
              </a:rPr>
              <a:t>Nguyên nhân chính theo phân tích: cầu vốn từ mục tiêu tăng trưởng cao và chỉ tiêu tín dụng nới rộng.</a:t>
            </a:r>
          </a:p>
          <a:p>
            <a:pPr algn="l">
              <a:lnSpc>
                <a:spcPct val="142000"/>
              </a:lnSpc>
            </a:pPr>
            <a:r>
              <a:rPr sz="1200" b="0" i="0" lang="vi-VN">
                <a:solidFill>
                  <a:srgbClr val="5B6170"/>
                </a:solidFill>
                <a:latin typeface="IBM Plex Sans"/>
              </a:rPr>
              <a:t>Trích nguyên văn; các con số bên phải tính lại từ chuỗi NHNN và IMF FSI của dashboard.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23" name="TextBox 22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Vietnam Dashboard — FINSYS.analysis (6/10/2026), dựa trên NHNN, IMF FSI.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48640"/>
            <a:ext cx="11094415" cy="0"/>
          </a:xfrm>
          <a:prstGeom prst="line">
            <a:avLst/>
          </a:prstGeom>
          <a:ln w="15875" cap="flat">
            <a:solidFill>
              <a:srgbClr val="16181D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141732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1000" b="0" i="0" lang="vi-VN">
                <a:solidFill>
                  <a:srgbClr val="C2362F"/>
                </a:solidFill>
                <a:latin typeface="Newsreader SemiBold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5015027" cy="6675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0" i="0" lang="vi-VN">
                <a:solidFill>
                  <a:srgbClr val="16181D"/>
                </a:solidFill>
                <a:latin typeface="Newsreader SemiBold"/>
              </a:rPr>
              <a:t>Diễn biến theo thời gian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67912"/>
            <a:ext cx="5455768" cy="3246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500" b="0" i="0" lang="vi-VN">
                <a:solidFill>
                  <a:srgbClr val="5B6170"/>
                </a:solidFill>
                <a:latin typeface="IBM Plex Sans"/>
              </a:rPr>
              <a:t>Đường, bậc thang, vùng, quạt dự báo và biểu đồ kết hợp hai trục.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66837" y="1554480"/>
            <a:ext cx="357621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lang="vi-VN" spc="120">
                <a:solidFill>
                  <a:srgbClr val="5B6170"/>
                </a:solidFill>
                <a:latin typeface="IBM Plex Sans SemiBold"/>
              </a:rPr>
              <a:t>TRONG CHƯƠNG NÀY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066837" y="1920240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8" name="TextBox 7"/>
          <p:cNvSpPr txBox="1"/>
          <p:nvPr/>
        </p:nvSpPr>
        <p:spPr>
          <a:xfrm>
            <a:off x="8066837" y="2002536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Đường và đường tô điểm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66837" y="2377821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0" name="TextBox 9"/>
          <p:cNvSpPr txBox="1"/>
          <p:nvPr/>
        </p:nvSpPr>
        <p:spPr>
          <a:xfrm>
            <a:off x="8066837" y="2460117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Bậc thang lãi suất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66837" y="2835402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2" name="TextBox 11"/>
          <p:cNvSpPr txBox="1"/>
          <p:nvPr/>
        </p:nvSpPr>
        <p:spPr>
          <a:xfrm>
            <a:off x="8066837" y="2917698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Vùng, vùng chồng, vùng 100%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66837" y="3292983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4" name="TextBox 13"/>
          <p:cNvSpPr txBox="1"/>
          <p:nvPr/>
        </p:nvSpPr>
        <p:spPr>
          <a:xfrm>
            <a:off x="8066837" y="3375279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Quạt dự báo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66837" y="3750564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6" name="TextBox 15"/>
          <p:cNvSpPr txBox="1"/>
          <p:nvPr/>
        </p:nvSpPr>
        <p:spPr>
          <a:xfrm>
            <a:off x="8066837" y="3832860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Cột + đường, hai trục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8" name="TextBox 17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2 · TĂNG TRƯỞNG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6120788" cy="84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IMF dự báo tăng trưởng chậm dần về 5,4% năm 2030, thấp hơn mục tiêu 10%/năm</a:t>
            </a:r>
          </a:p>
        </p:txBody>
      </p:sp>
      <p:grpSp>
        <p:nvGrpSpPr>
          <p:cNvPr id="5" name="Legend"/>
          <p:cNvGrpSpPr/>
          <p:nvPr/>
        </p:nvGrpSpPr>
        <p:grpSpPr>
          <a:xfrm>
            <a:off x="548640" y="1841348"/>
            <a:ext cx="2733421" cy="165100"/>
            <a:chOff x="548640" y="1841348"/>
            <a:chExt cx="2733421" cy="165100"/>
          </a:xfrm>
        </p:grpSpPr>
        <p:cxnSp>
          <p:nvCxnSpPr>
            <p:cNvPr id="6" name="Connector 5"/>
            <p:cNvCxnSpPr/>
            <p:nvPr/>
          </p:nvCxnSpPr>
          <p:spPr>
            <a:xfrm>
              <a:off x="548640" y="1923898"/>
              <a:ext cx="237744" cy="0"/>
            </a:xfrm>
            <a:prstGeom prst="line">
              <a:avLst/>
            </a:prstGeom>
            <a:ln w="28575" cap="rnd">
              <a:solidFill>
                <a:srgbClr val="16181D"/>
              </a:solidFill>
              <a:round/>
            </a:ln>
          </p:spPr>
        </p:cxnSp>
        <p:sp>
          <p:nvSpPr>
            <p:cNvPr id="7" name="TextBox 6"/>
            <p:cNvSpPr txBox="1"/>
            <p:nvPr/>
          </p:nvSpPr>
          <p:spPr>
            <a:xfrm>
              <a:off x="859536" y="1841348"/>
              <a:ext cx="83185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Thực tế (NSO)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1938274" y="1923898"/>
              <a:ext cx="237744" cy="0"/>
            </a:xfrm>
            <a:prstGeom prst="line">
              <a:avLst/>
            </a:prstGeom>
            <a:ln w="28575" cap="flat">
              <a:solidFill>
                <a:srgbClr val="2A78D6"/>
              </a:solidFill>
              <a:prstDash val="dash"/>
              <a:round/>
            </a:ln>
          </p:spPr>
        </p:cxnSp>
        <p:sp>
          <p:nvSpPr>
            <p:cNvPr id="9" name="TextBox 8"/>
            <p:cNvSpPr txBox="1"/>
            <p:nvPr/>
          </p:nvSpPr>
          <p:spPr>
            <a:xfrm>
              <a:off x="2249170" y="1841348"/>
              <a:ext cx="1032891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IMF WEO 4/2026</a:t>
              </a:r>
            </a:p>
          </p:txBody>
        </p:sp>
      </p:grpSp>
      <p:graphicFrame>
        <p:nvGraphicFramePr>
          <p:cNvPr id="10" name="Chart · line"/>
          <p:cNvGraphicFramePr>
            <a:graphicFrameLocks noGrp="1"/>
          </p:cNvGraphicFramePr>
          <p:nvPr/>
        </p:nvGraphicFramePr>
        <p:xfrm>
          <a:off x="548640" y="1814170"/>
          <a:ext cx="11094415" cy="303001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1" name="Chart labels"/>
          <p:cNvGrpSpPr/>
          <p:nvPr/>
        </p:nvGrpSpPr>
        <p:grpSpPr>
          <a:xfrm>
            <a:off x="8557052" y="2251939"/>
            <a:ext cx="506844" cy="148590"/>
            <a:chOff x="8557052" y="2251939"/>
            <a:chExt cx="506844" cy="148590"/>
          </a:xfrm>
        </p:grpSpPr>
        <p:sp>
          <p:nvSpPr>
            <p:cNvPr id="12" name="TextBox 11"/>
            <p:cNvSpPr txBox="1"/>
            <p:nvPr/>
          </p:nvSpPr>
          <p:spPr>
            <a:xfrm>
              <a:off x="8557052" y="2251939"/>
              <a:ext cx="506844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00" b="0" i="0" lang="vi-VN" spc="80">
                  <a:solidFill>
                    <a:srgbClr val="5B6170"/>
                  </a:solidFill>
                  <a:latin typeface="IBM Plex Sans SemiBold"/>
                </a:rPr>
                <a:t>DỰ BÁO</a:t>
              </a:r>
            </a:p>
          </p:txBody>
        </p:sp>
      </p:grpSp>
      <p:grpSp>
        <p:nvGrpSpPr>
          <p:cNvPr id="13" name="Chart annotations"/>
          <p:cNvGrpSpPr/>
          <p:nvPr/>
        </p:nvGrpSpPr>
        <p:grpSpPr>
          <a:xfrm>
            <a:off x="4549038" y="2354953"/>
            <a:ext cx="3731113" cy="1968735"/>
            <a:chOff x="4549038" y="2354953"/>
            <a:chExt cx="3731113" cy="1968735"/>
          </a:xfrm>
        </p:grpSpPr>
        <p:cxnSp>
          <p:nvCxnSpPr>
            <p:cNvPr id="14" name="Connector 13"/>
            <p:cNvCxnSpPr/>
            <p:nvPr/>
          </p:nvCxnSpPr>
          <p:spPr>
            <a:xfrm flipH="1" flipV="1">
              <a:off x="7954326" y="2559096"/>
              <a:ext cx="293821" cy="419744"/>
            </a:xfrm>
            <a:prstGeom prst="line">
              <a:avLst/>
            </a:prstGeom>
            <a:ln w="9525" cap="rnd">
              <a:solidFill>
                <a:srgbClr val="5B6170"/>
              </a:solidFill>
              <a:round/>
            </a:ln>
          </p:spPr>
        </p:cxnSp>
        <p:sp>
          <p:nvSpPr>
            <p:cNvPr id="15" name="Oval 14"/>
            <p:cNvSpPr/>
            <p:nvPr/>
          </p:nvSpPr>
          <p:spPr>
            <a:xfrm>
              <a:off x="8216143" y="2946836"/>
              <a:ext cx="64008" cy="64008"/>
            </a:xfrm>
            <a:prstGeom prst="ellipse">
              <a:avLst/>
            </a:prstGeom>
            <a:solidFill>
              <a:srgbClr val="16181D"/>
            </a:solidFill>
            <a:ln w="9525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043844" y="2354953"/>
              <a:ext cx="847687" cy="1666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1050" b="0" i="0" lang="vi-VN">
                  <a:solidFill>
                    <a:srgbClr val="16181D"/>
                  </a:solidFill>
                  <a:latin typeface="IBM Plex Sans SemiBold"/>
                </a:rPr>
                <a:t>2025: 8,02%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 flipH="1">
              <a:off x="5993720" y="4026572"/>
              <a:ext cx="368402" cy="130987"/>
            </a:xfrm>
            <a:prstGeom prst="line">
              <a:avLst/>
            </a:prstGeom>
            <a:ln w="9525" cap="rnd">
              <a:solidFill>
                <a:srgbClr val="8A8F99"/>
              </a:solidFill>
              <a:round/>
            </a:ln>
          </p:spPr>
        </p:cxnSp>
        <p:sp>
          <p:nvSpPr>
            <p:cNvPr id="18" name="Oval 17"/>
            <p:cNvSpPr/>
            <p:nvPr/>
          </p:nvSpPr>
          <p:spPr>
            <a:xfrm>
              <a:off x="6330118" y="3994568"/>
              <a:ext cx="64008" cy="64008"/>
            </a:xfrm>
            <a:prstGeom prst="ellipse">
              <a:avLst/>
            </a:prstGeom>
            <a:solidFill>
              <a:srgbClr val="8A8F99"/>
            </a:solidFill>
            <a:ln w="9525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549038" y="4172876"/>
              <a:ext cx="1365028" cy="15081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950" b="0" i="0" lang="vi-VN">
                  <a:solidFill>
                    <a:srgbClr val="6B7080"/>
                  </a:solidFill>
                  <a:latin typeface="IBM Plex Sans"/>
                </a:rPr>
                <a:t>2021: 2,55% (Covid-19)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548640" y="5081930"/>
            <a:ext cx="6395542" cy="11908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IMF (4/2026) dự báo 7,1% năm 2026, giảm dần về 5,4% năm 2030; chín tháng 2026 thực tế đã tăng 9,01%.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Mục tiêu là mức sàn chính sách, không phải dự báo; IMF sẽ cập nhật trong WEO tháng 10/2026.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22" name="TextBox 21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NSO (2010–2025, 2025 ước tính); IMF World Economic Outlook 4/2026; Quốc hội — NQ 25/2026/QH16. Vùng tô: giai đoạn dự báo.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2 · TÍN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4892286" cy="84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Tín dụng tăng 19,07% năm 2025, nhanh hơn huy động 3,65 điểm %</a:t>
            </a:r>
          </a:p>
        </p:txBody>
      </p:sp>
      <p:grpSp>
        <p:nvGrpSpPr>
          <p:cNvPr id="5" name="Legend"/>
          <p:cNvGrpSpPr/>
          <p:nvPr/>
        </p:nvGrpSpPr>
        <p:grpSpPr>
          <a:xfrm>
            <a:off x="548640" y="1841348"/>
            <a:ext cx="2738374" cy="165100"/>
            <a:chOff x="548640" y="1841348"/>
            <a:chExt cx="2738374" cy="165100"/>
          </a:xfrm>
        </p:grpSpPr>
        <p:cxnSp>
          <p:nvCxnSpPr>
            <p:cNvPr id="6" name="Connector 5"/>
            <p:cNvCxnSpPr/>
            <p:nvPr/>
          </p:nvCxnSpPr>
          <p:spPr>
            <a:xfrm>
              <a:off x="548640" y="1923898"/>
              <a:ext cx="237744" cy="0"/>
            </a:xfrm>
            <a:prstGeom prst="line">
              <a:avLst/>
            </a:prstGeom>
            <a:ln w="28575" cap="rnd">
              <a:solidFill>
                <a:srgbClr val="C9CCD2"/>
              </a:solidFill>
              <a:round/>
            </a:ln>
          </p:spPr>
        </p:cxnSp>
        <p:sp>
          <p:nvSpPr>
            <p:cNvPr id="7" name="TextBox 6"/>
            <p:cNvSpPr txBox="1"/>
            <p:nvPr/>
          </p:nvSpPr>
          <p:spPr>
            <a:xfrm>
              <a:off x="859536" y="1841348"/>
              <a:ext cx="575945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Huy động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1682369" y="1923898"/>
              <a:ext cx="237744" cy="0"/>
            </a:xfrm>
            <a:prstGeom prst="line">
              <a:avLst/>
            </a:prstGeom>
            <a:ln w="28575" cap="rnd">
              <a:solidFill>
                <a:srgbClr val="C9CCD2"/>
              </a:solidFill>
              <a:round/>
            </a:ln>
          </p:spPr>
        </p:cxnSp>
        <p:sp>
          <p:nvSpPr>
            <p:cNvPr id="9" name="TextBox 8"/>
            <p:cNvSpPr txBox="1"/>
            <p:nvPr/>
          </p:nvSpPr>
          <p:spPr>
            <a:xfrm>
              <a:off x="1993265" y="1841348"/>
              <a:ext cx="207137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M2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447290" y="1923898"/>
              <a:ext cx="237744" cy="0"/>
            </a:xfrm>
            <a:prstGeom prst="line">
              <a:avLst/>
            </a:prstGeom>
            <a:ln w="28575" cap="rnd">
              <a:solidFill>
                <a:srgbClr val="2A78D6"/>
              </a:solidFill>
              <a:round/>
            </a:ln>
          </p:spPr>
        </p:cxnSp>
        <p:sp>
          <p:nvSpPr>
            <p:cNvPr id="11" name="TextBox 10"/>
            <p:cNvSpPr txBox="1"/>
            <p:nvPr/>
          </p:nvSpPr>
          <p:spPr>
            <a:xfrm>
              <a:off x="2758186" y="1841348"/>
              <a:ext cx="528828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Tín dụng</a:t>
              </a:r>
            </a:p>
          </p:txBody>
        </p:sp>
      </p:grpSp>
      <p:graphicFrame>
        <p:nvGraphicFramePr>
          <p:cNvPr id="12" name="Chart · line"/>
          <p:cNvGraphicFramePr>
            <a:graphicFrameLocks noGrp="1"/>
          </p:cNvGraphicFramePr>
          <p:nvPr/>
        </p:nvGraphicFramePr>
        <p:xfrm>
          <a:off x="548640" y="1814170"/>
          <a:ext cx="11094415" cy="331134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3" name="Chart labels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14" name="Chart annotations"/>
          <p:cNvGrpSpPr/>
          <p:nvPr/>
        </p:nvGrpSpPr>
        <p:grpSpPr>
          <a:xfrm>
            <a:off x="7472429" y="3991671"/>
            <a:ext cx="2093195" cy="518732"/>
            <a:chOff x="7472429" y="3991671"/>
            <a:chExt cx="2093195" cy="518732"/>
          </a:xfrm>
        </p:grpSpPr>
        <p:cxnSp>
          <p:nvCxnSpPr>
            <p:cNvPr id="15" name="Connector 14"/>
            <p:cNvCxnSpPr/>
            <p:nvPr/>
          </p:nvCxnSpPr>
          <p:spPr>
            <a:xfrm>
              <a:off x="7504433" y="4023675"/>
              <a:ext cx="331352" cy="289933"/>
            </a:xfrm>
            <a:prstGeom prst="line">
              <a:avLst/>
            </a:prstGeom>
            <a:ln w="9525" cap="rnd">
              <a:solidFill>
                <a:srgbClr val="5B6170"/>
              </a:solidFill>
              <a:round/>
            </a:ln>
          </p:spPr>
        </p:cxnSp>
        <p:sp>
          <p:nvSpPr>
            <p:cNvPr id="16" name="Oval 15"/>
            <p:cNvSpPr/>
            <p:nvPr/>
          </p:nvSpPr>
          <p:spPr>
            <a:xfrm>
              <a:off x="7472429" y="3991671"/>
              <a:ext cx="64008" cy="64008"/>
            </a:xfrm>
            <a:prstGeom prst="ellipse">
              <a:avLst/>
            </a:prstGeom>
            <a:solidFill>
              <a:srgbClr val="16181D"/>
            </a:solidFill>
            <a:ln w="9525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906769" y="4343715"/>
              <a:ext cx="1658855" cy="1666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1050" b="0" i="0" lang="vi-VN">
                  <a:solidFill>
                    <a:srgbClr val="16181D"/>
                  </a:solidFill>
                  <a:latin typeface="IBM Plex Sans SemiBold"/>
                </a:rPr>
                <a:t>2022: huy động chỉ 5,99%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548640" y="5363261"/>
            <a:ext cx="6395542" cy="9095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Khoảng cách tín dụng − huy động lớn nhất năm 2022 (8,21 điểm %), năm 2025 là 3,65 điểm %.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Tín dụng nhanh hơn huy động trong 9/11 năm 2015–2025.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20" name="TextBox 19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NHNN; IMF FSI (tiền gửi khách hàng); tăng trưởng cuối năm so với cuối năm trước.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2 · LÃI SUẤT ĐIỀU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8637575" cy="4498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Lãi suất OMO về lại 4,5% từ 12/2025, bằng lãi suất tái cấp vốn</a:t>
            </a:r>
          </a:p>
        </p:txBody>
      </p:sp>
      <p:grpSp>
        <p:nvGrpSpPr>
          <p:cNvPr id="5" name="Legend"/>
          <p:cNvGrpSpPr/>
          <p:nvPr/>
        </p:nvGrpSpPr>
        <p:grpSpPr>
          <a:xfrm>
            <a:off x="548640" y="1782826"/>
            <a:ext cx="2785110" cy="165100"/>
            <a:chOff x="548640" y="1782826"/>
            <a:chExt cx="2785110" cy="165100"/>
          </a:xfrm>
        </p:grpSpPr>
        <p:cxnSp>
          <p:nvCxnSpPr>
            <p:cNvPr id="6" name="Connector 5"/>
            <p:cNvCxnSpPr/>
            <p:nvPr/>
          </p:nvCxnSpPr>
          <p:spPr>
            <a:xfrm>
              <a:off x="548640" y="1865376"/>
              <a:ext cx="237744" cy="0"/>
            </a:xfrm>
            <a:prstGeom prst="line">
              <a:avLst/>
            </a:prstGeom>
            <a:ln w="28575" cap="rnd">
              <a:solidFill>
                <a:srgbClr val="C9CCD2"/>
              </a:solidFill>
              <a:round/>
            </a:ln>
          </p:spPr>
        </p:cxnSp>
        <p:sp>
          <p:nvSpPr>
            <p:cNvPr id="7" name="TextBox 6"/>
            <p:cNvSpPr txBox="1"/>
            <p:nvPr/>
          </p:nvSpPr>
          <p:spPr>
            <a:xfrm>
              <a:off x="859536" y="1782826"/>
              <a:ext cx="683641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Tái cấp vốn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1790065" y="1865376"/>
              <a:ext cx="237744" cy="0"/>
            </a:xfrm>
            <a:prstGeom prst="line">
              <a:avLst/>
            </a:prstGeom>
            <a:ln w="28575" cap="rnd">
              <a:solidFill>
                <a:srgbClr val="2A78D6"/>
              </a:solidFill>
              <a:round/>
            </a:ln>
          </p:spPr>
        </p:cxnSp>
        <p:sp>
          <p:nvSpPr>
            <p:cNvPr id="9" name="TextBox 8"/>
            <p:cNvSpPr txBox="1"/>
            <p:nvPr/>
          </p:nvSpPr>
          <p:spPr>
            <a:xfrm>
              <a:off x="2100961" y="1782826"/>
              <a:ext cx="1232789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Thị trường mở (OMO)</a:t>
              </a:r>
            </a:p>
          </p:txBody>
        </p:sp>
      </p:grpSp>
      <p:graphicFrame>
        <p:nvGraphicFramePr>
          <p:cNvPr id="10" name="Chart · step line"/>
          <p:cNvGraphicFramePr>
            <a:graphicFrameLocks noGrp="1"/>
          </p:cNvGraphicFramePr>
          <p:nvPr/>
        </p:nvGraphicFramePr>
        <p:xfrm>
          <a:off x="548640" y="1755648"/>
          <a:ext cx="11094415" cy="336986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1" name="Chart annotations"/>
          <p:cNvGrpSpPr/>
          <p:nvPr/>
        </p:nvGrpSpPr>
        <p:grpSpPr>
          <a:xfrm>
            <a:off x="2980272" y="1902173"/>
            <a:ext cx="3945353" cy="1368964"/>
            <a:chOff x="2980272" y="1902173"/>
            <a:chExt cx="3945353" cy="1368964"/>
          </a:xfrm>
        </p:grpSpPr>
        <p:cxnSp>
          <p:nvCxnSpPr>
            <p:cNvPr id="12" name="Connector 11"/>
            <p:cNvCxnSpPr/>
            <p:nvPr/>
          </p:nvCxnSpPr>
          <p:spPr>
            <a:xfrm>
              <a:off x="3012276" y="2692969"/>
              <a:ext cx="248959" cy="373439"/>
            </a:xfrm>
            <a:prstGeom prst="line">
              <a:avLst/>
            </a:prstGeom>
            <a:ln w="9525" cap="rnd">
              <a:solidFill>
                <a:srgbClr val="5B6170"/>
              </a:solidFill>
              <a:round/>
            </a:ln>
          </p:spPr>
        </p:cxnSp>
        <p:sp>
          <p:nvSpPr>
            <p:cNvPr id="13" name="Oval 12"/>
            <p:cNvSpPr/>
            <p:nvPr/>
          </p:nvSpPr>
          <p:spPr>
            <a:xfrm>
              <a:off x="2980272" y="2660965"/>
              <a:ext cx="64008" cy="64008"/>
            </a:xfrm>
            <a:prstGeom prst="ellipse">
              <a:avLst/>
            </a:prstGeom>
            <a:solidFill>
              <a:srgbClr val="16181D"/>
            </a:solidFill>
            <a:ln w="9525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323172" y="3104449"/>
              <a:ext cx="1797272" cy="1666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1050" b="0" i="0" lang="vi-VN">
                  <a:solidFill>
                    <a:srgbClr val="16181D"/>
                  </a:solidFill>
                  <a:latin typeface="IBM Plex Sans SemiBold"/>
                </a:rPr>
                <a:t>16/9/2024: hạ xuống 4,00%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 flipH="1" flipV="1">
              <a:off x="6646733" y="2105436"/>
              <a:ext cx="246888" cy="329184"/>
            </a:xfrm>
            <a:prstGeom prst="line">
              <a:avLst/>
            </a:prstGeom>
            <a:ln w="9525" cap="rnd">
              <a:solidFill>
                <a:srgbClr val="5B6170"/>
              </a:solidFill>
              <a:round/>
            </a:ln>
          </p:spPr>
        </p:cxnSp>
        <p:sp>
          <p:nvSpPr>
            <p:cNvPr id="16" name="Oval 15"/>
            <p:cNvSpPr/>
            <p:nvPr/>
          </p:nvSpPr>
          <p:spPr>
            <a:xfrm>
              <a:off x="6861617" y="2402616"/>
              <a:ext cx="64008" cy="64008"/>
            </a:xfrm>
            <a:prstGeom prst="ellipse">
              <a:avLst/>
            </a:prstGeom>
            <a:solidFill>
              <a:srgbClr val="16181D"/>
            </a:solidFill>
            <a:ln w="9525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154965" y="1902173"/>
              <a:ext cx="1427759" cy="1666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1050" b="0" i="0" lang="vi-VN">
                  <a:solidFill>
                    <a:srgbClr val="16181D"/>
                  </a:solidFill>
                  <a:latin typeface="IBM Plex Sans SemiBold"/>
                </a:rPr>
                <a:t>4/12/2025: lên 4,50%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548640" y="5363261"/>
            <a:ext cx="6395542" cy="9095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NHNN hạ lãi suất OMO hai lần năm 2024 (xuống 4,00%) rồi nâng lại 4,50% từ 4/12/2025; tái cấp vốn giữ 4,50%.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Đường bậc thang vì lãi suất đổi theo quyết định, không thay đổi dần giữa các mốc.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20" name="TextBox 19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NHNN — Báo cáo thường niên 2024; thông báo OMO đến 02/10/2026 (data/finance.json, FINSYS.sbv).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2 · DỰ TRỮ NGOẠI HỐI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5833909" cy="84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Dự trữ ngoại hối 85,6 tỷ USD cuối 2025, thấp hơn đỉnh 109,4 tỷ năm 2021</a:t>
            </a:r>
          </a:p>
        </p:txBody>
      </p:sp>
      <p:graphicFrame>
        <p:nvGraphicFramePr>
          <p:cNvPr id="5" name="Chart · area"/>
          <p:cNvGraphicFramePr>
            <a:graphicFrameLocks noGrp="1"/>
          </p:cNvGraphicFramePr>
          <p:nvPr/>
        </p:nvGraphicFramePr>
        <p:xfrm>
          <a:off x="548640" y="1814170"/>
          <a:ext cx="11094415" cy="331134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6" name="Chart labels"/>
          <p:cNvGrpSpPr/>
          <p:nvPr/>
        </p:nvGrpSpPr>
        <p:grpSpPr>
          <a:xfrm>
            <a:off x="548640" y="1808899"/>
            <a:ext cx="10938967" cy="1253648"/>
            <a:chOff x="548640" y="1808899"/>
            <a:chExt cx="10938967" cy="1253648"/>
          </a:xfrm>
        </p:grpSpPr>
        <p:sp>
          <p:nvSpPr>
            <p:cNvPr id="7" name="TextBox 6"/>
            <p:cNvSpPr txBox="1"/>
            <p:nvPr/>
          </p:nvSpPr>
          <p:spPr>
            <a:xfrm>
              <a:off x="548640" y="1808899"/>
              <a:ext cx="1915725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Tỷ USD, cuối năm, không gồm vàng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767009" y="2897447"/>
              <a:ext cx="720598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SemiBold"/>
                </a:rPr>
                <a:t>85,6 tỷ USD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 flipV="1">
              <a:off x="8070152" y="2230516"/>
              <a:ext cx="285327" cy="244566"/>
            </a:xfrm>
            <a:prstGeom prst="line">
              <a:avLst/>
            </a:prstGeom>
            <a:ln w="9525" cap="rnd">
              <a:solidFill>
                <a:srgbClr val="5B6170"/>
              </a:solidFill>
              <a:round/>
            </a:ln>
          </p:spPr>
        </p:cxnSp>
        <p:sp>
          <p:nvSpPr>
            <p:cNvPr id="10" name="Oval 9"/>
            <p:cNvSpPr/>
            <p:nvPr/>
          </p:nvSpPr>
          <p:spPr>
            <a:xfrm>
              <a:off x="8038148" y="2443078"/>
              <a:ext cx="64008" cy="64008"/>
            </a:xfrm>
            <a:prstGeom prst="ellipse">
              <a:avLst/>
            </a:prstGeom>
            <a:solidFill>
              <a:srgbClr val="16181D"/>
            </a:solidFill>
            <a:ln w="9525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426768" y="2034075"/>
              <a:ext cx="799681" cy="1666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1050" b="0" i="0" lang="vi-VN">
                  <a:solidFill>
                    <a:srgbClr val="16181D"/>
                  </a:solidFill>
                  <a:latin typeface="IBM Plex Sans SemiBold"/>
                </a:rPr>
                <a:t>2021: 109,4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548640" y="5363261"/>
            <a:ext cx="6395542" cy="9095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Dự trữ giảm 23,8 tỷ USD từ đỉnh 2021; năm 2025 tăng 2,5 tỷ.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Không gồm vàng; số IMF "gồm vàng" cao hơn khoảng 1,4 tỷ USD năm 2025 — không trộn hai định nghĩa.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4" name="TextBox 13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IMF International Liquidity (dự trữ không gồm vàng), cuối năm 2010–2025.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2 · ĐẦU TƯ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9033967" cy="4498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Khu vực ngoài nhà nước bỏ 54% vốn đầu tư toàn xã hội năm 2025</a:t>
            </a:r>
          </a:p>
        </p:txBody>
      </p:sp>
      <p:grpSp>
        <p:nvGrpSpPr>
          <p:cNvPr id="5" name="Legend"/>
          <p:cNvGrpSpPr/>
          <p:nvPr/>
        </p:nvGrpSpPr>
        <p:grpSpPr>
          <a:xfrm>
            <a:off x="548640" y="1782826"/>
            <a:ext cx="2832608" cy="165100"/>
            <a:chOff x="548640" y="1782826"/>
            <a:chExt cx="2832608" cy="165100"/>
          </a:xfrm>
        </p:grpSpPr>
        <p:sp>
          <p:nvSpPr>
            <p:cNvPr id="6" name="Rounded Rectangle 5"/>
            <p:cNvSpPr/>
            <p:nvPr/>
          </p:nvSpPr>
          <p:spPr>
            <a:xfrm>
              <a:off x="548640" y="1801368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49808" y="1782826"/>
              <a:ext cx="921512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Ngoài nhà nước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918208" y="1801368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EB683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119376" y="1782826"/>
              <a:ext cx="574802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Nhà nước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941066" y="1801368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1BAF7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142234" y="1782826"/>
              <a:ext cx="239014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FDI</a:t>
              </a:r>
            </a:p>
          </p:txBody>
        </p:sp>
      </p:grpSp>
      <p:graphicFrame>
        <p:nvGraphicFramePr>
          <p:cNvPr id="12" name="Chart · area"/>
          <p:cNvGraphicFramePr>
            <a:graphicFrameLocks noGrp="1"/>
          </p:cNvGraphicFramePr>
          <p:nvPr/>
        </p:nvGraphicFramePr>
        <p:xfrm>
          <a:off x="548640" y="1755648"/>
          <a:ext cx="11094415" cy="336986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3" name="Chart labels"/>
          <p:cNvGrpSpPr/>
          <p:nvPr/>
        </p:nvGrpSpPr>
        <p:grpSpPr>
          <a:xfrm>
            <a:off x="548640" y="2079562"/>
            <a:ext cx="10938967" cy="2266376"/>
            <a:chOff x="548640" y="2079562"/>
            <a:chExt cx="10938967" cy="2266376"/>
          </a:xfrm>
        </p:grpSpPr>
        <p:sp>
          <p:nvSpPr>
            <p:cNvPr id="14" name="TextBox 13"/>
            <p:cNvSpPr txBox="1"/>
            <p:nvPr/>
          </p:nvSpPr>
          <p:spPr>
            <a:xfrm>
              <a:off x="548640" y="2079562"/>
              <a:ext cx="773290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Nghìn tỷ đồng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251643" y="2898178"/>
              <a:ext cx="546227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SemiBold"/>
                </a:rPr>
                <a:t>FDI 16%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251643" y="3354015"/>
              <a:ext cx="884682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SemiBold"/>
                </a:rPr>
                <a:t>Nhà nước 30%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251643" y="4180838"/>
              <a:ext cx="1235964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SemiBold"/>
                </a:rPr>
                <a:t>Ngoài nhà nước 54%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548640" y="5363261"/>
            <a:ext cx="6395542" cy="9095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Vốn đầu tư thực hiện đạt 4.151 nghìn tỷ năm 2025, gấp 2,4 lần năm 2015.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Chín tháng 2026, vốn Nhà nước tăng 17,3%, nhanh hơn ngoài nhà nước (14,0%) và FDI (14,5%).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20" name="TextBox 19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NSO V04.01 — vốn đầu tư thực hiện toàn xã hội theo nguồn, giá hiện hành; 9T/2026: NSO 03/10/2026.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2 · TÍN DỤNG THEO NGÀNH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5618673" cy="84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Dịch vụ khác chiếm 45,2% dư nợ tháng 7/2026, từ 40,3% đầu năm 2025</a:t>
            </a:r>
          </a:p>
        </p:txBody>
      </p:sp>
      <p:grpSp>
        <p:nvGrpSpPr>
          <p:cNvPr id="5" name="Legend"/>
          <p:cNvGrpSpPr/>
          <p:nvPr/>
        </p:nvGrpSpPr>
        <p:grpSpPr>
          <a:xfrm>
            <a:off x="548640" y="1841348"/>
            <a:ext cx="6655181" cy="165100"/>
            <a:chOff x="548640" y="1841348"/>
            <a:chExt cx="6655181" cy="165100"/>
          </a:xfrm>
        </p:grpSpPr>
        <p:sp>
          <p:nvSpPr>
            <p:cNvPr id="6" name="Rounded Rectangle 5"/>
            <p:cNvSpPr/>
            <p:nvPr/>
          </p:nvSpPr>
          <p:spPr>
            <a:xfrm>
              <a:off x="548640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0083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49808" y="1841348"/>
              <a:ext cx="1177544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Nông, lâm, thủy sản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174240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EB683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375408" y="1841348"/>
              <a:ext cx="1335913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Công nghiệp, xây dựng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958209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1BAF7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159377" y="1841348"/>
              <a:ext cx="1834134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Thương mại, vận tải, viễn thông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40399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441567" y="1841348"/>
              <a:ext cx="762254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Dịch vụ khác</a:t>
              </a:r>
            </a:p>
          </p:txBody>
        </p:sp>
      </p:grpSp>
      <p:graphicFrame>
        <p:nvGraphicFramePr>
          <p:cNvPr id="14" name="Chart · area"/>
          <p:cNvGraphicFramePr>
            <a:graphicFrameLocks noGrp="1"/>
          </p:cNvGraphicFramePr>
          <p:nvPr/>
        </p:nvGraphicFramePr>
        <p:xfrm>
          <a:off x="548640" y="1814170"/>
          <a:ext cx="11094415" cy="331134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5" name="Chart labels"/>
          <p:cNvGrpSpPr/>
          <p:nvPr/>
        </p:nvGrpSpPr>
        <p:grpSpPr>
          <a:xfrm>
            <a:off x="9322765" y="2717033"/>
            <a:ext cx="2164842" cy="2083355"/>
            <a:chOff x="9322765" y="2717033"/>
            <a:chExt cx="2164842" cy="2083355"/>
          </a:xfrm>
        </p:grpSpPr>
        <p:sp>
          <p:nvSpPr>
            <p:cNvPr id="16" name="TextBox 15"/>
            <p:cNvSpPr txBox="1"/>
            <p:nvPr/>
          </p:nvSpPr>
          <p:spPr>
            <a:xfrm>
              <a:off x="9322765" y="2717033"/>
              <a:ext cx="1077341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SemiBold"/>
                </a:rPr>
                <a:t>Dịch vụ khác 45%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322765" y="3624022"/>
              <a:ext cx="2164842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SemiBold"/>
                </a:rPr>
                <a:t>Thương mại, vận tải, viễn thông 25%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322765" y="4252363"/>
              <a:ext cx="1658493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SemiBold"/>
                </a:rPr>
                <a:t>Công nghiệp, xây dựng 24%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322765" y="4635288"/>
              <a:ext cx="1421638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SemiBold"/>
                </a:rPr>
                <a:t>Nông, lâm, thủy sản 6%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548640" y="5363261"/>
            <a:ext cx="6395542" cy="9095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Tỷ trọng dịch vụ khác tăng 4,9 điểm % trong 19 tháng; nông nghiệp giữ quanh 6%.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Mỗi tháng là 100% dư nợ bốn khối ngành; "dịch vụ khác" gồm bất động sản, tiêu dùng, tài chính.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22" name="TextBox 21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NHNN — dư nợ tín dụng đối với nền kinh tế theo ngành, 1/2025–7/2026 (data/finance.json).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2 · LÃI SUẤT HUY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6232371" cy="84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Mô hình: lãi suất 12 tháng có thể lên 7,08% vào 3/2027 (khoảng 80%: 6,71–7,46%)</a:t>
            </a:r>
          </a:p>
        </p:txBody>
      </p:sp>
      <p:grpSp>
        <p:nvGrpSpPr>
          <p:cNvPr id="5" name="Legend"/>
          <p:cNvGrpSpPr/>
          <p:nvPr/>
        </p:nvGrpSpPr>
        <p:grpSpPr>
          <a:xfrm>
            <a:off x="548640" y="1841348"/>
            <a:ext cx="4351909" cy="165100"/>
            <a:chOff x="548640" y="1841348"/>
            <a:chExt cx="4351909" cy="165100"/>
          </a:xfrm>
        </p:grpSpPr>
        <p:cxnSp>
          <p:nvCxnSpPr>
            <p:cNvPr id="6" name="Connector 5"/>
            <p:cNvCxnSpPr/>
            <p:nvPr/>
          </p:nvCxnSpPr>
          <p:spPr>
            <a:xfrm>
              <a:off x="548640" y="1923898"/>
              <a:ext cx="237744" cy="0"/>
            </a:xfrm>
            <a:prstGeom prst="line">
              <a:avLst/>
            </a:prstGeom>
            <a:ln w="28575" cap="rnd">
              <a:solidFill>
                <a:srgbClr val="16181D"/>
              </a:solidFill>
              <a:round/>
            </a:ln>
          </p:spPr>
        </p:cxnSp>
        <p:sp>
          <p:nvSpPr>
            <p:cNvPr id="7" name="TextBox 6"/>
            <p:cNvSpPr txBox="1"/>
            <p:nvPr/>
          </p:nvSpPr>
          <p:spPr>
            <a:xfrm>
              <a:off x="859536" y="1841348"/>
              <a:ext cx="1337818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Vietcombank 12 tháng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2444242" y="1923898"/>
              <a:ext cx="237744" cy="0"/>
            </a:xfrm>
            <a:prstGeom prst="line">
              <a:avLst/>
            </a:prstGeom>
            <a:ln w="28575" cap="flat">
              <a:solidFill>
                <a:srgbClr val="2A78D6"/>
              </a:solidFill>
              <a:prstDash val="dash"/>
              <a:round/>
            </a:ln>
          </p:spPr>
        </p:cxnSp>
        <p:sp>
          <p:nvSpPr>
            <p:cNvPr id="9" name="TextBox 8"/>
            <p:cNvSpPr txBox="1"/>
            <p:nvPr/>
          </p:nvSpPr>
          <p:spPr>
            <a:xfrm>
              <a:off x="2755138" y="1841348"/>
              <a:ext cx="816991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Mô hình cơ sở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819017" y="1859890"/>
              <a:ext cx="237744" cy="128016"/>
            </a:xfrm>
            <a:prstGeom prst="rect">
              <a:avLst/>
            </a:prstGeom>
            <a:solidFill>
              <a:srgbClr val="2A78D6">
                <a:alpha val="25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129913" y="1841348"/>
              <a:ext cx="770636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Khoảng 80%</a:t>
              </a:r>
            </a:p>
          </p:txBody>
        </p:sp>
      </p:grpSp>
      <p:graphicFrame>
        <p:nvGraphicFramePr>
          <p:cNvPr id="12" name="Chart · line"/>
          <p:cNvGraphicFramePr>
            <a:graphicFrameLocks noGrp="1"/>
          </p:cNvGraphicFramePr>
          <p:nvPr/>
        </p:nvGraphicFramePr>
        <p:xfrm>
          <a:off x="548640" y="1814170"/>
          <a:ext cx="11094415" cy="303001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3" name="Chart labels"/>
          <p:cNvGrpSpPr/>
          <p:nvPr/>
        </p:nvGrpSpPr>
        <p:grpSpPr>
          <a:xfrm>
            <a:off x="8816202" y="2251939"/>
            <a:ext cx="2007006" cy="148590"/>
            <a:chOff x="8816202" y="2251939"/>
            <a:chExt cx="2007006" cy="148590"/>
          </a:xfrm>
        </p:grpSpPr>
        <p:sp>
          <p:nvSpPr>
            <p:cNvPr id="14" name="TextBox 13"/>
            <p:cNvSpPr txBox="1"/>
            <p:nvPr/>
          </p:nvSpPr>
          <p:spPr>
            <a:xfrm>
              <a:off x="8816202" y="2251939"/>
              <a:ext cx="2007006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00" b="0" i="0" lang="vi-VN" spc="80">
                  <a:solidFill>
                    <a:srgbClr val="5B6170"/>
                  </a:solidFill>
                  <a:latin typeface="IBM Plex Sans SemiBold"/>
                </a:rPr>
                <a:t>MÔ HÌNH, KHÔNG PHẢI DỰ BÁO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548640" y="5081930"/>
            <a:ext cx="6395542" cy="11908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Lãi suất niêm yết 12 tháng của Vietcombank lên 5,9% từ tháng 3/2026, từ 4,6% suốt 2025; mô hình đưa đường cơ sở lên 7,08% sau sáu tháng.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Tháng 10–12/2025 chưa có số liệu (để trống). Khoảng 80% = cơ sở ± 1,28 × sai số chuẩn × √tháng.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7" name="TextBox 16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Vietcombank (lãi suất niêm yết); mô hình cấu trúc v2 của Vietnam Dashboard (7/10/2026) — minh hoạ, không phải dự báo chính thức.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2 · XUẤT KHẨU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5523575" cy="84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Xuất khẩu đạt 475,0 tỷ USD năm 2025, tăng 17,0%; chỉ giảm năm 2023</a:t>
            </a:r>
          </a:p>
        </p:txBody>
      </p:sp>
      <p:grpSp>
        <p:nvGrpSpPr>
          <p:cNvPr id="5" name="Legend"/>
          <p:cNvGrpSpPr/>
          <p:nvPr/>
        </p:nvGrpSpPr>
        <p:grpSpPr>
          <a:xfrm>
            <a:off x="548640" y="1841348"/>
            <a:ext cx="5560441" cy="165100"/>
            <a:chOff x="548640" y="1841348"/>
            <a:chExt cx="5560441" cy="165100"/>
          </a:xfrm>
        </p:grpSpPr>
        <p:sp>
          <p:nvSpPr>
            <p:cNvPr id="6" name="Rounded Rectangle 5"/>
            <p:cNvSpPr/>
            <p:nvPr/>
          </p:nvSpPr>
          <p:spPr>
            <a:xfrm>
              <a:off x="548640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C9CCD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49808" y="1841348"/>
              <a:ext cx="2275332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Kim ngạch xuất khẩu (tỷ USD, trục trái)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3272028" y="1923898"/>
              <a:ext cx="237744" cy="0"/>
            </a:xfrm>
            <a:prstGeom prst="line">
              <a:avLst/>
            </a:prstGeom>
            <a:ln w="28575" cap="rnd">
              <a:solidFill>
                <a:srgbClr val="2A78D6"/>
              </a:solidFill>
              <a:round/>
            </a:ln>
          </p:spPr>
        </p:cxnSp>
        <p:sp>
          <p:nvSpPr>
            <p:cNvPr id="9" name="TextBox 8"/>
            <p:cNvSpPr txBox="1"/>
            <p:nvPr/>
          </p:nvSpPr>
          <p:spPr>
            <a:xfrm>
              <a:off x="3582924" y="1841348"/>
              <a:ext cx="2526157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Tăng trưởng so với năm trước (%, trục phải)</a:t>
              </a:r>
            </a:p>
          </p:txBody>
        </p:sp>
      </p:grpSp>
      <p:graphicFrame>
        <p:nvGraphicFramePr>
          <p:cNvPr id="10" name="Chart · combo"/>
          <p:cNvGraphicFramePr>
            <a:graphicFrameLocks noGrp="1"/>
          </p:cNvGraphicFramePr>
          <p:nvPr/>
        </p:nvGraphicFramePr>
        <p:xfrm>
          <a:off x="548640" y="1814170"/>
          <a:ext cx="11094415" cy="331134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1" name="Axis titles"/>
          <p:cNvGrpSpPr/>
          <p:nvPr/>
        </p:nvGrpSpPr>
        <p:grpSpPr>
          <a:xfrm>
            <a:off x="548640" y="2138083"/>
            <a:ext cx="11094415" cy="156845"/>
            <a:chOff x="548640" y="2138083"/>
            <a:chExt cx="11094415" cy="156845"/>
          </a:xfrm>
        </p:grpSpPr>
        <p:sp>
          <p:nvSpPr>
            <p:cNvPr id="12" name="TextBox 11"/>
            <p:cNvSpPr txBox="1"/>
            <p:nvPr/>
          </p:nvSpPr>
          <p:spPr>
            <a:xfrm>
              <a:off x="548640" y="2138083"/>
              <a:ext cx="42907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5B6170"/>
                  </a:solidFill>
                  <a:latin typeface="IBM Plex Sans SemiBold"/>
                </a:rPr>
                <a:t>Tỷ USD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554627" y="2138083"/>
              <a:ext cx="1088428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950" b="0" i="0" lang="vi-VN">
                  <a:solidFill>
                    <a:srgbClr val="5B6170"/>
                  </a:solidFill>
                  <a:latin typeface="IBM Plex Sans SemiBold"/>
                </a:rPr>
                <a:t>% so với năm trước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548640" y="5363261"/>
            <a:ext cx="6395542" cy="9095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Năm 2023 xuất khẩu giảm 4,6%; năm 2025 tăng 17,0% lên 475,0 tỷ USD.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Hai trục, hai đơn vị: cột đọc theo trục trái, đường theo trục phải; hai vạch 0 thẳng hàng. Không so độ cao cột với đường.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6" name="TextBox 15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NSO — kim ngạch xuất khẩu hàng hoá 2014–2025; tăng trưởng tính từ kim ngạch (≈).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48640"/>
            <a:ext cx="11094415" cy="0"/>
          </a:xfrm>
          <a:prstGeom prst="line">
            <a:avLst/>
          </a:prstGeom>
          <a:ln w="15875" cap="flat">
            <a:solidFill>
              <a:srgbClr val="16181D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141732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1000" b="0" i="0" lang="vi-VN">
                <a:solidFill>
                  <a:srgbClr val="C2362F"/>
                </a:solidFill>
                <a:latin typeface="Newsreader SemiBold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4191838" cy="6675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0" i="0" lang="vi-VN">
                <a:solidFill>
                  <a:srgbClr val="16181D"/>
                </a:solidFill>
                <a:latin typeface="Newsreader SemiBold"/>
              </a:rPr>
              <a:t>So sánh và xếp hạng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67912"/>
            <a:ext cx="5455768" cy="6492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500" b="0" i="0" lang="vi-VN">
                <a:solidFill>
                  <a:srgbClr val="5B6170"/>
                </a:solidFill>
                <a:latin typeface="IBM Plex Sans"/>
              </a:rPr>
              <a:t>Cột, thanh, kẹo mút, chấm, quả tạ, độ dốc, thứ hạng, phân kỳ và lốc xoáy.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66837" y="1554480"/>
            <a:ext cx="357621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lang="vi-VN" spc="120">
                <a:solidFill>
                  <a:srgbClr val="5B6170"/>
                </a:solidFill>
                <a:latin typeface="IBM Plex Sans SemiBold"/>
              </a:rPr>
              <a:t>TRONG CHƯƠNG NÀY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066837" y="1920240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8" name="TextBox 7"/>
          <p:cNvSpPr txBox="1"/>
          <p:nvPr/>
        </p:nvSpPr>
        <p:spPr>
          <a:xfrm>
            <a:off x="8066837" y="2002536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Cột và cột nhóm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66837" y="2377821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0" name="TextBox 9"/>
          <p:cNvSpPr txBox="1"/>
          <p:nvPr/>
        </p:nvSpPr>
        <p:spPr>
          <a:xfrm>
            <a:off x="8066837" y="2460117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Thanh ngang xếp hạng và nhóm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66837" y="2835402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2" name="TextBox 11"/>
          <p:cNvSpPr txBox="1"/>
          <p:nvPr/>
        </p:nvSpPr>
        <p:spPr>
          <a:xfrm>
            <a:off x="8066837" y="2917698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Kẹo mút, chấm, quả tạ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66837" y="3292983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4" name="TextBox 13"/>
          <p:cNvSpPr txBox="1"/>
          <p:nvPr/>
        </p:nvSpPr>
        <p:spPr>
          <a:xfrm>
            <a:off x="8066837" y="3375279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Độ dốc, thứ hạng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66837" y="3750564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6" name="TextBox 15"/>
          <p:cNvSpPr txBox="1"/>
          <p:nvPr/>
        </p:nvSpPr>
        <p:spPr>
          <a:xfrm>
            <a:off x="8066837" y="3832860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Phân kỳ, lốc xoáy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8" name="TextBox 17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3 · FDI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8179156" cy="4498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FDI giải ngân đạt 27,6 tỷ USD năm 2025, cao nhất từ 2010</a:t>
            </a:r>
          </a:p>
        </p:txBody>
      </p:sp>
      <p:graphicFrame>
        <p:nvGraphicFramePr>
          <p:cNvPr id="5" name="Chart · column"/>
          <p:cNvGraphicFramePr>
            <a:graphicFrameLocks noGrp="1"/>
          </p:cNvGraphicFramePr>
          <p:nvPr/>
        </p:nvGraphicFramePr>
        <p:xfrm>
          <a:off x="548640" y="1755648"/>
          <a:ext cx="7152437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6" name="Chart labels"/>
          <p:cNvGrpSpPr/>
          <p:nvPr/>
        </p:nvGrpSpPr>
        <p:grpSpPr>
          <a:xfrm>
            <a:off x="548640" y="1750378"/>
            <a:ext cx="417976" cy="156845"/>
            <a:chOff x="548640" y="1750378"/>
            <a:chExt cx="417976" cy="156845"/>
          </a:xfrm>
        </p:grpSpPr>
        <p:sp>
          <p:nvSpPr>
            <p:cNvPr id="7" name="TextBox 6"/>
            <p:cNvSpPr txBox="1"/>
            <p:nvPr/>
          </p:nvSpPr>
          <p:spPr>
            <a:xfrm>
              <a:off x="548640" y="1750378"/>
              <a:ext cx="41797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Tỷ USD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8066837" y="1755648"/>
            <a:ext cx="3576218" cy="443484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2869" y="2011680"/>
            <a:ext cx="306415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 lang="vi-VN" spc="100">
                <a:solidFill>
                  <a:srgbClr val="5B6170"/>
                </a:solidFill>
                <a:latin typeface="IBM Plex Sans SemiBold"/>
              </a:rPr>
              <a:t>9 THÁNG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2869" y="2304288"/>
            <a:ext cx="3064154" cy="5308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800" b="1" i="0" lang="vi-VN">
                <a:solidFill>
                  <a:srgbClr val="16181D"/>
                </a:solidFill>
                <a:latin typeface="IBM Plex Sans"/>
              </a:rPr>
              <a:t>21,07</a:t>
            </a:r>
            <a:r>
              <a:rPr sz="1400" b="0" i="0" lang="vi-VN">
                <a:solidFill>
                  <a:srgbClr val="5B6170"/>
                </a:solidFill>
                <a:latin typeface="IBM Plex Sans SemiBold"/>
              </a:rPr>
              <a:t> tỷ USD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2869" y="2926588"/>
            <a:ext cx="3064154" cy="4320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 i="0" lang="vi-VN">
                <a:solidFill>
                  <a:srgbClr val="5B6170"/>
                </a:solidFill>
                <a:latin typeface="IBM Plex Sans"/>
              </a:rPr>
              <a:t>Tăng 12,1% so với cùng kỳ; mục tiêu NQ 10-NQ/TW: 30–40 tỷ USD/năm.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22869" y="3541522"/>
            <a:ext cx="3064154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3" name="TextBox 12"/>
          <p:cNvSpPr txBox="1"/>
          <p:nvPr/>
        </p:nvSpPr>
        <p:spPr>
          <a:xfrm>
            <a:off x="8322869" y="3696970"/>
            <a:ext cx="3064154" cy="5626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FDI giải ngân năm 2025 đạt 27,62 tỷ USD, gấp 2,5 lần năm 2010.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2869" y="4369359"/>
            <a:ext cx="3064154" cy="5193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200" b="0" i="0" lang="vi-VN">
                <a:solidFill>
                  <a:srgbClr val="5B6170"/>
                </a:solidFill>
                <a:latin typeface="IBM Plex Sans"/>
              </a:rPr>
              <a:t>Vốn đăng ký là chỉ tiêu khác, không cộng chung; 2025 ước tính.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6" name="TextBox 15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NSO / Cục Đầu tư nước ngoài — FDI thực hiện (giải ngân), tỷ USD; 9T/2026: NSO 03/10/2026.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3 · THƯƠNG MẠI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6598495" cy="84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Xuất khẩu vượt nhập khẩu 10/11 năm 2015–2025; năm 2025 xuất siêu 20,1 tỷ USD</a:t>
            </a:r>
          </a:p>
        </p:txBody>
      </p:sp>
      <p:grpSp>
        <p:nvGrpSpPr>
          <p:cNvPr id="5" name="Legend"/>
          <p:cNvGrpSpPr/>
          <p:nvPr/>
        </p:nvGrpSpPr>
        <p:grpSpPr>
          <a:xfrm>
            <a:off x="548640" y="1841348"/>
            <a:ext cx="1917446" cy="165100"/>
            <a:chOff x="548640" y="1841348"/>
            <a:chExt cx="1917446" cy="165100"/>
          </a:xfrm>
        </p:grpSpPr>
        <p:sp>
          <p:nvSpPr>
            <p:cNvPr id="6" name="Rounded Rectangle 5"/>
            <p:cNvSpPr/>
            <p:nvPr/>
          </p:nvSpPr>
          <p:spPr>
            <a:xfrm>
              <a:off x="548640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49808" y="1841348"/>
              <a:ext cx="614934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Xuất khẩu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611630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EB683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812798" y="1841348"/>
              <a:ext cx="653288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Nhập khẩu</a:t>
              </a:r>
            </a:p>
          </p:txBody>
        </p:sp>
      </p:grpSp>
      <p:graphicFrame>
        <p:nvGraphicFramePr>
          <p:cNvPr id="10" name="Chart · column"/>
          <p:cNvGraphicFramePr>
            <a:graphicFrameLocks noGrp="1"/>
          </p:cNvGraphicFramePr>
          <p:nvPr/>
        </p:nvGraphicFramePr>
        <p:xfrm>
          <a:off x="548640" y="1814170"/>
          <a:ext cx="11094415" cy="359267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1" name="Chart labels"/>
          <p:cNvGrpSpPr/>
          <p:nvPr/>
        </p:nvGrpSpPr>
        <p:grpSpPr>
          <a:xfrm>
            <a:off x="548640" y="2138083"/>
            <a:ext cx="417976" cy="156845"/>
            <a:chOff x="548640" y="2138083"/>
            <a:chExt cx="417976" cy="156845"/>
          </a:xfrm>
        </p:grpSpPr>
        <p:sp>
          <p:nvSpPr>
            <p:cNvPr id="12" name="TextBox 11"/>
            <p:cNvSpPr txBox="1"/>
            <p:nvPr/>
          </p:nvSpPr>
          <p:spPr>
            <a:xfrm>
              <a:off x="548640" y="2138083"/>
              <a:ext cx="41797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Tỷ USD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548640" y="5644591"/>
            <a:ext cx="6395542" cy="628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Năm 2025: xuất khẩu 475,0, nhập khẩu 454,9 tỷ USD; năm 2015 nhập siêu 3,8 tỷ.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Hàng hoá, không gồm dịch vụ; chín tháng 2026 nhập siêu 19,4 tỷ USD (NSO).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5" name="TextBox 14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NSO — xuất, nhập khẩu hàng hoá 2015–2025 (tỷ USD).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3 · XẾP HẠNG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6304169" cy="84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Quảng Ninh tăng 11,89% năm 2025, nhanh nhất cả nước; 6 địa phương đạt từ 10%</a:t>
            </a:r>
          </a:p>
        </p:txBody>
      </p:sp>
      <p:graphicFrame>
        <p:nvGraphicFramePr>
          <p:cNvPr id="5" name="Chart · bar"/>
          <p:cNvGraphicFramePr>
            <a:graphicFrameLocks noGrp="1"/>
          </p:cNvGraphicFramePr>
          <p:nvPr/>
        </p:nvGraphicFramePr>
        <p:xfrm>
          <a:off x="548640" y="1814170"/>
          <a:ext cx="11094415" cy="331134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363261"/>
            <a:ext cx="6395542" cy="9095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Mười hai địa phương tăng nhanh nhất đều đạt từ 8,50%; Hà Nội (8,16%) và TP.HCM (7,53%) không nằm trong nhóm này.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Thanh xanh: từ 10% trở lên; xám: dưới 10%. Số 2025 là ước tính.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8" name="TextBox 7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NSO và cục thống kê địa phương — tăng trưởng GRDP 2025 (giá so sánh).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3 · TÍN DỤNG THEO NGÀNH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7113766" cy="84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Bảy tháng 2026, tín dụng vận tải, viễn thông tăng 16,59%, nhanh nhất; toàn nền kinh tế 8,97%</a:t>
            </a:r>
          </a:p>
        </p:txBody>
      </p:sp>
      <p:grpSp>
        <p:nvGrpSpPr>
          <p:cNvPr id="5" name="Legend"/>
          <p:cNvGrpSpPr/>
          <p:nvPr/>
        </p:nvGrpSpPr>
        <p:grpSpPr>
          <a:xfrm>
            <a:off x="548640" y="1841348"/>
            <a:ext cx="2247138" cy="165100"/>
            <a:chOff x="548640" y="1841348"/>
            <a:chExt cx="2247138" cy="165100"/>
          </a:xfrm>
        </p:grpSpPr>
        <p:sp>
          <p:nvSpPr>
            <p:cNvPr id="6" name="Rounded Rectangle 5"/>
            <p:cNvSpPr/>
            <p:nvPr/>
          </p:nvSpPr>
          <p:spPr>
            <a:xfrm>
              <a:off x="548640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C9CCD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49808" y="1841348"/>
              <a:ext cx="797814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Cả năm 2025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794510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995678" y="1841348"/>
              <a:ext cx="8001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7 tháng 2026</a:t>
              </a:r>
            </a:p>
          </p:txBody>
        </p:sp>
      </p:grpSp>
      <p:graphicFrame>
        <p:nvGraphicFramePr>
          <p:cNvPr id="10" name="Chart · bar"/>
          <p:cNvGraphicFramePr>
            <a:graphicFrameLocks noGrp="1"/>
          </p:cNvGraphicFramePr>
          <p:nvPr/>
        </p:nvGraphicFramePr>
        <p:xfrm>
          <a:off x="548640" y="1814170"/>
          <a:ext cx="11094415" cy="331134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363261"/>
            <a:ext cx="6395542" cy="9095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Năm 2025 dịch vụ khác tăng 30,18%; bảy tháng 2026 mới tăng 11,44%.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Hai kỳ dài khác nhau (12 tháng và 7 tháng, cùng tính từ đầu năm) — so thứ tự, không so độ dài thanh.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3" name="TextBox 12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NHNN — tăng trưởng tín dụng theo ngành so với cuối năm trước, 12/2025 và 7/2026.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3 · THU NHẬP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7633001" cy="84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Quảng Ninh có GRDP bình quân 10,5 nghìn USD/người năm 2025, gấp 2,5 lần địa phương thứ 12</a:t>
            </a:r>
          </a:p>
        </p:txBody>
      </p:sp>
      <p:graphicFrame>
        <p:nvGraphicFramePr>
          <p:cNvPr id="5" name="Chart · lollipop"/>
          <p:cNvGraphicFramePr>
            <a:graphicFrameLocks noGrp="1"/>
          </p:cNvGraphicFramePr>
          <p:nvPr/>
        </p:nvGraphicFramePr>
        <p:xfrm>
          <a:off x="548640" y="1814170"/>
          <a:ext cx="11094415" cy="359267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6" name="Chart labels"/>
          <p:cNvGrpSpPr/>
          <p:nvPr/>
        </p:nvGrpSpPr>
        <p:grpSpPr>
          <a:xfrm>
            <a:off x="548640" y="1808899"/>
            <a:ext cx="2407012" cy="156845"/>
            <a:chOff x="548640" y="1808899"/>
            <a:chExt cx="2407012" cy="156845"/>
          </a:xfrm>
        </p:grpSpPr>
        <p:sp>
          <p:nvSpPr>
            <p:cNvPr id="7" name="TextBox 6"/>
            <p:cNvSpPr txBox="1"/>
            <p:nvPr/>
          </p:nvSpPr>
          <p:spPr>
            <a:xfrm>
              <a:off x="548640" y="1808899"/>
              <a:ext cx="2407012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GRDP bình quân đầu người 2025, nghìn USD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548640" y="5644591"/>
            <a:ext cx="6395542" cy="628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Mười hai địa phương giàu nhất từ 4,2 đến 10,5 nghìn USD/người; cả nước 5,0 nghìn.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Kẹo mút thay cột khi nhiều thanh gần bằng nhau: ít mực hơn, đầu chấm cho biết giá trị.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0" name="TextBox 9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NSO và cục thống kê địa phương — GRDP bình quân đầu người 2025 (USD, ước tính).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3 · DỰ BÁO LẠM PHÁT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5372055" cy="84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Sáu tổ chức dự báo CPI 2026 từ 4,2% đến 5,2%; đều thấp hơn cho 2027</a:t>
            </a:r>
          </a:p>
        </p:txBody>
      </p:sp>
      <p:grpSp>
        <p:nvGrpSpPr>
          <p:cNvPr id="5" name="Legend"/>
          <p:cNvGrpSpPr/>
          <p:nvPr/>
        </p:nvGrpSpPr>
        <p:grpSpPr>
          <a:xfrm>
            <a:off x="557784" y="1841348"/>
            <a:ext cx="4275582" cy="165100"/>
            <a:chOff x="557784" y="1841348"/>
            <a:chExt cx="4275582" cy="165100"/>
          </a:xfrm>
        </p:grpSpPr>
        <p:sp>
          <p:nvSpPr>
            <p:cNvPr id="6" name="Oval 5"/>
            <p:cNvSpPr/>
            <p:nvPr/>
          </p:nvSpPr>
          <p:spPr>
            <a:xfrm>
              <a:off x="557784" y="1869034"/>
              <a:ext cx="109728" cy="109728"/>
            </a:xfrm>
            <a:prstGeom prst="ellipse">
              <a:avLst/>
            </a:prstGeom>
            <a:solidFill>
              <a:srgbClr val="2A78D6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49808" y="1841348"/>
              <a:ext cx="768731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Dự báo 2026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1774571" y="1869034"/>
              <a:ext cx="109728" cy="109728"/>
            </a:xfrm>
            <a:prstGeom prst="ellipse">
              <a:avLst/>
            </a:prstGeom>
            <a:solidFill>
              <a:srgbClr val="EB6834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966595" y="1841348"/>
              <a:ext cx="768731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Dự báo 2027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982214" y="1923898"/>
              <a:ext cx="237744" cy="0"/>
            </a:xfrm>
            <a:prstGeom prst="line">
              <a:avLst/>
            </a:prstGeom>
            <a:ln w="28575" cap="flat">
              <a:solidFill>
                <a:srgbClr val="5B6170"/>
              </a:solidFill>
              <a:prstDash val="dash"/>
              <a:round/>
            </a:ln>
          </p:spPr>
        </p:cxnSp>
        <p:sp>
          <p:nvSpPr>
            <p:cNvPr id="11" name="TextBox 10"/>
            <p:cNvSpPr txBox="1"/>
            <p:nvPr/>
          </p:nvSpPr>
          <p:spPr>
            <a:xfrm>
              <a:off x="3293110" y="1841348"/>
              <a:ext cx="1540256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Trần mục tiêu 2026: 4,5%</a:t>
              </a:r>
            </a:p>
          </p:txBody>
        </p:sp>
      </p:grpSp>
      <p:graphicFrame>
        <p:nvGraphicFramePr>
          <p:cNvPr id="12" name="Chart · dot plot"/>
          <p:cNvGraphicFramePr>
            <a:graphicFrameLocks noGrp="1"/>
          </p:cNvGraphicFramePr>
          <p:nvPr/>
        </p:nvGraphicFramePr>
        <p:xfrm>
          <a:off x="548640" y="1814170"/>
          <a:ext cx="11094415" cy="303001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081930"/>
            <a:ext cx="6395542" cy="11908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OECD dự báo cao nhất (5,2%), World Bank thấp nhất (4,2%); bình quân 9 tháng thực tế 4,52%.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Các dự báo công bố ở các thời điểm khác nhau (4–9/2026); trục bắt đầu từ 3% vì là chấm, không phải cột.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5" name="TextBox 14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IMF WEO 4/2026; World Bank VEU 5/2026; ADB 9/2026; AMRO 9/2026; OECD 6/2026; Standard Chartered 7/2026 (data/economy.json, CPI_FC_INST).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3 · TĂNG TỐC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6227457" cy="84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Lâm Đồng tăng tốc mạnh nhất: 8,51% trong 9 tháng 2026, từ 6,42% cả năm 2025</a:t>
            </a:r>
          </a:p>
        </p:txBody>
      </p:sp>
      <p:grpSp>
        <p:nvGrpSpPr>
          <p:cNvPr id="5" name="Legend"/>
          <p:cNvGrpSpPr/>
          <p:nvPr/>
        </p:nvGrpSpPr>
        <p:grpSpPr>
          <a:xfrm>
            <a:off x="557784" y="1841348"/>
            <a:ext cx="2237994" cy="165100"/>
            <a:chOff x="557784" y="1841348"/>
            <a:chExt cx="2237994" cy="165100"/>
          </a:xfrm>
        </p:grpSpPr>
        <p:sp>
          <p:nvSpPr>
            <p:cNvPr id="6" name="Oval 5"/>
            <p:cNvSpPr/>
            <p:nvPr/>
          </p:nvSpPr>
          <p:spPr>
            <a:xfrm>
              <a:off x="557784" y="1869034"/>
              <a:ext cx="109728" cy="109728"/>
            </a:xfrm>
            <a:prstGeom prst="ellipse">
              <a:avLst/>
            </a:prstGeom>
            <a:solidFill>
              <a:srgbClr val="8A8F99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49808" y="1841348"/>
              <a:ext cx="797814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Cả năm 2025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1803654" y="1869034"/>
              <a:ext cx="109728" cy="109728"/>
            </a:xfrm>
            <a:prstGeom prst="ellipse">
              <a:avLst/>
            </a:prstGeom>
            <a:solidFill>
              <a:srgbClr val="2A78D6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995678" y="1841348"/>
              <a:ext cx="8001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9 tháng 2026</a:t>
              </a:r>
            </a:p>
          </p:txBody>
        </p:sp>
      </p:grpSp>
      <p:graphicFrame>
        <p:nvGraphicFramePr>
          <p:cNvPr id="10" name="Chart · dumbbell"/>
          <p:cNvGraphicFramePr>
            <a:graphicFrameLocks noGrp="1"/>
          </p:cNvGraphicFramePr>
          <p:nvPr/>
        </p:nvGraphicFramePr>
        <p:xfrm>
          <a:off x="548640" y="1814170"/>
          <a:ext cx="11094415" cy="303001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081930"/>
            <a:ext cx="6395542" cy="11908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11/12 địa phương lớn tăng nhanh hơn trong 9 tháng 2026 so với cả năm 2025; chỉ Phú Thọ chậm lại.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9 tháng so với cùng kỳ năm trước, không phải số cả năm; hai kỳ so sánh chỉ mang tính chỉ báo.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3" name="TextBox 12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NSO và cục thống kê địa phương — GRDP 2025 (ước tính) và 9 tháng 2026 (công bố 9–10/2026).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3 · CƠ CẤU CHI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8820150" cy="4498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Tiêu dùng hộ giảm từ 59,3% xuống 53,2% GDP trong mười năm</a:t>
            </a:r>
          </a:p>
        </p:txBody>
      </p:sp>
      <p:graphicFrame>
        <p:nvGraphicFramePr>
          <p:cNvPr id="5" name="Chart · slope"/>
          <p:cNvGraphicFramePr>
            <a:graphicFrameLocks noGrp="1"/>
          </p:cNvGraphicFramePr>
          <p:nvPr/>
        </p:nvGraphicFramePr>
        <p:xfrm>
          <a:off x="548640" y="1755648"/>
          <a:ext cx="7152437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6" name="Chart rules"/>
          <p:cNvGrpSpPr/>
          <p:nvPr/>
        </p:nvGrpSpPr>
        <p:grpSpPr>
          <a:xfrm>
            <a:off x="2580913" y="1847088"/>
            <a:ext cx="3087891" cy="4023360"/>
            <a:chOff x="2580913" y="1847088"/>
            <a:chExt cx="3087891" cy="4023360"/>
          </a:xfrm>
        </p:grpSpPr>
        <p:cxnSp>
          <p:nvCxnSpPr>
            <p:cNvPr id="7" name="Connector 6"/>
            <p:cNvCxnSpPr/>
            <p:nvPr/>
          </p:nvCxnSpPr>
          <p:spPr>
            <a:xfrm>
              <a:off x="2580913" y="1847088"/>
              <a:ext cx="0" cy="4023360"/>
            </a:xfrm>
            <a:prstGeom prst="line">
              <a:avLst/>
            </a:prstGeom>
            <a:ln w="9525" cap="flat">
              <a:solidFill>
                <a:srgbClr val="C3C2B7"/>
              </a:solidFill>
              <a:round/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5668804" y="1847088"/>
              <a:ext cx="0" cy="4023360"/>
            </a:xfrm>
            <a:prstGeom prst="line">
              <a:avLst/>
            </a:prstGeom>
            <a:ln w="9525" cap="flat">
              <a:solidFill>
                <a:srgbClr val="C3C2B7"/>
              </a:solidFill>
              <a:round/>
            </a:ln>
          </p:spPr>
        </p:cxnSp>
      </p:grpSp>
      <p:sp>
        <p:nvSpPr>
          <p:cNvPr id="9" name="Rectangle 8"/>
          <p:cNvSpPr/>
          <p:nvPr/>
        </p:nvSpPr>
        <p:spPr>
          <a:xfrm>
            <a:off x="8066837" y="1755648"/>
            <a:ext cx="3576218" cy="443484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2869" y="2011680"/>
            <a:ext cx="306415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 lang="vi-VN" spc="100">
                <a:solidFill>
                  <a:srgbClr val="5B6170"/>
                </a:solidFill>
                <a:latin typeface="IBM Plex Sans SemiBold"/>
              </a:rPr>
              <a:t>XUẤT KHẨU RÒNG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2869" y="2304288"/>
            <a:ext cx="3064154" cy="5308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800" b="1" i="0" lang="vi-VN">
                <a:solidFill>
                  <a:srgbClr val="16181D"/>
                </a:solidFill>
                <a:latin typeface="IBM Plex Sans"/>
              </a:rPr>
              <a:t>6,6</a:t>
            </a:r>
            <a:r>
              <a:rPr sz="1400" b="0" i="0" lang="vi-VN">
                <a:solidFill>
                  <a:srgbClr val="5B6170"/>
                </a:solidFill>
                <a:latin typeface="IBM Plex Sans SemiBold"/>
              </a:rPr>
              <a:t> lần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2869" y="2926588"/>
            <a:ext cx="3064154" cy="4320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 i="0" lang="vi-VN">
                <a:solidFill>
                  <a:srgbClr val="5B6170"/>
                </a:solidFill>
                <a:latin typeface="IBM Plex Sans"/>
              </a:rPr>
              <a:t>Tỷ trọng trong GDP: 0,93% (2015) → 6,15% (2025).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322869" y="3541522"/>
            <a:ext cx="3064154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4" name="TextBox 13"/>
          <p:cNvSpPr txBox="1"/>
          <p:nvPr/>
        </p:nvSpPr>
        <p:spPr>
          <a:xfrm>
            <a:off x="8322869" y="3696970"/>
            <a:ext cx="3064154" cy="8439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Tiêu dùng hộ mất 6,1 điểm % tỷ trọng GDP; xuất khẩu ròng tăng từ 0,9% lên 6,2%.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2869" y="4650689"/>
            <a:ext cx="3064154" cy="5193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200" b="0" i="0" lang="vi-VN">
                <a:solidFill>
                  <a:srgbClr val="5B6170"/>
                </a:solidFill>
                <a:latin typeface="IBM Plex Sans"/>
              </a:rPr>
              <a:t>Tỷ trọng theo giá hiện hành; 2025 là ước tính. Sai số thống kê không vẽ.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7" name="TextBox 16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NSO — GDP theo mục đích sử dụng, giá hiện hành (2024 sơ bộ, 2025 ước tính).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3 · CÁC NGÀNH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6006037" cy="84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Khai khoáng tụt từ hạng 4 xuống hạng 9 về đóng góp vào GDP; chế biến giữ hạng 1</a:t>
            </a:r>
          </a:p>
        </p:txBody>
      </p:sp>
      <p:graphicFrame>
        <p:nvGraphicFramePr>
          <p:cNvPr id="5" name="Chart · bump"/>
          <p:cNvGraphicFramePr>
            <a:graphicFrameLocks noGrp="1"/>
          </p:cNvGraphicFramePr>
          <p:nvPr/>
        </p:nvGraphicFramePr>
        <p:xfrm>
          <a:off x="548640" y="1814170"/>
          <a:ext cx="11094415" cy="303001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081930"/>
            <a:ext cx="6395542" cy="11908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Chế biến, chế tạo chiếm 24,5% GDP năm 2025, từ 17,1% năm 2010; khai khoáng còn 2,1%.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Xếp hạng trong chín ngành lớn nhất theo tỷ trọng giá hiện hành; số bên phải là tỷ trọng năm 2025.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8" name="TextBox 7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NSO PxWeb — cơ cấu GDP theo ngành kinh tế, giá hiện hành, chuỗi đánh giá lại 2021; 2025 ước tính.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3 · CÁN CÂN THANH TOÁN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9161374" cy="4498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Lỗi và sai sót −25,9 tỷ USD năm 2025, bằng 78% thặng dư vãng lai</a:t>
            </a:r>
          </a:p>
        </p:txBody>
      </p:sp>
      <p:grpSp>
        <p:nvGrpSpPr>
          <p:cNvPr id="5" name="Legend"/>
          <p:cNvGrpSpPr/>
          <p:nvPr/>
        </p:nvGrpSpPr>
        <p:grpSpPr>
          <a:xfrm>
            <a:off x="548640" y="1782826"/>
            <a:ext cx="3260979" cy="165100"/>
            <a:chOff x="548640" y="1782826"/>
            <a:chExt cx="3260979" cy="165100"/>
          </a:xfrm>
        </p:grpSpPr>
        <p:sp>
          <p:nvSpPr>
            <p:cNvPr id="6" name="Rounded Rectangle 5"/>
            <p:cNvSpPr/>
            <p:nvPr/>
          </p:nvSpPr>
          <p:spPr>
            <a:xfrm>
              <a:off x="548640" y="1801368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49808" y="1782826"/>
              <a:ext cx="1349756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Tiền vào (ròng, tỷ USD)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346452" y="1801368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E3494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547620" y="1782826"/>
              <a:ext cx="1261999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Tiền ra (ròng, tỷ USD)</a:t>
              </a:r>
            </a:p>
          </p:txBody>
        </p:sp>
      </p:grpSp>
      <p:graphicFrame>
        <p:nvGraphicFramePr>
          <p:cNvPr id="10" name="Chart · diverging bar"/>
          <p:cNvGraphicFramePr>
            <a:graphicFrameLocks noGrp="1"/>
          </p:cNvGraphicFramePr>
          <p:nvPr/>
        </p:nvGraphicFramePr>
        <p:xfrm>
          <a:off x="548640" y="1755648"/>
          <a:ext cx="7152437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8066837" y="1755648"/>
            <a:ext cx="3576218" cy="443484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2869" y="2011680"/>
            <a:ext cx="306415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 lang="vi-VN" spc="100">
                <a:solidFill>
                  <a:srgbClr val="5B6170"/>
                </a:solidFill>
                <a:latin typeface="IBM Plex Sans SemiBold"/>
              </a:rPr>
              <a:t>DỰ TRỮ NGOẠI HỐI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2869" y="2304288"/>
            <a:ext cx="3064154" cy="5308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800" b="1" i="0" lang="vi-VN">
                <a:solidFill>
                  <a:srgbClr val="16181D"/>
                </a:solidFill>
                <a:latin typeface="IBM Plex Sans"/>
              </a:rPr>
              <a:t>+3,9</a:t>
            </a:r>
            <a:r>
              <a:rPr sz="1400" b="0" i="0" lang="vi-VN">
                <a:solidFill>
                  <a:srgbClr val="5B6170"/>
                </a:solidFill>
                <a:latin typeface="IBM Plex Sans SemiBold"/>
              </a:rPr>
              <a:t> tỷ USD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2869" y="2926588"/>
            <a:ext cx="3064154" cy="4320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 i="0" lang="vi-VN">
                <a:solidFill>
                  <a:srgbClr val="5B6170"/>
                </a:solidFill>
                <a:latin typeface="IBM Plex Sans"/>
              </a:rPr>
              <a:t>Thặng dư vãng lai 33,1 tỷ USD nhưng dự trữ chỉ tăng 3,9 tỷ.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22869" y="3541522"/>
            <a:ext cx="3064154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6" name="TextBox 15"/>
          <p:cNvSpPr txBox="1"/>
          <p:nvPr/>
        </p:nvSpPr>
        <p:spPr>
          <a:xfrm>
            <a:off x="8322869" y="3696970"/>
            <a:ext cx="3064154" cy="8439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Hàng hoá ròng mang về 41,9 tỷ USD; lỗi và sai sót cùng đầu tư khác kéo ra 45,6 tỷ.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2869" y="4650689"/>
            <a:ext cx="3064154" cy="5193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200" b="0" i="0" lang="vi-VN">
                <a:solidFill>
                  <a:srgbClr val="5B6170"/>
                </a:solidFill>
                <a:latin typeface="IBM Plex Sans"/>
              </a:rPr>
              <a:t>Tổng các dòng bằng thay đổi dự trữ; dấu theo BPM6 của IMF.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9" name="TextBox 18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IMF Balance of Payments (BPM6) theo số NHNN, năm 2025.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3 · ĐỘ NHẠY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7753456" cy="84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VN-Index, lợi suất 12 tháng là biến số tác động lớn nhất: chênh 0,93 điểm % lãi suất 12 tháng vào 3/2027</a:t>
            </a:r>
          </a:p>
        </p:txBody>
      </p:sp>
      <p:grpSp>
        <p:nvGrpSpPr>
          <p:cNvPr id="5" name="Legend"/>
          <p:cNvGrpSpPr/>
          <p:nvPr/>
        </p:nvGrpSpPr>
        <p:grpSpPr>
          <a:xfrm>
            <a:off x="548640" y="1841348"/>
            <a:ext cx="2520950" cy="165100"/>
            <a:chOff x="548640" y="1841348"/>
            <a:chExt cx="2520950" cy="165100"/>
          </a:xfrm>
        </p:grpSpPr>
        <p:sp>
          <p:nvSpPr>
            <p:cNvPr id="6" name="Rounded Rectangle 5"/>
            <p:cNvSpPr/>
            <p:nvPr/>
          </p:nvSpPr>
          <p:spPr>
            <a:xfrm>
              <a:off x="548640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49808" y="1841348"/>
              <a:ext cx="965454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Biến ở mức thấp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962150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EB683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163318" y="1841348"/>
              <a:ext cx="906272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Biến ở mức cao</a:t>
              </a:r>
            </a:p>
          </p:txBody>
        </p:sp>
      </p:grpSp>
      <p:graphicFrame>
        <p:nvGraphicFramePr>
          <p:cNvPr id="10" name="Chart · tornado"/>
          <p:cNvGraphicFramePr>
            <a:graphicFrameLocks noGrp="1"/>
          </p:cNvGraphicFramePr>
          <p:nvPr/>
        </p:nvGraphicFramePr>
        <p:xfrm>
          <a:off x="548640" y="1814170"/>
          <a:ext cx="11094415" cy="331134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1" name="Chart labels"/>
          <p:cNvGrpSpPr/>
          <p:nvPr/>
        </p:nvGrpSpPr>
        <p:grpSpPr>
          <a:xfrm>
            <a:off x="6455343" y="2188820"/>
            <a:ext cx="1442593" cy="165100"/>
            <a:chOff x="6455343" y="2188820"/>
            <a:chExt cx="1442593" cy="165100"/>
          </a:xfrm>
        </p:grpSpPr>
        <p:sp>
          <p:nvSpPr>
            <p:cNvPr id="12" name="TextBox 11"/>
            <p:cNvSpPr txBox="1"/>
            <p:nvPr/>
          </p:nvSpPr>
          <p:spPr>
            <a:xfrm>
              <a:off x="6455343" y="2188820"/>
              <a:ext cx="1442593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000" b="0" i="0" lang="vi-VN">
                  <a:solidFill>
                    <a:srgbClr val="16181D"/>
                  </a:solidFill>
                  <a:latin typeface="IBM Plex Sans SemiBold"/>
                </a:rPr>
                <a:t>Cơ sở 3/2027 7,08% = 0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548640" y="5363261"/>
            <a:ext cx="6395542" cy="9095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Mỗi thanh: lãi suất mô hình tháng 3/2027 lệch bao nhiêu điểm % so với cơ sở (7,08%) khi một biến ở mức thấp hoặc cao.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Cán cân thương mại tác động ngược chiều: thặng dư cao làm lãi suất mô hình thấp hơn.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5" name="TextBox 14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Vietnam Dashboard — mô hình cấu trúc v2, phân tích độ nhạy 21 biến (8 biến lớn nhất); minh hoạ, không phải dự báo.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48640"/>
            <a:ext cx="11094415" cy="0"/>
          </a:xfrm>
          <a:prstGeom prst="line">
            <a:avLst/>
          </a:prstGeom>
          <a:ln w="15875" cap="flat">
            <a:solidFill>
              <a:srgbClr val="16181D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141732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1000" b="0" i="0" lang="vi-VN">
                <a:solidFill>
                  <a:srgbClr val="C2362F"/>
                </a:solidFill>
                <a:latin typeface="Newsreader SemiBold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4038219" cy="6675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0" i="0" lang="vi-VN">
                <a:solidFill>
                  <a:srgbClr val="16181D"/>
                </a:solidFill>
                <a:latin typeface="Newsreader SemiBold"/>
              </a:rPr>
              <a:t>Cơ cấu và đóng góp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67912"/>
            <a:ext cx="5455768" cy="6492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500" b="0" i="0" lang="vi-VN">
                <a:solidFill>
                  <a:srgbClr val="5B6170"/>
                </a:solidFill>
                <a:latin typeface="IBM Plex Sans"/>
              </a:rPr>
              <a:t>Phần của một tổng: cột chồng, thanh chồng, thác nước, vành khuyên, ô vuông, bản đồ cây, Marimekko và phễu.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66837" y="1554480"/>
            <a:ext cx="357621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lang="vi-VN" spc="120">
                <a:solidFill>
                  <a:srgbClr val="5B6170"/>
                </a:solidFill>
                <a:latin typeface="IBM Plex Sans SemiBold"/>
              </a:rPr>
              <a:t>TRONG CHƯƠNG NÀY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066837" y="1920240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8" name="TextBox 7"/>
          <p:cNvSpPr txBox="1"/>
          <p:nvPr/>
        </p:nvSpPr>
        <p:spPr>
          <a:xfrm>
            <a:off x="8066837" y="2002536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Cột chồng và cột 100%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66837" y="2377821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0" name="TextBox 9"/>
          <p:cNvSpPr txBox="1"/>
          <p:nvPr/>
        </p:nvSpPr>
        <p:spPr>
          <a:xfrm>
            <a:off x="8066837" y="2460117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Thanh chồng và thanh 100%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66837" y="2835402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2" name="TextBox 11"/>
          <p:cNvSpPr txBox="1"/>
          <p:nvPr/>
        </p:nvSpPr>
        <p:spPr>
          <a:xfrm>
            <a:off x="8066837" y="2917698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Thác nước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66837" y="3292983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4" name="TextBox 13"/>
          <p:cNvSpPr txBox="1"/>
          <p:nvPr/>
        </p:nvSpPr>
        <p:spPr>
          <a:xfrm>
            <a:off x="8066837" y="3375279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Vành khuyên, ô vuông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66837" y="3750564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6" name="TextBox 15"/>
          <p:cNvSpPr txBox="1"/>
          <p:nvPr/>
        </p:nvSpPr>
        <p:spPr>
          <a:xfrm>
            <a:off x="8066837" y="3832860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Bản đồ cây, Marimekko, phễu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8" name="TextBox 17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4 · CHI NGÂN SÁCH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7073828" cy="84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Chi thường xuyên chiếm 58–65% tổng chi mỗi năm 2018–2024; dự toán 2026 là 3.159 nghìn tỷ</a:t>
            </a:r>
          </a:p>
        </p:txBody>
      </p:sp>
      <p:grpSp>
        <p:nvGrpSpPr>
          <p:cNvPr id="5" name="Legend"/>
          <p:cNvGrpSpPr/>
          <p:nvPr/>
        </p:nvGrpSpPr>
        <p:grpSpPr>
          <a:xfrm>
            <a:off x="548640" y="1841348"/>
            <a:ext cx="6350762" cy="165100"/>
            <a:chOff x="548640" y="1841348"/>
            <a:chExt cx="6350762" cy="165100"/>
          </a:xfrm>
        </p:grpSpPr>
        <p:sp>
          <p:nvSpPr>
            <p:cNvPr id="6" name="Rounded Rectangle 5"/>
            <p:cNvSpPr/>
            <p:nvPr/>
          </p:nvSpPr>
          <p:spPr>
            <a:xfrm>
              <a:off x="548640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49808" y="1841348"/>
              <a:ext cx="1032637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Chi thường xuyên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029333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EB683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230501" y="1841348"/>
              <a:ext cx="1005586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Đầu tư phát triển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482975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1BAF7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84143" y="1841348"/>
              <a:ext cx="38862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Trả lãi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319651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C9CCD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520819" y="1841348"/>
              <a:ext cx="319278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Khác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086985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D4E4F7"/>
            </a:solidFill>
            <a:ln w="12700" cap="rnd">
              <a:solidFill>
                <a:srgbClr val="2A78D6"/>
              </a:solidFill>
              <a:prstDash val="sysDash"/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288153" y="1841348"/>
              <a:ext cx="1611249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Ước tính (ƯT) / dự toán (DT)</a:t>
              </a:r>
            </a:p>
          </p:txBody>
        </p:sp>
      </p:grpSp>
      <p:graphicFrame>
        <p:nvGraphicFramePr>
          <p:cNvPr id="16" name="Chart · column"/>
          <p:cNvGraphicFramePr>
            <a:graphicFrameLocks noGrp="1"/>
          </p:cNvGraphicFramePr>
          <p:nvPr/>
        </p:nvGraphicFramePr>
        <p:xfrm>
          <a:off x="548640" y="1814170"/>
          <a:ext cx="11094415" cy="359267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7" name="Chart labels"/>
          <p:cNvGrpSpPr/>
          <p:nvPr/>
        </p:nvGrpSpPr>
        <p:grpSpPr>
          <a:xfrm>
            <a:off x="548640" y="2138083"/>
            <a:ext cx="773290" cy="156845"/>
            <a:chOff x="548640" y="2138083"/>
            <a:chExt cx="773290" cy="156845"/>
          </a:xfrm>
        </p:grpSpPr>
        <p:sp>
          <p:nvSpPr>
            <p:cNvPr id="18" name="TextBox 17"/>
            <p:cNvSpPr txBox="1"/>
            <p:nvPr/>
          </p:nvSpPr>
          <p:spPr>
            <a:xfrm>
              <a:off x="548640" y="2138083"/>
              <a:ext cx="773290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Nghìn tỷ đồng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548640" y="5644591"/>
            <a:ext cx="6395542" cy="628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Chi đầu tư phát triển dự toán 1.120 nghìn tỷ năm 2026, gấp 1,5 lần ước 2025.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Dự toán là kế hoạch Quốc hội giao, không phải số thực chi; 2018–2024 là quyết toán.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21" name="TextBox 20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Bộ Tài chính, Nghị quyết Quốc hội — quyết toán 2018–2024, ước thực hiện 2025 (1/2026), dự toán 2026.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4 · ĐẦU TƯ THEO NGUỒN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6202731" cy="84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Khu vực Nhà nước chiếm 29,7% vốn đầu tư năm 2025, thấp nhất là 24,1% năm 2019</a:t>
            </a:r>
          </a:p>
        </p:txBody>
      </p:sp>
      <p:grpSp>
        <p:nvGrpSpPr>
          <p:cNvPr id="5" name="Legend"/>
          <p:cNvGrpSpPr/>
          <p:nvPr/>
        </p:nvGrpSpPr>
        <p:grpSpPr>
          <a:xfrm>
            <a:off x="548640" y="1841348"/>
            <a:ext cx="2832608" cy="165100"/>
            <a:chOff x="548640" y="1841348"/>
            <a:chExt cx="2832608" cy="165100"/>
          </a:xfrm>
        </p:grpSpPr>
        <p:sp>
          <p:nvSpPr>
            <p:cNvPr id="6" name="Rounded Rectangle 5"/>
            <p:cNvSpPr/>
            <p:nvPr/>
          </p:nvSpPr>
          <p:spPr>
            <a:xfrm>
              <a:off x="548640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EB683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49808" y="1841348"/>
              <a:ext cx="574802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Nhà nước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571498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772666" y="1841348"/>
              <a:ext cx="921512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Ngoài nhà nước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941066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1BAF7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142234" y="1841348"/>
              <a:ext cx="239014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FDI</a:t>
              </a:r>
            </a:p>
          </p:txBody>
        </p:sp>
      </p:grpSp>
      <p:graphicFrame>
        <p:nvGraphicFramePr>
          <p:cNvPr id="12" name="Chart · column"/>
          <p:cNvGraphicFramePr>
            <a:graphicFrameLocks noGrp="1"/>
          </p:cNvGraphicFramePr>
          <p:nvPr/>
        </p:nvGraphicFramePr>
        <p:xfrm>
          <a:off x="548640" y="1814170"/>
          <a:ext cx="11094415" cy="331134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363261"/>
            <a:ext cx="6395542" cy="9095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Tỷ trọng vốn Nhà nước từ 31,7% (2015) xuống 24,1% rồi lên 29,7% (2025).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Mỗi cột là 100% vốn đầu tư thực hiện năm đó, giá hiện hành; màu theo cùng nguồn như trang vùng chồng.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5" name="TextBox 14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NSO V04.01 — vốn đầu tư thực hiện toàn xã hội theo nguồn, giá hiện hành, 2015–2025.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4 · QUY MÔ KINH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9073134" cy="4498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TP.HCM tạo 2.973 nghìn tỷ GRDP năm 2025, gấp 1,9 lần Hà Nội</a:t>
            </a:r>
          </a:p>
        </p:txBody>
      </p:sp>
      <p:grpSp>
        <p:nvGrpSpPr>
          <p:cNvPr id="5" name="Legend"/>
          <p:cNvGrpSpPr/>
          <p:nvPr/>
        </p:nvGrpSpPr>
        <p:grpSpPr>
          <a:xfrm>
            <a:off x="548640" y="1782826"/>
            <a:ext cx="5428615" cy="165100"/>
            <a:chOff x="548640" y="1782826"/>
            <a:chExt cx="5428615" cy="165100"/>
          </a:xfrm>
        </p:grpSpPr>
        <p:sp>
          <p:nvSpPr>
            <p:cNvPr id="6" name="Rounded Rectangle 5"/>
            <p:cNvSpPr/>
            <p:nvPr/>
          </p:nvSpPr>
          <p:spPr>
            <a:xfrm>
              <a:off x="548640" y="1801368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0083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49808" y="1782826"/>
              <a:ext cx="1177544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Nông, lâm, thủy sản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174240" y="1801368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EB683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375408" y="1782826"/>
              <a:ext cx="1335913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Công nghiệp, xây dựng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958209" y="1801368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159377" y="1782826"/>
              <a:ext cx="45466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Dịch vụ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860925" y="1801368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EDA1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062093" y="1782826"/>
              <a:ext cx="915162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Thuế sản phẩm</a:t>
              </a:r>
            </a:p>
          </p:txBody>
        </p:sp>
      </p:grpSp>
      <p:graphicFrame>
        <p:nvGraphicFramePr>
          <p:cNvPr id="14" name="Chart · bar"/>
          <p:cNvGraphicFramePr>
            <a:graphicFrameLocks noGrp="1"/>
          </p:cNvGraphicFramePr>
          <p:nvPr/>
        </p:nvGraphicFramePr>
        <p:xfrm>
          <a:off x="548640" y="1755648"/>
          <a:ext cx="11094415" cy="336986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363261"/>
            <a:ext cx="6395542" cy="9095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Dịch vụ của TP.HCM ≈ 1.552 nghìn tỷ, công nghiệp của Bắc Ninh ≈ 371 nghìn tỷ.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Các phần ≈ tỷ trọng ngành × GRDP (tính toán, giá hiện hành); tổng ở cuối thanh là GRDP công bố.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7" name="TextBox 16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NSO và cục thống kê địa phương — GRDP 2025 (ước tính), 34 đơn vị sau sắp xếp hành chính. Cơ cấu ngành 2025, giá hiện hành.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4 · CƠ CẤU KINH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5933131" cy="84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Dịch vụ chiếm 66% GRDP Hà Nội; công nghiệp – xây dựng chiếm 71% ở Bắc Ninh</a:t>
            </a:r>
          </a:p>
        </p:txBody>
      </p:sp>
      <p:grpSp>
        <p:nvGrpSpPr>
          <p:cNvPr id="5" name="Legend"/>
          <p:cNvGrpSpPr/>
          <p:nvPr/>
        </p:nvGrpSpPr>
        <p:grpSpPr>
          <a:xfrm>
            <a:off x="548640" y="1841348"/>
            <a:ext cx="5428615" cy="165100"/>
            <a:chOff x="548640" y="1841348"/>
            <a:chExt cx="5428615" cy="165100"/>
          </a:xfrm>
        </p:grpSpPr>
        <p:sp>
          <p:nvSpPr>
            <p:cNvPr id="6" name="Rounded Rectangle 5"/>
            <p:cNvSpPr/>
            <p:nvPr/>
          </p:nvSpPr>
          <p:spPr>
            <a:xfrm>
              <a:off x="548640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49808" y="1841348"/>
              <a:ext cx="45466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Dịch vụ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451356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EB683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652524" y="1841348"/>
              <a:ext cx="1335913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Công nghiệp, xây dựng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235325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0083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436493" y="1841348"/>
              <a:ext cx="1177544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Nông, lâm, thủy sản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860925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EDA1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062093" y="1841348"/>
              <a:ext cx="915162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Thuế sản phẩm</a:t>
              </a:r>
            </a:p>
          </p:txBody>
        </p:sp>
      </p:grpSp>
      <p:graphicFrame>
        <p:nvGraphicFramePr>
          <p:cNvPr id="14" name="Chart · bar"/>
          <p:cNvGraphicFramePr>
            <a:graphicFrameLocks noGrp="1"/>
          </p:cNvGraphicFramePr>
          <p:nvPr/>
        </p:nvGraphicFramePr>
        <p:xfrm>
          <a:off x="548640" y="1814170"/>
          <a:ext cx="11094415" cy="359267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644591"/>
            <a:ext cx="6395542" cy="628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Đắk Lắk là nơi nông nghiệp chiếm tỷ trọng cao nhất trong tám địa phương (38%).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Mỗi thanh là 100% GRDP năm 2025 (giá hiện hành); các phần cộng lại đúng một tổng.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7" name="TextBox 16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NSO và cục thống kê địa phương — cơ cấu GRDP 2025, giá hiện hành.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4 · CẦU NỐI CHI NGÂN SÁCH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6547618" cy="84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Chi ngân sách dự toán 2026 tăng 758 nghìn tỷ so với ước 2025; đầu tư phát triển góp 51%</a:t>
            </a:r>
          </a:p>
        </p:txBody>
      </p:sp>
      <p:grpSp>
        <p:nvGrpSpPr>
          <p:cNvPr id="5" name="Legend"/>
          <p:cNvGrpSpPr/>
          <p:nvPr/>
        </p:nvGrpSpPr>
        <p:grpSpPr>
          <a:xfrm>
            <a:off x="548640" y="1841348"/>
            <a:ext cx="3551301" cy="165100"/>
            <a:chOff x="548640" y="1841348"/>
            <a:chExt cx="3551301" cy="165100"/>
          </a:xfrm>
        </p:grpSpPr>
        <p:sp>
          <p:nvSpPr>
            <p:cNvPr id="6" name="Rounded Rectangle 5"/>
            <p:cNvSpPr/>
            <p:nvPr/>
          </p:nvSpPr>
          <p:spPr>
            <a:xfrm>
              <a:off x="548640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16181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49808" y="1841348"/>
              <a:ext cx="314071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Tổng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310767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511935" y="1841348"/>
              <a:ext cx="31242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Tăng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071243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E3494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272411" y="1841348"/>
              <a:ext cx="332359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Giảm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851658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D0D1D2"/>
            </a:solidFill>
            <a:ln w="12700" cap="rnd">
              <a:solidFill>
                <a:srgbClr val="16181D"/>
              </a:solidFill>
              <a:prstDash val="sysDash"/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52826" y="1841348"/>
              <a:ext cx="1047115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ước tính / dự toán</a:t>
              </a:r>
            </a:p>
          </p:txBody>
        </p:sp>
      </p:grpSp>
      <p:graphicFrame>
        <p:nvGraphicFramePr>
          <p:cNvPr id="14" name="Chart · waterfall"/>
          <p:cNvGraphicFramePr>
            <a:graphicFrameLocks noGrp="1"/>
          </p:cNvGraphicFramePr>
          <p:nvPr/>
        </p:nvGraphicFramePr>
        <p:xfrm>
          <a:off x="548640" y="1814170"/>
          <a:ext cx="11094415" cy="303001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5" name="Chart labels"/>
          <p:cNvGrpSpPr/>
          <p:nvPr/>
        </p:nvGrpSpPr>
        <p:grpSpPr>
          <a:xfrm>
            <a:off x="548640" y="2138083"/>
            <a:ext cx="773290" cy="156845"/>
            <a:chOff x="548640" y="2138083"/>
            <a:chExt cx="773290" cy="156845"/>
          </a:xfrm>
        </p:grpSpPr>
        <p:sp>
          <p:nvSpPr>
            <p:cNvPr id="16" name="TextBox 15"/>
            <p:cNvSpPr txBox="1"/>
            <p:nvPr/>
          </p:nvSpPr>
          <p:spPr>
            <a:xfrm>
              <a:off x="548640" y="2138083"/>
              <a:ext cx="773290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Nghìn tỷ đồng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548640" y="5081930"/>
            <a:ext cx="6395542" cy="11908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Đầu tư phát triển tăng 388 nghìn tỷ, chi thường xuyên tăng 256 nghìn tỷ trong dự toán 2026.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Cột cuối viền đứt: dự toán là kế hoạch, thực chi thường thấp hơn. Sửa cột "Giá trị nhập" trong Edit Data, các cột còn lại tự tính lại.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9" name="TextBox 18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Bộ Tài chính — ước thực hiện NSNN 2025 (1/2026); Nghị quyết Quốc hội về dự toán NSNN 2026. "Khác" = tổng chi trừ ba nhóm (≈, tính toán).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4 · THU NGÂN SÁCH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6265469" cy="4498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Thu nội địa chiếm 83,8% thu ngân sách 2024</a:t>
            </a:r>
          </a:p>
        </p:txBody>
      </p:sp>
      <p:graphicFrame>
        <p:nvGraphicFramePr>
          <p:cNvPr id="5" name="Chart · donut"/>
          <p:cNvGraphicFramePr>
            <a:graphicFrameLocks noGrp="1"/>
          </p:cNvGraphicFramePr>
          <p:nvPr/>
        </p:nvGraphicFramePr>
        <p:xfrm>
          <a:off x="548640" y="1755648"/>
          <a:ext cx="3369869" cy="336986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6" name="Chart key"/>
          <p:cNvGrpSpPr/>
          <p:nvPr/>
        </p:nvGrpSpPr>
        <p:grpSpPr>
          <a:xfrm>
            <a:off x="1679889" y="1899666"/>
            <a:ext cx="9963166" cy="1805940"/>
            <a:chOff x="1679889" y="1899666"/>
            <a:chExt cx="9963166" cy="1805940"/>
          </a:xfrm>
        </p:grpSpPr>
        <p:sp>
          <p:nvSpPr>
            <p:cNvPr id="7" name="TextBox 6"/>
            <p:cNvSpPr txBox="1"/>
            <p:nvPr/>
          </p:nvSpPr>
          <p:spPr>
            <a:xfrm>
              <a:off x="1875688" y="3156610"/>
              <a:ext cx="715772" cy="3302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2000" b="1" i="0" lang="vi-VN">
                  <a:solidFill>
                    <a:srgbClr val="16181D"/>
                  </a:solidFill>
                  <a:latin typeface="IBM Plex Sans"/>
                </a:rPr>
                <a:t>2.058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679889" y="3545040"/>
              <a:ext cx="1107370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nghìn tỷ đồng, 2024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375709" y="1975104"/>
              <a:ext cx="146304" cy="146304"/>
            </a:xfrm>
            <a:prstGeom prst="roundRect">
              <a:avLst>
                <a:gd name="adj" fmla="val 18750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31741" y="1899666"/>
              <a:ext cx="726719" cy="2971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800" b="0" i="0" lang="vi-VN">
                  <a:solidFill>
                    <a:srgbClr val="16181D"/>
                  </a:solidFill>
                  <a:latin typeface="IBM Plex Sans SemiBold"/>
                </a:rPr>
                <a:t>83,8%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486476" y="1956816"/>
              <a:ext cx="6156579" cy="2209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 i="0" lang="vi-VN">
                  <a:solidFill>
                    <a:srgbClr val="5B6170"/>
                  </a:solidFill>
                  <a:latin typeface="IBM Plex Sans"/>
                </a:rPr>
                <a:t>Thu nội địa · 1.723,6 nghìn tỷ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375709" y="2478024"/>
              <a:ext cx="146304" cy="146304"/>
            </a:xfrm>
            <a:prstGeom prst="roundRect">
              <a:avLst>
                <a:gd name="adj" fmla="val 18750"/>
              </a:avLst>
            </a:prstGeom>
            <a:solidFill>
              <a:srgbClr val="EDA1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631741" y="2402586"/>
              <a:ext cx="589559" cy="2971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800" b="0" i="0" lang="vi-VN">
                  <a:solidFill>
                    <a:srgbClr val="16181D"/>
                  </a:solidFill>
                  <a:latin typeface="IBM Plex Sans SemiBold"/>
                </a:rPr>
                <a:t>2,9%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486476" y="2459736"/>
              <a:ext cx="6156579" cy="2209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 i="0" lang="vi-VN">
                  <a:solidFill>
                    <a:srgbClr val="5B6170"/>
                  </a:solidFill>
                  <a:latin typeface="IBM Plex Sans"/>
                </a:rPr>
                <a:t>Dầu thô · 58,6 nghìn tỷ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375709" y="2980944"/>
              <a:ext cx="146304" cy="146304"/>
            </a:xfrm>
            <a:prstGeom prst="roundRect">
              <a:avLst>
                <a:gd name="adj" fmla="val 18750"/>
              </a:avLst>
            </a:prstGeom>
            <a:solidFill>
              <a:srgbClr val="EB683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631741" y="2905506"/>
              <a:ext cx="726719" cy="2971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800" b="0" i="0" lang="vi-VN">
                  <a:solidFill>
                    <a:srgbClr val="16181D"/>
                  </a:solidFill>
                  <a:latin typeface="IBM Plex Sans SemiBold"/>
                </a:rPr>
                <a:t>13,2%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486476" y="2962656"/>
              <a:ext cx="6156579" cy="2209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 i="0" lang="vi-VN">
                  <a:solidFill>
                    <a:srgbClr val="5B6170"/>
                  </a:solidFill>
                  <a:latin typeface="IBM Plex Sans"/>
                </a:rPr>
                <a:t>Xuất nhập khẩu · 272,0 nghìn tỷ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375709" y="3483864"/>
              <a:ext cx="146304" cy="146304"/>
            </a:xfrm>
            <a:prstGeom prst="roundRect">
              <a:avLst>
                <a:gd name="adj" fmla="val 18750"/>
              </a:avLst>
            </a:prstGeom>
            <a:solidFill>
              <a:srgbClr val="1BAF7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631741" y="3408426"/>
              <a:ext cx="589559" cy="2971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800" b="0" i="0" lang="vi-VN">
                  <a:solidFill>
                    <a:srgbClr val="16181D"/>
                  </a:solidFill>
                  <a:latin typeface="IBM Plex Sans SemiBold"/>
                </a:rPr>
                <a:t>0,2%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486476" y="3465576"/>
              <a:ext cx="6156579" cy="2209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 i="0" lang="vi-VN">
                  <a:solidFill>
                    <a:srgbClr val="5B6170"/>
                  </a:solidFill>
                  <a:latin typeface="IBM Plex Sans"/>
                </a:rPr>
                <a:t>Viện trợ · 3,2 nghìn tỷ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548640" y="5363261"/>
            <a:ext cx="6395542" cy="9095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Dầu thô còn 2,9%, viện trợ 0,16% — quá nhỏ để thấy trên vòng.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Vành khuyên chỉ dùng khi các phần cộng thành một tổng và có ít phần; muốn so các phần với nhau, thanh ngang dễ đọc hơn.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23" name="TextBox 22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Bộ Tài chính — quyết toán NSNN 2024 (nghìn tỷ đồng).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4 · CƠ CẤU THU CHI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5575407" cy="84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Thu nội địa chiếm 86% thu, chi thường xuyên 65% chi ngân sách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14170"/>
            <a:ext cx="54557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 i="0" lang="vi-VN">
                <a:solidFill>
                  <a:srgbClr val="16181D"/>
                </a:solidFill>
                <a:latin typeface="IBM Plex Sans SemiBold"/>
              </a:rPr>
              <a:t>Thu ngân sách 2025 (ước tính) — mỗi ô 1%</a:t>
            </a:r>
          </a:p>
        </p:txBody>
      </p:sp>
      <p:graphicFrame>
        <p:nvGraphicFramePr>
          <p:cNvPr id="6" name="Waffle (table)"/>
          <p:cNvGraphicFramePr>
            <a:graphicFrameLocks noGrp="1"/>
          </p:cNvGraphicFramePr>
          <p:nvPr/>
        </p:nvGraphicFramePr>
        <p:xfrm>
          <a:off x="548640" y="2198218"/>
          <a:ext cx="2727880" cy="27278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2788"/>
                <a:gridCol w="272788"/>
                <a:gridCol w="272788"/>
                <a:gridCol w="272788"/>
                <a:gridCol w="272788"/>
                <a:gridCol w="272788"/>
                <a:gridCol w="272788"/>
                <a:gridCol w="272788"/>
                <a:gridCol w="272788"/>
                <a:gridCol w="272788"/>
              </a:tblGrid>
              <a:tr h="272788"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272788"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272788"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272788"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272788"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272788"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272788"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272788"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272788"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</a:tr>
              <a:tr h="272788"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DA1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DA100"/>
                    </a:solidFill>
                  </a:tcPr>
                </a:tc>
              </a:tr>
            </a:tbl>
          </a:graphicData>
        </a:graphic>
      </p:graphicFrame>
      <p:grpSp>
        <p:nvGrpSpPr>
          <p:cNvPr id="7" name="Waffle key"/>
          <p:cNvGrpSpPr/>
          <p:nvPr/>
        </p:nvGrpSpPr>
        <p:grpSpPr>
          <a:xfrm>
            <a:off x="3642284" y="2250796"/>
            <a:ext cx="2362124" cy="1357884"/>
            <a:chOff x="3642284" y="2250796"/>
            <a:chExt cx="2362124" cy="1357884"/>
          </a:xfrm>
        </p:grpSpPr>
        <p:sp>
          <p:nvSpPr>
            <p:cNvPr id="8" name="Rounded Rectangle 7"/>
            <p:cNvSpPr/>
            <p:nvPr/>
          </p:nvSpPr>
          <p:spPr>
            <a:xfrm>
              <a:off x="3642284" y="2326234"/>
              <a:ext cx="146304" cy="146304"/>
            </a:xfrm>
            <a:prstGeom prst="roundRect">
              <a:avLst>
                <a:gd name="adj" fmla="val 18750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898316" y="2250796"/>
              <a:ext cx="521208" cy="2971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800" b="0" i="0" lang="vi-VN">
                  <a:solidFill>
                    <a:srgbClr val="16181D"/>
                  </a:solidFill>
                  <a:latin typeface="IBM Plex Sans SemiBold"/>
                </a:rPr>
                <a:t>86%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547540" y="2307946"/>
              <a:ext cx="1456868" cy="2209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 i="0" lang="vi-VN">
                  <a:solidFill>
                    <a:srgbClr val="5B6170"/>
                  </a:solidFill>
                  <a:latin typeface="IBM Plex Sans"/>
                </a:rPr>
                <a:t>Thu nội địa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642284" y="2856586"/>
              <a:ext cx="146304" cy="146304"/>
            </a:xfrm>
            <a:prstGeom prst="roundRect">
              <a:avLst>
                <a:gd name="adj" fmla="val 18750"/>
              </a:avLst>
            </a:prstGeom>
            <a:solidFill>
              <a:srgbClr val="EB683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898316" y="2781148"/>
              <a:ext cx="521208" cy="2971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800" b="0" i="0" lang="vi-VN">
                  <a:solidFill>
                    <a:srgbClr val="16181D"/>
                  </a:solidFill>
                  <a:latin typeface="IBM Plex Sans SemiBold"/>
                </a:rPr>
                <a:t>12%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547540" y="2838298"/>
              <a:ext cx="1456868" cy="2209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 i="0" lang="vi-VN">
                  <a:solidFill>
                    <a:srgbClr val="5B6170"/>
                  </a:solidFill>
                  <a:latin typeface="IBM Plex Sans"/>
                </a:rPr>
                <a:t>Xuất nhập khẩu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642284" y="3386938"/>
              <a:ext cx="146304" cy="146304"/>
            </a:xfrm>
            <a:prstGeom prst="roundRect">
              <a:avLst>
                <a:gd name="adj" fmla="val 18750"/>
              </a:avLst>
            </a:prstGeom>
            <a:solidFill>
              <a:srgbClr val="EDA1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898316" y="3311500"/>
              <a:ext cx="384048" cy="2971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800" b="0" i="0" lang="vi-VN">
                  <a:solidFill>
                    <a:srgbClr val="16181D"/>
                  </a:solidFill>
                  <a:latin typeface="IBM Plex Sans SemiBold"/>
                </a:rPr>
                <a:t>2%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547540" y="3368650"/>
              <a:ext cx="1456868" cy="2209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 i="0" lang="vi-VN">
                  <a:solidFill>
                    <a:srgbClr val="5B6170"/>
                  </a:solidFill>
                  <a:latin typeface="IBM Plex Sans"/>
                </a:rPr>
                <a:t>Dầu thô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6187288" y="1814170"/>
            <a:ext cx="54557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 i="0" lang="vi-VN">
                <a:solidFill>
                  <a:srgbClr val="16181D"/>
                </a:solidFill>
                <a:latin typeface="IBM Plex Sans SemiBold"/>
              </a:rPr>
              <a:t>Chi ngân sách 2025 (ước tính) — mỗi ô 1%</a:t>
            </a:r>
          </a:p>
        </p:txBody>
      </p:sp>
      <p:graphicFrame>
        <p:nvGraphicFramePr>
          <p:cNvPr id="18" name="Waffle (table)"/>
          <p:cNvGraphicFramePr>
            <a:graphicFrameLocks noGrp="1"/>
          </p:cNvGraphicFramePr>
          <p:nvPr/>
        </p:nvGraphicFramePr>
        <p:xfrm>
          <a:off x="6187288" y="2198218"/>
          <a:ext cx="2727880" cy="27278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2788"/>
                <a:gridCol w="272788"/>
                <a:gridCol w="272788"/>
                <a:gridCol w="272788"/>
                <a:gridCol w="272788"/>
                <a:gridCol w="272788"/>
                <a:gridCol w="272788"/>
                <a:gridCol w="272788"/>
                <a:gridCol w="272788"/>
                <a:gridCol w="272788"/>
              </a:tblGrid>
              <a:tr h="272788"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272788"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272788"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272788"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272788"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272788"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272788"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</a:tr>
              <a:tr h="272788"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</a:tr>
              <a:tr h="272788"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</a:tr>
              <a:tr h="272788"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EB68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1BAF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1BAF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1BAF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1BAF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25400">
                      <a:solidFill>
                        <a:srgbClr val="FFFFFF"/>
                      </a:solidFill>
                    </a:lnL>
                    <a:lnR w="25400">
                      <a:solidFill>
                        <a:srgbClr val="FFFFFF"/>
                      </a:solidFill>
                    </a:lnR>
                    <a:lnT w="25400">
                      <a:solidFill>
                        <a:srgbClr val="FFFFFF"/>
                      </a:solidFill>
                    </a:lnT>
                    <a:lnB w="25400">
                      <a:solidFill>
                        <a:srgbClr val="FFFFFF"/>
                      </a:solidFill>
                    </a:lnB>
                    <a:solidFill>
                      <a:srgbClr val="1BAF7A"/>
                    </a:solidFill>
                  </a:tcPr>
                </a:tc>
              </a:tr>
            </a:tbl>
          </a:graphicData>
        </a:graphic>
      </p:graphicFrame>
      <p:grpSp>
        <p:nvGrpSpPr>
          <p:cNvPr id="19" name="Waffle key"/>
          <p:cNvGrpSpPr/>
          <p:nvPr/>
        </p:nvGrpSpPr>
        <p:grpSpPr>
          <a:xfrm>
            <a:off x="9280931" y="2250796"/>
            <a:ext cx="2362124" cy="1888236"/>
            <a:chOff x="9280931" y="2250796"/>
            <a:chExt cx="2362124" cy="1888236"/>
          </a:xfrm>
        </p:grpSpPr>
        <p:sp>
          <p:nvSpPr>
            <p:cNvPr id="20" name="Rounded Rectangle 19"/>
            <p:cNvSpPr/>
            <p:nvPr/>
          </p:nvSpPr>
          <p:spPr>
            <a:xfrm>
              <a:off x="9280931" y="2326234"/>
              <a:ext cx="146304" cy="146304"/>
            </a:xfrm>
            <a:prstGeom prst="roundRect">
              <a:avLst>
                <a:gd name="adj" fmla="val 18750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536963" y="2250796"/>
              <a:ext cx="726719" cy="2971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800" b="0" i="0" lang="vi-VN">
                  <a:solidFill>
                    <a:srgbClr val="16181D"/>
                  </a:solidFill>
                  <a:latin typeface="IBM Plex Sans SemiBold"/>
                </a:rPr>
                <a:t>64,7%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391699" y="2307946"/>
              <a:ext cx="1251356" cy="2209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 i="0" lang="vi-VN">
                  <a:solidFill>
                    <a:srgbClr val="5B6170"/>
                  </a:solidFill>
                  <a:latin typeface="IBM Plex Sans"/>
                </a:rPr>
                <a:t>Chi thường xuyên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280931" y="2856586"/>
              <a:ext cx="146304" cy="146304"/>
            </a:xfrm>
            <a:prstGeom prst="roundRect">
              <a:avLst>
                <a:gd name="adj" fmla="val 18750"/>
              </a:avLst>
            </a:prstGeom>
            <a:solidFill>
              <a:srgbClr val="EB683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536963" y="2781148"/>
              <a:ext cx="726719" cy="2971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800" b="0" i="0" lang="vi-VN">
                  <a:solidFill>
                    <a:srgbClr val="16181D"/>
                  </a:solidFill>
                  <a:latin typeface="IBM Plex Sans SemiBold"/>
                </a:rPr>
                <a:t>30,5%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391699" y="2838298"/>
              <a:ext cx="1251356" cy="2209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 i="0" lang="vi-VN">
                  <a:solidFill>
                    <a:srgbClr val="5B6170"/>
                  </a:solidFill>
                  <a:latin typeface="IBM Plex Sans"/>
                </a:rPr>
                <a:t>Đầu tư phát triển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9280931" y="3386938"/>
              <a:ext cx="146304" cy="146304"/>
            </a:xfrm>
            <a:prstGeom prst="roundRect">
              <a:avLst>
                <a:gd name="adj" fmla="val 18750"/>
              </a:avLst>
            </a:prstGeom>
            <a:solidFill>
              <a:srgbClr val="1BAF7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536963" y="3311500"/>
              <a:ext cx="589559" cy="2971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800" b="0" i="0" lang="vi-VN">
                  <a:solidFill>
                    <a:srgbClr val="16181D"/>
                  </a:solidFill>
                  <a:latin typeface="IBM Plex Sans SemiBold"/>
                </a:rPr>
                <a:t>4,6%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0391699" y="3368650"/>
              <a:ext cx="1251356" cy="2209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 i="0" lang="vi-VN">
                  <a:solidFill>
                    <a:srgbClr val="5B6170"/>
                  </a:solidFill>
                  <a:latin typeface="IBM Plex Sans"/>
                </a:rPr>
                <a:t>Trả lãi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9280931" y="3917290"/>
              <a:ext cx="146304" cy="146304"/>
            </a:xfrm>
            <a:prstGeom prst="roundRect">
              <a:avLst>
                <a:gd name="adj" fmla="val 18750"/>
              </a:avLst>
            </a:prstGeom>
            <a:solidFill>
              <a:srgbClr val="C9CCD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536963" y="3841852"/>
              <a:ext cx="589559" cy="2971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800" b="0" i="0" lang="vi-VN">
                  <a:solidFill>
                    <a:srgbClr val="16181D"/>
                  </a:solidFill>
                  <a:latin typeface="IBM Plex Sans SemiBold"/>
                </a:rPr>
                <a:t>0,3%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0391699" y="3899002"/>
              <a:ext cx="1251356" cy="2209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 i="0" lang="vi-VN">
                  <a:solidFill>
                    <a:srgbClr val="5B6170"/>
                  </a:solidFill>
                  <a:latin typeface="IBM Plex Sans"/>
                </a:rPr>
                <a:t>Khác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548640" y="5363261"/>
            <a:ext cx="6395542" cy="9095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Thu ngân sách 2025 ước 2.647,7 nghìn tỷ từ ba nguồn chính; chi ước 2.401,5 nghìn tỷ.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"Khác" nhỏ hơn 0,5% nên không đủ một ô; ô làm tròn theo phần dư lớn nhất để tổng đúng 100.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34" name="TextBox 33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Bộ Tài chính — ước thực hiện NSNN 2025 (công bố 1/2026).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4 · BẢN ĐỒ KINH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8974988" cy="4498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TP.HCM và Hà Nội tạo 36% GRDP của 34 tỉnh, thành năm 2025</a:t>
            </a:r>
          </a:p>
        </p:txBody>
      </p:sp>
      <p:grpSp>
        <p:nvGrpSpPr>
          <p:cNvPr id="5" name="Chart · treemap"/>
          <p:cNvGrpSpPr/>
          <p:nvPr/>
        </p:nvGrpSpPr>
        <p:grpSpPr>
          <a:xfrm>
            <a:off x="548640" y="1778698"/>
            <a:ext cx="11094415" cy="3346819"/>
            <a:chOff x="548640" y="1778698"/>
            <a:chExt cx="11094415" cy="3346819"/>
          </a:xfrm>
        </p:grpSpPr>
        <p:sp>
          <p:nvSpPr>
            <p:cNvPr id="6" name="Rounded Rectangle 5"/>
            <p:cNvSpPr/>
            <p:nvPr/>
          </p:nvSpPr>
          <p:spPr>
            <a:xfrm>
              <a:off x="548640" y="1801368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49808" y="1778698"/>
              <a:ext cx="583235" cy="17335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50" b="0" i="0" lang="vi-VN">
                  <a:solidFill>
                    <a:srgbClr val="16181D"/>
                  </a:solidFill>
                  <a:latin typeface="IBM Plex Sans Medium"/>
                </a:rPr>
                <a:t>Miền Bắc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579931" y="1801368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EB683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781099" y="1778698"/>
              <a:ext cx="1492948" cy="17335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50" b="0" i="0" lang="vi-VN">
                  <a:solidFill>
                    <a:srgbClr val="16181D"/>
                  </a:solidFill>
                  <a:latin typeface="IBM Plex Sans Medium"/>
                </a:rPr>
                <a:t>Miền Trung, Tây Nguyên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520935" y="1801368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1BAF7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722103" y="1778698"/>
              <a:ext cx="640309" cy="17335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50" b="0" i="0" lang="vi-VN">
                  <a:solidFill>
                    <a:srgbClr val="16181D"/>
                  </a:solidFill>
                  <a:latin typeface="IBM Plex Sans Medium"/>
                </a:rPr>
                <a:t>Miền Nam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48640" y="2048256"/>
              <a:ext cx="2580364" cy="3077261"/>
            </a:xfrm>
            <a:prstGeom prst="rect">
              <a:avLst/>
            </a:prstGeom>
            <a:solidFill>
              <a:srgbClr val="1BAF7A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12648" y="2112264"/>
              <a:ext cx="497078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FFFFFF"/>
                  </a:solidFill>
                  <a:latin typeface="IBM Plex Sans SemiBold"/>
                </a:rPr>
                <a:t>TP.HCM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12648" y="2295144"/>
              <a:ext cx="389261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"/>
                </a:rPr>
                <a:t>23,3%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129004" y="2048256"/>
              <a:ext cx="2016157" cy="2104073"/>
            </a:xfrm>
            <a:prstGeom prst="rect">
              <a:avLst/>
            </a:prstGeom>
            <a:solidFill>
              <a:srgbClr val="2A78D6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193012" y="2112264"/>
              <a:ext cx="417449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FFFFFF"/>
                  </a:solidFill>
                  <a:latin typeface="IBM Plex Sans SemiBold"/>
                </a:rPr>
                <a:t>Hà Nội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193012" y="2295144"/>
              <a:ext cx="389261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"/>
                </a:rPr>
                <a:t>12,4%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129004" y="4152329"/>
              <a:ext cx="2016157" cy="973188"/>
            </a:xfrm>
            <a:prstGeom prst="rect">
              <a:avLst/>
            </a:prstGeom>
            <a:solidFill>
              <a:srgbClr val="2A78D6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193012" y="4216337"/>
              <a:ext cx="62611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FFFFFF"/>
                  </a:solidFill>
                  <a:latin typeface="IBM Plex Sans SemiBold"/>
                </a:rPr>
                <a:t>Hải Phòng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193012" y="4399217"/>
              <a:ext cx="316871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"/>
                </a:rPr>
                <a:t>5,7%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145162" y="2048256"/>
              <a:ext cx="1041468" cy="1738080"/>
            </a:xfrm>
            <a:prstGeom prst="rect">
              <a:avLst/>
            </a:prstGeom>
            <a:solidFill>
              <a:srgbClr val="1BAF7A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209170" y="2112264"/>
              <a:ext cx="558165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FFFFFF"/>
                  </a:solidFill>
                  <a:latin typeface="IBM Plex Sans SemiBold"/>
                </a:rPr>
                <a:t>Đồng Nai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209170" y="2295144"/>
              <a:ext cx="316871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"/>
                </a:rPr>
                <a:t>5,3%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145162" y="3786336"/>
              <a:ext cx="1041468" cy="1339180"/>
            </a:xfrm>
            <a:prstGeom prst="rect">
              <a:avLst/>
            </a:prstGeom>
            <a:solidFill>
              <a:srgbClr val="2A78D6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209170" y="3850344"/>
              <a:ext cx="553339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FFFFFF"/>
                  </a:solidFill>
                  <a:latin typeface="IBM Plex Sans SemiBold"/>
                </a:rPr>
                <a:t>Bắc Ninh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209170" y="4033224"/>
              <a:ext cx="316871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"/>
                </a:rPr>
                <a:t>4,1%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186630" y="2048256"/>
              <a:ext cx="984490" cy="1118313"/>
            </a:xfrm>
            <a:prstGeom prst="rect">
              <a:avLst/>
            </a:prstGeom>
            <a:solidFill>
              <a:srgbClr val="2A78D6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250638" y="2112264"/>
              <a:ext cx="5080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FFFFFF"/>
                  </a:solidFill>
                  <a:latin typeface="IBM Plex Sans SemiBold"/>
                </a:rPr>
                <a:t>Phú Thọ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250638" y="2295144"/>
              <a:ext cx="316871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"/>
                </a:rPr>
                <a:t>3,2%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186630" y="3166569"/>
              <a:ext cx="984490" cy="1000433"/>
            </a:xfrm>
            <a:prstGeom prst="rect">
              <a:avLst/>
            </a:prstGeom>
            <a:solidFill>
              <a:srgbClr val="2A78D6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250638" y="3230577"/>
              <a:ext cx="712978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FFFFFF"/>
                  </a:solidFill>
                  <a:latin typeface="IBM Plex Sans SemiBold"/>
                </a:rPr>
                <a:t>Quảng Ninh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250638" y="3413457"/>
              <a:ext cx="316871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"/>
                </a:rPr>
                <a:t>2,9%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186630" y="4167002"/>
              <a:ext cx="984490" cy="958515"/>
            </a:xfrm>
            <a:prstGeom prst="rect">
              <a:avLst/>
            </a:prstGeom>
            <a:solidFill>
              <a:srgbClr val="EB6834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250638" y="4231010"/>
              <a:ext cx="61087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FFFFFF"/>
                  </a:solidFill>
                  <a:latin typeface="IBM Plex Sans SemiBold"/>
                </a:rPr>
                <a:t>Lâm Đồng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250638" y="4413890"/>
              <a:ext cx="316871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"/>
                </a:rPr>
                <a:t>2,8%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171120" y="2048256"/>
              <a:ext cx="886375" cy="1038390"/>
            </a:xfrm>
            <a:prstGeom prst="rect">
              <a:avLst/>
            </a:prstGeom>
            <a:solidFill>
              <a:srgbClr val="1BAF7A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235128" y="2112264"/>
              <a:ext cx="544195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FFFFFF"/>
                  </a:solidFill>
                  <a:latin typeface="IBM Plex Sans SemiBold"/>
                </a:rPr>
                <a:t>Tây Ninh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235128" y="2295144"/>
              <a:ext cx="316871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"/>
                </a:rPr>
                <a:t>2,7%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7171120" y="3086646"/>
              <a:ext cx="886375" cy="1033035"/>
            </a:xfrm>
            <a:prstGeom prst="rect">
              <a:avLst/>
            </a:prstGeom>
            <a:solidFill>
              <a:srgbClr val="2A78D6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235128" y="3150654"/>
              <a:ext cx="601472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FFFFFF"/>
                  </a:solidFill>
                  <a:latin typeface="IBM Plex Sans SemiBold"/>
                </a:rPr>
                <a:t>Ninh Bình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235128" y="3333534"/>
              <a:ext cx="316871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"/>
                </a:rPr>
                <a:t>2,7%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7171120" y="4119681"/>
              <a:ext cx="886375" cy="1005836"/>
            </a:xfrm>
            <a:prstGeom prst="rect">
              <a:avLst/>
            </a:prstGeom>
            <a:solidFill>
              <a:srgbClr val="2A78D6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235128" y="4183689"/>
              <a:ext cx="659892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FFFFFF"/>
                  </a:solidFill>
                  <a:latin typeface="IBM Plex Sans SemiBold"/>
                </a:rPr>
                <a:t>Thanh Hóa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235128" y="4366569"/>
              <a:ext cx="316871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"/>
                </a:rPr>
                <a:t>2,6%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8057495" y="2048256"/>
              <a:ext cx="817717" cy="1044783"/>
            </a:xfrm>
            <a:prstGeom prst="rect">
              <a:avLst/>
            </a:prstGeom>
            <a:solidFill>
              <a:srgbClr val="2A78D6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121503" y="2112264"/>
              <a:ext cx="59309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FFFFFF"/>
                  </a:solidFill>
                  <a:latin typeface="IBM Plex Sans SemiBold"/>
                </a:rPr>
                <a:t>Hưng Yên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121503" y="2295144"/>
              <a:ext cx="316871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"/>
                </a:rPr>
                <a:t>2,5%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8057495" y="3093039"/>
              <a:ext cx="817717" cy="1032468"/>
            </a:xfrm>
            <a:prstGeom prst="rect">
              <a:avLst/>
            </a:prstGeom>
            <a:solidFill>
              <a:srgbClr val="EB6834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121503" y="3157047"/>
              <a:ext cx="522732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FFFFFF"/>
                  </a:solidFill>
                  <a:latin typeface="IBM Plex Sans SemiBold"/>
                </a:rPr>
                <a:t>Đà Nẵng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121503" y="3339927"/>
              <a:ext cx="316871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"/>
                </a:rPr>
                <a:t>2,5%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8057495" y="4125507"/>
              <a:ext cx="817717" cy="1000009"/>
            </a:xfrm>
            <a:prstGeom prst="rect">
              <a:avLst/>
            </a:prstGeom>
            <a:solidFill>
              <a:srgbClr val="1BAF7A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121503" y="4189515"/>
              <a:ext cx="504444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FFFFFF"/>
                  </a:solidFill>
                  <a:latin typeface="IBM Plex Sans SemiBold"/>
                </a:rPr>
                <a:t>Cần Thơ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121503" y="4372395"/>
              <a:ext cx="316871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"/>
                </a:rPr>
                <a:t>2,4%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8875212" y="2048256"/>
              <a:ext cx="952964" cy="830798"/>
            </a:xfrm>
            <a:prstGeom prst="rect">
              <a:avLst/>
            </a:prstGeom>
            <a:solidFill>
              <a:srgbClr val="1BAF7A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939220" y="2112264"/>
              <a:ext cx="557657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FFFFFF"/>
                  </a:solidFill>
                  <a:latin typeface="IBM Plex Sans SemiBold"/>
                </a:rPr>
                <a:t>An Giang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939220" y="2295144"/>
              <a:ext cx="316871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"/>
                </a:rPr>
                <a:t>2,3%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9828176" y="2048256"/>
              <a:ext cx="919524" cy="830798"/>
            </a:xfrm>
            <a:prstGeom prst="rect">
              <a:avLst/>
            </a:prstGeom>
            <a:solidFill>
              <a:srgbClr val="1BAF7A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9892184" y="2112264"/>
              <a:ext cx="656463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FFFFFF"/>
                  </a:solidFill>
                  <a:latin typeface="IBM Plex Sans SemiBold"/>
                </a:rPr>
                <a:t>Đồng Tháp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9892184" y="2295144"/>
              <a:ext cx="316871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"/>
                </a:rPr>
                <a:t>2,2%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0747700" y="2048256"/>
              <a:ext cx="895355" cy="830798"/>
            </a:xfrm>
            <a:prstGeom prst="rect">
              <a:avLst/>
            </a:prstGeom>
            <a:solidFill>
              <a:srgbClr val="1BAF7A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0811708" y="2112264"/>
              <a:ext cx="604266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FFFFFF"/>
                  </a:solidFill>
                  <a:latin typeface="IBM Plex Sans SemiBold"/>
                </a:rPr>
                <a:t>Vĩnh Long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811708" y="2295144"/>
              <a:ext cx="316871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"/>
                </a:rPr>
                <a:t>2,2%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8875212" y="2879054"/>
              <a:ext cx="875972" cy="825316"/>
            </a:xfrm>
            <a:prstGeom prst="rect">
              <a:avLst/>
            </a:prstGeom>
            <a:solidFill>
              <a:srgbClr val="EB6834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8939220" y="2943062"/>
              <a:ext cx="425831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FFFFFF"/>
                  </a:solidFill>
                  <a:latin typeface="IBM Plex Sans SemiBold"/>
                </a:rPr>
                <a:t>Gia Lai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8939220" y="3125942"/>
              <a:ext cx="316871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"/>
                </a:rPr>
                <a:t>2,1%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8875212" y="3704369"/>
              <a:ext cx="875972" cy="721169"/>
            </a:xfrm>
            <a:prstGeom prst="rect">
              <a:avLst/>
            </a:prstGeom>
            <a:solidFill>
              <a:srgbClr val="2A78D6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939220" y="3768377"/>
              <a:ext cx="523494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FFFFFF"/>
                  </a:solidFill>
                  <a:latin typeface="IBM Plex Sans SemiBold"/>
                </a:rPr>
                <a:t>Nghệ An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8939220" y="3951257"/>
              <a:ext cx="316871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"/>
                </a:rPr>
                <a:t>1,9%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8875212" y="4425538"/>
              <a:ext cx="875972" cy="699978"/>
            </a:xfrm>
            <a:prstGeom prst="rect">
              <a:avLst/>
            </a:prstGeom>
            <a:solidFill>
              <a:srgbClr val="EB6834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8939220" y="4489546"/>
              <a:ext cx="496443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FFFFFF"/>
                  </a:solidFill>
                  <a:latin typeface="IBM Plex Sans SemiBold"/>
                </a:rPr>
                <a:t>Đắk Lắk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8939220" y="4672426"/>
              <a:ext cx="316871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"/>
                </a:rPr>
                <a:t>1,8%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9751184" y="2879054"/>
              <a:ext cx="667703" cy="837929"/>
            </a:xfrm>
            <a:prstGeom prst="rect">
              <a:avLst/>
            </a:prstGeom>
            <a:solidFill>
              <a:srgbClr val="EB6834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9787760" y="2915630"/>
              <a:ext cx="286404" cy="14033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50" b="0" i="0" lang="vi-VN">
                  <a:solidFill>
                    <a:srgbClr val="FFFFFF"/>
                  </a:solidFill>
                  <a:latin typeface="IBM Plex Sans"/>
                </a:rPr>
                <a:t>1,6%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0418887" y="2879054"/>
              <a:ext cx="613313" cy="837929"/>
            </a:xfrm>
            <a:prstGeom prst="rect">
              <a:avLst/>
            </a:prstGeom>
            <a:solidFill>
              <a:srgbClr val="2A78D6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0455463" y="2915630"/>
              <a:ext cx="286404" cy="14033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50" b="0" i="0" lang="vi-VN">
                  <a:solidFill>
                    <a:srgbClr val="FFFFFF"/>
                  </a:solidFill>
                  <a:latin typeface="IBM Plex Sans"/>
                </a:rPr>
                <a:t>1,5%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1032200" y="2879054"/>
              <a:ext cx="610855" cy="837929"/>
            </a:xfrm>
            <a:prstGeom prst="rect">
              <a:avLst/>
            </a:prstGeom>
            <a:solidFill>
              <a:srgbClr val="EB6834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11068776" y="2915630"/>
              <a:ext cx="286404" cy="14033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50" b="0" i="0" lang="vi-VN">
                  <a:solidFill>
                    <a:srgbClr val="FFFFFF"/>
                  </a:solidFill>
                  <a:latin typeface="IBM Plex Sans"/>
                </a:rPr>
                <a:t>1,5%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9751184" y="3716982"/>
              <a:ext cx="589684" cy="765785"/>
            </a:xfrm>
            <a:prstGeom prst="rect">
              <a:avLst/>
            </a:prstGeom>
            <a:solidFill>
              <a:srgbClr val="1BAF7A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9815192" y="3780990"/>
              <a:ext cx="459359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FFFFFF"/>
                  </a:solidFill>
                  <a:latin typeface="IBM Plex Sans SemiBold"/>
                </a:rPr>
                <a:t>Cà Mau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9815192" y="3963870"/>
              <a:ext cx="316871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"/>
                </a:rPr>
                <a:t>1,3%</a:t>
              </a: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9751184" y="4482767"/>
              <a:ext cx="589684" cy="642750"/>
            </a:xfrm>
            <a:prstGeom prst="rect">
              <a:avLst/>
            </a:prstGeom>
            <a:solidFill>
              <a:srgbClr val="2A78D6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9815192" y="4546775"/>
              <a:ext cx="453517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FFFFFF"/>
                  </a:solidFill>
                  <a:latin typeface="IBM Plex Sans SemiBold"/>
                </a:rPr>
                <a:t>Lào Cai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9815192" y="4729655"/>
              <a:ext cx="316871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"/>
                </a:rPr>
                <a:t>1,1%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0340868" y="3716982"/>
              <a:ext cx="657907" cy="501040"/>
            </a:xfrm>
            <a:prstGeom prst="rect">
              <a:avLst/>
            </a:prstGeom>
            <a:solidFill>
              <a:srgbClr val="EB6834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10377444" y="3753558"/>
              <a:ext cx="286404" cy="14033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50" b="0" i="0" lang="vi-VN">
                  <a:solidFill>
                    <a:srgbClr val="FFFFFF"/>
                  </a:solidFill>
                  <a:latin typeface="IBM Plex Sans"/>
                </a:rPr>
                <a:t>1,0%</a:t>
              </a: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10998775" y="3716982"/>
              <a:ext cx="644280" cy="501040"/>
            </a:xfrm>
            <a:prstGeom prst="rect">
              <a:avLst/>
            </a:prstGeom>
            <a:solidFill>
              <a:srgbClr val="2A78D6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1062783" y="3780990"/>
              <a:ext cx="477647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FFFFFF"/>
                  </a:solidFill>
                  <a:latin typeface="IBM Plex Sans SemiBold"/>
                </a:rPr>
                <a:t>Hà Tĩnh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11062783" y="3963870"/>
              <a:ext cx="316871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"/>
                </a:rPr>
                <a:t>0,9%</a:t>
              </a: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10340868" y="4218022"/>
              <a:ext cx="562837" cy="454381"/>
            </a:xfrm>
            <a:prstGeom prst="rect">
              <a:avLst/>
            </a:prstGeom>
            <a:solidFill>
              <a:srgbClr val="2A78D6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0404876" y="4282030"/>
              <a:ext cx="418338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FFFFFF"/>
                  </a:solidFill>
                  <a:latin typeface="IBM Plex Sans SemiBold"/>
                </a:rPr>
                <a:t>Sơn La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0404876" y="4464910"/>
              <a:ext cx="316871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"/>
                </a:rPr>
                <a:t>0,7%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10340868" y="4672403"/>
              <a:ext cx="562837" cy="453114"/>
            </a:xfrm>
            <a:prstGeom prst="rect">
              <a:avLst/>
            </a:prstGeom>
            <a:solidFill>
              <a:srgbClr val="2A78D6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10377444" y="4708979"/>
              <a:ext cx="286404" cy="14033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50" b="0" i="0" lang="vi-VN">
                  <a:solidFill>
                    <a:srgbClr val="FFFFFF"/>
                  </a:solidFill>
                  <a:latin typeface="IBM Plex Sans"/>
                </a:rPr>
                <a:t>0,7%</a:t>
              </a: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10903704" y="4218022"/>
              <a:ext cx="448143" cy="534084"/>
            </a:xfrm>
            <a:prstGeom prst="rect">
              <a:avLst/>
            </a:prstGeom>
            <a:solidFill>
              <a:srgbClr val="EB6834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10967712" y="4282030"/>
              <a:ext cx="264287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FFFFFF"/>
                  </a:solidFill>
                  <a:latin typeface="IBM Plex Sans SemiBold"/>
                </a:rPr>
                <a:t>Huế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10967712" y="4464910"/>
              <a:ext cx="316871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"/>
                </a:rPr>
                <a:t>0,7%</a:t>
              </a: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11351847" y="4218022"/>
              <a:ext cx="291208" cy="534084"/>
            </a:xfrm>
            <a:prstGeom prst="rect">
              <a:avLst/>
            </a:prstGeom>
            <a:solidFill>
              <a:srgbClr val="2A78D6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10903704" y="4752106"/>
              <a:ext cx="284768" cy="373411"/>
            </a:xfrm>
            <a:prstGeom prst="rect">
              <a:avLst/>
            </a:prstGeom>
            <a:solidFill>
              <a:srgbClr val="2A78D6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11188472" y="4752106"/>
              <a:ext cx="254894" cy="373411"/>
            </a:xfrm>
            <a:prstGeom prst="rect">
              <a:avLst/>
            </a:prstGeom>
            <a:solidFill>
              <a:srgbClr val="2A78D6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11443366" y="4752106"/>
              <a:ext cx="199689" cy="373411"/>
            </a:xfrm>
            <a:prstGeom prst="rect">
              <a:avLst/>
            </a:prstGeom>
            <a:solidFill>
              <a:srgbClr val="2A78D6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1" name="TextBox 100"/>
          <p:cNvSpPr txBox="1"/>
          <p:nvPr/>
        </p:nvSpPr>
        <p:spPr>
          <a:xfrm>
            <a:off x="548640" y="5363261"/>
            <a:ext cx="6395542" cy="9095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TP.HCM 23,3%, Hà Nội 12,4%; 20 địa phương nhỏ nhất cộng lại 24,9%.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Diện tích ô tỷ lệ với GRDP theo giá hiện hành; tổng 34 địa phương khác GDP cả nước một chút.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03" name="TextBox 102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NSO và cục thống kê địa phương — GRDP 2025 (ước tính), 34 đơn vị sau sắp xếp hành chính. Số liệu từng ô trong ghi chú trang.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4 · QUY MÔ VÀ CƠ CẤU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5462081" cy="84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Mười địa phương lớn nhất: TP.HCM chiếm 36% GRDP nhóm, dịch vụ 52%</a:t>
            </a:r>
          </a:p>
        </p:txBody>
      </p:sp>
      <p:grpSp>
        <p:nvGrpSpPr>
          <p:cNvPr id="5" name="Legend"/>
          <p:cNvGrpSpPr/>
          <p:nvPr/>
        </p:nvGrpSpPr>
        <p:grpSpPr>
          <a:xfrm>
            <a:off x="548640" y="1841348"/>
            <a:ext cx="5428615" cy="165100"/>
            <a:chOff x="548640" y="1841348"/>
            <a:chExt cx="5428615" cy="165100"/>
          </a:xfrm>
        </p:grpSpPr>
        <p:sp>
          <p:nvSpPr>
            <p:cNvPr id="6" name="Rounded Rectangle 5"/>
            <p:cNvSpPr/>
            <p:nvPr/>
          </p:nvSpPr>
          <p:spPr>
            <a:xfrm>
              <a:off x="548640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49808" y="1841348"/>
              <a:ext cx="45466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Dịch vụ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451356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EB683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652524" y="1841348"/>
              <a:ext cx="1335913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Công nghiệp, xây dựng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235325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0083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436493" y="1841348"/>
              <a:ext cx="1177544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Nông, lâm, thủy sản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860925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EDA1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062093" y="1841348"/>
              <a:ext cx="915162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Thuế sản phẩm</a:t>
              </a:r>
            </a:p>
          </p:txBody>
        </p:sp>
      </p:grpSp>
      <p:graphicFrame>
        <p:nvGraphicFramePr>
          <p:cNvPr id="14" name="Chart · marimekko"/>
          <p:cNvGraphicFramePr>
            <a:graphicFrameLocks noGrp="1"/>
          </p:cNvGraphicFramePr>
          <p:nvPr/>
        </p:nvGraphicFramePr>
        <p:xfrm>
          <a:off x="548640" y="1814170"/>
          <a:ext cx="11094415" cy="303001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5" name="Column labels"/>
          <p:cNvGrpSpPr/>
          <p:nvPr/>
        </p:nvGrpSpPr>
        <p:grpSpPr>
          <a:xfrm>
            <a:off x="2610200" y="2228585"/>
            <a:ext cx="8921915" cy="2471583"/>
            <a:chOff x="2610200" y="2228585"/>
            <a:chExt cx="8921915" cy="2471583"/>
          </a:xfrm>
        </p:grpSpPr>
        <p:sp>
          <p:nvSpPr>
            <p:cNvPr id="16" name="TextBox 15"/>
            <p:cNvSpPr txBox="1"/>
            <p:nvPr/>
          </p:nvSpPr>
          <p:spPr>
            <a:xfrm>
              <a:off x="2610200" y="4350410"/>
              <a:ext cx="468408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50" b="0" i="0" lang="vi-VN">
                  <a:solidFill>
                    <a:srgbClr val="16181D"/>
                  </a:solidFill>
                  <a:latin typeface="IBM Plex Sans Medium"/>
                </a:rPr>
                <a:t>TP.HCM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709130" y="4551578"/>
              <a:ext cx="270548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5B6170"/>
                  </a:solidFill>
                  <a:latin typeface="IBM Plex Sans"/>
                </a:rPr>
                <a:t>36%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707244" y="3657947"/>
              <a:ext cx="274320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FFFFFF"/>
                  </a:solidFill>
                  <a:latin typeface="IBM Plex Sans SemiBold"/>
                </a:rPr>
                <a:t>52%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707244" y="2745410"/>
              <a:ext cx="274320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FFFFFF"/>
                  </a:solidFill>
                  <a:latin typeface="IBM Plex Sans SemiBold"/>
                </a:rPr>
                <a:t>35%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707244" y="2228585"/>
              <a:ext cx="274320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16181D"/>
                  </a:solidFill>
                  <a:latin typeface="IBM Plex Sans SemiBold"/>
                </a:rPr>
                <a:t>11%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480619" y="4350410"/>
              <a:ext cx="394208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50" b="0" i="0" lang="vi-VN">
                  <a:solidFill>
                    <a:srgbClr val="16181D"/>
                  </a:solidFill>
                  <a:latin typeface="IBM Plex Sans Medium"/>
                </a:rPr>
                <a:t>Hà Nội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542449" y="4551578"/>
              <a:ext cx="270548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5B6170"/>
                  </a:solidFill>
                  <a:latin typeface="IBM Plex Sans"/>
                </a:rPr>
                <a:t>19%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540563" y="3509268"/>
              <a:ext cx="274320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FFFFFF"/>
                  </a:solidFill>
                  <a:latin typeface="IBM Plex Sans SemiBold"/>
                </a:rPr>
                <a:t>66%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540563" y="2583263"/>
              <a:ext cx="274320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FFFFFF"/>
                  </a:solidFill>
                  <a:latin typeface="IBM Plex Sans SemiBold"/>
                </a:rPr>
                <a:t>22%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850690" y="4350410"/>
              <a:ext cx="588575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50" b="0" i="0" lang="vi-VN">
                  <a:solidFill>
                    <a:srgbClr val="16181D"/>
                  </a:solidFill>
                  <a:latin typeface="IBM Plex Sans Medium"/>
                </a:rPr>
                <a:t>Hải Phòng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043993" y="4551578"/>
              <a:ext cx="201968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5B6170"/>
                  </a:solidFill>
                  <a:latin typeface="IBM Plex Sans"/>
                </a:rPr>
                <a:t>9%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007817" y="3835443"/>
              <a:ext cx="274320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FFFFFF"/>
                  </a:solidFill>
                  <a:latin typeface="IBM Plex Sans SemiBold"/>
                </a:rPr>
                <a:t>35%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007817" y="2904530"/>
              <a:ext cx="274320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FFFFFF"/>
                  </a:solidFill>
                  <a:latin typeface="IBM Plex Sans SemiBold"/>
                </a:rPr>
                <a:t>54%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792829" y="4350410"/>
              <a:ext cx="52571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50" b="0" i="0" lang="vi-VN">
                  <a:solidFill>
                    <a:srgbClr val="16181D"/>
                  </a:solidFill>
                  <a:latin typeface="IBM Plex Sans Medium"/>
                </a:rPr>
                <a:t>Đồng Nai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954703" y="4551578"/>
              <a:ext cx="201968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5B6170"/>
                  </a:solidFill>
                  <a:latin typeface="IBM Plex Sans"/>
                </a:rPr>
                <a:t>8%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918527" y="3927114"/>
              <a:ext cx="274320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FFFFFF"/>
                  </a:solidFill>
                  <a:latin typeface="IBM Plex Sans SemiBold"/>
                </a:rPr>
                <a:t>26%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918527" y="3077327"/>
              <a:ext cx="274320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FFFFFF"/>
                  </a:solidFill>
                  <a:latin typeface="IBM Plex Sans SemiBold"/>
                </a:rPr>
                <a:t>55%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918527" y="2376741"/>
              <a:ext cx="274320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FFFFFF"/>
                  </a:solidFill>
                  <a:latin typeface="IBM Plex Sans SemiBold"/>
                </a:rPr>
                <a:t>12%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579343" y="4350410"/>
              <a:ext cx="521132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50" b="0" i="0" lang="vi-VN">
                  <a:solidFill>
                    <a:srgbClr val="16181D"/>
                  </a:solidFill>
                  <a:latin typeface="IBM Plex Sans Medium"/>
                </a:rPr>
                <a:t>Bắc Ninh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738925" y="4551578"/>
              <a:ext cx="201968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5B6170"/>
                  </a:solidFill>
                  <a:latin typeface="IBM Plex Sans"/>
                </a:rPr>
                <a:t>6%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702749" y="4000305"/>
              <a:ext cx="274320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FFFFFF"/>
                  </a:solidFill>
                  <a:latin typeface="IBM Plex Sans SemiBold"/>
                </a:rPr>
                <a:t>19%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702749" y="3054984"/>
              <a:ext cx="274320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FFFFFF"/>
                  </a:solidFill>
                  <a:latin typeface="IBM Plex Sans SemiBold"/>
                </a:rPr>
                <a:t>71%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232894" y="4350410"/>
              <a:ext cx="478904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50" b="0" i="0" lang="vi-VN">
                  <a:solidFill>
                    <a:srgbClr val="16181D"/>
                  </a:solidFill>
                  <a:latin typeface="IBM Plex Sans Medium"/>
                </a:rPr>
                <a:t>Phú Thọ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371362" y="4551578"/>
              <a:ext cx="201968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5B6170"/>
                  </a:solidFill>
                  <a:latin typeface="IBM Plex Sans"/>
                </a:rPr>
                <a:t>5%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335186" y="3908112"/>
              <a:ext cx="274320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FFFFFF"/>
                  </a:solidFill>
                  <a:latin typeface="IBM Plex Sans SemiBold"/>
                </a:rPr>
                <a:t>28%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9335186" y="3103534"/>
              <a:ext cx="274320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FFFFFF"/>
                  </a:solidFill>
                  <a:latin typeface="IBM Plex Sans SemiBold"/>
                </a:rPr>
                <a:t>49%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9335186" y="2478854"/>
              <a:ext cx="274320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FFFFFF"/>
                  </a:solidFill>
                  <a:latin typeface="IBM Plex Sans SemiBold"/>
                </a:rPr>
                <a:t>11%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335186" y="2239339"/>
              <a:ext cx="274320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16181D"/>
                  </a:solidFill>
                  <a:latin typeface="IBM Plex Sans SemiBold"/>
                </a:rPr>
                <a:t>12%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902609" y="4350410"/>
              <a:ext cx="201968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5B6170"/>
                  </a:solidFill>
                  <a:latin typeface="IBM Plex Sans"/>
                </a:rPr>
                <a:t>4%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866433" y="3808296"/>
              <a:ext cx="274320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FFFFFF"/>
                  </a:solidFill>
                  <a:latin typeface="IBM Plex Sans SemiBold"/>
                </a:rPr>
                <a:t>38%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866433" y="2931259"/>
              <a:ext cx="274320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FFFFFF"/>
                  </a:solidFill>
                  <a:latin typeface="IBM Plex Sans SemiBold"/>
                </a:rPr>
                <a:t>46%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866433" y="2233805"/>
              <a:ext cx="274320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16181D"/>
                  </a:solidFill>
                  <a:latin typeface="IBM Plex Sans SemiBold"/>
                </a:rPr>
                <a:t>11%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0383262" y="4350410"/>
              <a:ext cx="201968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5B6170"/>
                  </a:solidFill>
                  <a:latin typeface="IBM Plex Sans"/>
                </a:rPr>
                <a:t>4%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0347086" y="3828865"/>
              <a:ext cx="274320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FFFFFF"/>
                  </a:solidFill>
                  <a:latin typeface="IBM Plex Sans SemiBold"/>
                </a:rPr>
                <a:t>36%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0347086" y="3236865"/>
              <a:ext cx="274320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FFFFFF"/>
                  </a:solidFill>
                  <a:latin typeface="IBM Plex Sans SemiBold"/>
                </a:rPr>
                <a:t>21%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0347086" y="2616047"/>
              <a:ext cx="274320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FFFFFF"/>
                  </a:solidFill>
                  <a:latin typeface="IBM Plex Sans SemiBold"/>
                </a:rPr>
                <a:t>39%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0838616" y="4350410"/>
              <a:ext cx="201968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5B6170"/>
                  </a:solidFill>
                  <a:latin typeface="IBM Plex Sans"/>
                </a:rPr>
                <a:t>4%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0802440" y="3843900"/>
              <a:ext cx="274320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FFFFFF"/>
                  </a:solidFill>
                  <a:latin typeface="IBM Plex Sans SemiBold"/>
                </a:rPr>
                <a:t>34%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802440" y="2993591"/>
              <a:ext cx="274320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FFFFFF"/>
                  </a:solidFill>
                  <a:latin typeface="IBM Plex Sans SemiBold"/>
                </a:rPr>
                <a:t>47%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0802440" y="2387078"/>
              <a:ext cx="274320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FFFFFF"/>
                  </a:solidFill>
                  <a:latin typeface="IBM Plex Sans SemiBold"/>
                </a:rPr>
                <a:t>11%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1293971" y="4350410"/>
              <a:ext cx="201968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5B6170"/>
                  </a:solidFill>
                  <a:latin typeface="IBM Plex Sans"/>
                </a:rPr>
                <a:t>4%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1257795" y="3859109"/>
              <a:ext cx="274320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FFFFFF"/>
                  </a:solidFill>
                  <a:latin typeface="IBM Plex Sans SemiBold"/>
                </a:rPr>
                <a:t>33%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1257795" y="3014667"/>
              <a:ext cx="274320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FFFFFF"/>
                  </a:solidFill>
                  <a:latin typeface="IBM Plex Sans SemiBold"/>
                </a:rPr>
                <a:t>48%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1257795" y="2375723"/>
              <a:ext cx="274320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00" b="0" i="0" lang="vi-VN">
                  <a:solidFill>
                    <a:srgbClr val="FFFFFF"/>
                  </a:solidFill>
                  <a:latin typeface="IBM Plex Sans SemiBold"/>
                </a:rPr>
                <a:t>13%</a:t>
              </a: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548640" y="5081930"/>
            <a:ext cx="6395542" cy="11908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Độ rộng cột = tỷ trọng GRDP trong nhóm mười; chiều cao các khúc = cơ cấu ngành của từng địa phương.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Cột hẹp khó đọc: dùng Marimekko khi cần thấy cùng lúc quy mô và cơ cấu; sửa cơ cấu ở bảng nhập trong Edit Data, độ rộng cố định khi dựng.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62" name="TextBox 61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 lang="vi-VN">
                <a:solidFill>
                  <a:srgbClr val="8A8F99"/>
                </a:solidFill>
                <a:latin typeface="IBM Plex Sans"/>
              </a:rPr>
              <a:t>Nguồn: NSO và cục thống kê địa phương — GRDP 2025 (ước tính), 34 đơn vị sau sắp xếp hành chính. Mười địa phương có GRDP lớn nhất và đủ số liệu cơ cấu (Tây Ninh thiếu cơ cấu).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4 · GIẢI NGÂN ĐẦU TƯ CÔNG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5558446" cy="84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Năm 2023 giải ngân 82,5% tổng kế hoạch, 93,1% kế hoạch Thủ tướng giao</a:t>
            </a:r>
          </a:p>
        </p:txBody>
      </p:sp>
      <p:graphicFrame>
        <p:nvGraphicFramePr>
          <p:cNvPr id="5" name="Chart · funnel"/>
          <p:cNvGraphicFramePr>
            <a:graphicFrameLocks noGrp="1"/>
          </p:cNvGraphicFramePr>
          <p:nvPr/>
        </p:nvGraphicFramePr>
        <p:xfrm>
          <a:off x="548640" y="1814170"/>
          <a:ext cx="11094415" cy="303001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081930"/>
            <a:ext cx="6395542" cy="11908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Kế hoạch Thủ tướng giao ≈ 88,6% tổng kế hoạch (= 82,47 ÷ 93,12); phần đã giải ngân là 82,5.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Chỉ số, tổng kế hoạch = 100. Năm 2026 giải ngân 9 tháng 62,9% kế hoạch — chưa có số cả năm.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8" name="TextBox 7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Bộ Kế hoạch và Đầu tư — báo cáo giải ngân kế hoạch 2023 (31/1/2024), data/policy.json; tầng giữa tính toán (≈).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48640"/>
            <a:ext cx="11094415" cy="0"/>
          </a:xfrm>
          <a:prstGeom prst="line">
            <a:avLst/>
          </a:prstGeom>
          <a:ln w="15875" cap="flat">
            <a:solidFill>
              <a:srgbClr val="16181D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141732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1000" b="0" i="0" lang="vi-VN">
                <a:solidFill>
                  <a:srgbClr val="C2362F"/>
                </a:solidFill>
                <a:latin typeface="Newsreader SemiBold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4480103" cy="6675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0" i="0" lang="vi-VN">
                <a:solidFill>
                  <a:srgbClr val="16181D"/>
                </a:solidFill>
                <a:latin typeface="Newsreader SemiBold"/>
              </a:rPr>
              <a:t>Phân phối và quan hệ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67912"/>
            <a:ext cx="5455768" cy="3246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500" b="0" i="0" lang="vi-VN">
                <a:solidFill>
                  <a:srgbClr val="5B6170"/>
                </a:solidFill>
                <a:latin typeface="IBM Plex Sans"/>
              </a:rPr>
              <a:t>Tần suất, hộp, phân tán, bong bóng, tháp dân số và mạng nhện.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66837" y="1554480"/>
            <a:ext cx="357621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lang="vi-VN" spc="120">
                <a:solidFill>
                  <a:srgbClr val="5B6170"/>
                </a:solidFill>
                <a:latin typeface="IBM Plex Sans SemiBold"/>
              </a:rPr>
              <a:t>TRONG CHƯƠNG NÀY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066837" y="1920240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8" name="TextBox 7"/>
          <p:cNvSpPr txBox="1"/>
          <p:nvPr/>
        </p:nvSpPr>
        <p:spPr>
          <a:xfrm>
            <a:off x="8066837" y="2002536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Tần suất tăng trưởng 34 địa phương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66837" y="2377821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0" name="TextBox 9"/>
          <p:cNvSpPr txBox="1"/>
          <p:nvPr/>
        </p:nvSpPr>
        <p:spPr>
          <a:xfrm>
            <a:off x="8066837" y="2460117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Hộp: Bắc và Trung–Nam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66837" y="2835402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2" name="TextBox 11"/>
          <p:cNvSpPr txBox="1"/>
          <p:nvPr/>
        </p:nvSpPr>
        <p:spPr>
          <a:xfrm>
            <a:off x="8066837" y="2917698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Phân tán và bong bóng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66837" y="3292983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4" name="TextBox 13"/>
          <p:cNvSpPr txBox="1"/>
          <p:nvPr/>
        </p:nvSpPr>
        <p:spPr>
          <a:xfrm>
            <a:off x="8066837" y="3375279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Tháp dân số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66837" y="3750564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6" name="TextBox 15"/>
          <p:cNvSpPr txBox="1"/>
          <p:nvPr/>
        </p:nvSpPr>
        <p:spPr>
          <a:xfrm>
            <a:off x="8066837" y="3832860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Mạng nhện cơ cấu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8" name="TextBox 17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5 · PHÂN PHỐI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8957462" cy="4498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11/34 địa phương tăng trưởng 8–9% năm 2025, nhóm đông nhất</a:t>
            </a:r>
          </a:p>
        </p:txBody>
      </p:sp>
      <p:graphicFrame>
        <p:nvGraphicFramePr>
          <p:cNvPr id="5" name="Chart · histogram"/>
          <p:cNvGraphicFramePr>
            <a:graphicFrameLocks noGrp="1"/>
          </p:cNvGraphicFramePr>
          <p:nvPr/>
        </p:nvGraphicFramePr>
        <p:xfrm>
          <a:off x="548640" y="1755648"/>
          <a:ext cx="11094415" cy="336986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6" name="Chart labels"/>
          <p:cNvGrpSpPr/>
          <p:nvPr/>
        </p:nvGrpSpPr>
        <p:grpSpPr>
          <a:xfrm>
            <a:off x="548640" y="1750378"/>
            <a:ext cx="11002975" cy="3356851"/>
            <a:chOff x="548640" y="1750378"/>
            <a:chExt cx="11002975" cy="3356851"/>
          </a:xfrm>
        </p:grpSpPr>
        <p:sp>
          <p:nvSpPr>
            <p:cNvPr id="7" name="TextBox 6"/>
            <p:cNvSpPr txBox="1"/>
            <p:nvPr/>
          </p:nvSpPr>
          <p:spPr>
            <a:xfrm>
              <a:off x="548640" y="1750378"/>
              <a:ext cx="793801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Số địa phương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040309" y="4950384"/>
              <a:ext cx="151130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Tăng trưởng GRDP 2025, %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548640" y="5363261"/>
            <a:ext cx="6395542" cy="9095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20 địa phương tăng từ 8% trở lên; chỉ 1 địa phương dưới 6%.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Mỗi khoảng gồm cận dưới, không gồm cận trên; số đếm là công thức COUNTIFS trên cột số liệu gốc trong Edit Data.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1" name="TextBox 10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NSO và cục thống kê địa phương — GRDP 2025 (ước tính), 34 đơn vị sau sắp xếp hành chính.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5 · PHÂN TÁN THEO VÙNG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5943276" cy="84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Trung vị tăng trưởng miền Bắc lên 9,75% trong 9 tháng 2026, từ 8,21% năm 2025</a:t>
            </a:r>
          </a:p>
        </p:txBody>
      </p:sp>
      <p:graphicFrame>
        <p:nvGraphicFramePr>
          <p:cNvPr id="5" name="Chart · box plot"/>
          <p:cNvGraphicFramePr>
            <a:graphicFrameLocks noGrp="1"/>
          </p:cNvGraphicFramePr>
          <p:nvPr/>
        </p:nvGraphicFramePr>
        <p:xfrm>
          <a:off x="548640" y="1814170"/>
          <a:ext cx="11094415" cy="331134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6" name="Box plot key"/>
          <p:cNvGrpSpPr/>
          <p:nvPr/>
        </p:nvGrpSpPr>
        <p:grpSpPr>
          <a:xfrm>
            <a:off x="548640" y="1827187"/>
            <a:ext cx="10816926" cy="2727198"/>
            <a:chOff x="548640" y="1827187"/>
            <a:chExt cx="10816926" cy="2727198"/>
          </a:xfrm>
        </p:grpSpPr>
        <p:sp>
          <p:nvSpPr>
            <p:cNvPr id="7" name="TextBox 6"/>
            <p:cNvSpPr txBox="1"/>
            <p:nvPr/>
          </p:nvSpPr>
          <p:spPr>
            <a:xfrm>
              <a:off x="548640" y="1827187"/>
              <a:ext cx="1193273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Tăng trưởng GRDP, %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392322" y="3622805"/>
              <a:ext cx="850024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16181D"/>
                  </a:solidFill>
                  <a:latin typeface="IBM Plex Sans SemiBold"/>
                </a:rPr>
                <a:t>trung vị 8,21%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547182" y="3223994"/>
              <a:ext cx="850024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16181D"/>
                  </a:solidFill>
                  <a:latin typeface="IBM Plex Sans SemiBold"/>
                </a:rPr>
                <a:t>trung vị 9,75%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702041" y="3820261"/>
              <a:ext cx="850024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16181D"/>
                  </a:solidFill>
                  <a:latin typeface="IBM Plex Sans SemiBold"/>
                </a:rPr>
                <a:t>trung vị 7,46%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856901" y="3403264"/>
              <a:ext cx="850024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16181D"/>
                  </a:solidFill>
                  <a:latin typeface="IBM Plex Sans SemiBold"/>
                </a:rPr>
                <a:t>trung vị 9,06%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859975" y="2289658"/>
              <a:ext cx="707015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 spc="80">
                  <a:solidFill>
                    <a:srgbClr val="5B6170"/>
                  </a:solidFill>
                  <a:latin typeface="IBM Plex Sans SemiBold"/>
                </a:rPr>
                <a:t>CÁCH ĐỌC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10042855" y="2701138"/>
              <a:ext cx="0" cy="320040"/>
            </a:xfrm>
            <a:prstGeom prst="line">
              <a:avLst/>
            </a:prstGeom>
            <a:ln w="15875" cap="flat">
              <a:solidFill>
                <a:srgbClr val="16181D"/>
              </a:solidFill>
              <a:round/>
            </a:ln>
          </p:spPr>
        </p:cxnSp>
        <p:sp>
          <p:nvSpPr>
            <p:cNvPr id="14" name="Rectangle 13"/>
            <p:cNvSpPr/>
            <p:nvPr/>
          </p:nvSpPr>
          <p:spPr>
            <a:xfrm>
              <a:off x="9905695" y="3021178"/>
              <a:ext cx="274320" cy="411480"/>
            </a:xfrm>
            <a:prstGeom prst="rect">
              <a:avLst/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9905695" y="3432658"/>
              <a:ext cx="274320" cy="411480"/>
            </a:xfrm>
            <a:prstGeom prst="rect">
              <a:avLst/>
            </a:prstGeom>
            <a:solidFill>
              <a:srgbClr val="8AB5E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10042855" y="3844138"/>
              <a:ext cx="0" cy="320040"/>
            </a:xfrm>
            <a:prstGeom prst="line">
              <a:avLst/>
            </a:prstGeom>
            <a:ln w="15875" cap="flat">
              <a:solidFill>
                <a:srgbClr val="16181D"/>
              </a:solidFill>
              <a:round/>
            </a:ln>
          </p:spPr>
        </p:cxnSp>
        <p:cxnSp>
          <p:nvCxnSpPr>
            <p:cNvPr id="17" name="Connector 16"/>
            <p:cNvCxnSpPr/>
            <p:nvPr/>
          </p:nvCxnSpPr>
          <p:spPr>
            <a:xfrm>
              <a:off x="10216591" y="2701138"/>
              <a:ext cx="109728" cy="0"/>
            </a:xfrm>
            <a:prstGeom prst="line">
              <a:avLst/>
            </a:prstGeom>
            <a:ln w="6350" cap="flat">
              <a:solidFill>
                <a:srgbClr val="8A8F99"/>
              </a:solidFill>
              <a:round/>
            </a:ln>
          </p:spPr>
        </p:cxnSp>
        <p:sp>
          <p:nvSpPr>
            <p:cNvPr id="18" name="TextBox 17"/>
            <p:cNvSpPr txBox="1"/>
            <p:nvPr/>
          </p:nvSpPr>
          <p:spPr>
            <a:xfrm>
              <a:off x="10381183" y="2622715"/>
              <a:ext cx="496278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Lớn nhất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10216591" y="3021178"/>
              <a:ext cx="109728" cy="0"/>
            </a:xfrm>
            <a:prstGeom prst="line">
              <a:avLst/>
            </a:prstGeom>
            <a:ln w="6350" cap="flat">
              <a:solidFill>
                <a:srgbClr val="8A8F99"/>
              </a:solidFill>
              <a:round/>
            </a:ln>
          </p:spPr>
        </p:cxnSp>
        <p:sp>
          <p:nvSpPr>
            <p:cNvPr id="20" name="TextBox 19"/>
            <p:cNvSpPr txBox="1"/>
            <p:nvPr/>
          </p:nvSpPr>
          <p:spPr>
            <a:xfrm>
              <a:off x="10381183" y="2942755"/>
              <a:ext cx="185242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Q3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>
              <a:off x="10216591" y="3432658"/>
              <a:ext cx="109728" cy="0"/>
            </a:xfrm>
            <a:prstGeom prst="line">
              <a:avLst/>
            </a:prstGeom>
            <a:ln w="6350" cap="flat">
              <a:solidFill>
                <a:srgbClr val="8A8F99"/>
              </a:solidFill>
              <a:round/>
            </a:ln>
          </p:spPr>
        </p:cxnSp>
        <p:sp>
          <p:nvSpPr>
            <p:cNvPr id="22" name="TextBox 21"/>
            <p:cNvSpPr txBox="1"/>
            <p:nvPr/>
          </p:nvSpPr>
          <p:spPr>
            <a:xfrm>
              <a:off x="10381183" y="3354235"/>
              <a:ext cx="459480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Trung vị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>
              <a:off x="10216591" y="3844138"/>
              <a:ext cx="109728" cy="0"/>
            </a:xfrm>
            <a:prstGeom prst="line">
              <a:avLst/>
            </a:prstGeom>
            <a:ln w="6350" cap="flat">
              <a:solidFill>
                <a:srgbClr val="8A8F99"/>
              </a:solidFill>
              <a:round/>
            </a:ln>
          </p:spPr>
        </p:cxnSp>
        <p:sp>
          <p:nvSpPr>
            <p:cNvPr id="24" name="TextBox 23"/>
            <p:cNvSpPr txBox="1"/>
            <p:nvPr/>
          </p:nvSpPr>
          <p:spPr>
            <a:xfrm>
              <a:off x="10381183" y="3765715"/>
              <a:ext cx="185242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Q1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10216591" y="4164178"/>
              <a:ext cx="109728" cy="0"/>
            </a:xfrm>
            <a:prstGeom prst="line">
              <a:avLst/>
            </a:prstGeom>
            <a:ln w="6350" cap="flat">
              <a:solidFill>
                <a:srgbClr val="8A8F99"/>
              </a:solidFill>
              <a:round/>
            </a:ln>
          </p:spPr>
        </p:cxnSp>
        <p:sp>
          <p:nvSpPr>
            <p:cNvPr id="26" name="TextBox 25"/>
            <p:cNvSpPr txBox="1"/>
            <p:nvPr/>
          </p:nvSpPr>
          <p:spPr>
            <a:xfrm>
              <a:off x="10381183" y="4085755"/>
              <a:ext cx="521132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Nhỏ nhất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859975" y="4414050"/>
              <a:ext cx="1505591" cy="14033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50" b="0" i="0" lang="vi-VN">
                  <a:solidFill>
                    <a:srgbClr val="8A8F99"/>
                  </a:solidFill>
                  <a:latin typeface="IBM Plex Sans"/>
                </a:rPr>
                <a:t>Tứ phân vị kiểu QUARTILE.INC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548640" y="5363261"/>
            <a:ext cx="6395542" cy="9095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Ở Trung, Nam trung vị từ 7,46% lên 9,06%; hộp 9 tháng cao hơn ở cả hai khối.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9 tháng 2026 có 30/34 địa phương công bố; 9 tháng so với cùng kỳ, không phải số cả năm.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30" name="TextBox 29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NSO và cục thống kê địa phương — GRDP 2025 (ước tính), 34 đơn vị sau sắp xếp hành chính. 9T/2026: công bố 9–10/2026.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5 · THU NHẬP VÀ TĂNG TRƯỞNG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7336294" cy="84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Địa phương có GRDP đầu người cao hơn có xu hướng tăng nhanh hơn: r = 0,53 trên 34 địa phương</a:t>
            </a:r>
          </a:p>
        </p:txBody>
      </p:sp>
      <p:grpSp>
        <p:nvGrpSpPr>
          <p:cNvPr id="5" name="Legend"/>
          <p:cNvGrpSpPr/>
          <p:nvPr/>
        </p:nvGrpSpPr>
        <p:grpSpPr>
          <a:xfrm>
            <a:off x="557784" y="1841348"/>
            <a:ext cx="4187190" cy="165100"/>
            <a:chOff x="557784" y="1841348"/>
            <a:chExt cx="4187190" cy="165100"/>
          </a:xfrm>
        </p:grpSpPr>
        <p:sp>
          <p:nvSpPr>
            <p:cNvPr id="6" name="Oval 5"/>
            <p:cNvSpPr/>
            <p:nvPr/>
          </p:nvSpPr>
          <p:spPr>
            <a:xfrm>
              <a:off x="557784" y="1869034"/>
              <a:ext cx="109728" cy="109728"/>
            </a:xfrm>
            <a:prstGeom prst="ellipse">
              <a:avLst/>
            </a:prstGeom>
            <a:solidFill>
              <a:srgbClr val="2A78D6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49808" y="1841348"/>
              <a:ext cx="1425067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Địa phương được ghi tên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2430907" y="1869034"/>
              <a:ext cx="109728" cy="109728"/>
            </a:xfrm>
            <a:prstGeom prst="ellipse">
              <a:avLst/>
            </a:prstGeom>
            <a:solidFill>
              <a:srgbClr val="C9CCD2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622931" y="1841348"/>
              <a:ext cx="991362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Địa phương khác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3861181" y="1923898"/>
              <a:ext cx="237744" cy="0"/>
            </a:xfrm>
            <a:prstGeom prst="line">
              <a:avLst/>
            </a:prstGeom>
            <a:ln w="28575" cap="flat">
              <a:solidFill>
                <a:srgbClr val="5B6170"/>
              </a:solidFill>
              <a:prstDash val="dash"/>
              <a:round/>
            </a:ln>
          </p:spPr>
        </p:cxnSp>
        <p:sp>
          <p:nvSpPr>
            <p:cNvPr id="11" name="TextBox 10"/>
            <p:cNvSpPr txBox="1"/>
            <p:nvPr/>
          </p:nvSpPr>
          <p:spPr>
            <a:xfrm>
              <a:off x="4172077" y="1841348"/>
              <a:ext cx="572897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Xu hướng</a:t>
              </a:r>
            </a:p>
          </p:txBody>
        </p:sp>
      </p:grpSp>
      <p:graphicFrame>
        <p:nvGraphicFramePr>
          <p:cNvPr id="12" name="Chart · scatter"/>
          <p:cNvGraphicFramePr>
            <a:graphicFrameLocks noGrp="1"/>
          </p:cNvGraphicFramePr>
          <p:nvPr/>
        </p:nvGraphicFramePr>
        <p:xfrm>
          <a:off x="548640" y="1814170"/>
          <a:ext cx="11094415" cy="303001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3" name="Axis titles"/>
          <p:cNvGrpSpPr/>
          <p:nvPr/>
        </p:nvGrpSpPr>
        <p:grpSpPr>
          <a:xfrm>
            <a:off x="548640" y="2174659"/>
            <a:ext cx="10820095" cy="2588628"/>
            <a:chOff x="548640" y="2174659"/>
            <a:chExt cx="10820095" cy="2588628"/>
          </a:xfrm>
        </p:grpSpPr>
        <p:sp>
          <p:nvSpPr>
            <p:cNvPr id="14" name="TextBox 13"/>
            <p:cNvSpPr txBox="1"/>
            <p:nvPr/>
          </p:nvSpPr>
          <p:spPr>
            <a:xfrm>
              <a:off x="548640" y="2174659"/>
              <a:ext cx="151130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Tăng trưởng GRDP 2025, %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961723" y="4606442"/>
              <a:ext cx="2407012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GRDP bình quân đầu người 2025, nghìn USD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273678" y="4070820"/>
              <a:ext cx="1049338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950" b="0" i="0" lang="vi-VN">
                  <a:solidFill>
                    <a:srgbClr val="5B6170"/>
                  </a:solidFill>
                  <a:latin typeface="IBM Plex Sans SemiBold"/>
                </a:rPr>
                <a:t>Xu hướng: r = 0,53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548640" y="5081930"/>
            <a:ext cx="6395542" cy="11908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Quảng Ninh vừa giàu nhất (10,5 nghìn USD/người) vừa tăng nhanh nhất (11,89%); TP.HCM giàu thứ hai nhưng chỉ tăng 7,53%.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r = 0,53: tương quan dương, mức vừa, không cho biết quan hệ nhân quả; đường xu hướng là đường xu hướng tuyến tính của PowerPoint.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9" name="TextBox 18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NSO và cục thống kê địa phương — GRDP 2025 (ước tính), 34 đơn vị sau sắp xếp hành chính.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5 · QUY MÔ DÂN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6359642" cy="84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TP.HCM đông dân nhất (13,8 triệu người) nhưng tăng 7,53%, chậm hơn 20 địa phương</a:t>
            </a:r>
          </a:p>
        </p:txBody>
      </p:sp>
      <p:grpSp>
        <p:nvGrpSpPr>
          <p:cNvPr id="5" name="Legend"/>
          <p:cNvGrpSpPr/>
          <p:nvPr/>
        </p:nvGrpSpPr>
        <p:grpSpPr>
          <a:xfrm>
            <a:off x="557784" y="1841348"/>
            <a:ext cx="3679190" cy="165100"/>
            <a:chOff x="557784" y="1841348"/>
            <a:chExt cx="3679190" cy="165100"/>
          </a:xfrm>
        </p:grpSpPr>
        <p:sp>
          <p:nvSpPr>
            <p:cNvPr id="6" name="Oval 5"/>
            <p:cNvSpPr/>
            <p:nvPr/>
          </p:nvSpPr>
          <p:spPr>
            <a:xfrm>
              <a:off x="557784" y="1869034"/>
              <a:ext cx="109728" cy="109728"/>
            </a:xfrm>
            <a:prstGeom prst="ellipse">
              <a:avLst/>
            </a:prstGeom>
            <a:solidFill>
              <a:srgbClr val="2A78D6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49808" y="1841348"/>
              <a:ext cx="556768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Miền Bắc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1562608" y="1869034"/>
              <a:ext cx="109728" cy="109728"/>
            </a:xfrm>
            <a:prstGeom prst="ellipse">
              <a:avLst/>
            </a:prstGeom>
            <a:solidFill>
              <a:srgbClr val="EB6834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754632" y="1841348"/>
              <a:ext cx="1423162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Miền Trung, Tây Nguyên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433826" y="1869034"/>
              <a:ext cx="109728" cy="109728"/>
            </a:xfrm>
            <a:prstGeom prst="ellipse">
              <a:avLst/>
            </a:prstGeom>
            <a:solidFill>
              <a:srgbClr val="1BAF7A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25850" y="1841348"/>
              <a:ext cx="611124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Miền Nam</a:t>
              </a:r>
            </a:p>
          </p:txBody>
        </p:sp>
      </p:grpSp>
      <p:graphicFrame>
        <p:nvGraphicFramePr>
          <p:cNvPr id="12" name="Chart · bubble"/>
          <p:cNvGraphicFramePr>
            <a:graphicFrameLocks noGrp="1"/>
          </p:cNvGraphicFramePr>
          <p:nvPr/>
        </p:nvGraphicFramePr>
        <p:xfrm>
          <a:off x="548640" y="1814170"/>
          <a:ext cx="11094415" cy="331134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3" name="Axis titles"/>
          <p:cNvGrpSpPr/>
          <p:nvPr/>
        </p:nvGrpSpPr>
        <p:grpSpPr>
          <a:xfrm>
            <a:off x="548640" y="2174659"/>
            <a:ext cx="10820095" cy="2869959"/>
            <a:chOff x="548640" y="2174659"/>
            <a:chExt cx="10820095" cy="2869959"/>
          </a:xfrm>
        </p:grpSpPr>
        <p:sp>
          <p:nvSpPr>
            <p:cNvPr id="14" name="TextBox 13"/>
            <p:cNvSpPr txBox="1"/>
            <p:nvPr/>
          </p:nvSpPr>
          <p:spPr>
            <a:xfrm>
              <a:off x="548640" y="2174659"/>
              <a:ext cx="151130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Tăng trưởng GRDP 2025, %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961723" y="4887773"/>
              <a:ext cx="2407012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GRDP bình quân đầu người 2025, nghìn USD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48640" y="4887773"/>
              <a:ext cx="2862707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Diện tích bong bóng tỷ lệ với dân số trung bình 2025.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548640" y="5363261"/>
            <a:ext cx="6395542" cy="9095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Hà Nội (8,9 triệu người) tăng 8,16%; Quảng Ninh nhỏ (1,4 triệu) nhưng tăng 11,89%.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Ba biến trên một hình: chỉ dùng khi biến thứ ba (dân số) giúp đọc hai biến kia; so diện tích, không so đường kính.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9" name="TextBox 18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NSO và cục thống kê địa phương — GRDP 2025 (ước tính), 34 đơn vị sau sắp xếp hành chính. Dân số trung bình 2025.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5 · DÂN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5308811" cy="84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Người từ 65 tuổi sẽ chiếm 20,3% dân số năm 2050, gấp 2,1 lần năm 2025</a:t>
            </a:r>
          </a:p>
        </p:txBody>
      </p:sp>
      <p:grpSp>
        <p:nvGrpSpPr>
          <p:cNvPr id="5" name="Legend"/>
          <p:cNvGrpSpPr/>
          <p:nvPr/>
        </p:nvGrpSpPr>
        <p:grpSpPr>
          <a:xfrm>
            <a:off x="548640" y="1841348"/>
            <a:ext cx="3101086" cy="165100"/>
            <a:chOff x="548640" y="1841348"/>
            <a:chExt cx="3101086" cy="165100"/>
          </a:xfrm>
        </p:grpSpPr>
        <p:sp>
          <p:nvSpPr>
            <p:cNvPr id="6" name="Rounded Rectangle 5"/>
            <p:cNvSpPr/>
            <p:nvPr/>
          </p:nvSpPr>
          <p:spPr>
            <a:xfrm>
              <a:off x="548640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49808" y="1841348"/>
              <a:ext cx="634619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Nam 2025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631315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EB683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832483" y="1841348"/>
              <a:ext cx="526542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Nữ 2025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605913" y="1859890"/>
              <a:ext cx="128016" cy="128016"/>
            </a:xfrm>
            <a:prstGeom prst="rect">
              <a:avLst/>
            </a:prstGeom>
            <a:noFill/>
            <a:ln w="15875" cap="rnd">
              <a:solidFill>
                <a:srgbClr val="16181D"/>
              </a:solidFill>
              <a:prstDash val="sysDash"/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807081" y="1841348"/>
              <a:ext cx="842645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2050 (dự báo)</a:t>
              </a:r>
            </a:p>
          </p:txBody>
        </p:sp>
      </p:grpSp>
      <p:graphicFrame>
        <p:nvGraphicFramePr>
          <p:cNvPr id="12" name="Chart · population pyramid"/>
          <p:cNvGraphicFramePr>
            <a:graphicFrameLocks noGrp="1"/>
          </p:cNvGraphicFramePr>
          <p:nvPr/>
        </p:nvGraphicFramePr>
        <p:xfrm>
          <a:off x="548640" y="1814170"/>
          <a:ext cx="7152437" cy="437631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3" name="Chart annotations"/>
          <p:cNvGrpSpPr/>
          <p:nvPr/>
        </p:nvGrpSpPr>
        <p:grpSpPr>
          <a:xfrm>
            <a:off x="6193244" y="2214275"/>
            <a:ext cx="1881149" cy="166688"/>
            <a:chOff x="6193244" y="2214275"/>
            <a:chExt cx="1881149" cy="166688"/>
          </a:xfrm>
        </p:grpSpPr>
        <p:cxnSp>
          <p:nvCxnSpPr>
            <p:cNvPr id="14" name="Connector 13"/>
            <p:cNvCxnSpPr/>
            <p:nvPr/>
          </p:nvCxnSpPr>
          <p:spPr>
            <a:xfrm>
              <a:off x="6225248" y="2297618"/>
              <a:ext cx="365760" cy="0"/>
            </a:xfrm>
            <a:prstGeom prst="line">
              <a:avLst/>
            </a:prstGeom>
            <a:ln w="9525" cap="rnd">
              <a:solidFill>
                <a:srgbClr val="5B6170"/>
              </a:solidFill>
              <a:round/>
            </a:ln>
          </p:spPr>
        </p:cxnSp>
        <p:sp>
          <p:nvSpPr>
            <p:cNvPr id="15" name="Oval 14"/>
            <p:cNvSpPr/>
            <p:nvPr/>
          </p:nvSpPr>
          <p:spPr>
            <a:xfrm>
              <a:off x="6193244" y="2265614"/>
              <a:ext cx="64008" cy="64008"/>
            </a:xfrm>
            <a:prstGeom prst="ellipse">
              <a:avLst/>
            </a:prstGeom>
            <a:solidFill>
              <a:srgbClr val="16181D"/>
            </a:solidFill>
            <a:ln w="9525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673304" y="2214275"/>
              <a:ext cx="1401089" cy="1666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1050" b="0" i="0" lang="vi-VN">
                  <a:solidFill>
                    <a:srgbClr val="16181D"/>
                  </a:solidFill>
                  <a:latin typeface="IBM Plex Sans SemiBold"/>
                </a:rPr>
                <a:t>Nữ 80+: 1,1% → 3,5%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8066837" y="1814170"/>
            <a:ext cx="3576218" cy="4376318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2869" y="2070202"/>
            <a:ext cx="306415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 lang="vi-VN" spc="100">
                <a:solidFill>
                  <a:srgbClr val="5B6170"/>
                </a:solidFill>
                <a:latin typeface="IBM Plex Sans SemiBold"/>
              </a:rPr>
              <a:t>TỶ TRỌNG 65+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2869" y="2362810"/>
            <a:ext cx="3064154" cy="5308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800" b="1" i="0" lang="vi-VN">
                <a:solidFill>
                  <a:srgbClr val="16181D"/>
                </a:solidFill>
                <a:latin typeface="IBM Plex Sans"/>
              </a:rPr>
              <a:t>9,7 → 20,3</a:t>
            </a:r>
            <a:r>
              <a:rPr sz="1400" b="0" i="0" lang="vi-VN">
                <a:solidFill>
                  <a:srgbClr val="5B6170"/>
                </a:solidFill>
                <a:latin typeface="IBM Plex Sans SemiBold"/>
              </a:rPr>
              <a:t>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2869" y="2985110"/>
            <a:ext cx="3064154" cy="4320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 i="0" lang="vi-VN">
                <a:solidFill>
                  <a:srgbClr val="5B6170"/>
                </a:solidFill>
                <a:latin typeface="IBM Plex Sans"/>
              </a:rPr>
              <a:t>2025 → 2050, phương án trung bình của Liên Hợp Quốc.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22869" y="3600044"/>
            <a:ext cx="3064154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22" name="TextBox 21"/>
          <p:cNvSpPr txBox="1"/>
          <p:nvPr/>
        </p:nvSpPr>
        <p:spPr>
          <a:xfrm>
            <a:off x="8322869" y="3755492"/>
            <a:ext cx="3064154" cy="8439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Nhóm 0–14 tuổi giảm từ 22,7% xuống 16,9% dân số; nhóm 65+ tăng từ 9,7% lên 20,3%.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2869" y="4709211"/>
            <a:ext cx="3064154" cy="5193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200" b="0" i="0" lang="vi-VN">
                <a:solidFill>
                  <a:srgbClr val="5B6170"/>
                </a:solidFill>
                <a:latin typeface="IBM Plex Sans"/>
              </a:rPr>
              <a:t>Viền đứt là dự báo 2050 (UN WPP 2024, phương án trung bình), không phải số đếm.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25" name="TextBox 24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Liên Hợp Quốc — World Population Prospects 2024, Việt Nam; % tổng dân số, 31/12 mỗi năm.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5 · BA KIỂU KINH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7056231" cy="84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Ba hình dạng: dịch vụ 66% ở Hà Nội, công nghiệp 71% ở Bắc Ninh, nông nghiệp 38% ở Đắk Lắk</a:t>
            </a:r>
          </a:p>
        </p:txBody>
      </p:sp>
      <p:grpSp>
        <p:nvGrpSpPr>
          <p:cNvPr id="5" name="Legend"/>
          <p:cNvGrpSpPr/>
          <p:nvPr/>
        </p:nvGrpSpPr>
        <p:grpSpPr>
          <a:xfrm>
            <a:off x="548640" y="1841348"/>
            <a:ext cx="2875407" cy="165100"/>
            <a:chOff x="548640" y="1841348"/>
            <a:chExt cx="2875407" cy="165100"/>
          </a:xfrm>
        </p:grpSpPr>
        <p:cxnSp>
          <p:nvCxnSpPr>
            <p:cNvPr id="6" name="Connector 5"/>
            <p:cNvCxnSpPr/>
            <p:nvPr/>
          </p:nvCxnSpPr>
          <p:spPr>
            <a:xfrm>
              <a:off x="548640" y="1923898"/>
              <a:ext cx="237744" cy="0"/>
            </a:xfrm>
            <a:prstGeom prst="line">
              <a:avLst/>
            </a:prstGeom>
            <a:ln w="28575" cap="rnd">
              <a:solidFill>
                <a:srgbClr val="2A78D6"/>
              </a:solidFill>
              <a:round/>
            </a:ln>
          </p:spPr>
        </p:cxnSp>
        <p:sp>
          <p:nvSpPr>
            <p:cNvPr id="7" name="TextBox 6"/>
            <p:cNvSpPr txBox="1"/>
            <p:nvPr/>
          </p:nvSpPr>
          <p:spPr>
            <a:xfrm>
              <a:off x="859536" y="1841348"/>
              <a:ext cx="413512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Hà Nội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1519936" y="1923898"/>
              <a:ext cx="237744" cy="0"/>
            </a:xfrm>
            <a:prstGeom prst="line">
              <a:avLst/>
            </a:prstGeom>
            <a:ln w="28575" cap="rnd">
              <a:solidFill>
                <a:srgbClr val="EB6834"/>
              </a:solidFill>
              <a:round/>
            </a:ln>
          </p:spPr>
        </p:cxnSp>
        <p:sp>
          <p:nvSpPr>
            <p:cNvPr id="9" name="TextBox 8"/>
            <p:cNvSpPr txBox="1"/>
            <p:nvPr/>
          </p:nvSpPr>
          <p:spPr>
            <a:xfrm>
              <a:off x="1830832" y="1841348"/>
              <a:ext cx="547116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Bắc Ninh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624836" y="1923898"/>
              <a:ext cx="237744" cy="0"/>
            </a:xfrm>
            <a:prstGeom prst="line">
              <a:avLst/>
            </a:prstGeom>
            <a:ln w="28575" cap="rnd">
              <a:solidFill>
                <a:srgbClr val="008300"/>
              </a:solidFill>
              <a:round/>
            </a:ln>
          </p:spPr>
        </p:cxnSp>
        <p:sp>
          <p:nvSpPr>
            <p:cNvPr id="11" name="TextBox 10"/>
            <p:cNvSpPr txBox="1"/>
            <p:nvPr/>
          </p:nvSpPr>
          <p:spPr>
            <a:xfrm>
              <a:off x="2935732" y="1841348"/>
              <a:ext cx="488315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Đắk Lắk</a:t>
              </a:r>
            </a:p>
          </p:txBody>
        </p:sp>
      </p:grpSp>
      <p:graphicFrame>
        <p:nvGraphicFramePr>
          <p:cNvPr id="12" name="Chart · radar"/>
          <p:cNvGraphicFramePr>
            <a:graphicFrameLocks noGrp="1"/>
          </p:cNvGraphicFramePr>
          <p:nvPr/>
        </p:nvGraphicFramePr>
        <p:xfrm>
          <a:off x="3800140" y="2143354"/>
          <a:ext cx="4591416" cy="270083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081930"/>
            <a:ext cx="6395542" cy="11908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Mỗi trục là tỷ trọng một khối ngành trong GRDP 2025; hình càng lệch về trục nào, ngành đó càng lớn.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Mạng nhện khó đọc giá trị chính xác và thứ tự trục làm đổi hình; dùng để so hình dạng, còn so số thì dùng thanh 100%.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5" name="TextBox 14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NSO và cục thống kê địa phương — cơ cấu GRDP 2025, giá hiện hành.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48640"/>
            <a:ext cx="11094415" cy="0"/>
          </a:xfrm>
          <a:prstGeom prst="line">
            <a:avLst/>
          </a:prstGeom>
          <a:ln w="15875" cap="flat">
            <a:solidFill>
              <a:srgbClr val="16181D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141732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1000" b="0" i="0" lang="vi-VN">
                <a:solidFill>
                  <a:srgbClr val="C2362F"/>
                </a:solidFill>
                <a:latin typeface="Newsreader SemiBold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4732249" cy="6675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0" i="0" lang="vi-VN">
                <a:solidFill>
                  <a:srgbClr val="16181D"/>
                </a:solidFill>
                <a:latin typeface="Newsreader SemiBold"/>
              </a:rPr>
              <a:t>Tiến độ, lưới và bản đồ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67912"/>
            <a:ext cx="5455768" cy="6492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500" b="0" i="0" lang="vi-VN">
                <a:solidFill>
                  <a:srgbClr val="5B6170"/>
                </a:solidFill>
                <a:latin typeface="IBM Plex Sans"/>
              </a:rPr>
              <a:t>So với mục tiêu, nhiều ô nhỏ, bảng có biểu đồ, bản đồ nhiệt và bản đồ ô.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66837" y="1554480"/>
            <a:ext cx="357621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lang="vi-VN" spc="120">
                <a:solidFill>
                  <a:srgbClr val="5B6170"/>
                </a:solidFill>
                <a:latin typeface="IBM Plex Sans SemiBold"/>
              </a:rPr>
              <a:t>TRONG CHƯƠNG NÀY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066837" y="1920240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8" name="TextBox 7"/>
          <p:cNvSpPr txBox="1"/>
          <p:nvPr/>
        </p:nvSpPr>
        <p:spPr>
          <a:xfrm>
            <a:off x="8066837" y="2002536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Bullet và đồng hồ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66837" y="2377821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0" name="TextBox 9"/>
          <p:cNvSpPr txBox="1"/>
          <p:nvPr/>
        </p:nvSpPr>
        <p:spPr>
          <a:xfrm>
            <a:off x="8066837" y="2460117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Sáu dòng tiền: nhiều ô nhỏ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66837" y="2835402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2" name="TextBox 11"/>
          <p:cNvSpPr txBox="1"/>
          <p:nvPr/>
        </p:nvSpPr>
        <p:spPr>
          <a:xfrm>
            <a:off x="8066837" y="2917698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Bảng chỉ số ngân hàng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66837" y="3292983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4" name="TextBox 13"/>
          <p:cNvSpPr txBox="1"/>
          <p:nvPr/>
        </p:nvSpPr>
        <p:spPr>
          <a:xfrm>
            <a:off x="8066837" y="3375279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Bản đồ nhiệt, lịch nhiệt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66837" y="3750564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6" name="TextBox 15"/>
          <p:cNvSpPr txBox="1"/>
          <p:nvPr/>
        </p:nvSpPr>
        <p:spPr>
          <a:xfrm>
            <a:off x="8066837" y="3832860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Bản đồ ô 34 địa phương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8" name="TextBox 17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6 · TIẾN ĐỘ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6235381" cy="84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Chín tháng: GDP đạt 9,01% so với mục tiêu từ 10%; thu ngân sách đạt 86% dự toán</a:t>
            </a:r>
          </a:p>
        </p:txBody>
      </p:sp>
      <p:grpSp>
        <p:nvGrpSpPr>
          <p:cNvPr id="5" name="Bullet labels"/>
          <p:cNvGrpSpPr/>
          <p:nvPr/>
        </p:nvGrpSpPr>
        <p:grpSpPr>
          <a:xfrm>
            <a:off x="548640" y="1837220"/>
            <a:ext cx="11094415" cy="1404176"/>
            <a:chOff x="548640" y="1837220"/>
            <a:chExt cx="11094415" cy="1404176"/>
          </a:xfrm>
        </p:grpSpPr>
        <p:sp>
          <p:nvSpPr>
            <p:cNvPr id="6" name="Rounded Rectangle 5"/>
            <p:cNvSpPr/>
            <p:nvPr/>
          </p:nvSpPr>
          <p:spPr>
            <a:xfrm>
              <a:off x="548640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16181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49808" y="1837220"/>
              <a:ext cx="622440" cy="17335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50" b="0" i="0" lang="vi-VN">
                  <a:solidFill>
                    <a:srgbClr val="16181D"/>
                  </a:solidFill>
                  <a:latin typeface="IBM Plex Sans Medium"/>
                </a:rPr>
                <a:t>Thực hiện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619136" y="1901038"/>
              <a:ext cx="128016" cy="45720"/>
            </a:xfrm>
            <a:prstGeom prst="rect">
              <a:avLst/>
            </a:prstGeom>
            <a:solidFill>
              <a:srgbClr val="C2362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820304" y="1837220"/>
              <a:ext cx="548164" cy="17335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50" b="0" i="0" lang="vi-VN">
                  <a:solidFill>
                    <a:srgbClr val="16181D"/>
                  </a:solidFill>
                  <a:latin typeface="IBM Plex Sans Medium"/>
                </a:rPr>
                <a:t>Mục tiêu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615355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D9D7C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816523" y="1837220"/>
              <a:ext cx="1049160" cy="17335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50" b="0" i="0" lang="vi-VN">
                  <a:solidFill>
                    <a:srgbClr val="16181D"/>
                  </a:solidFill>
                  <a:latin typeface="IBM Plex Sans Medium"/>
                </a:rPr>
                <a:t>Vùng tham chiếu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548640" y="2198218"/>
              <a:ext cx="1962851" cy="0"/>
            </a:xfrm>
            <a:prstGeom prst="line">
              <a:avLst/>
            </a:prstGeom>
            <a:ln w="15875" cap="flat">
              <a:solidFill>
                <a:srgbClr val="16181D"/>
              </a:solidFill>
              <a:round/>
            </a:ln>
          </p:spPr>
        </p:cxnSp>
        <p:sp>
          <p:nvSpPr>
            <p:cNvPr id="13" name="TextBox 12"/>
            <p:cNvSpPr txBox="1"/>
            <p:nvPr/>
          </p:nvSpPr>
          <p:spPr>
            <a:xfrm>
              <a:off x="548640" y="2271370"/>
              <a:ext cx="1962851" cy="17602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1100" b="0" i="0" lang="vi-VN">
                  <a:solidFill>
                    <a:srgbClr val="16181D"/>
                  </a:solidFill>
                  <a:latin typeface="IBM Plex Sans SemiBold"/>
                </a:rPr>
                <a:t>Tăng trưởng GDP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48640" y="2529180"/>
              <a:ext cx="819912" cy="3302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2000" b="1" i="0" lang="vi-VN">
                  <a:solidFill>
                    <a:srgbClr val="16181D"/>
                  </a:solidFill>
                  <a:latin typeface="IBM Plex Sans"/>
                </a:rPr>
                <a:t>9,01%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48640" y="2922880"/>
              <a:ext cx="1962851" cy="31851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9 tháng; mục tiêu từ 10%; vùng đậm = dự báo IMF–ADB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2831531" y="2198218"/>
              <a:ext cx="1962851" cy="0"/>
            </a:xfrm>
            <a:prstGeom prst="line">
              <a:avLst/>
            </a:prstGeom>
            <a:ln w="15875" cap="flat">
              <a:solidFill>
                <a:srgbClr val="16181D"/>
              </a:solidFill>
              <a:round/>
            </a:ln>
          </p:spPr>
        </p:cxnSp>
        <p:sp>
          <p:nvSpPr>
            <p:cNvPr id="18" name="TextBox 17"/>
            <p:cNvSpPr txBox="1"/>
            <p:nvPr/>
          </p:nvSpPr>
          <p:spPr>
            <a:xfrm>
              <a:off x="2831531" y="2271370"/>
              <a:ext cx="1962851" cy="17602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1100" b="0" i="0" lang="vi-VN">
                  <a:solidFill>
                    <a:srgbClr val="16181D"/>
                  </a:solidFill>
                  <a:latin typeface="IBM Plex Sans SemiBold"/>
                </a:rPr>
                <a:t>Lạm phát bình quân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831531" y="2529180"/>
              <a:ext cx="819912" cy="3302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2000" b="1" i="0" lang="vi-VN">
                  <a:solidFill>
                    <a:srgbClr val="16181D"/>
                  </a:solidFill>
                  <a:latin typeface="IBM Plex Sans"/>
                </a:rPr>
                <a:t>4,52%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831531" y="2922880"/>
              <a:ext cx="1962851" cy="15925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trần 4,5% — vượt 0,02 điểm %</a:t>
              </a:r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5114422" y="2198218"/>
              <a:ext cx="1962851" cy="0"/>
            </a:xfrm>
            <a:prstGeom prst="line">
              <a:avLst/>
            </a:prstGeom>
            <a:ln w="15875" cap="flat">
              <a:solidFill>
                <a:srgbClr val="16181D"/>
              </a:solidFill>
              <a:round/>
            </a:ln>
          </p:spPr>
        </p:cxnSp>
        <p:sp>
          <p:nvSpPr>
            <p:cNvPr id="23" name="TextBox 22"/>
            <p:cNvSpPr txBox="1"/>
            <p:nvPr/>
          </p:nvSpPr>
          <p:spPr>
            <a:xfrm>
              <a:off x="5114422" y="2271370"/>
              <a:ext cx="1962851" cy="17602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1100" b="0" i="0" lang="vi-VN">
                  <a:solidFill>
                    <a:srgbClr val="16181D"/>
                  </a:solidFill>
                  <a:latin typeface="IBM Plex Sans SemiBold"/>
                </a:rPr>
                <a:t>Tín dụng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114422" y="2529180"/>
              <a:ext cx="972312" cy="3302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2000" b="1" i="0" lang="vi-VN">
                  <a:solidFill>
                    <a:srgbClr val="16181D"/>
                  </a:solidFill>
                  <a:latin typeface="IBM Plex Sans"/>
                </a:rPr>
                <a:t>11,59%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114422" y="2922880"/>
              <a:ext cx="1962851" cy="15925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từ đầu năm; = 77% định hướng 15%</a:t>
              </a:r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7397313" y="2198218"/>
              <a:ext cx="1962851" cy="0"/>
            </a:xfrm>
            <a:prstGeom prst="line">
              <a:avLst/>
            </a:prstGeom>
            <a:ln w="15875" cap="flat">
              <a:solidFill>
                <a:srgbClr val="16181D"/>
              </a:solidFill>
              <a:round/>
            </a:ln>
          </p:spPr>
        </p:cxnSp>
        <p:sp>
          <p:nvSpPr>
            <p:cNvPr id="28" name="TextBox 27"/>
            <p:cNvSpPr txBox="1"/>
            <p:nvPr/>
          </p:nvSpPr>
          <p:spPr>
            <a:xfrm>
              <a:off x="7397313" y="2271370"/>
              <a:ext cx="1962851" cy="17602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1100" b="0" i="0" lang="vi-VN">
                  <a:solidFill>
                    <a:srgbClr val="16181D"/>
                  </a:solidFill>
                  <a:latin typeface="IBM Plex Sans SemiBold"/>
                </a:rPr>
                <a:t>Thu ngân sách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97313" y="2529180"/>
              <a:ext cx="724916" cy="3302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2000" b="1" i="0" lang="vi-VN">
                  <a:solidFill>
                    <a:srgbClr val="16181D"/>
                  </a:solidFill>
                  <a:latin typeface="IBM Plex Sans"/>
                </a:rPr>
                <a:t>2.187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97313" y="2922880"/>
              <a:ext cx="1962851" cy="15925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nghìn tỷ; = 86,5% dự toán 2.529</a:t>
              </a:r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9680204" y="2198218"/>
              <a:ext cx="1962851" cy="0"/>
            </a:xfrm>
            <a:prstGeom prst="line">
              <a:avLst/>
            </a:prstGeom>
            <a:ln w="15875" cap="flat">
              <a:solidFill>
                <a:srgbClr val="16181D"/>
              </a:solidFill>
              <a:round/>
            </a:ln>
          </p:spPr>
        </p:cxnSp>
        <p:sp>
          <p:nvSpPr>
            <p:cNvPr id="33" name="TextBox 32"/>
            <p:cNvSpPr txBox="1"/>
            <p:nvPr/>
          </p:nvSpPr>
          <p:spPr>
            <a:xfrm>
              <a:off x="9680204" y="2271370"/>
              <a:ext cx="1962851" cy="17602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1100" b="0" i="0" lang="vi-VN">
                  <a:solidFill>
                    <a:srgbClr val="16181D"/>
                  </a:solidFill>
                  <a:latin typeface="IBM Plex Sans SemiBold"/>
                </a:rPr>
                <a:t>FDI giải ngân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680204" y="2529180"/>
              <a:ext cx="724916" cy="3302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2000" b="1" i="0" lang="vi-VN">
                  <a:solidFill>
                    <a:srgbClr val="16181D"/>
                  </a:solidFill>
                  <a:latin typeface="IBM Plex Sans"/>
                </a:rPr>
                <a:t>21,07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680204" y="2922880"/>
              <a:ext cx="1962851" cy="31851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tỷ USD; = 70% mức thấp của mục tiêu 30–40</a:t>
              </a:r>
            </a:p>
          </p:txBody>
        </p:sp>
      </p:grpSp>
      <p:graphicFrame>
        <p:nvGraphicFramePr>
          <p:cNvPr id="16" name="Chart · bullet"/>
          <p:cNvGraphicFramePr>
            <a:graphicFrameLocks noGrp="1"/>
          </p:cNvGraphicFramePr>
          <p:nvPr/>
        </p:nvGraphicFramePr>
        <p:xfrm>
          <a:off x="548640" y="3478378"/>
          <a:ext cx="1962851" cy="136580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1" name="Chart · bullet"/>
          <p:cNvGraphicFramePr>
            <a:graphicFrameLocks noGrp="1"/>
          </p:cNvGraphicFramePr>
          <p:nvPr/>
        </p:nvGraphicFramePr>
        <p:xfrm>
          <a:off x="2831531" y="3478378"/>
          <a:ext cx="1962851" cy="136580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6" name="Chart · bullet"/>
          <p:cNvGraphicFramePr>
            <a:graphicFrameLocks noGrp="1"/>
          </p:cNvGraphicFramePr>
          <p:nvPr/>
        </p:nvGraphicFramePr>
        <p:xfrm>
          <a:off x="5114422" y="3478378"/>
          <a:ext cx="1962851" cy="136580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31" name="Chart · bullet"/>
          <p:cNvGraphicFramePr>
            <a:graphicFrameLocks noGrp="1"/>
          </p:cNvGraphicFramePr>
          <p:nvPr/>
        </p:nvGraphicFramePr>
        <p:xfrm>
          <a:off x="7397313" y="3478378"/>
          <a:ext cx="1962851" cy="1365809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36" name="Chart · bullet"/>
          <p:cNvGraphicFramePr>
            <a:graphicFrameLocks noGrp="1"/>
          </p:cNvGraphicFramePr>
          <p:nvPr/>
        </p:nvGraphicFramePr>
        <p:xfrm>
          <a:off x="9680204" y="3478378"/>
          <a:ext cx="1962851" cy="1365809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548640" y="5081930"/>
            <a:ext cx="6395542" cy="11908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Sau chín tháng, thu ngân sách đã đạt 86,5% dự toán; lạm phát bình quân 4,52%, vượt trần 4,5%.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So sánh số 9 tháng với mục tiêu cả năm chỉ cho biết tiến độ, không phải kết quả cả năm.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39" name="TextBox 38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NSO (03/10/2026); NHNN; Bộ Tài chính; Quốc hội — NQ 244/2025/QH15; Bộ Chính trị — NQ 10-NQ/TW; IMF WEO 4/2026; ADB ADO 9/2026.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6 · THU NGÂN SÁCH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7973568" cy="4498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Chín tháng 2026 thu ngân sách đạt 86,5% dự toán cả năm</a:t>
            </a:r>
          </a:p>
        </p:txBody>
      </p:sp>
      <p:graphicFrame>
        <p:nvGraphicFramePr>
          <p:cNvPr id="5" name="Chart · gauge"/>
          <p:cNvGraphicFramePr>
            <a:graphicFrameLocks noGrp="1"/>
          </p:cNvGraphicFramePr>
          <p:nvPr/>
        </p:nvGraphicFramePr>
        <p:xfrm>
          <a:off x="1263884" y="2336841"/>
          <a:ext cx="5721949" cy="572194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6" name="Gauge labels"/>
          <p:cNvGrpSpPr/>
          <p:nvPr/>
        </p:nvGrpSpPr>
        <p:grpSpPr>
          <a:xfrm>
            <a:off x="1442851" y="3187732"/>
            <a:ext cx="5492327" cy="2271386"/>
            <a:chOff x="1442851" y="3187732"/>
            <a:chExt cx="5492327" cy="2271386"/>
          </a:xfrm>
        </p:grpSpPr>
        <p:sp>
          <p:nvSpPr>
            <p:cNvPr id="7" name="TextBox 6"/>
            <p:cNvSpPr txBox="1"/>
            <p:nvPr/>
          </p:nvSpPr>
          <p:spPr>
            <a:xfrm>
              <a:off x="3327806" y="4575007"/>
              <a:ext cx="1594104" cy="660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4000" b="1" i="0" lang="vi-VN">
                  <a:solidFill>
                    <a:srgbClr val="16181D"/>
                  </a:solidFill>
                  <a:latin typeface="IBM Plex Sans"/>
                </a:rPr>
                <a:t>86,5%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117736" y="5152730"/>
              <a:ext cx="2014245" cy="1816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100" b="0" i="0" lang="vi-VN">
                  <a:solidFill>
                    <a:srgbClr val="5B6170"/>
                  </a:solidFill>
                  <a:latin typeface="IBM Plex Sans"/>
                </a:rPr>
                <a:t>2.187,3 / 2.529,5 nghìn tỷ đồng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442851" y="5302273"/>
              <a:ext cx="99822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0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578733" y="5302273"/>
              <a:ext cx="356445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100%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 flipV="1">
              <a:off x="5427719" y="3187732"/>
              <a:ext cx="707222" cy="707223"/>
            </a:xfrm>
            <a:prstGeom prst="line">
              <a:avLst/>
            </a:prstGeom>
            <a:ln w="31750" cap="flat">
              <a:solidFill>
                <a:srgbClr val="C2362F"/>
              </a:solidFill>
              <a:round/>
            </a:ln>
          </p:spPr>
        </p:cxnSp>
      </p:grpSp>
      <p:sp>
        <p:nvSpPr>
          <p:cNvPr id="12" name="Rectangle 11"/>
          <p:cNvSpPr/>
          <p:nvPr/>
        </p:nvSpPr>
        <p:spPr>
          <a:xfrm>
            <a:off x="8066837" y="1755648"/>
            <a:ext cx="3576218" cy="443484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2869" y="2011680"/>
            <a:ext cx="306415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 lang="vi-VN" spc="100">
                <a:solidFill>
                  <a:srgbClr val="5B6170"/>
                </a:solidFill>
                <a:latin typeface="IBM Plex Sans SemiBold"/>
              </a:rPr>
              <a:t>CÁCH ĐỌC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2869" y="2304288"/>
            <a:ext cx="3064154" cy="5308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800" b="1" i="0" lang="vi-VN">
                <a:solidFill>
                  <a:srgbClr val="16181D"/>
                </a:solidFill>
                <a:latin typeface="IBM Plex Sans"/>
              </a:rPr>
              <a:t>+11,5</a:t>
            </a:r>
            <a:r>
              <a:rPr sz="1400" b="0" i="0" lang="vi-VN">
                <a:solidFill>
                  <a:srgbClr val="5B6170"/>
                </a:solidFill>
                <a:latin typeface="IBM Plex Sans SemiBold"/>
              </a:rPr>
              <a:t> điểm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2869" y="2926588"/>
            <a:ext cx="3064154" cy="4320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 i="0" lang="vi-VN">
                <a:solidFill>
                  <a:srgbClr val="5B6170"/>
                </a:solidFill>
                <a:latin typeface="IBM Plex Sans"/>
              </a:rPr>
              <a:t>Vạch đỏ ở 75% = mức "đều tay" sau 9/12 tháng. Thu vượt mức đều tay vì thuế dồn vào đầu năm.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22869" y="3541522"/>
            <a:ext cx="3064154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7" name="TextBox 16"/>
          <p:cNvSpPr txBox="1"/>
          <p:nvPr/>
        </p:nvSpPr>
        <p:spPr>
          <a:xfrm>
            <a:off x="8322869" y="3696970"/>
            <a:ext cx="3064154" cy="5626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Đã thu 2.187,3 nghìn tỷ trên dự toán 2.529,5 nghìn tỷ.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2869" y="4369359"/>
            <a:ext cx="3064154" cy="5193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200" b="0" i="0" lang="vi-VN">
                <a:solidFill>
                  <a:srgbClr val="5B6170"/>
                </a:solidFill>
                <a:latin typeface="IBM Plex Sans"/>
              </a:rPr>
              <a:t>Đồng hồ chỉ cho một con số so với một mốc; muốn so nhiều chỉ tiêu, dùng bullet.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20" name="TextBox 19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Bộ Tài chính — thu NSNN 9 tháng 2026 (NSO 03/10/2026); dự toán 2026 (Nghị quyết Quốc hội).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6 · SÁU DÒNG TIỀN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5527540" cy="84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Lỗi và sai sót âm cả 11/11 năm 2015–2025; FDI ròng dương mọi năm</a:t>
            </a:r>
          </a:p>
        </p:txBody>
      </p:sp>
      <p:grpSp>
        <p:nvGrpSpPr>
          <p:cNvPr id="5" name="Small multiples"/>
          <p:cNvGrpSpPr/>
          <p:nvPr/>
        </p:nvGrpSpPr>
        <p:grpSpPr>
          <a:xfrm>
            <a:off x="548640" y="1837220"/>
            <a:ext cx="11094415" cy="3236608"/>
            <a:chOff x="548640" y="1837220"/>
            <a:chExt cx="11094415" cy="3236608"/>
          </a:xfrm>
        </p:grpSpPr>
        <p:sp>
          <p:nvSpPr>
            <p:cNvPr id="6" name="Rounded Rectangle 5"/>
            <p:cNvSpPr/>
            <p:nvPr/>
          </p:nvSpPr>
          <p:spPr>
            <a:xfrm>
              <a:off x="548640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49808" y="1837220"/>
              <a:ext cx="1040359" cy="17335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50" b="0" i="0" lang="vi-VN">
                  <a:solidFill>
                    <a:srgbClr val="16181D"/>
                  </a:solidFill>
                  <a:latin typeface="IBM Plex Sans Medium"/>
                </a:rPr>
                <a:t>Tiền vào (dương)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037055" y="1859890"/>
              <a:ext cx="128016" cy="128016"/>
            </a:xfrm>
            <a:prstGeom prst="roundRect">
              <a:avLst>
                <a:gd name="adj" fmla="val 17857"/>
              </a:avLst>
            </a:prstGeom>
            <a:solidFill>
              <a:srgbClr val="E3494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238223" y="1837220"/>
              <a:ext cx="758723" cy="17335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50" b="0" i="0" lang="vi-VN">
                  <a:solidFill>
                    <a:srgbClr val="16181D"/>
                  </a:solidFill>
                  <a:latin typeface="IBM Plex Sans Medium"/>
                </a:rPr>
                <a:t>Tiền ra (âm)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548640" y="2106778"/>
              <a:ext cx="3454298" cy="0"/>
            </a:xfrm>
            <a:prstGeom prst="line">
              <a:avLst/>
            </a:prstGeom>
            <a:ln w="12700" cap="flat">
              <a:solidFill>
                <a:srgbClr val="16181D"/>
              </a:solidFill>
              <a:round/>
            </a:ln>
          </p:spPr>
        </p:cxnSp>
        <p:sp>
          <p:nvSpPr>
            <p:cNvPr id="11" name="TextBox 10"/>
            <p:cNvSpPr txBox="1"/>
            <p:nvPr/>
          </p:nvSpPr>
          <p:spPr>
            <a:xfrm>
              <a:off x="548640" y="2161642"/>
              <a:ext cx="980059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5B6170"/>
                  </a:solidFill>
                  <a:latin typeface="IBM Plex Sans SemiBold"/>
                </a:rPr>
                <a:t>Cán cân vãng lai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48640" y="2387067"/>
              <a:ext cx="1210374" cy="28067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700" b="0" i="0" lang="vi-VN">
                  <a:solidFill>
                    <a:srgbClr val="16181D"/>
                  </a:solidFill>
                  <a:latin typeface="IBM Plex Sans SemiBold"/>
                </a:rPr>
                <a:t>33,1</a:t>
              </a:r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 tỷ USD</a:t>
              </a:r>
              <a:r>
                <a:rPr sz="900" b="0" i="0" lang="vi-VN">
                  <a:solidFill>
                    <a:srgbClr val="8A8F99"/>
                  </a:solidFill>
                  <a:latin typeface="IBM Plex Sans"/>
                </a:rPr>
                <a:t>  2025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545738" y="2783434"/>
              <a:ext cx="149352" cy="1320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00" b="0" i="0" lang="vi-VN">
                  <a:solidFill>
                    <a:srgbClr val="8A8F99"/>
                  </a:solidFill>
                  <a:latin typeface="IBM Plex Sans"/>
                </a:rPr>
                <a:t>33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545738" y="3100019"/>
              <a:ext cx="149352" cy="1320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00" b="0" i="0" lang="vi-VN">
                  <a:solidFill>
                    <a:srgbClr val="8A8F99"/>
                  </a:solidFill>
                  <a:latin typeface="IBM Plex Sans"/>
                </a:rPr>
                <a:t>−5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48640" y="3296107"/>
              <a:ext cx="286512" cy="14033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50" b="0" i="0" lang="vi-VN">
                  <a:solidFill>
                    <a:srgbClr val="8A8F99"/>
                  </a:solidFill>
                  <a:latin typeface="IBM Plex Sans"/>
                </a:rPr>
                <a:t>2015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13506" y="3296107"/>
              <a:ext cx="286512" cy="14033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850" b="0" i="0" lang="vi-VN">
                  <a:solidFill>
                    <a:srgbClr val="8A8F99"/>
                  </a:solidFill>
                  <a:latin typeface="IBM Plex Sans"/>
                </a:rPr>
                <a:t>2025</a:t>
              </a:r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4368698" y="2106778"/>
              <a:ext cx="3454299" cy="0"/>
            </a:xfrm>
            <a:prstGeom prst="line">
              <a:avLst/>
            </a:prstGeom>
            <a:ln w="12700" cap="flat">
              <a:solidFill>
                <a:srgbClr val="16181D"/>
              </a:solidFill>
              <a:round/>
            </a:ln>
          </p:spPr>
        </p:cxnSp>
        <p:sp>
          <p:nvSpPr>
            <p:cNvPr id="19" name="TextBox 18"/>
            <p:cNvSpPr txBox="1"/>
            <p:nvPr/>
          </p:nvSpPr>
          <p:spPr>
            <a:xfrm>
              <a:off x="4368698" y="2161642"/>
              <a:ext cx="53721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5B6170"/>
                  </a:solidFill>
                  <a:latin typeface="IBM Plex Sans SemiBold"/>
                </a:rPr>
                <a:t>FDI ròng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368698" y="2387067"/>
              <a:ext cx="1210374" cy="28067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700" b="0" i="0" lang="vi-VN">
                  <a:solidFill>
                    <a:srgbClr val="16181D"/>
                  </a:solidFill>
                  <a:latin typeface="IBM Plex Sans SemiBold"/>
                </a:rPr>
                <a:t>21,3</a:t>
              </a:r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 tỷ USD</a:t>
              </a:r>
              <a:r>
                <a:rPr sz="900" b="0" i="0" lang="vi-VN">
                  <a:solidFill>
                    <a:srgbClr val="8A8F99"/>
                  </a:solidFill>
                  <a:latin typeface="IBM Plex Sans"/>
                </a:rPr>
                <a:t>  2025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365797" y="2783434"/>
              <a:ext cx="149352" cy="1320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00" b="0" i="0" lang="vi-VN">
                  <a:solidFill>
                    <a:srgbClr val="8A8F99"/>
                  </a:solidFill>
                  <a:latin typeface="IBM Plex Sans"/>
                </a:rPr>
                <a:t>21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368698" y="3296107"/>
              <a:ext cx="286512" cy="14033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50" b="0" i="0" lang="vi-VN">
                  <a:solidFill>
                    <a:srgbClr val="8A8F99"/>
                  </a:solidFill>
                  <a:latin typeface="IBM Plex Sans"/>
                </a:rPr>
                <a:t>2015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033565" y="3296107"/>
              <a:ext cx="286512" cy="14033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850" b="0" i="0" lang="vi-VN">
                  <a:solidFill>
                    <a:srgbClr val="8A8F99"/>
                  </a:solidFill>
                  <a:latin typeface="IBM Plex Sans"/>
                </a:rPr>
                <a:t>2025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8188757" y="2106778"/>
              <a:ext cx="3454298" cy="0"/>
            </a:xfrm>
            <a:prstGeom prst="line">
              <a:avLst/>
            </a:prstGeom>
            <a:ln w="12700" cap="flat">
              <a:solidFill>
                <a:srgbClr val="16181D"/>
              </a:solidFill>
              <a:round/>
            </a:ln>
          </p:spPr>
        </p:cxnSp>
        <p:sp>
          <p:nvSpPr>
            <p:cNvPr id="26" name="TextBox 25"/>
            <p:cNvSpPr txBox="1"/>
            <p:nvPr/>
          </p:nvSpPr>
          <p:spPr>
            <a:xfrm>
              <a:off x="8188757" y="2161642"/>
              <a:ext cx="1247902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5B6170"/>
                  </a:solidFill>
                  <a:latin typeface="IBM Plex Sans SemiBold"/>
                </a:rPr>
                <a:t>Đầu tư gián tiếp ròng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188757" y="2387067"/>
              <a:ext cx="1210374" cy="28067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700" b="0" i="0" lang="vi-VN">
                  <a:solidFill>
                    <a:srgbClr val="16181D"/>
                  </a:solidFill>
                  <a:latin typeface="IBM Plex Sans SemiBold"/>
                </a:rPr>
                <a:t>−4,9</a:t>
              </a:r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 tỷ USD</a:t>
              </a:r>
              <a:r>
                <a:rPr sz="900" b="0" i="0" lang="vi-VN">
                  <a:solidFill>
                    <a:srgbClr val="8A8F99"/>
                  </a:solidFill>
                  <a:latin typeface="IBM Plex Sans"/>
                </a:rPr>
                <a:t>  2025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185855" y="2783434"/>
              <a:ext cx="88392" cy="1320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00" b="0" i="0" lang="vi-VN">
                  <a:solidFill>
                    <a:srgbClr val="8A8F99"/>
                  </a:solidFill>
                  <a:latin typeface="IBM Plex Sans"/>
                </a:rPr>
                <a:t>3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1185855" y="3100019"/>
              <a:ext cx="149352" cy="1320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00" b="0" i="0" lang="vi-VN">
                  <a:solidFill>
                    <a:srgbClr val="8A8F99"/>
                  </a:solidFill>
                  <a:latin typeface="IBM Plex Sans"/>
                </a:rPr>
                <a:t>−6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188757" y="3296107"/>
              <a:ext cx="286512" cy="14033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50" b="0" i="0" lang="vi-VN">
                  <a:solidFill>
                    <a:srgbClr val="8A8F99"/>
                  </a:solidFill>
                  <a:latin typeface="IBM Plex Sans"/>
                </a:rPr>
                <a:t>2015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853623" y="3296107"/>
              <a:ext cx="286512" cy="14033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850" b="0" i="0" lang="vi-VN">
                  <a:solidFill>
                    <a:srgbClr val="8A8F99"/>
                  </a:solidFill>
                  <a:latin typeface="IBM Plex Sans"/>
                </a:rPr>
                <a:t>2025</a:t>
              </a:r>
            </a:p>
          </p:txBody>
        </p:sp>
        <p:cxnSp>
          <p:nvCxnSpPr>
            <p:cNvPr id="33" name="Connector 32"/>
            <p:cNvCxnSpPr/>
            <p:nvPr/>
          </p:nvCxnSpPr>
          <p:spPr>
            <a:xfrm>
              <a:off x="548640" y="3744163"/>
              <a:ext cx="3454298" cy="0"/>
            </a:xfrm>
            <a:prstGeom prst="line">
              <a:avLst/>
            </a:prstGeom>
            <a:ln w="12700" cap="flat">
              <a:solidFill>
                <a:srgbClr val="16181D"/>
              </a:solidFill>
              <a:round/>
            </a:ln>
          </p:spPr>
        </p:cxnSp>
        <p:sp>
          <p:nvSpPr>
            <p:cNvPr id="34" name="TextBox 33"/>
            <p:cNvSpPr txBox="1"/>
            <p:nvPr/>
          </p:nvSpPr>
          <p:spPr>
            <a:xfrm>
              <a:off x="548640" y="3799027"/>
              <a:ext cx="1020826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5B6170"/>
                  </a:solidFill>
                  <a:latin typeface="IBM Plex Sans SemiBold"/>
                </a:rPr>
                <a:t>Đầu tư khác ròng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48640" y="4024452"/>
              <a:ext cx="1339914" cy="28067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700" b="0" i="0" lang="vi-VN">
                  <a:solidFill>
                    <a:srgbClr val="16181D"/>
                  </a:solidFill>
                  <a:latin typeface="IBM Plex Sans SemiBold"/>
                </a:rPr>
                <a:t>−19,8</a:t>
              </a:r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 tỷ USD</a:t>
              </a:r>
              <a:r>
                <a:rPr sz="900" b="0" i="0" lang="vi-VN">
                  <a:solidFill>
                    <a:srgbClr val="8A8F99"/>
                  </a:solidFill>
                  <a:latin typeface="IBM Plex Sans"/>
                </a:rPr>
                <a:t>  2025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45738" y="4420819"/>
              <a:ext cx="149352" cy="1320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00" b="0" i="0" lang="vi-VN">
                  <a:solidFill>
                    <a:srgbClr val="8A8F99"/>
                  </a:solidFill>
                  <a:latin typeface="IBM Plex Sans"/>
                </a:rPr>
                <a:t>15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545738" y="4737405"/>
              <a:ext cx="210312" cy="1320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00" b="0" i="0" lang="vi-VN">
                  <a:solidFill>
                    <a:srgbClr val="8A8F99"/>
                  </a:solidFill>
                  <a:latin typeface="IBM Plex Sans"/>
                </a:rPr>
                <a:t>−22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48640" y="4933493"/>
              <a:ext cx="286512" cy="14033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50" b="0" i="0" lang="vi-VN">
                  <a:solidFill>
                    <a:srgbClr val="8A8F99"/>
                  </a:solidFill>
                  <a:latin typeface="IBM Plex Sans"/>
                </a:rPr>
                <a:t>2015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213506" y="4933493"/>
              <a:ext cx="286512" cy="14033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850" b="0" i="0" lang="vi-VN">
                  <a:solidFill>
                    <a:srgbClr val="8A8F99"/>
                  </a:solidFill>
                  <a:latin typeface="IBM Plex Sans"/>
                </a:rPr>
                <a:t>2025</a:t>
              </a:r>
            </a:p>
          </p:txBody>
        </p:sp>
        <p:cxnSp>
          <p:nvCxnSpPr>
            <p:cNvPr id="41" name="Connector 40"/>
            <p:cNvCxnSpPr/>
            <p:nvPr/>
          </p:nvCxnSpPr>
          <p:spPr>
            <a:xfrm>
              <a:off x="4368698" y="3744163"/>
              <a:ext cx="3454299" cy="0"/>
            </a:xfrm>
            <a:prstGeom prst="line">
              <a:avLst/>
            </a:prstGeom>
            <a:ln w="12700" cap="flat">
              <a:solidFill>
                <a:srgbClr val="16181D"/>
              </a:solidFill>
              <a:round/>
            </a:ln>
          </p:spPr>
        </p:cxnSp>
        <p:sp>
          <p:nvSpPr>
            <p:cNvPr id="42" name="TextBox 41"/>
            <p:cNvSpPr txBox="1"/>
            <p:nvPr/>
          </p:nvSpPr>
          <p:spPr>
            <a:xfrm>
              <a:off x="4368698" y="3799027"/>
              <a:ext cx="779145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5B6170"/>
                  </a:solidFill>
                  <a:latin typeface="IBM Plex Sans SemiBold"/>
                </a:rPr>
                <a:t>Lỗi và sai sót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368698" y="4024452"/>
              <a:ext cx="1339914" cy="28067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700" b="0" i="0" lang="vi-VN">
                  <a:solidFill>
                    <a:srgbClr val="16181D"/>
                  </a:solidFill>
                  <a:latin typeface="IBM Plex Sans SemiBold"/>
                </a:rPr>
                <a:t>−25,9</a:t>
              </a:r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 tỷ USD</a:t>
              </a:r>
              <a:r>
                <a:rPr sz="900" b="0" i="0" lang="vi-VN">
                  <a:solidFill>
                    <a:srgbClr val="8A8F99"/>
                  </a:solidFill>
                  <a:latin typeface="IBM Plex Sans"/>
                </a:rPr>
                <a:t>  2025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365797" y="4420819"/>
              <a:ext cx="88392" cy="1320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00" b="0" i="0" lang="vi-VN">
                  <a:solidFill>
                    <a:srgbClr val="8A8F99"/>
                  </a:solidFill>
                  <a:latin typeface="IBM Plex Sans"/>
                </a:rPr>
                <a:t>0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365797" y="4737405"/>
              <a:ext cx="210312" cy="1320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00" b="0" i="0" lang="vi-VN">
                  <a:solidFill>
                    <a:srgbClr val="8A8F99"/>
                  </a:solidFill>
                  <a:latin typeface="IBM Plex Sans"/>
                </a:rPr>
                <a:t>−34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368698" y="4933493"/>
              <a:ext cx="286512" cy="14033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50" b="0" i="0" lang="vi-VN">
                  <a:solidFill>
                    <a:srgbClr val="8A8F99"/>
                  </a:solidFill>
                  <a:latin typeface="IBM Plex Sans"/>
                </a:rPr>
                <a:t>2015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033565" y="4933493"/>
              <a:ext cx="286512" cy="14033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850" b="0" i="0" lang="vi-VN">
                  <a:solidFill>
                    <a:srgbClr val="8A8F99"/>
                  </a:solidFill>
                  <a:latin typeface="IBM Plex Sans"/>
                </a:rPr>
                <a:t>2025</a:t>
              </a:r>
            </a:p>
          </p:txBody>
        </p:sp>
        <p:cxnSp>
          <p:nvCxnSpPr>
            <p:cNvPr id="49" name="Connector 48"/>
            <p:cNvCxnSpPr/>
            <p:nvPr/>
          </p:nvCxnSpPr>
          <p:spPr>
            <a:xfrm>
              <a:off x="8188757" y="3744163"/>
              <a:ext cx="3454298" cy="0"/>
            </a:xfrm>
            <a:prstGeom prst="line">
              <a:avLst/>
            </a:prstGeom>
            <a:ln w="12700" cap="flat">
              <a:solidFill>
                <a:srgbClr val="16181D"/>
              </a:solidFill>
              <a:round/>
            </a:ln>
          </p:spPr>
        </p:cxnSp>
        <p:sp>
          <p:nvSpPr>
            <p:cNvPr id="50" name="TextBox 49"/>
            <p:cNvSpPr txBox="1"/>
            <p:nvPr/>
          </p:nvSpPr>
          <p:spPr>
            <a:xfrm>
              <a:off x="8188757" y="3799027"/>
              <a:ext cx="909193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5B6170"/>
                  </a:solidFill>
                  <a:latin typeface="IBM Plex Sans SemiBold"/>
                </a:rPr>
                <a:t>Thay đổi dự trữ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188757" y="4024452"/>
              <a:ext cx="1080834" cy="28067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700" b="0" i="0" lang="vi-VN">
                  <a:solidFill>
                    <a:srgbClr val="16181D"/>
                  </a:solidFill>
                  <a:latin typeface="IBM Plex Sans SemiBold"/>
                </a:rPr>
                <a:t>3,9</a:t>
              </a:r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 tỷ USD</a:t>
              </a:r>
              <a:r>
                <a:rPr sz="900" b="0" i="0" lang="vi-VN">
                  <a:solidFill>
                    <a:srgbClr val="8A8F99"/>
                  </a:solidFill>
                  <a:latin typeface="IBM Plex Sans"/>
                </a:rPr>
                <a:t>  2025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1185855" y="4420819"/>
              <a:ext cx="149352" cy="1320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00" b="0" i="0" lang="vi-VN">
                  <a:solidFill>
                    <a:srgbClr val="8A8F99"/>
                  </a:solidFill>
                  <a:latin typeface="IBM Plex Sans"/>
                </a:rPr>
                <a:t>23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1185855" y="4737405"/>
              <a:ext cx="210312" cy="1320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00" b="0" i="0" lang="vi-VN">
                  <a:solidFill>
                    <a:srgbClr val="8A8F99"/>
                  </a:solidFill>
                  <a:latin typeface="IBM Plex Sans"/>
                </a:rPr>
                <a:t>−23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188757" y="4933493"/>
              <a:ext cx="286512" cy="14033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50" b="0" i="0" lang="vi-VN">
                  <a:solidFill>
                    <a:srgbClr val="8A8F99"/>
                  </a:solidFill>
                  <a:latin typeface="IBM Plex Sans"/>
                </a:rPr>
                <a:t>2015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0853623" y="4933493"/>
              <a:ext cx="286512" cy="14033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850" b="0" i="0" lang="vi-VN">
                  <a:solidFill>
                    <a:srgbClr val="8A8F99"/>
                  </a:solidFill>
                  <a:latin typeface="IBM Plex Sans"/>
                </a:rPr>
                <a:t>2025</a:t>
              </a:r>
            </a:p>
          </p:txBody>
        </p:sp>
      </p:grpSp>
      <p:graphicFrame>
        <p:nvGraphicFramePr>
          <p:cNvPr id="13" name="Chart · mini"/>
          <p:cNvGraphicFramePr>
            <a:graphicFrameLocks noGrp="1"/>
          </p:cNvGraphicFramePr>
          <p:nvPr/>
        </p:nvGraphicFramePr>
        <p:xfrm>
          <a:off x="548640" y="2765146"/>
          <a:ext cx="2951378" cy="48524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1" name="Chart · mini"/>
          <p:cNvGraphicFramePr>
            <a:graphicFrameLocks noGrp="1"/>
          </p:cNvGraphicFramePr>
          <p:nvPr/>
        </p:nvGraphicFramePr>
        <p:xfrm>
          <a:off x="4368698" y="2765146"/>
          <a:ext cx="2951378" cy="48524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8" name="Chart · mini"/>
          <p:cNvGraphicFramePr>
            <a:graphicFrameLocks noGrp="1"/>
          </p:cNvGraphicFramePr>
          <p:nvPr/>
        </p:nvGraphicFramePr>
        <p:xfrm>
          <a:off x="8188757" y="2765146"/>
          <a:ext cx="2951378" cy="48524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36" name="Chart · mini"/>
          <p:cNvGraphicFramePr>
            <a:graphicFrameLocks noGrp="1"/>
          </p:cNvGraphicFramePr>
          <p:nvPr/>
        </p:nvGraphicFramePr>
        <p:xfrm>
          <a:off x="548640" y="4402531"/>
          <a:ext cx="2951378" cy="48524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44" name="Chart · mini"/>
          <p:cNvGraphicFramePr>
            <a:graphicFrameLocks noGrp="1"/>
          </p:cNvGraphicFramePr>
          <p:nvPr/>
        </p:nvGraphicFramePr>
        <p:xfrm>
          <a:off x="4368698" y="4402531"/>
          <a:ext cx="2951378" cy="485242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52" name="Chart · mini"/>
          <p:cNvGraphicFramePr>
            <a:graphicFrameLocks noGrp="1"/>
          </p:cNvGraphicFramePr>
          <p:nvPr/>
        </p:nvGraphicFramePr>
        <p:xfrm>
          <a:off x="8188757" y="4402531"/>
          <a:ext cx="2951378" cy="485242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57" name="TextBox 56"/>
          <p:cNvSpPr txBox="1"/>
          <p:nvPr/>
        </p:nvSpPr>
        <p:spPr>
          <a:xfrm>
            <a:off x="548640" y="5363261"/>
            <a:ext cx="6395542" cy="9095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Lỗi và sai sót lớn nhất năm 2022 (−33,6 tỷ USD); dự trữ giảm 22,7 tỷ cùng năm.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Mỗi ô một biểu đồ gốc với thang đo riêng: so sánh hình dạng, không so độ cao giữa các ô.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59" name="TextBox 58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IMF Balance of Payments (BPM6) theo số NHNN, 2015–2025, tỷ USD.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6 · SỨC KHOẺ NGÂN HÀNG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8863584" cy="4498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Nợ xấu 4,21% năm 2025, gấp 1,5 lần năm 2015; ROE lên 19,9%</a:t>
            </a:r>
          </a:p>
        </p:txBody>
      </p:sp>
      <p:graphicFrame>
        <p:nvGraphicFramePr>
          <p:cNvPr id="5" name="Sparkline table"/>
          <p:cNvGraphicFramePr>
            <a:graphicFrameLocks noGrp="1"/>
          </p:cNvGraphicFramePr>
          <p:nvPr/>
        </p:nvGraphicFramePr>
        <p:xfrm>
          <a:off x="548640" y="1755648"/>
          <a:ext cx="11094415" cy="30702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772101"/>
                <a:gridCol w="3772101"/>
                <a:gridCol w="1553218"/>
                <a:gridCol w="1996995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 SemiBold"/>
                        </a:rPr>
                        <a:t>CHỈ TIÊU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 SemiBold"/>
                        </a:rPr>
                        <a:t>DIỄN BIẾN 2015–2025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 SemiBold"/>
                        </a:rPr>
                        <a:t>2025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 SemiBold"/>
                        </a:rPr>
                        <a:t>SO VỚI 2015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6181D"/>
                      </a:solidFill>
                    </a:lnB>
                    <a:noFill/>
                  </a:tcPr>
                </a:tc>
              </a:tr>
              <a:tr h="39680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Nợ xấu / dư nợ</a:t>
                      </a:r>
                    </a:p>
                    <a:p>
                      <a:pPr algn="l"/>
                      <a:r>
                        <a:rPr sz="850" b="0" i="0" lang="vi-VN">
                          <a:solidFill>
                            <a:srgbClr val="8A8F99"/>
                          </a:solidFill>
                          <a:latin typeface="IBM Plex Sans"/>
                        </a:rPr>
                        <a:t>IMF FSI, %</a:t>
                      </a:r>
                    </a:p>
                  </a:txBody>
                  <a:tcPr marL="73152" marR="73152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 lang="vi-VN">
                          <a:solidFill>
                            <a:srgbClr val="16181D"/>
                          </a:solidFill>
                          <a:latin typeface="IBM Plex Sans SemiBold"/>
                        </a:rPr>
                        <a:t>4,21%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>+1,45 đ.%</a:t>
                      </a:r>
                    </a:p>
                  </a:txBody>
                  <a:tcPr marL="73152" marR="73152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39680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Hệ số an toàn vốn (CAR)</a:t>
                      </a:r>
                    </a:p>
                    <a:p>
                      <a:pPr algn="l"/>
                      <a:r>
                        <a:rPr sz="850" b="0" i="0" lang="vi-VN">
                          <a:solidFill>
                            <a:srgbClr val="8A8F99"/>
                          </a:solidFill>
                          <a:latin typeface="IBM Plex Sans"/>
                        </a:rPr>
                        <a:t>IMF FSI, %</a:t>
                      </a:r>
                    </a:p>
                  </a:txBody>
                  <a:tcPr marL="73152" marR="73152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 lang="vi-VN">
                          <a:solidFill>
                            <a:srgbClr val="16181D"/>
                          </a:solidFill>
                          <a:latin typeface="IBM Plex Sans SemiBold"/>
                        </a:rPr>
                        <a:t>12,06%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>−0,71 đ.%</a:t>
                      </a:r>
                    </a:p>
                  </a:txBody>
                  <a:tcPr marL="73152" marR="73152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</a:tr>
              <a:tr h="39680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Dự phòng / nợ xấu</a:t>
                      </a:r>
                    </a:p>
                    <a:p>
                      <a:pPr algn="l"/>
                      <a:r>
                        <a:rPr sz="850" b="0" i="0" lang="vi-VN">
                          <a:solidFill>
                            <a:srgbClr val="8A8F99"/>
                          </a:solidFill>
                          <a:latin typeface="IBM Plex Sans"/>
                        </a:rPr>
                        <a:t>IMF FSI, %</a:t>
                      </a:r>
                    </a:p>
                  </a:txBody>
                  <a:tcPr marL="73152" marR="73152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 lang="vi-VN">
                          <a:solidFill>
                            <a:srgbClr val="16181D"/>
                          </a:solidFill>
                          <a:latin typeface="IBM Plex Sans SemiBold"/>
                        </a:rPr>
                        <a:t>66,8%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>+21,0 đ.%</a:t>
                      </a:r>
                    </a:p>
                  </a:txBody>
                  <a:tcPr marL="73152" marR="73152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39680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ROA</a:t>
                      </a:r>
                    </a:p>
                    <a:p>
                      <a:pPr algn="l"/>
                      <a:r>
                        <a:rPr sz="850" b="0" i="0" lang="vi-VN">
                          <a:solidFill>
                            <a:srgbClr val="8A8F99"/>
                          </a:solidFill>
                          <a:latin typeface="IBM Plex Sans"/>
                        </a:rPr>
                        <a:t>IMF FSI, %</a:t>
                      </a:r>
                    </a:p>
                  </a:txBody>
                  <a:tcPr marL="73152" marR="73152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 lang="vi-VN">
                          <a:solidFill>
                            <a:srgbClr val="16181D"/>
                          </a:solidFill>
                          <a:latin typeface="IBM Plex Sans SemiBold"/>
                        </a:rPr>
                        <a:t>1,49%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>+0,85 đ.%</a:t>
                      </a:r>
                    </a:p>
                  </a:txBody>
                  <a:tcPr marL="73152" marR="73152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</a:tr>
              <a:tr h="39680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ROE</a:t>
                      </a:r>
                    </a:p>
                    <a:p>
                      <a:pPr algn="l"/>
                      <a:r>
                        <a:rPr sz="850" b="0" i="0" lang="vi-VN">
                          <a:solidFill>
                            <a:srgbClr val="8A8F99"/>
                          </a:solidFill>
                          <a:latin typeface="IBM Plex Sans"/>
                        </a:rPr>
                        <a:t>IMF FSI, %</a:t>
                      </a:r>
                    </a:p>
                  </a:txBody>
                  <a:tcPr marL="73152" marR="73152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 lang="vi-VN">
                          <a:solidFill>
                            <a:srgbClr val="16181D"/>
                          </a:solidFill>
                          <a:latin typeface="IBM Plex Sans SemiBold"/>
                        </a:rPr>
                        <a:t>19,9%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>+14,3 đ.%</a:t>
                      </a:r>
                    </a:p>
                  </a:txBody>
                  <a:tcPr marL="73152" marR="73152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39680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Tăng trưởng tín dụng</a:t>
                      </a:r>
                    </a:p>
                    <a:p>
                      <a:pPr algn="l"/>
                      <a:r>
                        <a:rPr sz="850" b="0" i="0" lang="vi-VN">
                          <a:solidFill>
                            <a:srgbClr val="8A8F99"/>
                          </a:solidFill>
                          <a:latin typeface="IBM Plex Sans"/>
                        </a:rPr>
                        <a:t>NHNN, % cuối năm</a:t>
                      </a:r>
                    </a:p>
                  </a:txBody>
                  <a:tcPr marL="73152" marR="73152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 lang="vi-VN">
                          <a:solidFill>
                            <a:srgbClr val="16181D"/>
                          </a:solidFill>
                          <a:latin typeface="IBM Plex Sans SemiBold"/>
                        </a:rPr>
                        <a:t>19,07%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>+1,07 đ.%</a:t>
                      </a:r>
                    </a:p>
                  </a:txBody>
                  <a:tcPr marL="73152" marR="73152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</a:tr>
              <a:tr h="39680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Tăng trưởng huy động</a:t>
                      </a:r>
                    </a:p>
                    <a:p>
                      <a:pPr algn="l"/>
                      <a:r>
                        <a:rPr sz="850" b="0" i="0" lang="vi-VN">
                          <a:solidFill>
                            <a:srgbClr val="8A8F99"/>
                          </a:solidFill>
                          <a:latin typeface="IBM Plex Sans"/>
                        </a:rPr>
                        <a:t>NHNN, % cuối năm</a:t>
                      </a:r>
                    </a:p>
                  </a:txBody>
                  <a:tcPr marL="73152" marR="73152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 lang="vi-VN">
                          <a:solidFill>
                            <a:srgbClr val="16181D"/>
                          </a:solidFill>
                          <a:latin typeface="IBM Plex Sans SemiBold"/>
                        </a:rPr>
                        <a:t>15,42%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>+1,83 đ.%</a:t>
                      </a:r>
                    </a:p>
                  </a:txBody>
                  <a:tcPr marL="73152" marR="73152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Chart · mini"/>
          <p:cNvGraphicFramePr>
            <a:graphicFrameLocks noGrp="1"/>
          </p:cNvGraphicFramePr>
          <p:nvPr/>
        </p:nvGraphicFramePr>
        <p:xfrm>
          <a:off x="4430469" y="2130552"/>
          <a:ext cx="3223461" cy="23221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· mini"/>
          <p:cNvGraphicFramePr>
            <a:graphicFrameLocks noGrp="1"/>
          </p:cNvGraphicFramePr>
          <p:nvPr/>
        </p:nvGraphicFramePr>
        <p:xfrm>
          <a:off x="4430469" y="2527358"/>
          <a:ext cx="3223461" cy="23221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hart · mini"/>
          <p:cNvGraphicFramePr>
            <a:graphicFrameLocks noGrp="1"/>
          </p:cNvGraphicFramePr>
          <p:nvPr/>
        </p:nvGraphicFramePr>
        <p:xfrm>
          <a:off x="4430469" y="2924164"/>
          <a:ext cx="3223461" cy="23221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9" name="Chart · mini"/>
          <p:cNvGraphicFramePr>
            <a:graphicFrameLocks noGrp="1"/>
          </p:cNvGraphicFramePr>
          <p:nvPr/>
        </p:nvGraphicFramePr>
        <p:xfrm>
          <a:off x="4430469" y="3320970"/>
          <a:ext cx="3223461" cy="232214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10" name="Chart · mini"/>
          <p:cNvGraphicFramePr>
            <a:graphicFrameLocks noGrp="1"/>
          </p:cNvGraphicFramePr>
          <p:nvPr/>
        </p:nvGraphicFramePr>
        <p:xfrm>
          <a:off x="4430469" y="3717776"/>
          <a:ext cx="3223461" cy="232214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11" name="Chart · mini"/>
          <p:cNvGraphicFramePr>
            <a:graphicFrameLocks noGrp="1"/>
          </p:cNvGraphicFramePr>
          <p:nvPr/>
        </p:nvGraphicFramePr>
        <p:xfrm>
          <a:off x="4430469" y="4114582"/>
          <a:ext cx="3223461" cy="232214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12" name="Chart · mini"/>
          <p:cNvGraphicFramePr>
            <a:graphicFrameLocks noGrp="1"/>
          </p:cNvGraphicFramePr>
          <p:nvPr/>
        </p:nvGraphicFramePr>
        <p:xfrm>
          <a:off x="4430469" y="4511388"/>
          <a:ext cx="3223461" cy="232214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081930"/>
            <a:ext cx="6395542" cy="11908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Nợ xấu theo IMF FSI tăng vọt lên 5,41% năm 2023 rồi giảm còn 4,21%; ROE âm năm 2023 (−20,1%).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Số IMF FSI gồm các tổ chức nhận tiền gửi; khác số nợ xấu nội bảng của NHNN. Chấm xanh: năm cuối; chấm xám: điểm thấp nhất.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5" name="TextBox 14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IMF Financial Soundness Indicators (FSIC, Việt Nam, 2015–2025); NHNN.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6 · LẠM PHÁT THEO NHÓM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5834545" cy="84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Giao thông tăng 3,97% riêng tháng 9/2026, mạnh nhất trong 11 nhóm hàng</a:t>
            </a:r>
          </a:p>
        </p:txBody>
      </p:sp>
      <p:grpSp>
        <p:nvGrpSpPr>
          <p:cNvPr id="5" name="Heatmap legend"/>
          <p:cNvGrpSpPr/>
          <p:nvPr/>
        </p:nvGrpSpPr>
        <p:grpSpPr>
          <a:xfrm>
            <a:off x="548640" y="1845475"/>
            <a:ext cx="7081647" cy="156845"/>
            <a:chOff x="548640" y="1845475"/>
            <a:chExt cx="7081647" cy="156845"/>
          </a:xfrm>
        </p:grpSpPr>
        <p:sp>
          <p:nvSpPr>
            <p:cNvPr id="6" name="TextBox 5"/>
            <p:cNvSpPr txBox="1"/>
            <p:nvPr/>
          </p:nvSpPr>
          <p:spPr>
            <a:xfrm>
              <a:off x="548640" y="1845475"/>
              <a:ext cx="3364611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16181D"/>
                  </a:solidFill>
                  <a:latin typeface="IBM Plex Sans SemiBold"/>
                </a:rPr>
                <a:t>So với tháng trước (%); đỏ = tăng, xanh = giảm, màu giữ ở ±2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068699" y="1850746"/>
              <a:ext cx="237744" cy="146304"/>
            </a:xfrm>
            <a:prstGeom prst="roundRect">
              <a:avLst>
                <a:gd name="adj" fmla="val 18750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352163" y="1849603"/>
              <a:ext cx="332842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00" b="0" i="0" lang="vi-VN">
                  <a:solidFill>
                    <a:srgbClr val="5B6170"/>
                  </a:solidFill>
                  <a:latin typeface="IBM Plex Sans"/>
                </a:rPr>
                <a:t>−2,00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822165" y="1850746"/>
              <a:ext cx="237744" cy="146304"/>
            </a:xfrm>
            <a:prstGeom prst="roundRect">
              <a:avLst>
                <a:gd name="adj" fmla="val 18750"/>
              </a:avLst>
            </a:prstGeom>
            <a:solidFill>
              <a:srgbClr val="7AA6D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05629" y="1849603"/>
              <a:ext cx="332842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00" b="0" i="0" lang="vi-VN">
                  <a:solidFill>
                    <a:srgbClr val="5B6170"/>
                  </a:solidFill>
                  <a:latin typeface="IBM Plex Sans"/>
                </a:rPr>
                <a:t>−1,00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575630" y="1850746"/>
              <a:ext cx="237744" cy="146304"/>
            </a:xfrm>
            <a:prstGeom prst="roundRect">
              <a:avLst>
                <a:gd name="adj" fmla="val 18750"/>
              </a:avLst>
            </a:prstGeom>
            <a:solidFill>
              <a:srgbClr val="E6E4D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859094" y="1849603"/>
              <a:ext cx="264262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00" b="0" i="0" lang="vi-VN">
                  <a:solidFill>
                    <a:srgbClr val="5B6170"/>
                  </a:solidFill>
                  <a:latin typeface="IBM Plex Sans"/>
                </a:rPr>
                <a:t>0,00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260516" y="1850746"/>
              <a:ext cx="237744" cy="146304"/>
            </a:xfrm>
            <a:prstGeom prst="roundRect">
              <a:avLst>
                <a:gd name="adj" fmla="val 18750"/>
              </a:avLst>
            </a:prstGeom>
            <a:solidFill>
              <a:srgbClr val="E48B8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543980" y="1849603"/>
              <a:ext cx="332842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00" b="0" i="0" lang="vi-VN">
                  <a:solidFill>
                    <a:srgbClr val="5B6170"/>
                  </a:solidFill>
                  <a:latin typeface="IBM Plex Sans"/>
                </a:rPr>
                <a:t>+1,00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013981" y="1850746"/>
              <a:ext cx="237744" cy="146304"/>
            </a:xfrm>
            <a:prstGeom prst="roundRect">
              <a:avLst>
                <a:gd name="adj" fmla="val 18750"/>
              </a:avLst>
            </a:prstGeom>
            <a:solidFill>
              <a:srgbClr val="E3494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297445" y="1849603"/>
              <a:ext cx="332842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00" b="0" i="0" lang="vi-VN">
                  <a:solidFill>
                    <a:srgbClr val="5B6170"/>
                  </a:solidFill>
                  <a:latin typeface="IBM Plex Sans"/>
                </a:rPr>
                <a:t>+2,00</a:t>
              </a:r>
            </a:p>
          </p:txBody>
        </p:sp>
      </p:grpSp>
      <p:graphicFrame>
        <p:nvGraphicFramePr>
          <p:cNvPr id="17" name="Heatmap (table)"/>
          <p:cNvGraphicFramePr>
            <a:graphicFrameLocks noGrp="1"/>
          </p:cNvGraphicFramePr>
          <p:nvPr/>
        </p:nvGraphicFramePr>
        <p:xfrm>
          <a:off x="548640" y="2198218"/>
          <a:ext cx="11094410" cy="29090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64818"/>
                <a:gridCol w="802466"/>
                <a:gridCol w="802466"/>
                <a:gridCol w="802466"/>
                <a:gridCol w="802466"/>
                <a:gridCol w="802466"/>
                <a:gridCol w="802466"/>
                <a:gridCol w="802466"/>
                <a:gridCol w="802466"/>
                <a:gridCol w="802466"/>
                <a:gridCol w="802466"/>
                <a:gridCol w="802466"/>
                <a:gridCol w="802466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>T10/25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>T11/25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>T12/25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>T1/26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>T2/26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>T3/26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>T4/26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>T5/26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>T6/26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>T7/26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>T8/26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>T9/26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1180"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Hàng ăn &amp; DV ăn uống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0,59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AA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0,95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48F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0,75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9D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0,20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CB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FFFFFF"/>
                          </a:solidFill>
                          <a:latin typeface="IBM Plex Sans Medium"/>
                        </a:rPr>
                        <a:t>2,02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349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−0,59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9FBB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0,58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AA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−0,14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D0D7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−0,07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D9DD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−0,07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D9DD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−0,03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DFE0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0,19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CCC7"/>
                    </a:solidFill>
                  </a:tcPr>
                </a:tc>
              </a:tr>
              <a:tr h="241180"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Đồ uống &amp; thuốc lá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0,12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4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0,10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6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0,06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0,58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AA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FFFFFF"/>
                          </a:solidFill>
                          <a:latin typeface="IBM Plex Sans Medium"/>
                        </a:rPr>
                        <a:t>1,18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47E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0,37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BCB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0,85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496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0,21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CA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0,13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3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0,18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CD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0,12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4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0,35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BEB9"/>
                    </a:solidFill>
                  </a:tcPr>
                </a:tc>
              </a:tr>
              <a:tr h="241180"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May mặc, giày dép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0,18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CD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0,12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4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0,20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CB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0,25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C7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0,55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ADA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0,01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E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0,52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AFA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0,13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3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−0,09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D6DB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0,16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CF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0,11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0,04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DD7"/>
                    </a:solidFill>
                  </a:tcPr>
                </a:tc>
              </a:tr>
              <a:tr h="241180"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Nhà ở, điện, nước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0,01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E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−0,10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D5DA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0,06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0,70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A19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0,56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AC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0,77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9C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FFFFFF"/>
                          </a:solidFill>
                          <a:latin typeface="IBM Plex Sans Medium"/>
                        </a:rPr>
                        <a:t>2,59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349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0,96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48E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0,46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B4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−0,07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D9DD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0,10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6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0,28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C4BF"/>
                    </a:solidFill>
                  </a:tcPr>
                </a:tc>
              </a:tr>
              <a:tr h="241180"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Thiết bị gia đình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0,20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CB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0,17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CE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0,16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CF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0,26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C6C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0,57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ABA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0,33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BF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0,78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9B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0,17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CE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0,17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CE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0,14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0,19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CC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0,08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8D3"/>
                    </a:solidFill>
                  </a:tcPr>
                </a:tc>
              </a:tr>
              <a:tr h="241180"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Thuốc &amp; y tế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0,04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D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0,06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0,03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F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0,19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CC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0,14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0,38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BB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0,13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3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0,10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6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0,03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F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0,07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9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0,05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0,24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C8C2"/>
                    </a:solidFill>
                  </a:tcPr>
                </a:tc>
              </a:tr>
              <a:tr h="241180"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Giao thông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−0,81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8BB0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1,07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486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−1,08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73A2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FFFFFF"/>
                          </a:solidFill>
                          <a:latin typeface="IBM Plex Sans Medium"/>
                        </a:rPr>
                        <a:t>−2,32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FFFFFF"/>
                          </a:solidFill>
                          <a:latin typeface="IBM Plex Sans Medium"/>
                        </a:rPr>
                        <a:t>1,23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47B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FFFFFF"/>
                          </a:solidFill>
                          <a:latin typeface="IBM Plex Sans Medium"/>
                        </a:rPr>
                        <a:t>12,85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349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−0,81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8BB0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0,83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97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FFFFFF"/>
                          </a:solidFill>
                          <a:latin typeface="IBM Plex Sans Medium"/>
                        </a:rPr>
                        <a:t>−4,85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FFFFFF"/>
                          </a:solidFill>
                          <a:latin typeface="IBM Plex Sans Medium"/>
                        </a:rPr>
                        <a:t>−2,02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FFFFFF"/>
                          </a:solidFill>
                          <a:latin typeface="IBM Plex Sans Medium"/>
                        </a:rPr>
                        <a:t>4,09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349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FFFFFF"/>
                          </a:solidFill>
                          <a:latin typeface="IBM Plex Sans Medium"/>
                        </a:rPr>
                        <a:t>3,97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34948"/>
                    </a:solidFill>
                  </a:tcPr>
                </a:tc>
              </a:tr>
              <a:tr h="241180"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Bưu chính, viễn thông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0,03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F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−0,06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DBDD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0,02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E0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−0,15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CED6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0,01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E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0,18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CD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0,17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CE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0,04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D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0,04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D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0,10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6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0,08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8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−0,14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D0D7DD"/>
                    </a:solidFill>
                  </a:tcPr>
                </a:tc>
              </a:tr>
              <a:tr h="241180"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Giáo dục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0,51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B0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0,05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0,01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E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0,05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0,09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7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0,10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6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0,08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8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0,03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F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0,01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E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0,24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C8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0,47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B3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FFFFFF"/>
                          </a:solidFill>
                          <a:latin typeface="IBM Plex Sans Medium"/>
                        </a:rPr>
                        <a:t>1,41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46F6D"/>
                    </a:solidFill>
                  </a:tcPr>
                </a:tc>
              </a:tr>
              <a:tr h="241180"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Văn hoá, giải trí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0,06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0,01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E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−0,12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D2D9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0,07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9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FFFFFF"/>
                          </a:solidFill>
                          <a:latin typeface="IBM Plex Sans Medium"/>
                        </a:rPr>
                        <a:t>1,36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472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−0,05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DCDE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0,63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A6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0,48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B3A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0,66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A4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0,52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AFA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0,03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F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−0,28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BFCEDC"/>
                    </a:solidFill>
                  </a:tcPr>
                </a:tc>
              </a:tr>
              <a:tr h="241180"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Hàng hoá, DV khác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0,43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B7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0,30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C2B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0,19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CC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0,41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B8B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FFFFFF"/>
                          </a:solidFill>
                          <a:latin typeface="IBM Plex Sans Medium"/>
                        </a:rPr>
                        <a:t>1,30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476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0,13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3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0,64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A6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0,14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−0,06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DBDD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FFFFFF"/>
                          </a:solidFill>
                          <a:latin typeface="IBM Plex Sans Medium"/>
                        </a:rPr>
                        <a:t>1,96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34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0,15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0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0,10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D6D0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8640" y="5363261"/>
            <a:ext cx="6395542" cy="9095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Giao thông biến động mạnh nhất: +12,85% tháng 3/2026 rồi −4,85% tháng 6/2026.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Bảng PowerPoint gốc: mỗi ô là một ô bảng có màu nền; màu giới hạn ở ±2% để các nhóm khác vẫn đọc được.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20" name="TextBox 19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NSO — Thông cáo báo chí tình hình giá hằng tháng (Biểu 1 – Cả nước), T10/2025–T9/2026.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6 · LỊCH LẠM PHÁT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5335440" cy="84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CPI so cùng kỳ vượt 5% trong 3 tháng của năm 2026, cao nhất 5,60%</a:t>
            </a:r>
          </a:p>
        </p:txBody>
      </p:sp>
      <p:grpSp>
        <p:nvGrpSpPr>
          <p:cNvPr id="5" name="Heatmap legend"/>
          <p:cNvGrpSpPr/>
          <p:nvPr/>
        </p:nvGrpSpPr>
        <p:grpSpPr>
          <a:xfrm>
            <a:off x="548640" y="1845475"/>
            <a:ext cx="5111471" cy="156845"/>
            <a:chOff x="548640" y="1845475"/>
            <a:chExt cx="5111471" cy="156845"/>
          </a:xfrm>
        </p:grpSpPr>
        <p:sp>
          <p:nvSpPr>
            <p:cNvPr id="6" name="TextBox 5"/>
            <p:cNvSpPr txBox="1"/>
            <p:nvPr/>
          </p:nvSpPr>
          <p:spPr>
            <a:xfrm>
              <a:off x="548640" y="1845475"/>
              <a:ext cx="1668755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16181D"/>
                  </a:solidFill>
                  <a:latin typeface="IBM Plex Sans SemiBold"/>
                </a:rPr>
                <a:t>CPI so cùng kỳ năm trước (%)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372843" y="1850746"/>
              <a:ext cx="237744" cy="146304"/>
            </a:xfrm>
            <a:prstGeom prst="roundRect">
              <a:avLst>
                <a:gd name="adj" fmla="val 18750"/>
              </a:avLst>
            </a:prstGeom>
            <a:solidFill>
              <a:srgbClr val="EDEAE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656307" y="1849603"/>
              <a:ext cx="264262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00" b="0" i="0" lang="vi-VN">
                  <a:solidFill>
                    <a:srgbClr val="5B6170"/>
                  </a:solidFill>
                  <a:latin typeface="IBM Plex Sans"/>
                </a:rPr>
                <a:t>2,00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057728" y="1850746"/>
              <a:ext cx="237744" cy="146304"/>
            </a:xfrm>
            <a:prstGeom prst="roundRect">
              <a:avLst>
                <a:gd name="adj" fmla="val 18750"/>
              </a:avLst>
            </a:prstGeom>
            <a:solidFill>
              <a:srgbClr val="EBC1C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341192" y="1849603"/>
              <a:ext cx="264262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00" b="0" i="0" lang="vi-VN">
                  <a:solidFill>
                    <a:srgbClr val="5B6170"/>
                  </a:solidFill>
                  <a:latin typeface="IBM Plex Sans"/>
                </a:rPr>
                <a:t>3,00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742614" y="1850746"/>
              <a:ext cx="237744" cy="146304"/>
            </a:xfrm>
            <a:prstGeom prst="roundRect">
              <a:avLst>
                <a:gd name="adj" fmla="val 18750"/>
              </a:avLst>
            </a:prstGeom>
            <a:solidFill>
              <a:srgbClr val="E8999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026078" y="1849603"/>
              <a:ext cx="264262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00" b="0" i="0" lang="vi-VN">
                  <a:solidFill>
                    <a:srgbClr val="5B6170"/>
                  </a:solidFill>
                  <a:latin typeface="IBM Plex Sans"/>
                </a:rPr>
                <a:t>4,00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427499" y="1850746"/>
              <a:ext cx="237744" cy="146304"/>
            </a:xfrm>
            <a:prstGeom prst="roundRect">
              <a:avLst>
                <a:gd name="adj" fmla="val 18750"/>
              </a:avLst>
            </a:prstGeom>
            <a:solidFill>
              <a:srgbClr val="E6717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710963" y="1849603"/>
              <a:ext cx="264262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00" b="0" i="0" lang="vi-VN">
                  <a:solidFill>
                    <a:srgbClr val="5B6170"/>
                  </a:solidFill>
                  <a:latin typeface="IBM Plex Sans"/>
                </a:rPr>
                <a:t>5,00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112385" y="1850746"/>
              <a:ext cx="237744" cy="146304"/>
            </a:xfrm>
            <a:prstGeom prst="roundRect">
              <a:avLst>
                <a:gd name="adj" fmla="val 18750"/>
              </a:avLst>
            </a:prstGeom>
            <a:solidFill>
              <a:srgbClr val="E3494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395849" y="1849603"/>
              <a:ext cx="264262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00" b="0" i="0" lang="vi-VN">
                  <a:solidFill>
                    <a:srgbClr val="5B6170"/>
                  </a:solidFill>
                  <a:latin typeface="IBM Plex Sans"/>
                </a:rPr>
                <a:t>6,00</a:t>
              </a:r>
            </a:p>
          </p:txBody>
        </p:sp>
      </p:grpSp>
      <p:graphicFrame>
        <p:nvGraphicFramePr>
          <p:cNvPr id="17" name="Heatmap (table)"/>
          <p:cNvGraphicFramePr>
            <a:graphicFrameLocks noGrp="1"/>
          </p:cNvGraphicFramePr>
          <p:nvPr/>
        </p:nvGraphicFramePr>
        <p:xfrm>
          <a:off x="548640" y="2198218"/>
          <a:ext cx="11094420" cy="195681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87680"/>
                <a:gridCol w="883895"/>
                <a:gridCol w="883895"/>
                <a:gridCol w="883895"/>
                <a:gridCol w="883895"/>
                <a:gridCol w="883895"/>
                <a:gridCol w="883895"/>
                <a:gridCol w="883895"/>
                <a:gridCol w="883895"/>
                <a:gridCol w="883895"/>
                <a:gridCol w="883895"/>
                <a:gridCol w="883895"/>
                <a:gridCol w="883895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>T1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>T2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>T3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>T4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>T5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>T6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>T7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>T8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>T9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>T10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>T11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"/>
                        </a:rPr>
                        <a:t>T12</a:t>
                      </a:r>
                    </a:p>
                  </a:txBody>
                  <a:tcPr marL="54864" marR="54864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2024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/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3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/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3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/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3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/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3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/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3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/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3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/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3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/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3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/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3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2,89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BC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2,77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BCB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2,94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BC4C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2025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3,63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9A8A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2,91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BC5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3,13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ABC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3,12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BBD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3,24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AB8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3,57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9AB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3,19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ABAB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3,24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AB8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3,38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AB2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3,25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AB7B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3,58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9AA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3,48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AAEB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2026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2,53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CD4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3,35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AB3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4,65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77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FFFFFF"/>
                          </a:solidFill>
                          <a:latin typeface="IBM Plex Sans Medium"/>
                        </a:rPr>
                        <a:t>5,46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45F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FFFFFF"/>
                          </a:solidFill>
                          <a:latin typeface="IBM Plex Sans Medium"/>
                        </a:rPr>
                        <a:t>5,60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4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4,69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7E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4,45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787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FFFFFF"/>
                          </a:solidFill>
                          <a:latin typeface="IBM Plex Sans Medium"/>
                        </a:rPr>
                        <a:t>4,89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6767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FFFFFF"/>
                          </a:solidFill>
                          <a:latin typeface="IBM Plex Sans Medium"/>
                        </a:rPr>
                        <a:t>5,08</a:t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56E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/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3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/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3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/>
                      </a:r>
                    </a:p>
                  </a:txBody>
                  <a:tcPr marL="18288" marR="18288" marT="9144" marB="9144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3F2EE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8640" y="5081930"/>
            <a:ext cx="6395542" cy="11908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Từ tháng 3/2026 CPI so cùng kỳ không dưới 4,45%; cả năm 2025 dao động 2,91–3,63%.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Hàng = năm, cột = tháng; ô trống: ngoài giai đoạn 24 tháng của dashboard, không phải 0.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20" name="TextBox 19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NSO — CPI so với cùng kỳ năm trước, T10/2024–T9/2026 (data/economy.json, CPI_YOY_24).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6 · ĐỊA PHƯƠNG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7822082" cy="4498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19/34 tỉnh, thành tăng trưởng GRDP trên 8% năm 2025</a:t>
            </a:r>
          </a:p>
        </p:txBody>
      </p:sp>
      <p:grpSp>
        <p:nvGrpSpPr>
          <p:cNvPr id="5" name="Chart · tilemap"/>
          <p:cNvGrpSpPr/>
          <p:nvPr/>
        </p:nvGrpSpPr>
        <p:grpSpPr>
          <a:xfrm>
            <a:off x="548640" y="1786954"/>
            <a:ext cx="7134149" cy="4385246"/>
            <a:chOff x="548640" y="1786954"/>
            <a:chExt cx="7134149" cy="4385246"/>
          </a:xfrm>
        </p:grpSpPr>
        <p:sp>
          <p:nvSpPr>
            <p:cNvPr id="6" name="TextBox 5"/>
            <p:cNvSpPr txBox="1"/>
            <p:nvPr/>
          </p:nvSpPr>
          <p:spPr>
            <a:xfrm>
              <a:off x="548640" y="1786954"/>
              <a:ext cx="1596727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16181D"/>
                  </a:solidFill>
                  <a:latin typeface="IBM Plex Sans SemiBold"/>
                </a:rPr>
                <a:t>Tăng trưởng GRDP 2025 (%)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255095" y="1792224"/>
              <a:ext cx="237744" cy="146304"/>
            </a:xfrm>
            <a:prstGeom prst="roundRect">
              <a:avLst>
                <a:gd name="adj" fmla="val 18750"/>
              </a:avLst>
            </a:prstGeom>
            <a:solidFill>
              <a:srgbClr val="D6E3F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538559" y="1791081"/>
              <a:ext cx="465772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00" b="0" i="0" lang="vi-VN">
                  <a:solidFill>
                    <a:srgbClr val="5B6170"/>
                  </a:solidFill>
                  <a:latin typeface="IBM Plex Sans"/>
                </a:rPr>
                <a:t>&lt; 7,00%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159779" y="1792224"/>
              <a:ext cx="237744" cy="146304"/>
            </a:xfrm>
            <a:prstGeom prst="roundRect">
              <a:avLst>
                <a:gd name="adj" fmla="val 18750"/>
              </a:avLst>
            </a:prstGeom>
            <a:solidFill>
              <a:srgbClr val="AFCBE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43243" y="1791081"/>
              <a:ext cx="674256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00" b="0" i="0" lang="vi-VN">
                  <a:solidFill>
                    <a:srgbClr val="5B6170"/>
                  </a:solidFill>
                  <a:latin typeface="IBM Plex Sans"/>
                </a:rPr>
                <a:t>7,00–8,00%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272947" y="1792224"/>
              <a:ext cx="237744" cy="146304"/>
            </a:xfrm>
            <a:prstGeom prst="roundRect">
              <a:avLst>
                <a:gd name="adj" fmla="val 18750"/>
              </a:avLst>
            </a:prstGeom>
            <a:solidFill>
              <a:srgbClr val="82AFE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556411" y="1791081"/>
              <a:ext cx="674256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00" b="0" i="0" lang="vi-VN">
                  <a:solidFill>
                    <a:srgbClr val="5B6170"/>
                  </a:solidFill>
                  <a:latin typeface="IBM Plex Sans"/>
                </a:rPr>
                <a:t>8,00–9,00%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386114" y="1792224"/>
              <a:ext cx="237744" cy="146304"/>
            </a:xfrm>
            <a:prstGeom prst="roundRect">
              <a:avLst>
                <a:gd name="adj" fmla="val 18750"/>
              </a:avLst>
            </a:prstGeom>
            <a:solidFill>
              <a:srgbClr val="5593D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669578" y="1791081"/>
              <a:ext cx="742836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00" b="0" i="0" lang="vi-VN">
                  <a:solidFill>
                    <a:srgbClr val="5B6170"/>
                  </a:solidFill>
                  <a:latin typeface="IBM Plex Sans"/>
                </a:rPr>
                <a:t>9,00–10,00%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567862" y="1792224"/>
              <a:ext cx="237744" cy="146304"/>
            </a:xfrm>
            <a:prstGeom prst="roundRect">
              <a:avLst>
                <a:gd name="adj" fmla="val 18750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851326" y="1791081"/>
              <a:ext cx="534352" cy="1485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00" b="0" i="0" lang="vi-VN">
                  <a:solidFill>
                    <a:srgbClr val="5B6170"/>
                  </a:solidFill>
                  <a:latin typeface="IBM Plex Sans"/>
                </a:rPr>
                <a:t>≥ 10,00%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48640" y="2203704"/>
              <a:ext cx="694436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 spc="60">
                  <a:solidFill>
                    <a:srgbClr val="5B6170"/>
                  </a:solidFill>
                  <a:latin typeface="IBM Plex Sans SemiBold"/>
                </a:rPr>
                <a:t>MIỀN BẮC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245596" y="2459736"/>
              <a:ext cx="642092" cy="588264"/>
            </a:xfrm>
            <a:prstGeom prst="roundRect">
              <a:avLst>
                <a:gd name="adj" fmla="val 7772"/>
              </a:avLst>
            </a:prstGeom>
            <a:solidFill>
              <a:srgbClr val="AFCBE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91316" y="2532888"/>
              <a:ext cx="399478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16181D"/>
                  </a:solidFill>
                  <a:latin typeface="IBM Plex Sans Medium"/>
                </a:rPr>
                <a:t>Lai Châu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291316" y="2836291"/>
              <a:ext cx="28067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16181D"/>
                  </a:solidFill>
                  <a:latin typeface="IBM Plex Sans SemiBold"/>
                </a:rPr>
                <a:t>7,52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924263" y="2459736"/>
              <a:ext cx="642092" cy="588264"/>
            </a:xfrm>
            <a:prstGeom prst="roundRect">
              <a:avLst>
                <a:gd name="adj" fmla="val 7772"/>
              </a:avLst>
            </a:prstGeom>
            <a:solidFill>
              <a:srgbClr val="82AFE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969983" y="2532888"/>
              <a:ext cx="342519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16181D"/>
                  </a:solidFill>
                  <a:latin typeface="IBM Plex Sans Medium"/>
                </a:rPr>
                <a:t>Lào Cai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969983" y="2836291"/>
              <a:ext cx="28067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16181D"/>
                  </a:solidFill>
                  <a:latin typeface="IBM Plex Sans SemiBold"/>
                </a:rPr>
                <a:t>8,14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2602931" y="2459736"/>
              <a:ext cx="642092" cy="588264"/>
            </a:xfrm>
            <a:prstGeom prst="roundRect">
              <a:avLst>
                <a:gd name="adj" fmla="val 7772"/>
              </a:avLst>
            </a:prstGeom>
            <a:solidFill>
              <a:srgbClr val="D6E3F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648651" y="2532888"/>
              <a:ext cx="598932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16181D"/>
                  </a:solidFill>
                  <a:latin typeface="IBM Plex Sans Medium"/>
                </a:rPr>
                <a:t>Tuyên Quang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648651" y="2836291"/>
              <a:ext cx="28067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16181D"/>
                  </a:solidFill>
                  <a:latin typeface="IBM Plex Sans SemiBold"/>
                </a:rPr>
                <a:t>6,40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3281599" y="2459736"/>
              <a:ext cx="642092" cy="588264"/>
            </a:xfrm>
            <a:prstGeom prst="roundRect">
              <a:avLst>
                <a:gd name="adj" fmla="val 7772"/>
              </a:avLst>
            </a:prstGeom>
            <a:solidFill>
              <a:srgbClr val="AFCBE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327319" y="2532888"/>
              <a:ext cx="437674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16181D"/>
                  </a:solidFill>
                  <a:latin typeface="IBM Plex Sans Medium"/>
                </a:rPr>
                <a:t>Cao Bằng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327319" y="2836291"/>
              <a:ext cx="28067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16181D"/>
                  </a:solidFill>
                  <a:latin typeface="IBM Plex Sans SemiBold"/>
                </a:rPr>
                <a:t>7,22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566928" y="3084576"/>
              <a:ext cx="642092" cy="588264"/>
            </a:xfrm>
            <a:prstGeom prst="roundRect">
              <a:avLst>
                <a:gd name="adj" fmla="val 7772"/>
              </a:avLst>
            </a:prstGeom>
            <a:solidFill>
              <a:srgbClr val="AFCBE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12648" y="3157728"/>
              <a:ext cx="444722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16181D"/>
                  </a:solidFill>
                  <a:latin typeface="IBM Plex Sans Medium"/>
                </a:rPr>
                <a:t>Điện Biên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12648" y="3461131"/>
              <a:ext cx="28067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16181D"/>
                  </a:solidFill>
                  <a:latin typeface="IBM Plex Sans SemiBold"/>
                </a:rPr>
                <a:t>7,34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1245596" y="3084576"/>
              <a:ext cx="642092" cy="588264"/>
            </a:xfrm>
            <a:prstGeom prst="roundRect">
              <a:avLst>
                <a:gd name="adj" fmla="val 7772"/>
              </a:avLst>
            </a:prstGeom>
            <a:solidFill>
              <a:srgbClr val="82AFE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291316" y="3157728"/>
              <a:ext cx="316897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16181D"/>
                  </a:solidFill>
                  <a:latin typeface="IBM Plex Sans Medium"/>
                </a:rPr>
                <a:t>Sơn La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291316" y="3461131"/>
              <a:ext cx="28067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16181D"/>
                  </a:solidFill>
                  <a:latin typeface="IBM Plex Sans SemiBold"/>
                </a:rPr>
                <a:t>8,03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924263" y="3084576"/>
              <a:ext cx="642092" cy="588264"/>
            </a:xfrm>
            <a:prstGeom prst="roundRect">
              <a:avLst>
                <a:gd name="adj" fmla="val 7772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969983" y="3157728"/>
              <a:ext cx="383858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FFFFFF"/>
                  </a:solidFill>
                  <a:latin typeface="IBM Plex Sans Medium"/>
                </a:rPr>
                <a:t>Phú Thọ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969983" y="3461131"/>
              <a:ext cx="35306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 SemiBold"/>
                </a:rPr>
                <a:t>10,52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2602931" y="3084576"/>
              <a:ext cx="642092" cy="588264"/>
            </a:xfrm>
            <a:prstGeom prst="roundRect">
              <a:avLst>
                <a:gd name="adj" fmla="val 7772"/>
              </a:avLst>
            </a:prstGeom>
            <a:solidFill>
              <a:srgbClr val="D6E3F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648651" y="3157728"/>
              <a:ext cx="569214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16181D"/>
                  </a:solidFill>
                  <a:latin typeface="IBM Plex Sans Medium"/>
                </a:rPr>
                <a:t>Thái Nguyên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648651" y="3461131"/>
              <a:ext cx="28067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16181D"/>
                  </a:solidFill>
                  <a:latin typeface="IBM Plex Sans SemiBold"/>
                </a:rPr>
                <a:t>6,33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3281599" y="3084576"/>
              <a:ext cx="642092" cy="588264"/>
            </a:xfrm>
            <a:prstGeom prst="roundRect">
              <a:avLst>
                <a:gd name="adj" fmla="val 7772"/>
              </a:avLst>
            </a:prstGeom>
            <a:solidFill>
              <a:srgbClr val="82AFE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327319" y="3157728"/>
              <a:ext cx="423386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16181D"/>
                  </a:solidFill>
                  <a:latin typeface="IBM Plex Sans Medium"/>
                </a:rPr>
                <a:t>Lạng Sơn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327319" y="3461131"/>
              <a:ext cx="28067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16181D"/>
                  </a:solidFill>
                  <a:latin typeface="IBM Plex Sans SemiBold"/>
                </a:rPr>
                <a:t>8,06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1924263" y="3709416"/>
              <a:ext cx="642092" cy="588264"/>
            </a:xfrm>
            <a:prstGeom prst="roundRect">
              <a:avLst>
                <a:gd name="adj" fmla="val 7772"/>
              </a:avLst>
            </a:prstGeom>
            <a:solidFill>
              <a:srgbClr val="82AFE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969983" y="3782568"/>
              <a:ext cx="316992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16181D"/>
                  </a:solidFill>
                  <a:latin typeface="IBM Plex Sans Medium"/>
                </a:rPr>
                <a:t>Hà Nội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969983" y="4085971"/>
              <a:ext cx="28067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16181D"/>
                  </a:solidFill>
                  <a:latin typeface="IBM Plex Sans SemiBold"/>
                </a:rPr>
                <a:t>8,16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2602931" y="3709416"/>
              <a:ext cx="642092" cy="588264"/>
            </a:xfrm>
            <a:prstGeom prst="roundRect">
              <a:avLst>
                <a:gd name="adj" fmla="val 7772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648651" y="3782568"/>
              <a:ext cx="417195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FFFFFF"/>
                  </a:solidFill>
                  <a:latin typeface="IBM Plex Sans Medium"/>
                </a:rPr>
                <a:t>Bắc Ninh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648651" y="4085971"/>
              <a:ext cx="35306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 SemiBold"/>
                </a:rPr>
                <a:t>10,27</a:t>
              </a: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3281599" y="3709416"/>
              <a:ext cx="642092" cy="588264"/>
            </a:xfrm>
            <a:prstGeom prst="roundRect">
              <a:avLst>
                <a:gd name="adj" fmla="val 7772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327319" y="3782568"/>
              <a:ext cx="535400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FFFFFF"/>
                  </a:solidFill>
                  <a:latin typeface="IBM Plex Sans Medium"/>
                </a:rPr>
                <a:t>Quảng Ninh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327319" y="4085971"/>
              <a:ext cx="35306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 SemiBold"/>
                </a:rPr>
                <a:t>11,89</a:t>
              </a:r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1924263" y="4334256"/>
              <a:ext cx="642092" cy="588264"/>
            </a:xfrm>
            <a:prstGeom prst="roundRect">
              <a:avLst>
                <a:gd name="adj" fmla="val 7772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969983" y="4407408"/>
              <a:ext cx="452152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FFFFFF"/>
                  </a:solidFill>
                  <a:latin typeface="IBM Plex Sans Medium"/>
                </a:rPr>
                <a:t>Ninh Bình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969983" y="4710811"/>
              <a:ext cx="35306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 SemiBold"/>
                </a:rPr>
                <a:t>10,65</a:t>
              </a:r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2602931" y="4334256"/>
              <a:ext cx="642092" cy="588264"/>
            </a:xfrm>
            <a:prstGeom prst="roundRect">
              <a:avLst>
                <a:gd name="adj" fmla="val 7772"/>
              </a:avLst>
            </a:prstGeom>
            <a:solidFill>
              <a:srgbClr val="82AFE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2648651" y="4407408"/>
              <a:ext cx="446532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16181D"/>
                  </a:solidFill>
                  <a:latin typeface="IBM Plex Sans Medium"/>
                </a:rPr>
                <a:t>Hưng Yên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2648651" y="4710811"/>
              <a:ext cx="28067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16181D"/>
                  </a:solidFill>
                  <a:latin typeface="IBM Plex Sans SemiBold"/>
                </a:rPr>
                <a:t>8,78</a:t>
              </a: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3281599" y="4334256"/>
              <a:ext cx="642092" cy="588264"/>
            </a:xfrm>
            <a:prstGeom prst="roundRect">
              <a:avLst>
                <a:gd name="adj" fmla="val 7772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327319" y="4407408"/>
              <a:ext cx="470440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FFFFFF"/>
                  </a:solidFill>
                  <a:latin typeface="IBM Plex Sans Medium"/>
                </a:rPr>
                <a:t>Hải Phòng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327319" y="4710811"/>
              <a:ext cx="35306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 SemiBold"/>
                </a:rPr>
                <a:t>11,81</a:t>
              </a:r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1924263" y="4959096"/>
              <a:ext cx="642092" cy="588264"/>
            </a:xfrm>
            <a:prstGeom prst="roundRect">
              <a:avLst>
                <a:gd name="adj" fmla="val 7772"/>
              </a:avLst>
            </a:prstGeom>
            <a:solidFill>
              <a:srgbClr val="82AFE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969983" y="5032248"/>
              <a:ext cx="496729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16181D"/>
                  </a:solidFill>
                  <a:latin typeface="IBM Plex Sans Medium"/>
                </a:rPr>
                <a:t>Thanh Hóa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969983" y="5335651"/>
              <a:ext cx="28067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16181D"/>
                  </a:solidFill>
                  <a:latin typeface="IBM Plex Sans SemiBold"/>
                </a:rPr>
                <a:t>8,27</a:t>
              </a:r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1924263" y="5583936"/>
              <a:ext cx="642092" cy="588264"/>
            </a:xfrm>
            <a:prstGeom prst="roundRect">
              <a:avLst>
                <a:gd name="adj" fmla="val 7772"/>
              </a:avLst>
            </a:prstGeom>
            <a:solidFill>
              <a:srgbClr val="82AFE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969983" y="5657088"/>
              <a:ext cx="395383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16181D"/>
                  </a:solidFill>
                  <a:latin typeface="IBM Plex Sans Medium"/>
                </a:rPr>
                <a:t>Nghệ An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969983" y="5960491"/>
              <a:ext cx="28067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16181D"/>
                  </a:solidFill>
                  <a:latin typeface="IBM Plex Sans SemiBold"/>
                </a:rPr>
                <a:t>8,44</a:t>
              </a:r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2602931" y="5583936"/>
              <a:ext cx="642092" cy="588264"/>
            </a:xfrm>
            <a:prstGeom prst="roundRect">
              <a:avLst>
                <a:gd name="adj" fmla="val 7772"/>
              </a:avLst>
            </a:prstGeom>
            <a:solidFill>
              <a:srgbClr val="82AFE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2648651" y="5657088"/>
              <a:ext cx="360902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16181D"/>
                  </a:solidFill>
                  <a:latin typeface="IBM Plex Sans Medium"/>
                </a:rPr>
                <a:t>Hà Tĩnh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2648651" y="5960491"/>
              <a:ext cx="28067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16181D"/>
                  </a:solidFill>
                  <a:latin typeface="IBM Plex Sans SemiBold"/>
                </a:rPr>
                <a:t>8,78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307738" y="2203704"/>
              <a:ext cx="183896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 spc="60">
                  <a:solidFill>
                    <a:srgbClr val="5B6170"/>
                  </a:solidFill>
                  <a:latin typeface="IBM Plex Sans SemiBold"/>
                </a:rPr>
                <a:t>MIỀN TRUNG VÀ MIỀN NAM</a:t>
              </a:r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5683362" y="2459736"/>
              <a:ext cx="642092" cy="432054"/>
            </a:xfrm>
            <a:prstGeom prst="roundRect">
              <a:avLst>
                <a:gd name="adj" fmla="val 10582"/>
              </a:avLst>
            </a:prstGeom>
            <a:solidFill>
              <a:srgbClr val="82AFE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5729082" y="2532888"/>
              <a:ext cx="448342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16181D"/>
                  </a:solidFill>
                  <a:latin typeface="IBM Plex Sans Medium"/>
                </a:rPr>
                <a:t>Quảng Trị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729082" y="2680081"/>
              <a:ext cx="28067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16181D"/>
                  </a:solidFill>
                  <a:latin typeface="IBM Plex Sans SemiBold"/>
                </a:rPr>
                <a:t>8,00</a:t>
              </a:r>
            </a:p>
          </p:txBody>
        </p:sp>
        <p:sp>
          <p:nvSpPr>
            <p:cNvPr id="76" name="Rounded Rectangle 75"/>
            <p:cNvSpPr/>
            <p:nvPr/>
          </p:nvSpPr>
          <p:spPr>
            <a:xfrm>
              <a:off x="6362029" y="2928366"/>
              <a:ext cx="642092" cy="432054"/>
            </a:xfrm>
            <a:prstGeom prst="roundRect">
              <a:avLst>
                <a:gd name="adj" fmla="val 10582"/>
              </a:avLst>
            </a:prstGeom>
            <a:solidFill>
              <a:srgbClr val="82AFE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407749" y="3001518"/>
              <a:ext cx="203549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16181D"/>
                  </a:solidFill>
                  <a:latin typeface="IBM Plex Sans Medium"/>
                </a:rPr>
                <a:t>Huế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407749" y="3148711"/>
              <a:ext cx="28067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16181D"/>
                  </a:solidFill>
                  <a:latin typeface="IBM Plex Sans SemiBold"/>
                </a:rPr>
                <a:t>8,50</a:t>
              </a:r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7040697" y="2928366"/>
              <a:ext cx="642092" cy="432054"/>
            </a:xfrm>
            <a:prstGeom prst="roundRect">
              <a:avLst>
                <a:gd name="adj" fmla="val 10582"/>
              </a:avLst>
            </a:prstGeom>
            <a:solidFill>
              <a:srgbClr val="5593D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7086417" y="3001518"/>
              <a:ext cx="394335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FFFFFF"/>
                  </a:solidFill>
                  <a:latin typeface="IBM Plex Sans Medium"/>
                </a:rPr>
                <a:t>Đà Nẵng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086417" y="3148711"/>
              <a:ext cx="28067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 SemiBold"/>
                </a:rPr>
                <a:t>9,18</a:t>
              </a:r>
            </a:p>
          </p:txBody>
        </p:sp>
        <p:sp>
          <p:nvSpPr>
            <p:cNvPr id="82" name="Rounded Rectangle 81"/>
            <p:cNvSpPr/>
            <p:nvPr/>
          </p:nvSpPr>
          <p:spPr>
            <a:xfrm>
              <a:off x="6362029" y="3396996"/>
              <a:ext cx="642092" cy="432054"/>
            </a:xfrm>
            <a:prstGeom prst="roundRect">
              <a:avLst>
                <a:gd name="adj" fmla="val 10582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6407749" y="3470148"/>
              <a:ext cx="528447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FFFFFF"/>
                  </a:solidFill>
                  <a:latin typeface="IBM Plex Sans Medium"/>
                </a:rPr>
                <a:t>Quảng Ngãi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6407749" y="3617341"/>
              <a:ext cx="35306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 SemiBold"/>
                </a:rPr>
                <a:t>10,02</a:t>
              </a:r>
            </a:p>
          </p:txBody>
        </p:sp>
        <p:sp>
          <p:nvSpPr>
            <p:cNvPr id="85" name="Rounded Rectangle 84"/>
            <p:cNvSpPr/>
            <p:nvPr/>
          </p:nvSpPr>
          <p:spPr>
            <a:xfrm>
              <a:off x="7040697" y="3396996"/>
              <a:ext cx="642092" cy="432054"/>
            </a:xfrm>
            <a:prstGeom prst="roundRect">
              <a:avLst>
                <a:gd name="adj" fmla="val 10582"/>
              </a:avLst>
            </a:prstGeom>
            <a:solidFill>
              <a:srgbClr val="AFCBE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7086417" y="3470148"/>
              <a:ext cx="320992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16181D"/>
                  </a:solidFill>
                  <a:latin typeface="IBM Plex Sans Medium"/>
                </a:rPr>
                <a:t>Gia Lai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7086417" y="3617341"/>
              <a:ext cx="28067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16181D"/>
                  </a:solidFill>
                  <a:latin typeface="IBM Plex Sans SemiBold"/>
                </a:rPr>
                <a:t>7,20</a:t>
              </a:r>
            </a:p>
          </p:txBody>
        </p:sp>
        <p:sp>
          <p:nvSpPr>
            <p:cNvPr id="88" name="Rounded Rectangle 87"/>
            <p:cNvSpPr/>
            <p:nvPr/>
          </p:nvSpPr>
          <p:spPr>
            <a:xfrm>
              <a:off x="6362029" y="3865626"/>
              <a:ext cx="642092" cy="432054"/>
            </a:xfrm>
            <a:prstGeom prst="roundRect">
              <a:avLst>
                <a:gd name="adj" fmla="val 10582"/>
              </a:avLst>
            </a:prstGeom>
            <a:solidFill>
              <a:srgbClr val="D6E3F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6407749" y="3938778"/>
              <a:ext cx="373094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16181D"/>
                  </a:solidFill>
                  <a:latin typeface="IBM Plex Sans Medium"/>
                </a:rPr>
                <a:t>Đắk Lắk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6407749" y="4085971"/>
              <a:ext cx="28067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16181D"/>
                  </a:solidFill>
                  <a:latin typeface="IBM Plex Sans SemiBold"/>
                </a:rPr>
                <a:t>6,68</a:t>
              </a:r>
            </a:p>
          </p:txBody>
        </p:sp>
        <p:sp>
          <p:nvSpPr>
            <p:cNvPr id="91" name="Rounded Rectangle 90"/>
            <p:cNvSpPr/>
            <p:nvPr/>
          </p:nvSpPr>
          <p:spPr>
            <a:xfrm>
              <a:off x="7040697" y="3865626"/>
              <a:ext cx="642092" cy="432054"/>
            </a:xfrm>
            <a:prstGeom prst="roundRect">
              <a:avLst>
                <a:gd name="adj" fmla="val 10582"/>
              </a:avLst>
            </a:prstGeom>
            <a:solidFill>
              <a:srgbClr val="AFCBE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7086417" y="3938778"/>
              <a:ext cx="504634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16181D"/>
                  </a:solidFill>
                  <a:latin typeface="IBM Plex Sans Medium"/>
                </a:rPr>
                <a:t>Khánh Hòa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7086417" y="4085971"/>
              <a:ext cx="28067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16181D"/>
                  </a:solidFill>
                  <a:latin typeface="IBM Plex Sans SemiBold"/>
                </a:rPr>
                <a:t>7,11</a:t>
              </a:r>
            </a:p>
          </p:txBody>
        </p:sp>
        <p:sp>
          <p:nvSpPr>
            <p:cNvPr id="94" name="Rounded Rectangle 93"/>
            <p:cNvSpPr/>
            <p:nvPr/>
          </p:nvSpPr>
          <p:spPr>
            <a:xfrm>
              <a:off x="6362029" y="4334256"/>
              <a:ext cx="642092" cy="432054"/>
            </a:xfrm>
            <a:prstGeom prst="roundRect">
              <a:avLst>
                <a:gd name="adj" fmla="val 10582"/>
              </a:avLst>
            </a:prstGeom>
            <a:solidFill>
              <a:srgbClr val="D6E3F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6407749" y="4407408"/>
              <a:ext cx="460438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16181D"/>
                  </a:solidFill>
                  <a:latin typeface="IBM Plex Sans Medium"/>
                </a:rPr>
                <a:t>Lâm Đồng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6407749" y="4554601"/>
              <a:ext cx="28067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16181D"/>
                  </a:solidFill>
                  <a:latin typeface="IBM Plex Sans SemiBold"/>
                </a:rPr>
                <a:t>6,42</a:t>
              </a:r>
            </a:p>
          </p:txBody>
        </p:sp>
        <p:sp>
          <p:nvSpPr>
            <p:cNvPr id="97" name="Rounded Rectangle 96"/>
            <p:cNvSpPr/>
            <p:nvPr/>
          </p:nvSpPr>
          <p:spPr>
            <a:xfrm>
              <a:off x="5004694" y="4334256"/>
              <a:ext cx="642092" cy="432054"/>
            </a:xfrm>
            <a:prstGeom prst="roundRect">
              <a:avLst>
                <a:gd name="adj" fmla="val 10582"/>
              </a:avLst>
            </a:prstGeom>
            <a:solidFill>
              <a:srgbClr val="5593D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5050414" y="4407408"/>
              <a:ext cx="409861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FFFFFF"/>
                  </a:solidFill>
                  <a:latin typeface="IBM Plex Sans Medium"/>
                </a:rPr>
                <a:t>Tây Ninh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5050414" y="4554601"/>
              <a:ext cx="28067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 SemiBold"/>
                </a:rPr>
                <a:t>9,52</a:t>
              </a:r>
            </a:p>
          </p:txBody>
        </p:sp>
        <p:sp>
          <p:nvSpPr>
            <p:cNvPr id="100" name="Rounded Rectangle 99"/>
            <p:cNvSpPr/>
            <p:nvPr/>
          </p:nvSpPr>
          <p:spPr>
            <a:xfrm>
              <a:off x="5683362" y="4334256"/>
              <a:ext cx="642092" cy="432054"/>
            </a:xfrm>
            <a:prstGeom prst="roundRect">
              <a:avLst>
                <a:gd name="adj" fmla="val 10582"/>
              </a:avLst>
            </a:prstGeom>
            <a:solidFill>
              <a:srgbClr val="5593D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5729082" y="4407408"/>
              <a:ext cx="420814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FFFFFF"/>
                  </a:solidFill>
                  <a:latin typeface="IBM Plex Sans Medium"/>
                </a:rPr>
                <a:t>Đồng Nai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5729082" y="4554601"/>
              <a:ext cx="28067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FFFFFF"/>
                  </a:solidFill>
                  <a:latin typeface="IBM Plex Sans SemiBold"/>
                </a:rPr>
                <a:t>9,63</a:t>
              </a:r>
            </a:p>
          </p:txBody>
        </p:sp>
        <p:sp>
          <p:nvSpPr>
            <p:cNvPr id="103" name="Rounded Rectangle 102"/>
            <p:cNvSpPr/>
            <p:nvPr/>
          </p:nvSpPr>
          <p:spPr>
            <a:xfrm>
              <a:off x="5683362" y="4802886"/>
              <a:ext cx="642092" cy="432054"/>
            </a:xfrm>
            <a:prstGeom prst="roundRect">
              <a:avLst>
                <a:gd name="adj" fmla="val 10582"/>
              </a:avLst>
            </a:prstGeom>
            <a:solidFill>
              <a:srgbClr val="AFCBE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5729082" y="4876038"/>
              <a:ext cx="375571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16181D"/>
                  </a:solidFill>
                  <a:latin typeface="IBM Plex Sans Medium"/>
                </a:rPr>
                <a:t>TP.HCM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5729082" y="5023231"/>
              <a:ext cx="28067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16181D"/>
                  </a:solidFill>
                  <a:latin typeface="IBM Plex Sans SemiBold"/>
                </a:rPr>
                <a:t>7,53</a:t>
              </a:r>
            </a:p>
          </p:txBody>
        </p:sp>
        <p:sp>
          <p:nvSpPr>
            <p:cNvPr id="106" name="Rounded Rectangle 105"/>
            <p:cNvSpPr/>
            <p:nvPr/>
          </p:nvSpPr>
          <p:spPr>
            <a:xfrm>
              <a:off x="5004694" y="4802886"/>
              <a:ext cx="642092" cy="432054"/>
            </a:xfrm>
            <a:prstGeom prst="roundRect">
              <a:avLst>
                <a:gd name="adj" fmla="val 10582"/>
              </a:avLst>
            </a:prstGeom>
            <a:solidFill>
              <a:srgbClr val="AFCBE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5050414" y="4876038"/>
              <a:ext cx="494157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16181D"/>
                  </a:solidFill>
                  <a:latin typeface="IBM Plex Sans Medium"/>
                </a:rPr>
                <a:t>Đồng Tháp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5050414" y="5023231"/>
              <a:ext cx="28067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16181D"/>
                  </a:solidFill>
                  <a:latin typeface="IBM Plex Sans SemiBold"/>
                </a:rPr>
                <a:t>7,38</a:t>
              </a:r>
            </a:p>
          </p:txBody>
        </p:sp>
        <p:sp>
          <p:nvSpPr>
            <p:cNvPr id="109" name="Rounded Rectangle 108"/>
            <p:cNvSpPr/>
            <p:nvPr/>
          </p:nvSpPr>
          <p:spPr>
            <a:xfrm>
              <a:off x="4326026" y="4802886"/>
              <a:ext cx="642092" cy="432054"/>
            </a:xfrm>
            <a:prstGeom prst="roundRect">
              <a:avLst>
                <a:gd name="adj" fmla="val 10582"/>
              </a:avLst>
            </a:prstGeom>
            <a:solidFill>
              <a:srgbClr val="82AFE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4371746" y="4876038"/>
              <a:ext cx="419195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16181D"/>
                  </a:solidFill>
                  <a:latin typeface="IBM Plex Sans Medium"/>
                </a:rPr>
                <a:t>An Giang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4371746" y="5023231"/>
              <a:ext cx="28067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16181D"/>
                  </a:solidFill>
                  <a:latin typeface="IBM Plex Sans SemiBold"/>
                </a:rPr>
                <a:t>8,39</a:t>
              </a:r>
            </a:p>
          </p:txBody>
        </p:sp>
        <p:sp>
          <p:nvSpPr>
            <p:cNvPr id="112" name="Rounded Rectangle 111"/>
            <p:cNvSpPr/>
            <p:nvPr/>
          </p:nvSpPr>
          <p:spPr>
            <a:xfrm>
              <a:off x="5004694" y="5271516"/>
              <a:ext cx="642092" cy="432054"/>
            </a:xfrm>
            <a:prstGeom prst="roundRect">
              <a:avLst>
                <a:gd name="adj" fmla="val 10582"/>
              </a:avLst>
            </a:prstGeom>
            <a:solidFill>
              <a:srgbClr val="D6E3F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5050414" y="5344668"/>
              <a:ext cx="454247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16181D"/>
                  </a:solidFill>
                  <a:latin typeface="IBM Plex Sans Medium"/>
                </a:rPr>
                <a:t>Vĩnh Long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5050414" y="5491861"/>
              <a:ext cx="28067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16181D"/>
                  </a:solidFill>
                  <a:latin typeface="IBM Plex Sans SemiBold"/>
                </a:rPr>
                <a:t>5,84</a:t>
              </a:r>
            </a:p>
          </p:txBody>
        </p:sp>
        <p:sp>
          <p:nvSpPr>
            <p:cNvPr id="115" name="Rounded Rectangle 114"/>
            <p:cNvSpPr/>
            <p:nvPr/>
          </p:nvSpPr>
          <p:spPr>
            <a:xfrm>
              <a:off x="4326026" y="5271516"/>
              <a:ext cx="642092" cy="432054"/>
            </a:xfrm>
            <a:prstGeom prst="roundRect">
              <a:avLst>
                <a:gd name="adj" fmla="val 10582"/>
              </a:avLst>
            </a:prstGeom>
            <a:solidFill>
              <a:srgbClr val="AFCBE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4371746" y="5344668"/>
              <a:ext cx="381571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16181D"/>
                  </a:solidFill>
                  <a:latin typeface="IBM Plex Sans Medium"/>
                </a:rPr>
                <a:t>Cần Thơ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4371746" y="5491861"/>
              <a:ext cx="28067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16181D"/>
                  </a:solidFill>
                  <a:latin typeface="IBM Plex Sans SemiBold"/>
                </a:rPr>
                <a:t>7,23</a:t>
              </a:r>
            </a:p>
          </p:txBody>
        </p:sp>
        <p:sp>
          <p:nvSpPr>
            <p:cNvPr id="118" name="Rounded Rectangle 117"/>
            <p:cNvSpPr/>
            <p:nvPr/>
          </p:nvSpPr>
          <p:spPr>
            <a:xfrm>
              <a:off x="4326026" y="5740146"/>
              <a:ext cx="642092" cy="432054"/>
            </a:xfrm>
            <a:prstGeom prst="roundRect">
              <a:avLst>
                <a:gd name="adj" fmla="val 10582"/>
              </a:avLst>
            </a:prstGeom>
            <a:solidFill>
              <a:srgbClr val="AFCBE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4371746" y="5813298"/>
              <a:ext cx="347758" cy="1238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750" b="0" i="0" lang="vi-VN">
                  <a:solidFill>
                    <a:srgbClr val="16181D"/>
                  </a:solidFill>
                  <a:latin typeface="IBM Plex Sans Medium"/>
                </a:rPr>
                <a:t>Cà Mau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4371746" y="5960491"/>
              <a:ext cx="280676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>
                  <a:solidFill>
                    <a:srgbClr val="16181D"/>
                  </a:solidFill>
                  <a:latin typeface="IBM Plex Sans SemiBold"/>
                </a:rPr>
                <a:t>7,23</a:t>
              </a:r>
            </a:p>
          </p:txBody>
        </p:sp>
      </p:grpSp>
      <p:sp>
        <p:nvSpPr>
          <p:cNvPr id="121" name="Rectangle 120"/>
          <p:cNvSpPr/>
          <p:nvPr/>
        </p:nvSpPr>
        <p:spPr>
          <a:xfrm>
            <a:off x="8066837" y="1755648"/>
            <a:ext cx="3576218" cy="443484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322869" y="2011680"/>
            <a:ext cx="306415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 lang="vi-VN" spc="100">
                <a:solidFill>
                  <a:srgbClr val="5B6170"/>
                </a:solidFill>
                <a:latin typeface="IBM Plex Sans SemiBold"/>
              </a:rPr>
              <a:t>NHANH NHẤT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322869" y="2304288"/>
            <a:ext cx="3064154" cy="5308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800" b="1" i="0" lang="vi-VN">
                <a:solidFill>
                  <a:srgbClr val="16181D"/>
                </a:solidFill>
                <a:latin typeface="IBM Plex Sans"/>
              </a:rPr>
              <a:t>11,89</a:t>
            </a:r>
            <a:r>
              <a:rPr sz="1400" b="0" i="0" lang="vi-VN">
                <a:solidFill>
                  <a:srgbClr val="5B6170"/>
                </a:solidFill>
                <a:latin typeface="IBM Plex Sans SemiBold"/>
              </a:rPr>
              <a:t> %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322869" y="2926588"/>
            <a:ext cx="3064154" cy="2160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 i="0" lang="vi-VN">
                <a:solidFill>
                  <a:srgbClr val="5B6170"/>
                </a:solidFill>
                <a:latin typeface="IBM Plex Sans"/>
              </a:rPr>
              <a:t>Quảng Ninh; chậm nhất Vĩnh Long (5,84%).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8322869" y="3325495"/>
            <a:ext cx="3064154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26" name="TextBox 125"/>
          <p:cNvSpPr txBox="1"/>
          <p:nvPr/>
        </p:nvSpPr>
        <p:spPr>
          <a:xfrm>
            <a:off x="8322869" y="3480943"/>
            <a:ext cx="3064154" cy="5626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Tăng trưởng GRDP 2025 dao động từ 5,84% đến 11,89%.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322869" y="4153332"/>
            <a:ext cx="3064154" cy="5193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200" b="0" i="0" lang="vi-VN">
                <a:solidFill>
                  <a:srgbClr val="5B6170"/>
                </a:solidFill>
                <a:latin typeface="IBM Plex Sans"/>
              </a:rPr>
              <a:t>Ô xếp theo vị trí địa lý gần đúng, không theo diện tích; số liệu từng ô trong ghi chú trang.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29" name="TextBox 128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NSO và cục thống kê địa phương — GRDP 2025 (ước tính), 34 đơn vị sau sắp xếp hành chính.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48640"/>
            <a:ext cx="11094415" cy="0"/>
          </a:xfrm>
          <a:prstGeom prst="line">
            <a:avLst/>
          </a:prstGeom>
          <a:ln w="15875" cap="flat">
            <a:solidFill>
              <a:srgbClr val="16181D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141732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1000" b="0" i="0" lang="vi-VN">
                <a:solidFill>
                  <a:srgbClr val="C2362F"/>
                </a:solidFill>
                <a:latin typeface="Newsreader SemiBold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4966792" cy="6675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0" i="0" lang="vi-VN">
                <a:solidFill>
                  <a:srgbClr val="16181D"/>
                </a:solidFill>
                <a:latin typeface="Newsreader SemiBold"/>
              </a:rPr>
              <a:t>Sơ đồ, dòng chảy và lịch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67912"/>
            <a:ext cx="5455768" cy="6492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500" b="0" i="0" lang="vi-VN">
                <a:solidFill>
                  <a:srgbClr val="5B6170"/>
                </a:solidFill>
                <a:latin typeface="IBM Plex Sans"/>
              </a:rPr>
              <a:t>Dòng tiền ngân sách, cơ chế truyền dẫn, dòng thời gian và điều cần theo dõi.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66837" y="1554480"/>
            <a:ext cx="357621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lang="vi-VN" spc="120">
                <a:solidFill>
                  <a:srgbClr val="5B6170"/>
                </a:solidFill>
                <a:latin typeface="IBM Plex Sans SemiBold"/>
              </a:rPr>
              <a:t>TRONG CHƯƠNG NÀY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066837" y="1920240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8" name="TextBox 7"/>
          <p:cNvSpPr txBox="1"/>
          <p:nvPr/>
        </p:nvSpPr>
        <p:spPr>
          <a:xfrm>
            <a:off x="8066837" y="2002536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Từ nguồn thu đến khoản chi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66837" y="2377821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0" name="TextBox 9"/>
          <p:cNvSpPr txBox="1"/>
          <p:nvPr/>
        </p:nvSpPr>
        <p:spPr>
          <a:xfrm>
            <a:off x="8066837" y="2460117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Các đòn bẩy của NHNN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66837" y="2835402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2" name="TextBox 11"/>
          <p:cNvSpPr txBox="1"/>
          <p:nvPr/>
        </p:nvSpPr>
        <p:spPr>
          <a:xfrm>
            <a:off x="8066837" y="2917698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Dòng thời gian 2026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66837" y="3292983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4" name="TextBox 13"/>
          <p:cNvSpPr txBox="1"/>
          <p:nvPr/>
        </p:nvSpPr>
        <p:spPr>
          <a:xfrm>
            <a:off x="8066837" y="3375279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Ba điều cần theo dõi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6" name="TextBox 15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7 · DÒNG TIỀN NGÂN SÁCH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5548301" cy="84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Chi thường xuyên chiếm 61% chi ngân sách 2024; thu nội địa trả cho 80%</a:t>
            </a:r>
          </a:p>
        </p:txBody>
      </p:sp>
      <p:grpSp>
        <p:nvGrpSpPr>
          <p:cNvPr id="5" name="Chart · flow"/>
          <p:cNvGrpSpPr/>
          <p:nvPr/>
        </p:nvGrpSpPr>
        <p:grpSpPr>
          <a:xfrm>
            <a:off x="579755" y="1905610"/>
            <a:ext cx="10953572" cy="2881819"/>
            <a:chOff x="579755" y="1905610"/>
            <a:chExt cx="10953572" cy="2881819"/>
          </a:xfrm>
        </p:grpSpPr>
        <p:sp>
          <p:nvSpPr>
            <p:cNvPr id="6" name="Freeform 5"/>
            <p:cNvSpPr/>
            <p:nvPr/>
          </p:nvSpPr>
          <p:spPr>
            <a:xfrm>
              <a:off x="2042541" y="1905610"/>
              <a:ext cx="4064483" cy="2107262"/>
            </a:xfrm>
            <a:custGeom>
              <a:avLst/>
              <a:gdLst/>
              <a:ahLst/>
              <a:cxnLst/>
              <a:rect l="l" t="t" r="r" b="b"/>
              <a:pathLst>
                <a:path w="4064483" h="2107262">
                  <a:moveTo>
                    <a:pt x="0" y="0"/>
                  </a:moveTo>
                  <a:lnTo>
                    <a:pt x="169353" y="1481"/>
                  </a:lnTo>
                  <a:lnTo>
                    <a:pt x="338707" y="5757"/>
                  </a:lnTo>
                  <a:lnTo>
                    <a:pt x="508060" y="12573"/>
                  </a:lnTo>
                  <a:lnTo>
                    <a:pt x="677414" y="21674"/>
                  </a:lnTo>
                  <a:lnTo>
                    <a:pt x="846767" y="32808"/>
                  </a:lnTo>
                  <a:lnTo>
                    <a:pt x="1016121" y="45720"/>
                  </a:lnTo>
                  <a:lnTo>
                    <a:pt x="1185474" y="60155"/>
                  </a:lnTo>
                  <a:lnTo>
                    <a:pt x="1354828" y="75861"/>
                  </a:lnTo>
                  <a:lnTo>
                    <a:pt x="1524181" y="92583"/>
                  </a:lnTo>
                  <a:lnTo>
                    <a:pt x="1693534" y="110066"/>
                  </a:lnTo>
                  <a:lnTo>
                    <a:pt x="1862888" y="128058"/>
                  </a:lnTo>
                  <a:lnTo>
                    <a:pt x="2032241" y="146304"/>
                  </a:lnTo>
                  <a:lnTo>
                    <a:pt x="2201595" y="164549"/>
                  </a:lnTo>
                  <a:lnTo>
                    <a:pt x="2370948" y="182541"/>
                  </a:lnTo>
                  <a:lnTo>
                    <a:pt x="2540302" y="200025"/>
                  </a:lnTo>
                  <a:lnTo>
                    <a:pt x="2709655" y="216746"/>
                  </a:lnTo>
                  <a:lnTo>
                    <a:pt x="2879009" y="232452"/>
                  </a:lnTo>
                  <a:lnTo>
                    <a:pt x="3048362" y="246888"/>
                  </a:lnTo>
                  <a:lnTo>
                    <a:pt x="3217715" y="259799"/>
                  </a:lnTo>
                  <a:lnTo>
                    <a:pt x="3387069" y="270933"/>
                  </a:lnTo>
                  <a:lnTo>
                    <a:pt x="3556422" y="280035"/>
                  </a:lnTo>
                  <a:lnTo>
                    <a:pt x="3725776" y="286850"/>
                  </a:lnTo>
                  <a:lnTo>
                    <a:pt x="3895129" y="291126"/>
                  </a:lnTo>
                  <a:lnTo>
                    <a:pt x="4064483" y="292608"/>
                  </a:lnTo>
                  <a:lnTo>
                    <a:pt x="4064483" y="2107262"/>
                  </a:lnTo>
                  <a:lnTo>
                    <a:pt x="3895129" y="2105781"/>
                  </a:lnTo>
                  <a:lnTo>
                    <a:pt x="3725776" y="2101505"/>
                  </a:lnTo>
                  <a:lnTo>
                    <a:pt x="3556422" y="2094689"/>
                  </a:lnTo>
                  <a:lnTo>
                    <a:pt x="3387069" y="2085588"/>
                  </a:lnTo>
                  <a:lnTo>
                    <a:pt x="3217715" y="2074454"/>
                  </a:lnTo>
                  <a:lnTo>
                    <a:pt x="3048362" y="2061542"/>
                  </a:lnTo>
                  <a:lnTo>
                    <a:pt x="2879009" y="2047107"/>
                  </a:lnTo>
                  <a:lnTo>
                    <a:pt x="2709655" y="2031401"/>
                  </a:lnTo>
                  <a:lnTo>
                    <a:pt x="2540302" y="2014679"/>
                  </a:lnTo>
                  <a:lnTo>
                    <a:pt x="2370948" y="1997196"/>
                  </a:lnTo>
                  <a:lnTo>
                    <a:pt x="2201595" y="1979204"/>
                  </a:lnTo>
                  <a:lnTo>
                    <a:pt x="2032241" y="1960958"/>
                  </a:lnTo>
                  <a:lnTo>
                    <a:pt x="1862888" y="1942713"/>
                  </a:lnTo>
                  <a:lnTo>
                    <a:pt x="1693534" y="1924721"/>
                  </a:lnTo>
                  <a:lnTo>
                    <a:pt x="1524181" y="1907237"/>
                  </a:lnTo>
                  <a:lnTo>
                    <a:pt x="1354828" y="1890516"/>
                  </a:lnTo>
                  <a:lnTo>
                    <a:pt x="1185474" y="1874810"/>
                  </a:lnTo>
                  <a:lnTo>
                    <a:pt x="1016121" y="1860374"/>
                  </a:lnTo>
                  <a:lnTo>
                    <a:pt x="846767" y="1847463"/>
                  </a:lnTo>
                  <a:lnTo>
                    <a:pt x="677414" y="1836329"/>
                  </a:lnTo>
                  <a:lnTo>
                    <a:pt x="508060" y="1827227"/>
                  </a:lnTo>
                  <a:lnTo>
                    <a:pt x="338707" y="1820412"/>
                  </a:lnTo>
                  <a:lnTo>
                    <a:pt x="169353" y="1816136"/>
                  </a:lnTo>
                  <a:lnTo>
                    <a:pt x="0" y="1814654"/>
                  </a:lnTo>
                  <a:close/>
                </a:path>
              </a:pathLst>
            </a:custGeom>
            <a:solidFill>
              <a:srgbClr val="2A78D6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2042541" y="3866568"/>
              <a:ext cx="4064483" cy="432673"/>
            </a:xfrm>
            <a:custGeom>
              <a:avLst/>
              <a:gdLst/>
              <a:ahLst/>
              <a:cxnLst/>
              <a:rect l="l" t="t" r="r" b="b"/>
              <a:pathLst>
                <a:path w="4064483" h="432673">
                  <a:moveTo>
                    <a:pt x="0" y="0"/>
                  </a:moveTo>
                  <a:lnTo>
                    <a:pt x="169353" y="741"/>
                  </a:lnTo>
                  <a:lnTo>
                    <a:pt x="338707" y="2879"/>
                  </a:lnTo>
                  <a:lnTo>
                    <a:pt x="508060" y="6287"/>
                  </a:lnTo>
                  <a:lnTo>
                    <a:pt x="677414" y="10838"/>
                  </a:lnTo>
                  <a:lnTo>
                    <a:pt x="846767" y="16404"/>
                  </a:lnTo>
                  <a:lnTo>
                    <a:pt x="1016121" y="22860"/>
                  </a:lnTo>
                  <a:lnTo>
                    <a:pt x="1185474" y="30078"/>
                  </a:lnTo>
                  <a:lnTo>
                    <a:pt x="1354828" y="37931"/>
                  </a:lnTo>
                  <a:lnTo>
                    <a:pt x="1524181" y="46292"/>
                  </a:lnTo>
                  <a:lnTo>
                    <a:pt x="1693534" y="55034"/>
                  </a:lnTo>
                  <a:lnTo>
                    <a:pt x="1862888" y="64029"/>
                  </a:lnTo>
                  <a:lnTo>
                    <a:pt x="2032241" y="73152"/>
                  </a:lnTo>
                  <a:lnTo>
                    <a:pt x="2201595" y="82275"/>
                  </a:lnTo>
                  <a:lnTo>
                    <a:pt x="2370948" y="91271"/>
                  </a:lnTo>
                  <a:lnTo>
                    <a:pt x="2540302" y="100013"/>
                  </a:lnTo>
                  <a:lnTo>
                    <a:pt x="2709655" y="108374"/>
                  </a:lnTo>
                  <a:lnTo>
                    <a:pt x="2879009" y="116226"/>
                  </a:lnTo>
                  <a:lnTo>
                    <a:pt x="3048362" y="123444"/>
                  </a:lnTo>
                  <a:lnTo>
                    <a:pt x="3217715" y="129900"/>
                  </a:lnTo>
                  <a:lnTo>
                    <a:pt x="3387069" y="135467"/>
                  </a:lnTo>
                  <a:lnTo>
                    <a:pt x="3556422" y="140018"/>
                  </a:lnTo>
                  <a:lnTo>
                    <a:pt x="3725776" y="143426"/>
                  </a:lnTo>
                  <a:lnTo>
                    <a:pt x="3895129" y="145563"/>
                  </a:lnTo>
                  <a:lnTo>
                    <a:pt x="4064483" y="146304"/>
                  </a:lnTo>
                  <a:lnTo>
                    <a:pt x="4064483" y="432673"/>
                  </a:lnTo>
                  <a:lnTo>
                    <a:pt x="3895129" y="431932"/>
                  </a:lnTo>
                  <a:lnTo>
                    <a:pt x="3725776" y="429794"/>
                  </a:lnTo>
                  <a:lnTo>
                    <a:pt x="3556422" y="426386"/>
                  </a:lnTo>
                  <a:lnTo>
                    <a:pt x="3387069" y="421835"/>
                  </a:lnTo>
                  <a:lnTo>
                    <a:pt x="3217715" y="416269"/>
                  </a:lnTo>
                  <a:lnTo>
                    <a:pt x="3048362" y="409813"/>
                  </a:lnTo>
                  <a:lnTo>
                    <a:pt x="2879009" y="402595"/>
                  </a:lnTo>
                  <a:lnTo>
                    <a:pt x="2709655" y="394742"/>
                  </a:lnTo>
                  <a:lnTo>
                    <a:pt x="2540302" y="386381"/>
                  </a:lnTo>
                  <a:lnTo>
                    <a:pt x="2370948" y="377639"/>
                  </a:lnTo>
                  <a:lnTo>
                    <a:pt x="2201595" y="368644"/>
                  </a:lnTo>
                  <a:lnTo>
                    <a:pt x="2032241" y="359521"/>
                  </a:lnTo>
                  <a:lnTo>
                    <a:pt x="1862888" y="350398"/>
                  </a:lnTo>
                  <a:lnTo>
                    <a:pt x="1693534" y="341402"/>
                  </a:lnTo>
                  <a:lnTo>
                    <a:pt x="1524181" y="332660"/>
                  </a:lnTo>
                  <a:lnTo>
                    <a:pt x="1354828" y="324299"/>
                  </a:lnTo>
                  <a:lnTo>
                    <a:pt x="1185474" y="316447"/>
                  </a:lnTo>
                  <a:lnTo>
                    <a:pt x="1016121" y="309229"/>
                  </a:lnTo>
                  <a:lnTo>
                    <a:pt x="846767" y="302773"/>
                  </a:lnTo>
                  <a:lnTo>
                    <a:pt x="677414" y="297206"/>
                  </a:lnTo>
                  <a:lnTo>
                    <a:pt x="508060" y="292655"/>
                  </a:lnTo>
                  <a:lnTo>
                    <a:pt x="338707" y="289247"/>
                  </a:lnTo>
                  <a:lnTo>
                    <a:pt x="169353" y="287110"/>
                  </a:lnTo>
                  <a:lnTo>
                    <a:pt x="0" y="286369"/>
                  </a:lnTo>
                  <a:close/>
                </a:path>
              </a:pathLst>
            </a:custGeom>
            <a:solidFill>
              <a:srgbClr val="EB6834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2042541" y="4299241"/>
              <a:ext cx="4064483" cy="61742"/>
            </a:xfrm>
            <a:custGeom>
              <a:avLst/>
              <a:gdLst/>
              <a:ahLst/>
              <a:cxnLst/>
              <a:rect l="l" t="t" r="r" b="b"/>
              <a:pathLst>
                <a:path w="4064483" h="61742">
                  <a:moveTo>
                    <a:pt x="0" y="0"/>
                  </a:moveTo>
                  <a:lnTo>
                    <a:pt x="169353" y="0"/>
                  </a:lnTo>
                  <a:lnTo>
                    <a:pt x="338707" y="0"/>
                  </a:lnTo>
                  <a:lnTo>
                    <a:pt x="508060" y="0"/>
                  </a:lnTo>
                  <a:lnTo>
                    <a:pt x="677414" y="0"/>
                  </a:lnTo>
                  <a:lnTo>
                    <a:pt x="846767" y="0"/>
                  </a:lnTo>
                  <a:lnTo>
                    <a:pt x="1016121" y="0"/>
                  </a:lnTo>
                  <a:lnTo>
                    <a:pt x="1185474" y="0"/>
                  </a:lnTo>
                  <a:lnTo>
                    <a:pt x="1354828" y="0"/>
                  </a:lnTo>
                  <a:lnTo>
                    <a:pt x="1524181" y="0"/>
                  </a:lnTo>
                  <a:lnTo>
                    <a:pt x="1693534" y="0"/>
                  </a:lnTo>
                  <a:lnTo>
                    <a:pt x="1862888" y="0"/>
                  </a:lnTo>
                  <a:lnTo>
                    <a:pt x="2032241" y="0"/>
                  </a:lnTo>
                  <a:lnTo>
                    <a:pt x="2201595" y="0"/>
                  </a:lnTo>
                  <a:lnTo>
                    <a:pt x="2370948" y="0"/>
                  </a:lnTo>
                  <a:lnTo>
                    <a:pt x="2540302" y="0"/>
                  </a:lnTo>
                  <a:lnTo>
                    <a:pt x="2709655" y="0"/>
                  </a:lnTo>
                  <a:lnTo>
                    <a:pt x="2879009" y="0"/>
                  </a:lnTo>
                  <a:lnTo>
                    <a:pt x="3048362" y="0"/>
                  </a:lnTo>
                  <a:lnTo>
                    <a:pt x="3217715" y="0"/>
                  </a:lnTo>
                  <a:lnTo>
                    <a:pt x="3387069" y="0"/>
                  </a:lnTo>
                  <a:lnTo>
                    <a:pt x="3556422" y="0"/>
                  </a:lnTo>
                  <a:lnTo>
                    <a:pt x="3725776" y="0"/>
                  </a:lnTo>
                  <a:lnTo>
                    <a:pt x="3895129" y="0"/>
                  </a:lnTo>
                  <a:lnTo>
                    <a:pt x="4064483" y="0"/>
                  </a:lnTo>
                  <a:lnTo>
                    <a:pt x="4064483" y="61742"/>
                  </a:lnTo>
                  <a:lnTo>
                    <a:pt x="3895129" y="61742"/>
                  </a:lnTo>
                  <a:lnTo>
                    <a:pt x="3725776" y="61742"/>
                  </a:lnTo>
                  <a:lnTo>
                    <a:pt x="3556422" y="61742"/>
                  </a:lnTo>
                  <a:lnTo>
                    <a:pt x="3387069" y="61742"/>
                  </a:lnTo>
                  <a:lnTo>
                    <a:pt x="3217715" y="61742"/>
                  </a:lnTo>
                  <a:lnTo>
                    <a:pt x="3048362" y="61742"/>
                  </a:lnTo>
                  <a:lnTo>
                    <a:pt x="2879009" y="61742"/>
                  </a:lnTo>
                  <a:lnTo>
                    <a:pt x="2709655" y="61742"/>
                  </a:lnTo>
                  <a:lnTo>
                    <a:pt x="2540302" y="61742"/>
                  </a:lnTo>
                  <a:lnTo>
                    <a:pt x="2370948" y="61742"/>
                  </a:lnTo>
                  <a:lnTo>
                    <a:pt x="2201595" y="61742"/>
                  </a:lnTo>
                  <a:lnTo>
                    <a:pt x="2032241" y="61742"/>
                  </a:lnTo>
                  <a:lnTo>
                    <a:pt x="1862888" y="61742"/>
                  </a:lnTo>
                  <a:lnTo>
                    <a:pt x="1693534" y="61742"/>
                  </a:lnTo>
                  <a:lnTo>
                    <a:pt x="1524181" y="61742"/>
                  </a:lnTo>
                  <a:lnTo>
                    <a:pt x="1354828" y="61742"/>
                  </a:lnTo>
                  <a:lnTo>
                    <a:pt x="1185474" y="61742"/>
                  </a:lnTo>
                  <a:lnTo>
                    <a:pt x="1016121" y="61742"/>
                  </a:lnTo>
                  <a:lnTo>
                    <a:pt x="846767" y="61742"/>
                  </a:lnTo>
                  <a:lnTo>
                    <a:pt x="677414" y="61742"/>
                  </a:lnTo>
                  <a:lnTo>
                    <a:pt x="508060" y="61742"/>
                  </a:lnTo>
                  <a:lnTo>
                    <a:pt x="338707" y="61742"/>
                  </a:lnTo>
                  <a:lnTo>
                    <a:pt x="169353" y="61742"/>
                  </a:lnTo>
                  <a:lnTo>
                    <a:pt x="0" y="61742"/>
                  </a:lnTo>
                  <a:close/>
                </a:path>
              </a:pathLst>
            </a:custGeom>
            <a:solidFill>
              <a:srgbClr val="EDA100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2042541" y="4360983"/>
              <a:ext cx="4064483" cy="149725"/>
            </a:xfrm>
            <a:custGeom>
              <a:avLst/>
              <a:gdLst/>
              <a:ahLst/>
              <a:cxnLst/>
              <a:rect l="l" t="t" r="r" b="b"/>
              <a:pathLst>
                <a:path w="4064483" h="149725">
                  <a:moveTo>
                    <a:pt x="0" y="146304"/>
                  </a:moveTo>
                  <a:lnTo>
                    <a:pt x="169353" y="145564"/>
                  </a:lnTo>
                  <a:lnTo>
                    <a:pt x="338707" y="143426"/>
                  </a:lnTo>
                  <a:lnTo>
                    <a:pt x="508060" y="140018"/>
                  </a:lnTo>
                  <a:lnTo>
                    <a:pt x="677414" y="135467"/>
                  </a:lnTo>
                  <a:lnTo>
                    <a:pt x="846767" y="129900"/>
                  </a:lnTo>
                  <a:lnTo>
                    <a:pt x="1016121" y="123444"/>
                  </a:lnTo>
                  <a:lnTo>
                    <a:pt x="1185474" y="116227"/>
                  </a:lnTo>
                  <a:lnTo>
                    <a:pt x="1354828" y="108374"/>
                  </a:lnTo>
                  <a:lnTo>
                    <a:pt x="1524181" y="100013"/>
                  </a:lnTo>
                  <a:lnTo>
                    <a:pt x="1693534" y="91271"/>
                  </a:lnTo>
                  <a:lnTo>
                    <a:pt x="1862888" y="82275"/>
                  </a:lnTo>
                  <a:lnTo>
                    <a:pt x="2032241" y="73152"/>
                  </a:lnTo>
                  <a:lnTo>
                    <a:pt x="2201595" y="64030"/>
                  </a:lnTo>
                  <a:lnTo>
                    <a:pt x="2370948" y="55034"/>
                  </a:lnTo>
                  <a:lnTo>
                    <a:pt x="2540302" y="46292"/>
                  </a:lnTo>
                  <a:lnTo>
                    <a:pt x="2709655" y="37931"/>
                  </a:lnTo>
                  <a:lnTo>
                    <a:pt x="2879009" y="30078"/>
                  </a:lnTo>
                  <a:lnTo>
                    <a:pt x="3048362" y="22860"/>
                  </a:lnTo>
                  <a:lnTo>
                    <a:pt x="3217715" y="16405"/>
                  </a:lnTo>
                  <a:lnTo>
                    <a:pt x="3387069" y="10838"/>
                  </a:lnTo>
                  <a:lnTo>
                    <a:pt x="3556422" y="6287"/>
                  </a:lnTo>
                  <a:lnTo>
                    <a:pt x="3725776" y="2879"/>
                  </a:lnTo>
                  <a:lnTo>
                    <a:pt x="3895129" y="741"/>
                  </a:lnTo>
                  <a:lnTo>
                    <a:pt x="4064483" y="0"/>
                  </a:lnTo>
                  <a:lnTo>
                    <a:pt x="4064483" y="3421"/>
                  </a:lnTo>
                  <a:lnTo>
                    <a:pt x="3895129" y="4162"/>
                  </a:lnTo>
                  <a:lnTo>
                    <a:pt x="3725776" y="6300"/>
                  </a:lnTo>
                  <a:lnTo>
                    <a:pt x="3556422" y="9707"/>
                  </a:lnTo>
                  <a:lnTo>
                    <a:pt x="3387069" y="14258"/>
                  </a:lnTo>
                  <a:lnTo>
                    <a:pt x="3217715" y="19825"/>
                  </a:lnTo>
                  <a:lnTo>
                    <a:pt x="3048362" y="26281"/>
                  </a:lnTo>
                  <a:lnTo>
                    <a:pt x="2879009" y="33499"/>
                  </a:lnTo>
                  <a:lnTo>
                    <a:pt x="2709655" y="41352"/>
                  </a:lnTo>
                  <a:lnTo>
                    <a:pt x="2540302" y="49712"/>
                  </a:lnTo>
                  <a:lnTo>
                    <a:pt x="2370948" y="58454"/>
                  </a:lnTo>
                  <a:lnTo>
                    <a:pt x="2201595" y="67450"/>
                  </a:lnTo>
                  <a:lnTo>
                    <a:pt x="2032241" y="76573"/>
                  </a:lnTo>
                  <a:lnTo>
                    <a:pt x="1862888" y="85696"/>
                  </a:lnTo>
                  <a:lnTo>
                    <a:pt x="1693534" y="94692"/>
                  </a:lnTo>
                  <a:lnTo>
                    <a:pt x="1524181" y="103433"/>
                  </a:lnTo>
                  <a:lnTo>
                    <a:pt x="1354828" y="111794"/>
                  </a:lnTo>
                  <a:lnTo>
                    <a:pt x="1185474" y="119647"/>
                  </a:lnTo>
                  <a:lnTo>
                    <a:pt x="1016121" y="126865"/>
                  </a:lnTo>
                  <a:lnTo>
                    <a:pt x="846767" y="133321"/>
                  </a:lnTo>
                  <a:lnTo>
                    <a:pt x="677414" y="138888"/>
                  </a:lnTo>
                  <a:lnTo>
                    <a:pt x="508060" y="143438"/>
                  </a:lnTo>
                  <a:lnTo>
                    <a:pt x="338707" y="146846"/>
                  </a:lnTo>
                  <a:lnTo>
                    <a:pt x="169353" y="148984"/>
                  </a:lnTo>
                  <a:lnTo>
                    <a:pt x="0" y="149725"/>
                  </a:lnTo>
                  <a:close/>
                </a:path>
              </a:pathLst>
            </a:custGeom>
            <a:solidFill>
              <a:srgbClr val="1BAF7A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2042541" y="4364404"/>
              <a:ext cx="4064483" cy="388342"/>
            </a:xfrm>
            <a:custGeom>
              <a:avLst/>
              <a:gdLst/>
              <a:ahLst/>
              <a:cxnLst/>
              <a:rect l="l" t="t" r="r" b="b"/>
              <a:pathLst>
                <a:path w="4064483" h="388342">
                  <a:moveTo>
                    <a:pt x="0" y="292608"/>
                  </a:moveTo>
                  <a:lnTo>
                    <a:pt x="169353" y="291126"/>
                  </a:lnTo>
                  <a:lnTo>
                    <a:pt x="338707" y="286851"/>
                  </a:lnTo>
                  <a:lnTo>
                    <a:pt x="508060" y="280035"/>
                  </a:lnTo>
                  <a:lnTo>
                    <a:pt x="677414" y="270933"/>
                  </a:lnTo>
                  <a:lnTo>
                    <a:pt x="846767" y="259800"/>
                  </a:lnTo>
                  <a:lnTo>
                    <a:pt x="1016121" y="246888"/>
                  </a:lnTo>
                  <a:lnTo>
                    <a:pt x="1185474" y="232452"/>
                  </a:lnTo>
                  <a:lnTo>
                    <a:pt x="1354828" y="216747"/>
                  </a:lnTo>
                  <a:lnTo>
                    <a:pt x="1524181" y="200025"/>
                  </a:lnTo>
                  <a:lnTo>
                    <a:pt x="1693534" y="182541"/>
                  </a:lnTo>
                  <a:lnTo>
                    <a:pt x="1862888" y="164550"/>
                  </a:lnTo>
                  <a:lnTo>
                    <a:pt x="2032241" y="146304"/>
                  </a:lnTo>
                  <a:lnTo>
                    <a:pt x="2201595" y="128058"/>
                  </a:lnTo>
                  <a:lnTo>
                    <a:pt x="2370948" y="110067"/>
                  </a:lnTo>
                  <a:lnTo>
                    <a:pt x="2540302" y="92583"/>
                  </a:lnTo>
                  <a:lnTo>
                    <a:pt x="2709655" y="75861"/>
                  </a:lnTo>
                  <a:lnTo>
                    <a:pt x="2879009" y="60156"/>
                  </a:lnTo>
                  <a:lnTo>
                    <a:pt x="3048362" y="45720"/>
                  </a:lnTo>
                  <a:lnTo>
                    <a:pt x="3217715" y="32808"/>
                  </a:lnTo>
                  <a:lnTo>
                    <a:pt x="3387069" y="21675"/>
                  </a:lnTo>
                  <a:lnTo>
                    <a:pt x="3556422" y="12573"/>
                  </a:lnTo>
                  <a:lnTo>
                    <a:pt x="3725776" y="5757"/>
                  </a:lnTo>
                  <a:lnTo>
                    <a:pt x="3895129" y="1482"/>
                  </a:lnTo>
                  <a:lnTo>
                    <a:pt x="4064483" y="0"/>
                  </a:lnTo>
                  <a:lnTo>
                    <a:pt x="4064483" y="95734"/>
                  </a:lnTo>
                  <a:lnTo>
                    <a:pt x="3895129" y="97216"/>
                  </a:lnTo>
                  <a:lnTo>
                    <a:pt x="3725776" y="101492"/>
                  </a:lnTo>
                  <a:lnTo>
                    <a:pt x="3556422" y="108307"/>
                  </a:lnTo>
                  <a:lnTo>
                    <a:pt x="3387069" y="117409"/>
                  </a:lnTo>
                  <a:lnTo>
                    <a:pt x="3217715" y="128543"/>
                  </a:lnTo>
                  <a:lnTo>
                    <a:pt x="3048362" y="141454"/>
                  </a:lnTo>
                  <a:lnTo>
                    <a:pt x="2879009" y="155890"/>
                  </a:lnTo>
                  <a:lnTo>
                    <a:pt x="2709655" y="171596"/>
                  </a:lnTo>
                  <a:lnTo>
                    <a:pt x="2540302" y="188317"/>
                  </a:lnTo>
                  <a:lnTo>
                    <a:pt x="2370948" y="205801"/>
                  </a:lnTo>
                  <a:lnTo>
                    <a:pt x="2201595" y="223793"/>
                  </a:lnTo>
                  <a:lnTo>
                    <a:pt x="2032241" y="242038"/>
                  </a:lnTo>
                  <a:lnTo>
                    <a:pt x="1862888" y="260284"/>
                  </a:lnTo>
                  <a:lnTo>
                    <a:pt x="1693534" y="278276"/>
                  </a:lnTo>
                  <a:lnTo>
                    <a:pt x="1524181" y="295759"/>
                  </a:lnTo>
                  <a:lnTo>
                    <a:pt x="1354828" y="312481"/>
                  </a:lnTo>
                  <a:lnTo>
                    <a:pt x="1185474" y="328187"/>
                  </a:lnTo>
                  <a:lnTo>
                    <a:pt x="1016121" y="342622"/>
                  </a:lnTo>
                  <a:lnTo>
                    <a:pt x="846767" y="355534"/>
                  </a:lnTo>
                  <a:lnTo>
                    <a:pt x="677414" y="366668"/>
                  </a:lnTo>
                  <a:lnTo>
                    <a:pt x="508060" y="375769"/>
                  </a:lnTo>
                  <a:lnTo>
                    <a:pt x="338707" y="382585"/>
                  </a:lnTo>
                  <a:lnTo>
                    <a:pt x="169353" y="386861"/>
                  </a:lnTo>
                  <a:lnTo>
                    <a:pt x="0" y="388342"/>
                  </a:lnTo>
                  <a:close/>
                </a:path>
              </a:pathLst>
            </a:custGeom>
            <a:solidFill>
              <a:srgbClr val="E34948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6225896" y="1978762"/>
              <a:ext cx="4064482" cy="1609675"/>
            </a:xfrm>
            <a:custGeom>
              <a:avLst/>
              <a:gdLst/>
              <a:ahLst/>
              <a:cxnLst/>
              <a:rect l="l" t="t" r="r" b="b"/>
              <a:pathLst>
                <a:path w="4064482" h="1609675">
                  <a:moveTo>
                    <a:pt x="0" y="219456"/>
                  </a:moveTo>
                  <a:lnTo>
                    <a:pt x="169353" y="218344"/>
                  </a:lnTo>
                  <a:lnTo>
                    <a:pt x="338706" y="215138"/>
                  </a:lnTo>
                  <a:lnTo>
                    <a:pt x="508060" y="210026"/>
                  </a:lnTo>
                  <a:lnTo>
                    <a:pt x="677413" y="203200"/>
                  </a:lnTo>
                  <a:lnTo>
                    <a:pt x="846767" y="194849"/>
                  </a:lnTo>
                  <a:lnTo>
                    <a:pt x="1016120" y="185166"/>
                  </a:lnTo>
                  <a:lnTo>
                    <a:pt x="1185474" y="174339"/>
                  </a:lnTo>
                  <a:lnTo>
                    <a:pt x="1354827" y="162560"/>
                  </a:lnTo>
                  <a:lnTo>
                    <a:pt x="1524181" y="150018"/>
                  </a:lnTo>
                  <a:lnTo>
                    <a:pt x="1693534" y="136906"/>
                  </a:lnTo>
                  <a:lnTo>
                    <a:pt x="1862887" y="123412"/>
                  </a:lnTo>
                  <a:lnTo>
                    <a:pt x="2032241" y="109728"/>
                  </a:lnTo>
                  <a:lnTo>
                    <a:pt x="2201594" y="96043"/>
                  </a:lnTo>
                  <a:lnTo>
                    <a:pt x="2370948" y="82550"/>
                  </a:lnTo>
                  <a:lnTo>
                    <a:pt x="2540301" y="69437"/>
                  </a:lnTo>
                  <a:lnTo>
                    <a:pt x="2709655" y="56896"/>
                  </a:lnTo>
                  <a:lnTo>
                    <a:pt x="2879008" y="45116"/>
                  </a:lnTo>
                  <a:lnTo>
                    <a:pt x="3048362" y="34290"/>
                  </a:lnTo>
                  <a:lnTo>
                    <a:pt x="3217715" y="24606"/>
                  </a:lnTo>
                  <a:lnTo>
                    <a:pt x="3387068" y="16256"/>
                  </a:lnTo>
                  <a:lnTo>
                    <a:pt x="3556422" y="9429"/>
                  </a:lnTo>
                  <a:lnTo>
                    <a:pt x="3725775" y="4318"/>
                  </a:lnTo>
                  <a:lnTo>
                    <a:pt x="3895129" y="1111"/>
                  </a:lnTo>
                  <a:lnTo>
                    <a:pt x="4064482" y="0"/>
                  </a:lnTo>
                  <a:lnTo>
                    <a:pt x="4064482" y="1390219"/>
                  </a:lnTo>
                  <a:lnTo>
                    <a:pt x="3895129" y="1391331"/>
                  </a:lnTo>
                  <a:lnTo>
                    <a:pt x="3725775" y="1394537"/>
                  </a:lnTo>
                  <a:lnTo>
                    <a:pt x="3556422" y="1399649"/>
                  </a:lnTo>
                  <a:lnTo>
                    <a:pt x="3387068" y="1406475"/>
                  </a:lnTo>
                  <a:lnTo>
                    <a:pt x="3217715" y="1414826"/>
                  </a:lnTo>
                  <a:lnTo>
                    <a:pt x="3048362" y="1424509"/>
                  </a:lnTo>
                  <a:lnTo>
                    <a:pt x="2879008" y="1435336"/>
                  </a:lnTo>
                  <a:lnTo>
                    <a:pt x="2709655" y="1447115"/>
                  </a:lnTo>
                  <a:lnTo>
                    <a:pt x="2540301" y="1459657"/>
                  </a:lnTo>
                  <a:lnTo>
                    <a:pt x="2370948" y="1472769"/>
                  </a:lnTo>
                  <a:lnTo>
                    <a:pt x="2201594" y="1486263"/>
                  </a:lnTo>
                  <a:lnTo>
                    <a:pt x="2032241" y="1499947"/>
                  </a:lnTo>
                  <a:lnTo>
                    <a:pt x="1862887" y="1513632"/>
                  </a:lnTo>
                  <a:lnTo>
                    <a:pt x="1693534" y="1527125"/>
                  </a:lnTo>
                  <a:lnTo>
                    <a:pt x="1524181" y="1540238"/>
                  </a:lnTo>
                  <a:lnTo>
                    <a:pt x="1354827" y="1552779"/>
                  </a:lnTo>
                  <a:lnTo>
                    <a:pt x="1185474" y="1564559"/>
                  </a:lnTo>
                  <a:lnTo>
                    <a:pt x="1016120" y="1575385"/>
                  </a:lnTo>
                  <a:lnTo>
                    <a:pt x="846767" y="1585069"/>
                  </a:lnTo>
                  <a:lnTo>
                    <a:pt x="677413" y="1593419"/>
                  </a:lnTo>
                  <a:lnTo>
                    <a:pt x="508060" y="1600246"/>
                  </a:lnTo>
                  <a:lnTo>
                    <a:pt x="338706" y="1605357"/>
                  </a:lnTo>
                  <a:lnTo>
                    <a:pt x="169353" y="1608564"/>
                  </a:lnTo>
                  <a:lnTo>
                    <a:pt x="0" y="1609675"/>
                  </a:lnTo>
                  <a:close/>
                </a:path>
              </a:pathLst>
            </a:custGeom>
            <a:solidFill>
              <a:srgbClr val="8A8F99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225896" y="3515285"/>
              <a:ext cx="4064482" cy="832077"/>
            </a:xfrm>
            <a:custGeom>
              <a:avLst/>
              <a:gdLst/>
              <a:ahLst/>
              <a:cxnLst/>
              <a:rect l="l" t="t" r="r" b="b"/>
              <a:pathLst>
                <a:path w="4064482" h="832077">
                  <a:moveTo>
                    <a:pt x="0" y="73152"/>
                  </a:moveTo>
                  <a:lnTo>
                    <a:pt x="169353" y="72782"/>
                  </a:lnTo>
                  <a:lnTo>
                    <a:pt x="338706" y="71713"/>
                  </a:lnTo>
                  <a:lnTo>
                    <a:pt x="508060" y="70009"/>
                  </a:lnTo>
                  <a:lnTo>
                    <a:pt x="677413" y="67734"/>
                  </a:lnTo>
                  <a:lnTo>
                    <a:pt x="846767" y="64950"/>
                  </a:lnTo>
                  <a:lnTo>
                    <a:pt x="1016120" y="61722"/>
                  </a:lnTo>
                  <a:lnTo>
                    <a:pt x="1185474" y="58113"/>
                  </a:lnTo>
                  <a:lnTo>
                    <a:pt x="1354827" y="54187"/>
                  </a:lnTo>
                  <a:lnTo>
                    <a:pt x="1524181" y="50007"/>
                  </a:lnTo>
                  <a:lnTo>
                    <a:pt x="1693534" y="45636"/>
                  </a:lnTo>
                  <a:lnTo>
                    <a:pt x="1862887" y="41138"/>
                  </a:lnTo>
                  <a:lnTo>
                    <a:pt x="2032241" y="36576"/>
                  </a:lnTo>
                  <a:lnTo>
                    <a:pt x="2201594" y="32015"/>
                  </a:lnTo>
                  <a:lnTo>
                    <a:pt x="2370948" y="27517"/>
                  </a:lnTo>
                  <a:lnTo>
                    <a:pt x="2540301" y="23146"/>
                  </a:lnTo>
                  <a:lnTo>
                    <a:pt x="2709655" y="18966"/>
                  </a:lnTo>
                  <a:lnTo>
                    <a:pt x="2879008" y="15039"/>
                  </a:lnTo>
                  <a:lnTo>
                    <a:pt x="3048362" y="11430"/>
                  </a:lnTo>
                  <a:lnTo>
                    <a:pt x="3217715" y="8202"/>
                  </a:lnTo>
                  <a:lnTo>
                    <a:pt x="3387068" y="5419"/>
                  </a:lnTo>
                  <a:lnTo>
                    <a:pt x="3556422" y="3144"/>
                  </a:lnTo>
                  <a:lnTo>
                    <a:pt x="3725775" y="1440"/>
                  </a:lnTo>
                  <a:lnTo>
                    <a:pt x="3895129" y="371"/>
                  </a:lnTo>
                  <a:lnTo>
                    <a:pt x="4064482" y="0"/>
                  </a:lnTo>
                  <a:lnTo>
                    <a:pt x="4064482" y="758925"/>
                  </a:lnTo>
                  <a:lnTo>
                    <a:pt x="3895129" y="759296"/>
                  </a:lnTo>
                  <a:lnTo>
                    <a:pt x="3725775" y="760365"/>
                  </a:lnTo>
                  <a:lnTo>
                    <a:pt x="3556422" y="762069"/>
                  </a:lnTo>
                  <a:lnTo>
                    <a:pt x="3387068" y="764344"/>
                  </a:lnTo>
                  <a:lnTo>
                    <a:pt x="3217715" y="767127"/>
                  </a:lnTo>
                  <a:lnTo>
                    <a:pt x="3048362" y="770355"/>
                  </a:lnTo>
                  <a:lnTo>
                    <a:pt x="2879008" y="773964"/>
                  </a:lnTo>
                  <a:lnTo>
                    <a:pt x="2709655" y="777891"/>
                  </a:lnTo>
                  <a:lnTo>
                    <a:pt x="2540301" y="782071"/>
                  </a:lnTo>
                  <a:lnTo>
                    <a:pt x="2370948" y="786442"/>
                  </a:lnTo>
                  <a:lnTo>
                    <a:pt x="2201594" y="790940"/>
                  </a:lnTo>
                  <a:lnTo>
                    <a:pt x="2032241" y="795501"/>
                  </a:lnTo>
                  <a:lnTo>
                    <a:pt x="1862887" y="800063"/>
                  </a:lnTo>
                  <a:lnTo>
                    <a:pt x="1693534" y="804561"/>
                  </a:lnTo>
                  <a:lnTo>
                    <a:pt x="1524181" y="808932"/>
                  </a:lnTo>
                  <a:lnTo>
                    <a:pt x="1354827" y="813112"/>
                  </a:lnTo>
                  <a:lnTo>
                    <a:pt x="1185474" y="817038"/>
                  </a:lnTo>
                  <a:lnTo>
                    <a:pt x="1016120" y="820647"/>
                  </a:lnTo>
                  <a:lnTo>
                    <a:pt x="846767" y="823875"/>
                  </a:lnTo>
                  <a:lnTo>
                    <a:pt x="677413" y="826659"/>
                  </a:lnTo>
                  <a:lnTo>
                    <a:pt x="508060" y="828934"/>
                  </a:lnTo>
                  <a:lnTo>
                    <a:pt x="338706" y="830638"/>
                  </a:lnTo>
                  <a:lnTo>
                    <a:pt x="169353" y="831707"/>
                  </a:lnTo>
                  <a:lnTo>
                    <a:pt x="0" y="832077"/>
                  </a:lnTo>
                  <a:close/>
                </a:path>
              </a:pathLst>
            </a:custGeom>
            <a:solidFill>
              <a:srgbClr val="8A8F99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6225896" y="4347362"/>
              <a:ext cx="4064482" cy="181139"/>
            </a:xfrm>
            <a:custGeom>
              <a:avLst/>
              <a:gdLst/>
              <a:ahLst/>
              <a:cxnLst/>
              <a:rect l="l" t="t" r="r" b="b"/>
              <a:pathLst>
                <a:path w="4064482" h="181139">
                  <a:moveTo>
                    <a:pt x="0" y="0"/>
                  </a:moveTo>
                  <a:lnTo>
                    <a:pt x="169353" y="371"/>
                  </a:lnTo>
                  <a:lnTo>
                    <a:pt x="338706" y="1440"/>
                  </a:lnTo>
                  <a:lnTo>
                    <a:pt x="508060" y="3144"/>
                  </a:lnTo>
                  <a:lnTo>
                    <a:pt x="677413" y="5419"/>
                  </a:lnTo>
                  <a:lnTo>
                    <a:pt x="846767" y="8202"/>
                  </a:lnTo>
                  <a:lnTo>
                    <a:pt x="1016120" y="11430"/>
                  </a:lnTo>
                  <a:lnTo>
                    <a:pt x="1185474" y="15039"/>
                  </a:lnTo>
                  <a:lnTo>
                    <a:pt x="1354827" y="18966"/>
                  </a:lnTo>
                  <a:lnTo>
                    <a:pt x="1524181" y="23146"/>
                  </a:lnTo>
                  <a:lnTo>
                    <a:pt x="1693534" y="27517"/>
                  </a:lnTo>
                  <a:lnTo>
                    <a:pt x="1862887" y="32015"/>
                  </a:lnTo>
                  <a:lnTo>
                    <a:pt x="2032241" y="36576"/>
                  </a:lnTo>
                  <a:lnTo>
                    <a:pt x="2201594" y="41138"/>
                  </a:lnTo>
                  <a:lnTo>
                    <a:pt x="2370948" y="45636"/>
                  </a:lnTo>
                  <a:lnTo>
                    <a:pt x="2540301" y="50007"/>
                  </a:lnTo>
                  <a:lnTo>
                    <a:pt x="2709655" y="54187"/>
                  </a:lnTo>
                  <a:lnTo>
                    <a:pt x="2879008" y="58113"/>
                  </a:lnTo>
                  <a:lnTo>
                    <a:pt x="3048362" y="61722"/>
                  </a:lnTo>
                  <a:lnTo>
                    <a:pt x="3217715" y="64950"/>
                  </a:lnTo>
                  <a:lnTo>
                    <a:pt x="3387068" y="67734"/>
                  </a:lnTo>
                  <a:lnTo>
                    <a:pt x="3556422" y="70009"/>
                  </a:lnTo>
                  <a:lnTo>
                    <a:pt x="3725775" y="71713"/>
                  </a:lnTo>
                  <a:lnTo>
                    <a:pt x="3895129" y="72782"/>
                  </a:lnTo>
                  <a:lnTo>
                    <a:pt x="4064482" y="73152"/>
                  </a:lnTo>
                  <a:lnTo>
                    <a:pt x="4064482" y="181139"/>
                  </a:lnTo>
                  <a:lnTo>
                    <a:pt x="3895129" y="180769"/>
                  </a:lnTo>
                  <a:lnTo>
                    <a:pt x="3725775" y="179700"/>
                  </a:lnTo>
                  <a:lnTo>
                    <a:pt x="3556422" y="177996"/>
                  </a:lnTo>
                  <a:lnTo>
                    <a:pt x="3387068" y="175721"/>
                  </a:lnTo>
                  <a:lnTo>
                    <a:pt x="3217715" y="172937"/>
                  </a:lnTo>
                  <a:lnTo>
                    <a:pt x="3048362" y="169709"/>
                  </a:lnTo>
                  <a:lnTo>
                    <a:pt x="2879008" y="166100"/>
                  </a:lnTo>
                  <a:lnTo>
                    <a:pt x="2709655" y="162174"/>
                  </a:lnTo>
                  <a:lnTo>
                    <a:pt x="2540301" y="157993"/>
                  </a:lnTo>
                  <a:lnTo>
                    <a:pt x="2370948" y="153623"/>
                  </a:lnTo>
                  <a:lnTo>
                    <a:pt x="2201594" y="149125"/>
                  </a:lnTo>
                  <a:lnTo>
                    <a:pt x="2032241" y="144563"/>
                  </a:lnTo>
                  <a:lnTo>
                    <a:pt x="1862887" y="140002"/>
                  </a:lnTo>
                  <a:lnTo>
                    <a:pt x="1693534" y="135504"/>
                  </a:lnTo>
                  <a:lnTo>
                    <a:pt x="1524181" y="131133"/>
                  </a:lnTo>
                  <a:lnTo>
                    <a:pt x="1354827" y="126953"/>
                  </a:lnTo>
                  <a:lnTo>
                    <a:pt x="1185474" y="123026"/>
                  </a:lnTo>
                  <a:lnTo>
                    <a:pt x="1016120" y="119417"/>
                  </a:lnTo>
                  <a:lnTo>
                    <a:pt x="846767" y="116189"/>
                  </a:lnTo>
                  <a:lnTo>
                    <a:pt x="677413" y="113406"/>
                  </a:lnTo>
                  <a:lnTo>
                    <a:pt x="508060" y="111130"/>
                  </a:lnTo>
                  <a:lnTo>
                    <a:pt x="338706" y="109427"/>
                  </a:lnTo>
                  <a:lnTo>
                    <a:pt x="169353" y="108358"/>
                  </a:lnTo>
                  <a:lnTo>
                    <a:pt x="0" y="107987"/>
                  </a:lnTo>
                  <a:close/>
                </a:path>
              </a:pathLst>
            </a:custGeom>
            <a:solidFill>
              <a:srgbClr val="8A8F99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6225896" y="4455349"/>
              <a:ext cx="4064482" cy="224245"/>
            </a:xfrm>
            <a:custGeom>
              <a:avLst/>
              <a:gdLst/>
              <a:ahLst/>
              <a:cxnLst/>
              <a:rect l="l" t="t" r="r" b="b"/>
              <a:pathLst>
                <a:path w="4064482" h="224245">
                  <a:moveTo>
                    <a:pt x="0" y="0"/>
                  </a:moveTo>
                  <a:lnTo>
                    <a:pt x="169353" y="1111"/>
                  </a:lnTo>
                  <a:lnTo>
                    <a:pt x="338706" y="4318"/>
                  </a:lnTo>
                  <a:lnTo>
                    <a:pt x="508060" y="9430"/>
                  </a:lnTo>
                  <a:lnTo>
                    <a:pt x="677413" y="16256"/>
                  </a:lnTo>
                  <a:lnTo>
                    <a:pt x="846767" y="24606"/>
                  </a:lnTo>
                  <a:lnTo>
                    <a:pt x="1016120" y="34290"/>
                  </a:lnTo>
                  <a:lnTo>
                    <a:pt x="1185474" y="45117"/>
                  </a:lnTo>
                  <a:lnTo>
                    <a:pt x="1354827" y="56896"/>
                  </a:lnTo>
                  <a:lnTo>
                    <a:pt x="1524181" y="69437"/>
                  </a:lnTo>
                  <a:lnTo>
                    <a:pt x="1693534" y="82550"/>
                  </a:lnTo>
                  <a:lnTo>
                    <a:pt x="1862887" y="96044"/>
                  </a:lnTo>
                  <a:lnTo>
                    <a:pt x="2032241" y="109728"/>
                  </a:lnTo>
                  <a:lnTo>
                    <a:pt x="2201594" y="123412"/>
                  </a:lnTo>
                  <a:lnTo>
                    <a:pt x="2370948" y="136906"/>
                  </a:lnTo>
                  <a:lnTo>
                    <a:pt x="2540301" y="150019"/>
                  </a:lnTo>
                  <a:lnTo>
                    <a:pt x="2709655" y="162560"/>
                  </a:lnTo>
                  <a:lnTo>
                    <a:pt x="2879008" y="174339"/>
                  </a:lnTo>
                  <a:lnTo>
                    <a:pt x="3048362" y="185166"/>
                  </a:lnTo>
                  <a:lnTo>
                    <a:pt x="3217715" y="194850"/>
                  </a:lnTo>
                  <a:lnTo>
                    <a:pt x="3387068" y="203200"/>
                  </a:lnTo>
                  <a:lnTo>
                    <a:pt x="3556422" y="210026"/>
                  </a:lnTo>
                  <a:lnTo>
                    <a:pt x="3725775" y="215138"/>
                  </a:lnTo>
                  <a:lnTo>
                    <a:pt x="3895129" y="218345"/>
                  </a:lnTo>
                  <a:lnTo>
                    <a:pt x="4064482" y="219456"/>
                  </a:lnTo>
                  <a:lnTo>
                    <a:pt x="4064482" y="224245"/>
                  </a:lnTo>
                  <a:lnTo>
                    <a:pt x="3895129" y="223134"/>
                  </a:lnTo>
                  <a:lnTo>
                    <a:pt x="3725775" y="219927"/>
                  </a:lnTo>
                  <a:lnTo>
                    <a:pt x="3556422" y="214816"/>
                  </a:lnTo>
                  <a:lnTo>
                    <a:pt x="3387068" y="207989"/>
                  </a:lnTo>
                  <a:lnTo>
                    <a:pt x="3217715" y="199639"/>
                  </a:lnTo>
                  <a:lnTo>
                    <a:pt x="3048362" y="189955"/>
                  </a:lnTo>
                  <a:lnTo>
                    <a:pt x="2879008" y="179129"/>
                  </a:lnTo>
                  <a:lnTo>
                    <a:pt x="2709655" y="167349"/>
                  </a:lnTo>
                  <a:lnTo>
                    <a:pt x="2540301" y="154808"/>
                  </a:lnTo>
                  <a:lnTo>
                    <a:pt x="2370948" y="141695"/>
                  </a:lnTo>
                  <a:lnTo>
                    <a:pt x="2201594" y="128202"/>
                  </a:lnTo>
                  <a:lnTo>
                    <a:pt x="2032241" y="114517"/>
                  </a:lnTo>
                  <a:lnTo>
                    <a:pt x="1862887" y="100833"/>
                  </a:lnTo>
                  <a:lnTo>
                    <a:pt x="1693534" y="87339"/>
                  </a:lnTo>
                  <a:lnTo>
                    <a:pt x="1524181" y="74227"/>
                  </a:lnTo>
                  <a:lnTo>
                    <a:pt x="1354827" y="61685"/>
                  </a:lnTo>
                  <a:lnTo>
                    <a:pt x="1185474" y="49906"/>
                  </a:lnTo>
                  <a:lnTo>
                    <a:pt x="1016120" y="39079"/>
                  </a:lnTo>
                  <a:lnTo>
                    <a:pt x="846767" y="29396"/>
                  </a:lnTo>
                  <a:lnTo>
                    <a:pt x="677413" y="21045"/>
                  </a:lnTo>
                  <a:lnTo>
                    <a:pt x="508060" y="14219"/>
                  </a:lnTo>
                  <a:lnTo>
                    <a:pt x="338706" y="9107"/>
                  </a:lnTo>
                  <a:lnTo>
                    <a:pt x="169353" y="5901"/>
                  </a:lnTo>
                  <a:lnTo>
                    <a:pt x="0" y="4789"/>
                  </a:lnTo>
                  <a:close/>
                </a:path>
              </a:pathLst>
            </a:custGeom>
            <a:solidFill>
              <a:srgbClr val="8A8F99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23669" y="1905610"/>
              <a:ext cx="118872" cy="1814655"/>
            </a:xfrm>
            <a:prstGeom prst="rect">
              <a:avLst/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166622" y="2638947"/>
              <a:ext cx="665607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Thu nội địa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347851" y="2821827"/>
              <a:ext cx="484378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000" b="0" i="0" lang="vi-VN">
                  <a:solidFill>
                    <a:srgbClr val="5B6170"/>
                  </a:solidFill>
                  <a:latin typeface="IBM Plex Sans SemiBold"/>
                </a:rPr>
                <a:t>1.723,6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23669" y="3866568"/>
              <a:ext cx="118872" cy="286368"/>
            </a:xfrm>
            <a:prstGeom prst="rect">
              <a:avLst/>
            </a:prstGeom>
            <a:solidFill>
              <a:srgbClr val="EB683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58368" y="3835763"/>
              <a:ext cx="1173861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Thu xuất nhập khẩu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462024" y="4018643"/>
              <a:ext cx="370205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000" b="0" i="0" lang="vi-VN">
                  <a:solidFill>
                    <a:srgbClr val="5B6170"/>
                  </a:solidFill>
                  <a:latin typeface="IBM Plex Sans SemiBold"/>
                </a:rPr>
                <a:t>272,0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23669" y="4299241"/>
              <a:ext cx="118872" cy="61743"/>
            </a:xfrm>
            <a:prstGeom prst="rect">
              <a:avLst/>
            </a:prstGeom>
            <a:solidFill>
              <a:srgbClr val="EDA1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17778" y="4247562"/>
              <a:ext cx="814451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000" b="0" i="0" lang="vi-VN">
                  <a:solidFill>
                    <a:srgbClr val="5B6170"/>
                  </a:solidFill>
                  <a:latin typeface="IBM Plex Sans SemiBold"/>
                </a:rPr>
                <a:t>58,6  </a:t>
              </a:r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Dầu thô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923669" y="4507287"/>
              <a:ext cx="118872" cy="9144"/>
            </a:xfrm>
            <a:prstGeom prst="rect">
              <a:avLst/>
            </a:prstGeom>
            <a:solidFill>
              <a:srgbClr val="1BAF7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91565" y="4426448"/>
              <a:ext cx="740664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000" b="0" i="0" lang="vi-VN">
                  <a:solidFill>
                    <a:srgbClr val="5B6170"/>
                  </a:solidFill>
                  <a:latin typeface="IBM Plex Sans SemiBold"/>
                </a:rPr>
                <a:t>3,2  </a:t>
              </a:r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Viện trợ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23669" y="4657012"/>
              <a:ext cx="118872" cy="95734"/>
            </a:xfrm>
            <a:prstGeom prst="rect">
              <a:avLst/>
            </a:prstGeom>
            <a:solidFill>
              <a:srgbClr val="E3494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79755" y="4622329"/>
              <a:ext cx="1252474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000" b="0" i="0" lang="vi-VN">
                  <a:solidFill>
                    <a:srgbClr val="5B6170"/>
                  </a:solidFill>
                  <a:latin typeface="IBM Plex Sans SemiBold"/>
                </a:rPr>
                <a:t>90,9  </a:t>
              </a:r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Chi vượt thu (≈)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107024" y="2198218"/>
              <a:ext cx="118872" cy="2261921"/>
            </a:xfrm>
            <a:prstGeom prst="rect">
              <a:avLst/>
            </a:prstGeom>
            <a:solidFill>
              <a:srgbClr val="16181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738470" y="1978254"/>
              <a:ext cx="85598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000" b="0" i="0" lang="vi-VN">
                  <a:solidFill>
                    <a:srgbClr val="16181D"/>
                  </a:solidFill>
                  <a:latin typeface="IBM Plex Sans SemiBold"/>
                </a:rPr>
                <a:t>Tổng chi 2024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924271" y="4515002"/>
              <a:ext cx="484378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000" b="0" i="0" lang="vi-VN">
                  <a:solidFill>
                    <a:srgbClr val="5B6170"/>
                  </a:solidFill>
                  <a:latin typeface="IBM Plex Sans SemiBold"/>
                </a:rPr>
                <a:t>2.148,5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290378" y="1978762"/>
              <a:ext cx="118872" cy="1390220"/>
            </a:xfrm>
            <a:prstGeom prst="rect">
              <a:avLst/>
            </a:prstGeom>
            <a:solidFill>
              <a:srgbClr val="8A8F9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0500690" y="2499881"/>
              <a:ext cx="1032637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Chi thường xuyên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500690" y="2682761"/>
              <a:ext cx="484378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5B6170"/>
                  </a:solidFill>
                  <a:latin typeface="IBM Plex Sans SemiBold"/>
                </a:rPr>
                <a:t>1.320,5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0290378" y="3515285"/>
              <a:ext cx="118872" cy="758925"/>
            </a:xfrm>
            <a:prstGeom prst="rect">
              <a:avLst/>
            </a:prstGeom>
            <a:solidFill>
              <a:srgbClr val="8A8F9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0500690" y="3720758"/>
              <a:ext cx="1005586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Đầu tư phát triển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0500690" y="3903638"/>
              <a:ext cx="370205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5B6170"/>
                  </a:solidFill>
                  <a:latin typeface="IBM Plex Sans SemiBold"/>
                </a:rPr>
                <a:t>720,9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0290378" y="4420514"/>
              <a:ext cx="118872" cy="107987"/>
            </a:xfrm>
            <a:prstGeom prst="rect">
              <a:avLst/>
            </a:prstGeom>
            <a:solidFill>
              <a:srgbClr val="8A8F9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500690" y="4391958"/>
              <a:ext cx="38862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Trả lãi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953318" y="4391958"/>
              <a:ext cx="370205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5B6170"/>
                  </a:solidFill>
                  <a:latin typeface="IBM Plex Sans SemiBold"/>
                </a:rPr>
                <a:t>102,6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0290378" y="4674805"/>
              <a:ext cx="118872" cy="9144"/>
            </a:xfrm>
            <a:prstGeom prst="rect">
              <a:avLst/>
            </a:prstGeom>
            <a:solidFill>
              <a:srgbClr val="8A8F9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500690" y="4594650"/>
              <a:ext cx="319278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16181D"/>
                  </a:solidFill>
                  <a:latin typeface="IBM Plex Sans Medium"/>
                </a:rPr>
                <a:t>Khác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883976" y="4594650"/>
              <a:ext cx="217805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00" b="0" i="0" lang="vi-VN">
                  <a:solidFill>
                    <a:srgbClr val="5B6170"/>
                  </a:solidFill>
                  <a:latin typeface="IBM Plex Sans SemiBold"/>
                </a:rPr>
                <a:t>4,5</a:t>
              </a: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548640" y="5081930"/>
            <a:ext cx="6395542" cy="11908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Tổng chi 2024 là 2.148,5 nghìn tỷ; tổng thu 2.057,5 nghìn tỷ, phần chi vượt thu ≈ 90,9 nghìn tỷ.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"Chi vượt thu" = chi trừ thu trên hai dòng này, không phải bội chi chính thức (2,8% GDP). Số liệu từng dải trong ghi chú trang.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44" name="TextBox 43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Bộ Tài chính — quyết toán NSNN 2024 (nghìn tỷ đồng). Độ dày dải tỷ lệ với giá trị.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7 · CƠ CHẾ TRUYỀN DẪN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7081593" cy="8449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Lãi suất điều hành đến lạm phát qua ba tầng: thị trường liên ngân hàng, lãi suất bán lẻ, rồi tín dụng</a:t>
            </a:r>
          </a:p>
        </p:txBody>
      </p:sp>
      <p:grpSp>
        <p:nvGrpSpPr>
          <p:cNvPr id="5" name="Chart · levers"/>
          <p:cNvGrpSpPr/>
          <p:nvPr/>
        </p:nvGrpSpPr>
        <p:grpSpPr>
          <a:xfrm>
            <a:off x="548640" y="1832458"/>
            <a:ext cx="11094415" cy="3293058"/>
            <a:chOff x="548640" y="1832458"/>
            <a:chExt cx="11094415" cy="3293058"/>
          </a:xfrm>
        </p:grpSpPr>
        <p:sp>
          <p:nvSpPr>
            <p:cNvPr id="6" name="TextBox 5"/>
            <p:cNvSpPr txBox="1"/>
            <p:nvPr/>
          </p:nvSpPr>
          <p:spPr>
            <a:xfrm>
              <a:off x="548640" y="1832458"/>
              <a:ext cx="1080364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 spc="100">
                  <a:solidFill>
                    <a:srgbClr val="C2362F"/>
                  </a:solidFill>
                  <a:latin typeface="IBM Plex Sans SemiBold"/>
                </a:rPr>
                <a:t>CÔNG CỤ NHNN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493694" y="1832458"/>
              <a:ext cx="1463497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 spc="100">
                  <a:solidFill>
                    <a:srgbClr val="C2362F"/>
                  </a:solidFill>
                  <a:latin typeface="IBM Plex Sans SemiBold"/>
                </a:rPr>
                <a:t>THỊ TRƯỜNG TIỀN TỆ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438748" y="1832458"/>
              <a:ext cx="851154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 spc="100">
                  <a:solidFill>
                    <a:srgbClr val="C2362F"/>
                  </a:solidFill>
                  <a:latin typeface="IBM Plex Sans SemiBold"/>
                </a:rPr>
                <a:t>NGÂN HÀNG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383801" y="1832458"/>
              <a:ext cx="619081" cy="1568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50" b="0" i="0" lang="vi-VN" spc="100">
                  <a:solidFill>
                    <a:srgbClr val="C2362F"/>
                  </a:solidFill>
                  <a:latin typeface="IBM Plex Sans SemiBold"/>
                </a:rPr>
                <a:t>KẾT QUẢ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807894" y="2579421"/>
              <a:ext cx="667512" cy="524662"/>
            </a:xfrm>
            <a:prstGeom prst="line">
              <a:avLst/>
            </a:prstGeom>
            <a:ln w="15875" cap="rnd">
              <a:solidFill>
                <a:srgbClr val="16181D"/>
              </a:solidFill>
              <a:round/>
              <a:tailEnd type="triangle" w="med" len="med"/>
            </a:ln>
          </p:spPr>
        </p:cxnSp>
        <p:cxnSp>
          <p:nvCxnSpPr>
            <p:cNvPr id="11" name="Connector 10"/>
            <p:cNvCxnSpPr/>
            <p:nvPr/>
          </p:nvCxnSpPr>
          <p:spPr>
            <a:xfrm flipV="1">
              <a:off x="2807894" y="3104083"/>
              <a:ext cx="667512" cy="548640"/>
            </a:xfrm>
            <a:prstGeom prst="line">
              <a:avLst/>
            </a:prstGeom>
            <a:ln w="12700" cap="rnd">
              <a:solidFill>
                <a:srgbClr val="C9CCD2"/>
              </a:solidFill>
              <a:round/>
              <a:tailEnd type="triangle" w="med" len="med"/>
            </a:ln>
          </p:spPr>
        </p:cxnSp>
        <p:cxnSp>
          <p:nvCxnSpPr>
            <p:cNvPr id="12" name="Connector 11"/>
            <p:cNvCxnSpPr/>
            <p:nvPr/>
          </p:nvCxnSpPr>
          <p:spPr>
            <a:xfrm>
              <a:off x="2807894" y="3652723"/>
              <a:ext cx="667512" cy="548640"/>
            </a:xfrm>
            <a:prstGeom prst="line">
              <a:avLst/>
            </a:prstGeom>
            <a:ln w="12700" cap="rnd">
              <a:solidFill>
                <a:srgbClr val="C9CCD2"/>
              </a:solidFill>
              <a:round/>
              <a:tailEnd type="triangle" w="med" len="med"/>
            </a:ln>
          </p:spPr>
        </p:cxnSp>
        <p:cxnSp>
          <p:nvCxnSpPr>
            <p:cNvPr id="13" name="Connector 12"/>
            <p:cNvCxnSpPr/>
            <p:nvPr/>
          </p:nvCxnSpPr>
          <p:spPr>
            <a:xfrm flipV="1">
              <a:off x="2807894" y="4201363"/>
              <a:ext cx="667512" cy="524663"/>
            </a:xfrm>
            <a:prstGeom prst="line">
              <a:avLst/>
            </a:prstGeom>
            <a:ln w="12700" cap="rnd">
              <a:solidFill>
                <a:srgbClr val="C9CCD2"/>
              </a:solidFill>
              <a:round/>
              <a:tailEnd type="triangle" w="med" len="med"/>
            </a:ln>
          </p:spPr>
        </p:cxnSp>
        <p:cxnSp>
          <p:nvCxnSpPr>
            <p:cNvPr id="14" name="Connector 13"/>
            <p:cNvCxnSpPr/>
            <p:nvPr/>
          </p:nvCxnSpPr>
          <p:spPr>
            <a:xfrm>
              <a:off x="5752948" y="3104083"/>
              <a:ext cx="667512" cy="0"/>
            </a:xfrm>
            <a:prstGeom prst="line">
              <a:avLst/>
            </a:prstGeom>
            <a:ln w="15875" cap="rnd">
              <a:solidFill>
                <a:srgbClr val="16181D"/>
              </a:solidFill>
              <a:round/>
              <a:tailEnd type="triangle" w="med" len="med"/>
            </a:ln>
          </p:spPr>
        </p:cxnSp>
        <p:cxnSp>
          <p:nvCxnSpPr>
            <p:cNvPr id="15" name="Connector 14"/>
            <p:cNvCxnSpPr/>
            <p:nvPr/>
          </p:nvCxnSpPr>
          <p:spPr>
            <a:xfrm flipV="1">
              <a:off x="5752948" y="3104083"/>
              <a:ext cx="667512" cy="1097280"/>
            </a:xfrm>
            <a:prstGeom prst="line">
              <a:avLst/>
            </a:prstGeom>
            <a:ln w="12700" cap="rnd">
              <a:solidFill>
                <a:srgbClr val="C9CCD2"/>
              </a:solidFill>
              <a:round/>
              <a:tailEnd type="triangle" w="med" len="med"/>
            </a:ln>
          </p:spPr>
        </p:cxnSp>
        <p:cxnSp>
          <p:nvCxnSpPr>
            <p:cNvPr id="16" name="Connector 15"/>
            <p:cNvCxnSpPr/>
            <p:nvPr/>
          </p:nvCxnSpPr>
          <p:spPr>
            <a:xfrm>
              <a:off x="7568374" y="3515563"/>
              <a:ext cx="0" cy="256032"/>
            </a:xfrm>
            <a:prstGeom prst="line">
              <a:avLst/>
            </a:prstGeom>
            <a:ln w="15875" cap="rnd">
              <a:solidFill>
                <a:srgbClr val="16181D"/>
              </a:solidFill>
              <a:round/>
              <a:tailEnd type="triangle" w="med" len="med"/>
            </a:ln>
          </p:spPr>
        </p:cxnSp>
        <p:cxnSp>
          <p:nvCxnSpPr>
            <p:cNvPr id="17" name="Connector 16"/>
            <p:cNvCxnSpPr/>
            <p:nvPr/>
          </p:nvCxnSpPr>
          <p:spPr>
            <a:xfrm flipV="1">
              <a:off x="8698001" y="3104083"/>
              <a:ext cx="667512" cy="1097280"/>
            </a:xfrm>
            <a:prstGeom prst="line">
              <a:avLst/>
            </a:prstGeom>
            <a:ln w="15875" cap="rnd">
              <a:solidFill>
                <a:srgbClr val="16181D"/>
              </a:solidFill>
              <a:round/>
              <a:tailEnd type="triangle" w="med" len="med"/>
            </a:ln>
          </p:spPr>
        </p:cxnSp>
        <p:cxnSp>
          <p:nvCxnSpPr>
            <p:cNvPr id="18" name="Connector 17"/>
            <p:cNvCxnSpPr/>
            <p:nvPr/>
          </p:nvCxnSpPr>
          <p:spPr>
            <a:xfrm>
              <a:off x="8698001" y="4201363"/>
              <a:ext cx="667512" cy="0"/>
            </a:xfrm>
            <a:prstGeom prst="line">
              <a:avLst/>
            </a:prstGeom>
            <a:ln w="15875" cap="rnd">
              <a:solidFill>
                <a:srgbClr val="16181D"/>
              </a:solidFill>
              <a:round/>
              <a:tailEnd type="triangle" w="med" len="med"/>
            </a:ln>
          </p:spPr>
        </p:cxnSp>
        <p:sp>
          <p:nvSpPr>
            <p:cNvPr id="19" name="Rounded Rectangle 18"/>
            <p:cNvSpPr/>
            <p:nvPr/>
          </p:nvSpPr>
          <p:spPr>
            <a:xfrm>
              <a:off x="548640" y="2179930"/>
              <a:ext cx="2259254" cy="798982"/>
            </a:xfrm>
            <a:prstGeom prst="roundRect">
              <a:avLst>
                <a:gd name="adj" fmla="val 6866"/>
              </a:avLst>
            </a:prstGeom>
            <a:solidFill>
              <a:srgbClr val="FAF8F3"/>
            </a:solidFill>
            <a:ln w="15875" cap="rnd">
              <a:solidFill>
                <a:srgbClr val="16181D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58368" y="2234794"/>
              <a:ext cx="2039798" cy="68925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00" b="0" i="0" lang="vi-VN">
                  <a:solidFill>
                    <a:srgbClr val="16181D"/>
                  </a:solidFill>
                  <a:latin typeface="IBM Plex Sans SemiBold"/>
                </a:rPr>
                <a:t>Lãi suất điều hành</a:t>
              </a:r>
            </a:p>
            <a:p>
              <a:pPr algn="l">
                <a:lnSpc>
                  <a:spcPct val="100000"/>
                </a:lnSpc>
                <a:spcBef>
                  <a:spcPts val="200"/>
                </a:spcBef>
              </a:pPr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tái cấp vốn, tái chiết khấu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548640" y="3253232"/>
              <a:ext cx="2259254" cy="798982"/>
            </a:xfrm>
            <a:prstGeom prst="roundRect">
              <a:avLst>
                <a:gd name="adj" fmla="val 6866"/>
              </a:avLst>
            </a:prstGeom>
            <a:solidFill>
              <a:srgbClr val="FFFFFF"/>
            </a:solidFill>
            <a:ln w="9525" cap="rnd">
              <a:solidFill>
                <a:srgbClr val="C9CCD2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58368" y="3308096"/>
              <a:ext cx="2039798" cy="68925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00" b="0" i="0" lang="vi-VN">
                  <a:solidFill>
                    <a:srgbClr val="5B6170"/>
                  </a:solidFill>
                  <a:latin typeface="IBM Plex Sans SemiBold"/>
                </a:rPr>
                <a:t>Thị trường mở (OMO)</a:t>
              </a:r>
            </a:p>
            <a:p>
              <a:pPr algn="l">
                <a:lnSpc>
                  <a:spcPct val="100000"/>
                </a:lnSpc>
                <a:spcBef>
                  <a:spcPts val="200"/>
                </a:spcBef>
              </a:pPr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bơm / hút, tín phiếu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548640" y="4326534"/>
              <a:ext cx="2259254" cy="798982"/>
            </a:xfrm>
            <a:prstGeom prst="roundRect">
              <a:avLst>
                <a:gd name="adj" fmla="val 6866"/>
              </a:avLst>
            </a:prstGeom>
            <a:solidFill>
              <a:srgbClr val="FFFFFF"/>
            </a:solidFill>
            <a:ln w="9525" cap="rnd">
              <a:solidFill>
                <a:srgbClr val="C9CCD2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58368" y="4381398"/>
              <a:ext cx="2039798" cy="68925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00" b="0" i="0" lang="vi-VN">
                  <a:solidFill>
                    <a:srgbClr val="5B6170"/>
                  </a:solidFill>
                  <a:latin typeface="IBM Plex Sans SemiBold"/>
                </a:rPr>
                <a:t>Mua bán ngoại tệ</a:t>
              </a:r>
            </a:p>
            <a:p>
              <a:pPr algn="l">
                <a:lnSpc>
                  <a:spcPct val="100000"/>
                </a:lnSpc>
                <a:spcBef>
                  <a:spcPts val="200"/>
                </a:spcBef>
              </a:pPr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dự trữ, tỷ giá trung tâm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3493694" y="2692603"/>
              <a:ext cx="2259254" cy="822960"/>
            </a:xfrm>
            <a:prstGeom prst="roundRect">
              <a:avLst>
                <a:gd name="adj" fmla="val 6666"/>
              </a:avLst>
            </a:prstGeom>
            <a:solidFill>
              <a:srgbClr val="FAF8F3"/>
            </a:solidFill>
            <a:ln w="15875" cap="rnd">
              <a:solidFill>
                <a:srgbClr val="16181D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603422" y="2747467"/>
              <a:ext cx="2039798" cy="7132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00" b="0" i="0" lang="vi-VN">
                  <a:solidFill>
                    <a:srgbClr val="16181D"/>
                  </a:solidFill>
                  <a:latin typeface="IBM Plex Sans SemiBold"/>
                </a:rPr>
                <a:t>Lãi suất liên ngân hàng</a:t>
              </a:r>
            </a:p>
            <a:p>
              <a:pPr algn="l">
                <a:lnSpc>
                  <a:spcPct val="100000"/>
                </a:lnSpc>
                <a:spcBef>
                  <a:spcPts val="200"/>
                </a:spcBef>
              </a:pPr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chi phí vốn ngắn hạn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3493694" y="3789883"/>
              <a:ext cx="2259254" cy="82296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rnd">
              <a:solidFill>
                <a:srgbClr val="C9CCD2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603422" y="3844747"/>
              <a:ext cx="2039798" cy="7132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00" b="0" i="0" lang="vi-VN">
                  <a:solidFill>
                    <a:srgbClr val="5B6170"/>
                  </a:solidFill>
                  <a:latin typeface="IBM Plex Sans SemiBold"/>
                </a:rPr>
                <a:t>Thanh khoản hệ thống</a:t>
              </a:r>
            </a:p>
            <a:p>
              <a:pPr algn="l">
                <a:lnSpc>
                  <a:spcPct val="100000"/>
                </a:lnSpc>
                <a:spcBef>
                  <a:spcPts val="200"/>
                </a:spcBef>
              </a:pPr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LDR, tiền gửi KBNN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6438748" y="2692603"/>
              <a:ext cx="2259254" cy="822960"/>
            </a:xfrm>
            <a:prstGeom prst="roundRect">
              <a:avLst>
                <a:gd name="adj" fmla="val 6666"/>
              </a:avLst>
            </a:prstGeom>
            <a:solidFill>
              <a:srgbClr val="FAF8F3"/>
            </a:solidFill>
            <a:ln w="15875" cap="rnd">
              <a:solidFill>
                <a:srgbClr val="16181D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548476" y="2747467"/>
              <a:ext cx="2039798" cy="7132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00" b="0" i="0" lang="vi-VN">
                  <a:solidFill>
                    <a:srgbClr val="16181D"/>
                  </a:solidFill>
                  <a:latin typeface="IBM Plex Sans SemiBold"/>
                </a:rPr>
                <a:t>Lãi suất huy động, cho vay</a:t>
              </a:r>
            </a:p>
            <a:p>
              <a:pPr algn="l">
                <a:lnSpc>
                  <a:spcPct val="100000"/>
                </a:lnSpc>
                <a:spcBef>
                  <a:spcPts val="200"/>
                </a:spcBef>
              </a:pPr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niêm yết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6438748" y="3789883"/>
              <a:ext cx="2259254" cy="822960"/>
            </a:xfrm>
            <a:prstGeom prst="roundRect">
              <a:avLst>
                <a:gd name="adj" fmla="val 6666"/>
              </a:avLst>
            </a:prstGeom>
            <a:solidFill>
              <a:srgbClr val="FAF8F3"/>
            </a:solidFill>
            <a:ln w="15875" cap="rnd">
              <a:solidFill>
                <a:srgbClr val="16181D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548476" y="3844747"/>
              <a:ext cx="2039798" cy="7132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00" b="0" i="0" lang="vi-VN">
                  <a:solidFill>
                    <a:srgbClr val="16181D"/>
                  </a:solidFill>
                  <a:latin typeface="IBM Plex Sans SemiBold"/>
                </a:rPr>
                <a:t>Tín dụng</a:t>
              </a:r>
            </a:p>
            <a:p>
              <a:pPr algn="l">
                <a:lnSpc>
                  <a:spcPct val="100000"/>
                </a:lnSpc>
                <a:spcBef>
                  <a:spcPts val="200"/>
                </a:spcBef>
              </a:pPr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trong chỉ tiêu NHNN giao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9383801" y="2692603"/>
              <a:ext cx="2259254" cy="822960"/>
            </a:xfrm>
            <a:prstGeom prst="roundRect">
              <a:avLst>
                <a:gd name="adj" fmla="val 6666"/>
              </a:avLst>
            </a:prstGeom>
            <a:solidFill>
              <a:srgbClr val="FAF8F3"/>
            </a:solidFill>
            <a:ln w="15875" cap="rnd">
              <a:solidFill>
                <a:srgbClr val="16181D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493529" y="2747467"/>
              <a:ext cx="2039798" cy="7132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00" b="0" i="0" lang="vi-VN">
                  <a:solidFill>
                    <a:srgbClr val="16181D"/>
                  </a:solidFill>
                  <a:latin typeface="IBM Plex Sans SemiBold"/>
                </a:rPr>
                <a:t>Lạm phát (CPI)</a:t>
              </a:r>
            </a:p>
            <a:p>
              <a:pPr algn="l">
                <a:lnSpc>
                  <a:spcPct val="100000"/>
                </a:lnSpc>
                <a:spcBef>
                  <a:spcPts val="200"/>
                </a:spcBef>
              </a:pPr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giá tiêu dùng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9383801" y="3789883"/>
              <a:ext cx="2259254" cy="822960"/>
            </a:xfrm>
            <a:prstGeom prst="roundRect">
              <a:avLst>
                <a:gd name="adj" fmla="val 6666"/>
              </a:avLst>
            </a:prstGeom>
            <a:solidFill>
              <a:srgbClr val="FAF8F3"/>
            </a:solidFill>
            <a:ln w="15875" cap="rnd">
              <a:solidFill>
                <a:srgbClr val="16181D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493529" y="3844747"/>
              <a:ext cx="2039798" cy="7132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100" b="0" i="0" lang="vi-VN">
                  <a:solidFill>
                    <a:srgbClr val="16181D"/>
                  </a:solidFill>
                  <a:latin typeface="IBM Plex Sans SemiBold"/>
                </a:rPr>
                <a:t>Tăng trưởng GDP</a:t>
              </a:r>
            </a:p>
            <a:p>
              <a:pPr algn="l">
                <a:lnSpc>
                  <a:spcPct val="100000"/>
                </a:lnSpc>
                <a:spcBef>
                  <a:spcPts val="200"/>
                </a:spcBef>
              </a:pPr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đầu tư, tiêu dùng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548640" y="5363261"/>
            <a:ext cx="6395542" cy="9095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Đường đậm: kênh lãi suất — từ lãi suất điều hành qua liên ngân hàng, lãi suất bán lẻ tới tín dụng, CPI và GDP.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Sơ đồ định tính (minh hoạ), không đo độ mạnh của từng kênh.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39" name="TextBox 38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Vietnam Dashboard — Hệ thống tài chính, Chương 7 (các đòn bẩy cung tiền); khung minh hoạ.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CHƯƠNG 7 · DÒNG THỜI GIAN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8627059" cy="4498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Năm 2026: năm mốc chính sách đã qua và ba mốc trong quý IV</a:t>
            </a:r>
          </a:p>
        </p:txBody>
      </p:sp>
      <p:grpSp>
        <p:nvGrpSpPr>
          <p:cNvPr id="5" name="Chart · timeline"/>
          <p:cNvGrpSpPr/>
          <p:nvPr/>
        </p:nvGrpSpPr>
        <p:grpSpPr>
          <a:xfrm>
            <a:off x="731520" y="2258466"/>
            <a:ext cx="10728655" cy="2531872"/>
            <a:chOff x="731520" y="2258466"/>
            <a:chExt cx="10728655" cy="2531872"/>
          </a:xfrm>
        </p:grpSpPr>
        <p:cxnSp>
          <p:nvCxnSpPr>
            <p:cNvPr id="6" name="Connector 5"/>
            <p:cNvCxnSpPr/>
            <p:nvPr/>
          </p:nvCxnSpPr>
          <p:spPr>
            <a:xfrm>
              <a:off x="731520" y="3440582"/>
              <a:ext cx="6705410" cy="0"/>
            </a:xfrm>
            <a:prstGeom prst="line">
              <a:avLst/>
            </a:prstGeom>
            <a:ln w="25400" cap="flat">
              <a:solidFill>
                <a:srgbClr val="16181D"/>
              </a:solidFill>
              <a:round/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7436930" y="3440582"/>
              <a:ext cx="4023245" cy="0"/>
            </a:xfrm>
            <a:prstGeom prst="line">
              <a:avLst/>
            </a:prstGeom>
            <a:ln w="25400" cap="flat">
              <a:solidFill>
                <a:srgbClr val="5B6170"/>
              </a:solidFill>
              <a:prstDash val="dash"/>
              <a:round/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7436930" y="3257702"/>
              <a:ext cx="0" cy="365760"/>
            </a:xfrm>
            <a:prstGeom prst="line">
              <a:avLst/>
            </a:prstGeom>
            <a:ln w="19050" cap="flat">
              <a:solidFill>
                <a:srgbClr val="C2362F"/>
              </a:solidFill>
              <a:round/>
            </a:ln>
          </p:spPr>
        </p:cxnSp>
        <p:sp>
          <p:nvSpPr>
            <p:cNvPr id="9" name="TextBox 8"/>
            <p:cNvSpPr txBox="1"/>
            <p:nvPr/>
          </p:nvSpPr>
          <p:spPr>
            <a:xfrm>
              <a:off x="7491794" y="3251543"/>
              <a:ext cx="1040759" cy="14033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850" b="0" i="0" lang="vi-VN">
                  <a:solidFill>
                    <a:srgbClr val="C2362F"/>
                  </a:solidFill>
                  <a:latin typeface="IBM Plex Sans SemiBold"/>
                </a:rPr>
                <a:t>Hôm nay 7/10/2026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 flipV="1">
              <a:off x="1402061" y="3147974"/>
              <a:ext cx="0" cy="292608"/>
            </a:xfrm>
            <a:prstGeom prst="line">
              <a:avLst/>
            </a:prstGeom>
            <a:ln w="9525" cap="flat">
              <a:solidFill>
                <a:srgbClr val="8A8F99"/>
              </a:solidFill>
              <a:round/>
            </a:ln>
          </p:spPr>
        </p:cxnSp>
        <p:sp>
          <p:nvSpPr>
            <p:cNvPr id="11" name="Oval 10"/>
            <p:cNvSpPr/>
            <p:nvPr/>
          </p:nvSpPr>
          <p:spPr>
            <a:xfrm>
              <a:off x="1333481" y="3372002"/>
              <a:ext cx="137160" cy="137160"/>
            </a:xfrm>
            <a:prstGeom prst="ellipse">
              <a:avLst/>
            </a:prstGeom>
            <a:solidFill>
              <a:srgbClr val="16181D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86384" y="2403246"/>
              <a:ext cx="1231354" cy="708152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ctr">
                <a:spcAft>
                  <a:spcPts val="200"/>
                </a:spcAft>
              </a:pPr>
              <a:r>
                <a:rPr sz="1000" b="0" i="0" lang="vi-VN">
                  <a:solidFill>
                    <a:srgbClr val="C2362F"/>
                  </a:solidFill>
                  <a:latin typeface="IBM Plex Sans SemiBold"/>
                </a:rPr>
                <a:t>08/6/2026</a:t>
              </a:r>
            </a:p>
            <a:p>
              <a:pPr algn="ctr">
                <a:lnSpc>
                  <a:spcPct val="100000"/>
                </a:lnSpc>
              </a:pPr>
              <a:r>
                <a:rPr sz="1100" b="0" i="0" lang="vi-VN">
                  <a:solidFill>
                    <a:srgbClr val="16181D"/>
                  </a:solidFill>
                  <a:latin typeface="IBM Plex Sans SemiBold"/>
                </a:rPr>
                <a:t>NQ 10-NQ/TW</a:t>
              </a:r>
            </a:p>
            <a:p>
              <a:pPr algn="ctr">
                <a:lnSpc>
                  <a:spcPct val="100000"/>
                </a:lnSpc>
                <a:spcBef>
                  <a:spcPts val="200"/>
                </a:spcBef>
              </a:pPr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Mục tiêu FDI giải ngân 30–40 tỷ USD/năm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2743143" y="3440582"/>
              <a:ext cx="0" cy="292608"/>
            </a:xfrm>
            <a:prstGeom prst="line">
              <a:avLst/>
            </a:prstGeom>
            <a:ln w="9525" cap="flat">
              <a:solidFill>
                <a:srgbClr val="8A8F99"/>
              </a:solidFill>
              <a:round/>
            </a:ln>
          </p:spPr>
        </p:cxnSp>
        <p:sp>
          <p:nvSpPr>
            <p:cNvPr id="14" name="Oval 13"/>
            <p:cNvSpPr/>
            <p:nvPr/>
          </p:nvSpPr>
          <p:spPr>
            <a:xfrm>
              <a:off x="2674563" y="3372002"/>
              <a:ext cx="137160" cy="137160"/>
            </a:xfrm>
            <a:prstGeom prst="ellipse">
              <a:avLst/>
            </a:prstGeom>
            <a:solidFill>
              <a:srgbClr val="16181D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127466" y="3769766"/>
              <a:ext cx="1231354" cy="87579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spcAft>
                  <a:spcPts val="200"/>
                </a:spcAft>
              </a:pPr>
              <a:r>
                <a:rPr sz="1000" b="0" i="0" lang="vi-VN">
                  <a:solidFill>
                    <a:srgbClr val="C2362F"/>
                  </a:solidFill>
                  <a:latin typeface="IBM Plex Sans SemiBold"/>
                </a:rPr>
                <a:t>27/6/2026</a:t>
              </a:r>
            </a:p>
            <a:p>
              <a:pPr algn="ctr">
                <a:lnSpc>
                  <a:spcPct val="100000"/>
                </a:lnSpc>
              </a:pPr>
              <a:r>
                <a:rPr sz="1100" b="0" i="0" lang="vi-VN">
                  <a:solidFill>
                    <a:srgbClr val="16181D"/>
                  </a:solidFill>
                  <a:latin typeface="IBM Plex Sans SemiBold"/>
                </a:rPr>
                <a:t>Nghị định 245/2026</a:t>
              </a:r>
            </a:p>
            <a:p>
              <a:pPr algn="ctr">
                <a:lnSpc>
                  <a:spcPct val="100000"/>
                </a:lnSpc>
                <a:spcBef>
                  <a:spcPts val="200"/>
                </a:spcBef>
              </a:pPr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Gia hạn nộp thuế GTGT, TNDN, TNCN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 flipV="1">
              <a:off x="4084225" y="3147974"/>
              <a:ext cx="0" cy="292608"/>
            </a:xfrm>
            <a:prstGeom prst="line">
              <a:avLst/>
            </a:prstGeom>
            <a:ln w="9525" cap="flat">
              <a:solidFill>
                <a:srgbClr val="8A8F99"/>
              </a:solidFill>
              <a:round/>
            </a:ln>
          </p:spPr>
        </p:cxnSp>
        <p:sp>
          <p:nvSpPr>
            <p:cNvPr id="17" name="Oval 16"/>
            <p:cNvSpPr/>
            <p:nvPr/>
          </p:nvSpPr>
          <p:spPr>
            <a:xfrm>
              <a:off x="4015645" y="3372002"/>
              <a:ext cx="137160" cy="137160"/>
            </a:xfrm>
            <a:prstGeom prst="ellipse">
              <a:avLst/>
            </a:prstGeom>
            <a:solidFill>
              <a:srgbClr val="16181D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468548" y="2258466"/>
              <a:ext cx="1231354" cy="852932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ctr">
                <a:spcAft>
                  <a:spcPts val="200"/>
                </a:spcAft>
              </a:pPr>
              <a:r>
                <a:rPr sz="1000" b="0" i="0" lang="vi-VN">
                  <a:solidFill>
                    <a:srgbClr val="C2362F"/>
                  </a:solidFill>
                  <a:latin typeface="IBM Plex Sans SemiBold"/>
                </a:rPr>
                <a:t>01/8/2026</a:t>
              </a:r>
            </a:p>
            <a:p>
              <a:pPr algn="ctr">
                <a:lnSpc>
                  <a:spcPct val="100000"/>
                </a:lnSpc>
              </a:pPr>
              <a:r>
                <a:rPr sz="1100" b="0" i="0" lang="vi-VN">
                  <a:solidFill>
                    <a:srgbClr val="16181D"/>
                  </a:solidFill>
                  <a:latin typeface="IBM Plex Sans SemiBold"/>
                </a:rPr>
                <a:t>Tiền gửi KBNN</a:t>
              </a:r>
            </a:p>
            <a:p>
              <a:pPr algn="ctr">
                <a:lnSpc>
                  <a:spcPct val="100000"/>
                </a:lnSpc>
                <a:spcBef>
                  <a:spcPts val="200"/>
                </a:spcBef>
              </a:pPr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50% được tính vào nguồn vốn khi tính LDR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5425307" y="3440582"/>
              <a:ext cx="0" cy="292608"/>
            </a:xfrm>
            <a:prstGeom prst="line">
              <a:avLst/>
            </a:prstGeom>
            <a:ln w="9525" cap="flat">
              <a:solidFill>
                <a:srgbClr val="8A8F99"/>
              </a:solidFill>
              <a:round/>
            </a:ln>
          </p:spPr>
        </p:cxnSp>
        <p:sp>
          <p:nvSpPr>
            <p:cNvPr id="20" name="Oval 19"/>
            <p:cNvSpPr/>
            <p:nvPr/>
          </p:nvSpPr>
          <p:spPr>
            <a:xfrm>
              <a:off x="5356727" y="3372002"/>
              <a:ext cx="137160" cy="137160"/>
            </a:xfrm>
            <a:prstGeom prst="ellipse">
              <a:avLst/>
            </a:prstGeom>
            <a:solidFill>
              <a:srgbClr val="16181D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809630" y="3769766"/>
              <a:ext cx="1231354" cy="102057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spcAft>
                  <a:spcPts val="200"/>
                </a:spcAft>
              </a:pPr>
              <a:r>
                <a:rPr sz="1000" b="0" i="0" lang="vi-VN">
                  <a:solidFill>
                    <a:srgbClr val="C2362F"/>
                  </a:solidFill>
                  <a:latin typeface="IBM Plex Sans SemiBold"/>
                </a:rPr>
                <a:t>9/2026</a:t>
              </a:r>
            </a:p>
            <a:p>
              <a:pPr algn="ctr">
                <a:lnSpc>
                  <a:spcPct val="100000"/>
                </a:lnSpc>
              </a:pPr>
              <a:r>
                <a:rPr sz="1100" b="0" i="0" lang="vi-VN">
                  <a:solidFill>
                    <a:srgbClr val="16181D"/>
                  </a:solidFill>
                  <a:latin typeface="IBM Plex Sans SemiBold"/>
                </a:rPr>
                <a:t>Công văn 8509/NHNN</a:t>
              </a:r>
            </a:p>
            <a:p>
              <a:pPr algn="ctr">
                <a:lnSpc>
                  <a:spcPct val="100000"/>
                </a:lnSpc>
                <a:spcBef>
                  <a:spcPts val="200"/>
                </a:spcBef>
              </a:pPr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Loại cho vay khách sạn, nghỉ dưỡng khỏi tín dụng BĐS</a:t>
              </a:r>
            </a:p>
          </p:txBody>
        </p:sp>
        <p:cxnSp>
          <p:nvCxnSpPr>
            <p:cNvPr id="22" name="Connector 21"/>
            <p:cNvCxnSpPr/>
            <p:nvPr/>
          </p:nvCxnSpPr>
          <p:spPr>
            <a:xfrm flipV="1">
              <a:off x="6766389" y="3147974"/>
              <a:ext cx="0" cy="292608"/>
            </a:xfrm>
            <a:prstGeom prst="line">
              <a:avLst/>
            </a:prstGeom>
            <a:ln w="9525" cap="flat">
              <a:solidFill>
                <a:srgbClr val="8A8F99"/>
              </a:solidFill>
              <a:round/>
            </a:ln>
          </p:spPr>
        </p:cxnSp>
        <p:sp>
          <p:nvSpPr>
            <p:cNvPr id="23" name="Oval 22"/>
            <p:cNvSpPr/>
            <p:nvPr/>
          </p:nvSpPr>
          <p:spPr>
            <a:xfrm>
              <a:off x="6697809" y="3372002"/>
              <a:ext cx="137160" cy="137160"/>
            </a:xfrm>
            <a:prstGeom prst="ellipse">
              <a:avLst/>
            </a:prstGeom>
            <a:solidFill>
              <a:srgbClr val="16181D"/>
            </a:solidFill>
            <a:ln w="1905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150712" y="2403246"/>
              <a:ext cx="1231354" cy="708152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ctr">
                <a:spcAft>
                  <a:spcPts val="200"/>
                </a:spcAft>
              </a:pPr>
              <a:r>
                <a:rPr sz="1000" b="0" i="0" lang="vi-VN">
                  <a:solidFill>
                    <a:srgbClr val="C2362F"/>
                  </a:solidFill>
                  <a:latin typeface="IBM Plex Sans SemiBold"/>
                </a:rPr>
                <a:t>03/10/2026</a:t>
              </a:r>
            </a:p>
            <a:p>
              <a:pPr algn="ctr">
                <a:lnSpc>
                  <a:spcPct val="100000"/>
                </a:lnSpc>
              </a:pPr>
              <a:r>
                <a:rPr sz="1100" b="0" i="0" lang="vi-VN">
                  <a:solidFill>
                    <a:srgbClr val="16181D"/>
                  </a:solidFill>
                  <a:latin typeface="IBM Plex Sans SemiBold"/>
                </a:rPr>
                <a:t>Số liệu quý III</a:t>
              </a:r>
            </a:p>
            <a:p>
              <a:pPr algn="ctr">
                <a:lnSpc>
                  <a:spcPct val="100000"/>
                </a:lnSpc>
                <a:spcBef>
                  <a:spcPts val="200"/>
                </a:spcBef>
              </a:pPr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GDP 9 tháng tăng 9,01%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8107470" y="3440582"/>
              <a:ext cx="0" cy="292608"/>
            </a:xfrm>
            <a:prstGeom prst="line">
              <a:avLst/>
            </a:prstGeom>
            <a:ln w="9525" cap="flat">
              <a:solidFill>
                <a:srgbClr val="8A8F99"/>
              </a:solidFill>
              <a:round/>
            </a:ln>
          </p:spPr>
        </p:cxnSp>
        <p:sp>
          <p:nvSpPr>
            <p:cNvPr id="26" name="Oval 25"/>
            <p:cNvSpPr/>
            <p:nvPr/>
          </p:nvSpPr>
          <p:spPr>
            <a:xfrm>
              <a:off x="8038890" y="3372002"/>
              <a:ext cx="137160" cy="137160"/>
            </a:xfrm>
            <a:prstGeom prst="ellipse">
              <a:avLst/>
            </a:prstGeom>
            <a:solidFill>
              <a:srgbClr val="FFFFFF"/>
            </a:solidFill>
            <a:ln w="22225" cap="rnd">
              <a:solidFill>
                <a:srgbClr val="5B6170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491794" y="3769766"/>
              <a:ext cx="1231354" cy="70815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spcAft>
                  <a:spcPts val="200"/>
                </a:spcAft>
              </a:pPr>
              <a:r>
                <a:rPr sz="1000" b="0" i="0" lang="vi-VN">
                  <a:solidFill>
                    <a:srgbClr val="5B6170"/>
                  </a:solidFill>
                  <a:latin typeface="IBM Plex Sans SemiBold"/>
                </a:rPr>
                <a:t>13/10/2026</a:t>
              </a:r>
            </a:p>
            <a:p>
              <a:pPr algn="ctr">
                <a:lnSpc>
                  <a:spcPct val="100000"/>
                </a:lnSpc>
              </a:pPr>
              <a:r>
                <a:rPr sz="1100" b="0" i="0" lang="vi-VN">
                  <a:solidFill>
                    <a:srgbClr val="16181D"/>
                  </a:solidFill>
                  <a:latin typeface="IBM Plex Sans SemiBold"/>
                </a:rPr>
                <a:t>IMF WEO tháng 10</a:t>
              </a:r>
            </a:p>
            <a:p>
              <a:pPr algn="ctr">
                <a:lnSpc>
                  <a:spcPct val="100000"/>
                </a:lnSpc>
                <a:spcBef>
                  <a:spcPts val="200"/>
                </a:spcBef>
              </a:pPr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Cập nhật dự báo tăng trưởng</a:t>
              </a:r>
            </a:p>
          </p:txBody>
        </p:sp>
        <p:cxnSp>
          <p:nvCxnSpPr>
            <p:cNvPr id="28" name="Connector 27"/>
            <p:cNvCxnSpPr/>
            <p:nvPr/>
          </p:nvCxnSpPr>
          <p:spPr>
            <a:xfrm flipV="1">
              <a:off x="9448552" y="3147974"/>
              <a:ext cx="0" cy="292608"/>
            </a:xfrm>
            <a:prstGeom prst="line">
              <a:avLst/>
            </a:prstGeom>
            <a:ln w="9525" cap="flat">
              <a:solidFill>
                <a:srgbClr val="8A8F99"/>
              </a:solidFill>
              <a:round/>
            </a:ln>
          </p:spPr>
        </p:cxnSp>
        <p:sp>
          <p:nvSpPr>
            <p:cNvPr id="29" name="Oval 28"/>
            <p:cNvSpPr/>
            <p:nvPr/>
          </p:nvSpPr>
          <p:spPr>
            <a:xfrm>
              <a:off x="9379972" y="3372002"/>
              <a:ext cx="137160" cy="137160"/>
            </a:xfrm>
            <a:prstGeom prst="ellipse">
              <a:avLst/>
            </a:prstGeom>
            <a:solidFill>
              <a:srgbClr val="FFFFFF"/>
            </a:solidFill>
            <a:ln w="22225" cap="rnd">
              <a:solidFill>
                <a:srgbClr val="5B6170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832875" y="2403246"/>
              <a:ext cx="1231354" cy="708152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ctr">
                <a:spcAft>
                  <a:spcPts val="200"/>
                </a:spcAft>
              </a:pPr>
              <a:r>
                <a:rPr sz="1000" b="0" i="0" lang="vi-VN">
                  <a:solidFill>
                    <a:srgbClr val="5B6170"/>
                  </a:solidFill>
                  <a:latin typeface="IBM Plex Sans SemiBold"/>
                </a:rPr>
                <a:t>01/12/2026</a:t>
              </a:r>
            </a:p>
            <a:p>
              <a:pPr algn="ctr">
                <a:lnSpc>
                  <a:spcPct val="100000"/>
                </a:lnSpc>
              </a:pPr>
              <a:r>
                <a:rPr sz="1100" b="0" i="0" lang="vi-VN">
                  <a:solidFill>
                    <a:srgbClr val="16181D"/>
                  </a:solidFill>
                  <a:latin typeface="IBM Plex Sans SemiBold"/>
                </a:rPr>
                <a:t>Thông tư 50/2026</a:t>
              </a:r>
            </a:p>
            <a:p>
              <a:pPr algn="ctr">
                <a:lnSpc>
                  <a:spcPct val="100000"/>
                </a:lnSpc>
                <a:spcBef>
                  <a:spcPts val="200"/>
                </a:spcBef>
              </a:pPr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Trần LDR 95%, LCR/NSFR có hiệu lực</a:t>
              </a:r>
            </a:p>
          </p:txBody>
        </p:sp>
        <p:cxnSp>
          <p:nvCxnSpPr>
            <p:cNvPr id="31" name="Connector 30"/>
            <p:cNvCxnSpPr/>
            <p:nvPr/>
          </p:nvCxnSpPr>
          <p:spPr>
            <a:xfrm>
              <a:off x="10789634" y="3440582"/>
              <a:ext cx="0" cy="292608"/>
            </a:xfrm>
            <a:prstGeom prst="line">
              <a:avLst/>
            </a:prstGeom>
            <a:ln w="9525" cap="flat">
              <a:solidFill>
                <a:srgbClr val="8A8F99"/>
              </a:solidFill>
              <a:round/>
            </a:ln>
          </p:spPr>
        </p:cxnSp>
        <p:sp>
          <p:nvSpPr>
            <p:cNvPr id="32" name="Oval 31"/>
            <p:cNvSpPr/>
            <p:nvPr/>
          </p:nvSpPr>
          <p:spPr>
            <a:xfrm>
              <a:off x="10721054" y="3372002"/>
              <a:ext cx="137160" cy="137160"/>
            </a:xfrm>
            <a:prstGeom prst="ellipse">
              <a:avLst/>
            </a:prstGeom>
            <a:solidFill>
              <a:srgbClr val="FFFFFF"/>
            </a:solidFill>
            <a:ln w="22225" cap="rnd">
              <a:solidFill>
                <a:srgbClr val="5B6170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173957" y="3769766"/>
              <a:ext cx="1231354" cy="87579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spcAft>
                  <a:spcPts val="200"/>
                </a:spcAft>
              </a:pPr>
              <a:r>
                <a:rPr sz="1000" b="0" i="0" lang="vi-VN">
                  <a:solidFill>
                    <a:srgbClr val="5B6170"/>
                  </a:solidFill>
                  <a:latin typeface="IBM Plex Sans SemiBold"/>
                </a:rPr>
                <a:t>31/12/2026</a:t>
              </a:r>
            </a:p>
            <a:p>
              <a:pPr algn="ctr">
                <a:lnSpc>
                  <a:spcPct val="100000"/>
                </a:lnSpc>
              </a:pPr>
              <a:r>
                <a:rPr sz="1100" b="0" i="0" lang="vi-VN">
                  <a:solidFill>
                    <a:srgbClr val="16181D"/>
                  </a:solidFill>
                  <a:latin typeface="IBM Plex Sans SemiBold"/>
                </a:rPr>
                <a:t>Hết hạn giảm thuế GTGT</a:t>
              </a:r>
            </a:p>
            <a:p>
              <a:pPr algn="ctr">
                <a:lnSpc>
                  <a:spcPct val="100000"/>
                </a:lnSpc>
                <a:spcBef>
                  <a:spcPts val="200"/>
                </a:spcBef>
              </a:pPr>
              <a:r>
                <a:rPr sz="950" b="0" i="0" lang="vi-VN">
                  <a:solidFill>
                    <a:srgbClr val="5B6170"/>
                  </a:solidFill>
                  <a:latin typeface="IBM Plex Sans"/>
                </a:rPr>
                <a:t>Thuế suất 8% về lại 10%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548640" y="5363261"/>
            <a:ext cx="6395542" cy="9095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Năm mốc đã qua tác động tới vốn, thuế và tín dụng; ba mốc sắp tới thay đổi dự báo, thanh khoản và giá.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Khoảng cách giữa các mốc không theo tỷ lệ thời gian; chấm rỗng = mốc tương lai.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36" name="TextBox 35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Bộ Chính trị; Chính phủ; NHNN; NSO; IMF — lịch công bố của dashboard, văn bản trong data/policy.json.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TIẾP THEO · ĐIỀU CẦN THEO DÕI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8903665" cy="4498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Ba mốc trong quý IV/2026 sẽ cho biết bức tranh thay đổi thế nào</a:t>
            </a:r>
          </a:p>
        </p:txBody>
      </p:sp>
      <p:grpSp>
        <p:nvGrpSpPr>
          <p:cNvPr id="5" name="Watch item"/>
          <p:cNvGrpSpPr/>
          <p:nvPr/>
        </p:nvGrpSpPr>
        <p:grpSpPr>
          <a:xfrm>
            <a:off x="548640" y="1847088"/>
            <a:ext cx="3454298" cy="4179570"/>
            <a:chOff x="548640" y="1847088"/>
            <a:chExt cx="3454298" cy="4179570"/>
          </a:xfrm>
        </p:grpSpPr>
        <p:cxnSp>
          <p:nvCxnSpPr>
            <p:cNvPr id="6" name="Connector 5"/>
            <p:cNvCxnSpPr/>
            <p:nvPr/>
          </p:nvCxnSpPr>
          <p:spPr>
            <a:xfrm>
              <a:off x="548640" y="1847088"/>
              <a:ext cx="3454298" cy="0"/>
            </a:xfrm>
            <a:prstGeom prst="line">
              <a:avLst/>
            </a:prstGeom>
            <a:ln w="25400" cap="flat">
              <a:solidFill>
                <a:srgbClr val="16181D"/>
              </a:solidFill>
              <a:round/>
            </a:ln>
          </p:spPr>
        </p:cxnSp>
        <p:sp>
          <p:nvSpPr>
            <p:cNvPr id="7" name="TextBox 6"/>
            <p:cNvSpPr txBox="1"/>
            <p:nvPr/>
          </p:nvSpPr>
          <p:spPr>
            <a:xfrm>
              <a:off x="548640" y="2004060"/>
              <a:ext cx="955650" cy="1981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 i="0" lang="vi-VN" spc="50">
                  <a:solidFill>
                    <a:srgbClr val="C2362F"/>
                  </a:solidFill>
                  <a:latin typeface="IBM Plex Sans SemiBold"/>
                </a:rPr>
                <a:t>13/10/2026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548640" y="5367528"/>
              <a:ext cx="3454298" cy="0"/>
            </a:xfrm>
            <a:prstGeom prst="line">
              <a:avLst/>
            </a:prstGeom>
            <a:ln w="9525" cap="flat">
              <a:solidFill>
                <a:srgbClr val="DEDBD2"/>
              </a:solidFill>
              <a:round/>
            </a:ln>
          </p:spPr>
        </p:cxnSp>
        <p:sp>
          <p:nvSpPr>
            <p:cNvPr id="11" name="TextBox 10"/>
            <p:cNvSpPr txBox="1"/>
            <p:nvPr/>
          </p:nvSpPr>
          <p:spPr>
            <a:xfrm>
              <a:off x="548640" y="5531358"/>
              <a:ext cx="894804" cy="4953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3000" b="1" i="0" lang="vi-VN">
                  <a:solidFill>
                    <a:srgbClr val="16181D"/>
                  </a:solidFill>
                  <a:latin typeface="IBM Plex Sans"/>
                </a:rPr>
                <a:t>6</a:t>
              </a:r>
              <a:r>
                <a:rPr sz="1100" b="0" i="0" lang="vi-VN">
                  <a:solidFill>
                    <a:srgbClr val="5B6170"/>
                  </a:solidFill>
                  <a:latin typeface="IBM Plex Sans"/>
                </a:rPr>
                <a:t>  ngày nữa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548640" y="2304288"/>
            <a:ext cx="3454298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 lang="vi-VN">
                <a:solidFill>
                  <a:srgbClr val="16181D"/>
                </a:solidFill>
                <a:latin typeface="IBM Plex Sans SemiBold"/>
              </a:rPr>
              <a:t>IMF công bố WEO tháng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37104"/>
            <a:ext cx="3454298" cy="8618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Dự báo tháng 4 là 7,1% cho 2026; chín tháng thực tế đã tăng 9,01%. Mức điều chỉnh cho thấy IMF đánh giá đà tăng quý 3 bền đến đâu.</a:t>
            </a:r>
          </a:p>
        </p:txBody>
      </p:sp>
      <p:grpSp>
        <p:nvGrpSpPr>
          <p:cNvPr id="12" name="Watch item"/>
          <p:cNvGrpSpPr/>
          <p:nvPr/>
        </p:nvGrpSpPr>
        <p:grpSpPr>
          <a:xfrm>
            <a:off x="4368698" y="1847088"/>
            <a:ext cx="3454299" cy="4179570"/>
            <a:chOff x="4368698" y="1847088"/>
            <a:chExt cx="3454299" cy="4179570"/>
          </a:xfrm>
        </p:grpSpPr>
        <p:cxnSp>
          <p:nvCxnSpPr>
            <p:cNvPr id="13" name="Connector 12"/>
            <p:cNvCxnSpPr/>
            <p:nvPr/>
          </p:nvCxnSpPr>
          <p:spPr>
            <a:xfrm>
              <a:off x="4368698" y="1847088"/>
              <a:ext cx="3454299" cy="0"/>
            </a:xfrm>
            <a:prstGeom prst="line">
              <a:avLst/>
            </a:prstGeom>
            <a:ln w="25400" cap="flat">
              <a:solidFill>
                <a:srgbClr val="16181D"/>
              </a:solidFill>
              <a:round/>
            </a:ln>
          </p:spPr>
        </p:cxnSp>
        <p:sp>
          <p:nvSpPr>
            <p:cNvPr id="14" name="TextBox 13"/>
            <p:cNvSpPr txBox="1"/>
            <p:nvPr/>
          </p:nvSpPr>
          <p:spPr>
            <a:xfrm>
              <a:off x="4368698" y="2004060"/>
              <a:ext cx="955650" cy="1981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 i="0" lang="vi-VN" spc="50">
                  <a:solidFill>
                    <a:srgbClr val="C2362F"/>
                  </a:solidFill>
                  <a:latin typeface="IBM Plex Sans SemiBold"/>
                </a:rPr>
                <a:t>01/12/2026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4368698" y="5367528"/>
              <a:ext cx="3454299" cy="0"/>
            </a:xfrm>
            <a:prstGeom prst="line">
              <a:avLst/>
            </a:prstGeom>
            <a:ln w="9525" cap="flat">
              <a:solidFill>
                <a:srgbClr val="DEDBD2"/>
              </a:solidFill>
              <a:round/>
            </a:ln>
          </p:spPr>
        </p:cxnSp>
        <p:sp>
          <p:nvSpPr>
            <p:cNvPr id="18" name="TextBox 17"/>
            <p:cNvSpPr txBox="1"/>
            <p:nvPr/>
          </p:nvSpPr>
          <p:spPr>
            <a:xfrm>
              <a:off x="4368698" y="5531358"/>
              <a:ext cx="1123404" cy="4953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3000" b="1" i="0" lang="vi-VN">
                  <a:solidFill>
                    <a:srgbClr val="16181D"/>
                  </a:solidFill>
                  <a:latin typeface="IBM Plex Sans"/>
                </a:rPr>
                <a:t>55</a:t>
              </a:r>
              <a:r>
                <a:rPr sz="1100" b="0" i="0" lang="vi-VN">
                  <a:solidFill>
                    <a:srgbClr val="5B6170"/>
                  </a:solidFill>
                  <a:latin typeface="IBM Plex Sans"/>
                </a:rPr>
                <a:t>  ngày nữa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368698" y="2304288"/>
            <a:ext cx="3454298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 lang="vi-VN">
                <a:solidFill>
                  <a:srgbClr val="16181D"/>
                </a:solidFill>
                <a:latin typeface="IBM Plex Sans SemiBold"/>
              </a:rPr>
              <a:t>Trần LDR 95% có hiệu lực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8698" y="2737104"/>
            <a:ext cx="3454298" cy="1149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Thông tư 50/2026 nâng trần LDR và áp dụng LCR/NSFR. LDR toàn hệ thống là 77,1% (6/2026); tác động chính ở các ngân hàng sát trần.</a:t>
            </a:r>
          </a:p>
        </p:txBody>
      </p:sp>
      <p:grpSp>
        <p:nvGrpSpPr>
          <p:cNvPr id="19" name="Watch item"/>
          <p:cNvGrpSpPr/>
          <p:nvPr/>
        </p:nvGrpSpPr>
        <p:grpSpPr>
          <a:xfrm>
            <a:off x="8188757" y="1847088"/>
            <a:ext cx="3454298" cy="4179570"/>
            <a:chOff x="8188757" y="1847088"/>
            <a:chExt cx="3454298" cy="4179570"/>
          </a:xfrm>
        </p:grpSpPr>
        <p:cxnSp>
          <p:nvCxnSpPr>
            <p:cNvPr id="20" name="Connector 19"/>
            <p:cNvCxnSpPr/>
            <p:nvPr/>
          </p:nvCxnSpPr>
          <p:spPr>
            <a:xfrm>
              <a:off x="8188757" y="1847088"/>
              <a:ext cx="3454298" cy="0"/>
            </a:xfrm>
            <a:prstGeom prst="line">
              <a:avLst/>
            </a:prstGeom>
            <a:ln w="25400" cap="flat">
              <a:solidFill>
                <a:srgbClr val="16181D"/>
              </a:solidFill>
              <a:round/>
            </a:ln>
          </p:spPr>
        </p:cxnSp>
        <p:sp>
          <p:nvSpPr>
            <p:cNvPr id="21" name="TextBox 20"/>
            <p:cNvSpPr txBox="1"/>
            <p:nvPr/>
          </p:nvSpPr>
          <p:spPr>
            <a:xfrm>
              <a:off x="8188757" y="2004060"/>
              <a:ext cx="955650" cy="1981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0" i="0" lang="vi-VN" spc="50">
                  <a:solidFill>
                    <a:srgbClr val="C2362F"/>
                  </a:solidFill>
                  <a:latin typeface="IBM Plex Sans SemiBold"/>
                </a:rPr>
                <a:t>31/12/2026</a:t>
              </a:r>
            </a:p>
          </p:txBody>
        </p:sp>
        <p:cxnSp>
          <p:nvCxnSpPr>
            <p:cNvPr id="24" name="Connector 23"/>
            <p:cNvCxnSpPr/>
            <p:nvPr/>
          </p:nvCxnSpPr>
          <p:spPr>
            <a:xfrm>
              <a:off x="8188757" y="5367528"/>
              <a:ext cx="3454298" cy="0"/>
            </a:xfrm>
            <a:prstGeom prst="line">
              <a:avLst/>
            </a:prstGeom>
            <a:ln w="9525" cap="flat">
              <a:solidFill>
                <a:srgbClr val="DEDBD2"/>
              </a:solidFill>
              <a:round/>
            </a:ln>
          </p:spPr>
        </p:cxnSp>
        <p:sp>
          <p:nvSpPr>
            <p:cNvPr id="25" name="TextBox 24"/>
            <p:cNvSpPr txBox="1"/>
            <p:nvPr/>
          </p:nvSpPr>
          <p:spPr>
            <a:xfrm>
              <a:off x="8188757" y="5531358"/>
              <a:ext cx="1123404" cy="4953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3000" b="1" i="0" lang="vi-VN">
                  <a:solidFill>
                    <a:srgbClr val="16181D"/>
                  </a:solidFill>
                  <a:latin typeface="IBM Plex Sans"/>
                </a:rPr>
                <a:t>85</a:t>
              </a:r>
              <a:r>
                <a:rPr sz="1100" b="0" i="0" lang="vi-VN">
                  <a:solidFill>
                    <a:srgbClr val="5B6170"/>
                  </a:solidFill>
                  <a:latin typeface="IBM Plex Sans"/>
                </a:rPr>
                <a:t>  ngày nữa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8188757" y="2304288"/>
            <a:ext cx="3454298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 lang="vi-VN">
                <a:solidFill>
                  <a:srgbClr val="16181D"/>
                </a:solidFill>
                <a:latin typeface="IBM Plex Sans SemiBold"/>
              </a:rPr>
              <a:t>Hết hạn giảm 2 điểm % thuế GTGT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8757" y="2737104"/>
            <a:ext cx="3454298" cy="8618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Thuế suất 8% về lại 10% nếu không gia hạn. CPI tháng 9/2026 đang ở 5,08% so với cùng kỳ.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27" name="TextBox 26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IMF (lịch WEO); NHNN — Thông tư 50/2026; Chính phủ — chính sách giảm thuế GTGT (data/policy.json); NSO. Số ngày tính đến 7/10/2026.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48640"/>
            <a:ext cx="11094415" cy="0"/>
          </a:xfrm>
          <a:prstGeom prst="line">
            <a:avLst/>
          </a:prstGeom>
          <a:ln w="15875" cap="flat">
            <a:solidFill>
              <a:srgbClr val="16181D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141732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1000" b="0" i="0" lang="vi-VN">
                <a:solidFill>
                  <a:srgbClr val="C2362F"/>
                </a:solidFill>
                <a:latin typeface="Newsreader SemiBold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642948" cy="6675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0" i="0" lang="vi-VN">
                <a:solidFill>
                  <a:srgbClr val="16181D"/>
                </a:solidFill>
                <a:latin typeface="Newsreader SemiBold"/>
              </a:rPr>
              <a:t>Phụ lục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67912"/>
            <a:ext cx="5455768" cy="3246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500" b="0" i="0" lang="vi-VN">
                <a:solidFill>
                  <a:srgbClr val="5B6170"/>
                </a:solidFill>
                <a:latin typeface="IBM Plex Sans"/>
              </a:rPr>
              <a:t>Bảng số liệu chính và nguồn, phương pháp.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66837" y="1554480"/>
            <a:ext cx="357621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lang="vi-VN" spc="120">
                <a:solidFill>
                  <a:srgbClr val="5B6170"/>
                </a:solidFill>
                <a:latin typeface="IBM Plex Sans SemiBold"/>
              </a:rPr>
              <a:t>TRONG CHƯƠNG NÀY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066837" y="1920240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8" name="TextBox 7"/>
          <p:cNvSpPr txBox="1"/>
          <p:nvPr/>
        </p:nvSpPr>
        <p:spPr>
          <a:xfrm>
            <a:off x="8066837" y="2002536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Bảng số liệu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66837" y="2377821"/>
            <a:ext cx="357621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0" name="TextBox 9"/>
          <p:cNvSpPr txBox="1"/>
          <p:nvPr/>
        </p:nvSpPr>
        <p:spPr>
          <a:xfrm>
            <a:off x="8066837" y="2460117"/>
            <a:ext cx="3576218" cy="283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 lang="vi-VN">
                <a:solidFill>
                  <a:srgbClr val="16181D"/>
                </a:solidFill>
                <a:latin typeface="IBM Plex Sans"/>
              </a:rPr>
              <a:t>Nguồn và phương pháp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12" name="TextBox 11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PHỤ LỤC · SỐ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5605577" cy="4498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Bảng số liệu chính, 2023 – 9 tháng 2026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548640" y="1755648"/>
          <a:ext cx="11094415" cy="353233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43200"/>
                <a:gridCol w="1234440"/>
                <a:gridCol w="1234440"/>
                <a:gridCol w="1234440"/>
                <a:gridCol w="1234440"/>
                <a:gridCol w="1463040"/>
                <a:gridCol w="1950415"/>
              </a:tblGrid>
              <a:tr h="294361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 SemiBold"/>
                        </a:rPr>
                        <a:t>CHỈ TIÊU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6181D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 SemiBold"/>
                        </a:rPr>
                        <a:t>ĐƠN VỊ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6181D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 SemiBold"/>
                        </a:rPr>
                        <a:t>2023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6181D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 SemiBold"/>
                        </a:rPr>
                        <a:t>2024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6181D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 SemiBold"/>
                        </a:rPr>
                        <a:t>2025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6181D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 SemiBold"/>
                        </a:rPr>
                        <a:t>9T/2026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6181D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 lang="vi-VN">
                          <a:solidFill>
                            <a:srgbClr val="5B6170"/>
                          </a:solidFill>
                          <a:latin typeface="IBM Plex Sans SemiBold"/>
                        </a:rPr>
                        <a:t>NGUỒN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6181D"/>
                      </a:solidFill>
                    </a:lnT>
                    <a:lnB w="9525">
                      <a:solidFill>
                        <a:srgbClr val="16181D"/>
                      </a:solidFill>
                    </a:lnB>
                    <a:noFill/>
                  </a:tcPr>
                </a:tc>
              </a:tr>
              <a:tr h="294361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Tăng trưởng GDP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%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4,98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7,04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8,02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9,01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NSO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294361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Lạm phát bình quân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%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3,25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3,63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3,31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4,52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NSO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</a:tr>
              <a:tr h="294361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Xuất khẩu hàng hoá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tỷ USD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354,7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405,9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475,0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434,3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NSO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294361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FDI giải ngân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tỷ USD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23,18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25,35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27,62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21,07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NSO, Cục ĐTNN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</a:tr>
              <a:tr h="294361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Tăng trưởng tín dụng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%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13,78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15,09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19,07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11,59 (YTD)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NHNN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294361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Tăng trưởng huy động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%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13,20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10,66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15,42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8A8F99"/>
                          </a:solidFill>
                          <a:latin typeface="IBM Plex Sans"/>
                        </a:rPr>
                        <a:t>—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NHNN, IMF FSI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</a:tr>
              <a:tr h="294361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Nợ xấu (IMF FSI)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%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5,41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4,85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4,21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8A8F99"/>
                          </a:solidFill>
                          <a:latin typeface="IBM Plex Sans"/>
                        </a:rPr>
                        <a:t>—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IMF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294361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Thu ngân sách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nghìn tỷ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1.770,8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2.057,5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2.650,1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2.187,3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Bộ Tài chính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</a:tr>
              <a:tr h="294361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Chi ngân sách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nghìn tỷ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1.936,9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2.148,5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2.401,5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1.873,7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Bộ Tài chính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294361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Cán cân vãng lai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tỷ USD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25,8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30,2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33,1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8A8F99"/>
                          </a:solidFill>
                          <a:latin typeface="IBM Plex Sans"/>
                        </a:rPr>
                        <a:t>—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IMF BPM6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solidFill>
                      <a:srgbClr val="F6F5F1"/>
                    </a:solidFill>
                  </a:tcPr>
                </a:tc>
              </a:tr>
              <a:tr h="294361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 Medium"/>
                        </a:rPr>
                        <a:t>Dân số trung bình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triệu người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100,31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101,34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102,35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 lang="vi-VN">
                          <a:solidFill>
                            <a:srgbClr val="8A8F99"/>
                          </a:solidFill>
                          <a:latin typeface="IBM Plex Sans"/>
                        </a:rPr>
                        <a:t>—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lang="vi-VN">
                          <a:solidFill>
                            <a:srgbClr val="16181D"/>
                          </a:solidFill>
                          <a:latin typeface="IBM Plex Sans"/>
                        </a:rPr>
                        <a:t>NSO</a:t>
                      </a:r>
                    </a:p>
                  </a:txBody>
                  <a:tcPr marL="91440" marR="9144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1E0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44591"/>
            <a:ext cx="6395542" cy="628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300" b="0" i="0" lang="vi-VN">
                <a:solidFill>
                  <a:srgbClr val="16181D"/>
                </a:solidFill>
                <a:latin typeface="IBM Plex Sans"/>
              </a:rPr>
              <a:t>Dấu "—": chưa công bố cho kỳ đó, không phải bằng 0.</a:t>
            </a:r>
          </a:p>
          <a:p>
            <a:pPr algn="l">
              <a:lnSpc>
                <a:spcPct val="142000"/>
              </a:lnSpc>
            </a:pPr>
            <a:r>
              <a:rPr sz="1300" b="0" i="0" lang="vi-VN">
                <a:solidFill>
                  <a:srgbClr val="5B6170"/>
                </a:solidFill>
                <a:latin typeface="IBM Plex Sans"/>
              </a:rPr>
              <a:t>2025 là ước tính; tín dụng 9T/2026 là tăng từ đầu năm, không so được với số cuối năm.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8" name="TextBox 7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Nguồn: NSO; NHNN; IMF FSI và BPM6; Bộ Tài chính — số liệu dashboard đến 7/10/2026.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384048"/>
            <a:ext cx="11094415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3" name="TextBox 2"/>
          <p:cNvSpPr txBox="1"/>
          <p:nvPr/>
        </p:nvSpPr>
        <p:spPr>
          <a:xfrm>
            <a:off x="548640" y="5120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lang="vi-VN" spc="130">
                <a:solidFill>
                  <a:srgbClr val="C2362F"/>
                </a:solidFill>
                <a:latin typeface="IBM Plex Sans SemiBold"/>
              </a:rPr>
              <a:t>PHỤ LỤC · NGUỒN VÀ PHƯƠNG PHÁP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5067605" cy="4498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 lang="vi-VN">
                <a:solidFill>
                  <a:srgbClr val="16181D"/>
                </a:solidFill>
                <a:latin typeface="Newsreader SemiBold"/>
              </a:rPr>
              <a:t>Nguồn số liệu, kỳ số liệu và cách tính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55648"/>
            <a:ext cx="339333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6" name="TextBox 5"/>
          <p:cNvSpPr txBox="1"/>
          <p:nvPr/>
        </p:nvSpPr>
        <p:spPr>
          <a:xfrm>
            <a:off x="548640" y="1819656"/>
            <a:ext cx="3393338" cy="7597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lang="vi-VN">
                <a:solidFill>
                  <a:srgbClr val="C2362F"/>
                </a:solidFill>
                <a:latin typeface="IBM Plex Sans SemiBold"/>
              </a:rPr>
              <a:t> 1  </a:t>
            </a:r>
            <a:r>
              <a:rPr sz="1100" b="0" i="0" lang="vi-VN">
                <a:solidFill>
                  <a:srgbClr val="16181D"/>
                </a:solidFill>
                <a:latin typeface="IBM Plex Sans SemiBold"/>
              </a:rPr>
              <a:t>NSO — Cục Thống kê</a:t>
            </a:r>
          </a:p>
          <a:p>
            <a:pPr algn="l">
              <a:lnSpc>
                <a:spcPct val="125000"/>
              </a:lnSpc>
            </a:pPr>
            <a:r>
              <a:rPr sz="1050" b="0" i="0" lang="vi-VN">
                <a:solidFill>
                  <a:srgbClr val="5B6170"/>
                </a:solidFill>
                <a:latin typeface="IBM Plex Sans"/>
              </a:rPr>
              <a:t>GDP, CPI, xuất nhập khẩu, FDI, vốn đầu tư; GRDP địa phương</a:t>
            </a:r>
          </a:p>
          <a:p>
            <a:pPr algn="l">
              <a:spcBef>
                <a:spcPts val="100"/>
              </a:spcBef>
            </a:pPr>
            <a:r>
              <a:rPr sz="900" b="0" i="0" lang="vi-VN">
                <a:solidFill>
                  <a:srgbClr val="8A8F99"/>
                </a:solidFill>
                <a:latin typeface="IBM Plex Sans"/>
              </a:rPr>
              <a:t>2010 – 9T/2026 · nso.gov.vn · pxweb.nso.gov.vn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61666"/>
            <a:ext cx="339333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8" name="TextBox 7"/>
          <p:cNvSpPr txBox="1"/>
          <p:nvPr/>
        </p:nvSpPr>
        <p:spPr>
          <a:xfrm>
            <a:off x="548640" y="2725674"/>
            <a:ext cx="3393338" cy="5596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lang="vi-VN">
                <a:solidFill>
                  <a:srgbClr val="C2362F"/>
                </a:solidFill>
                <a:latin typeface="IBM Plex Sans SemiBold"/>
              </a:rPr>
              <a:t> 2  </a:t>
            </a:r>
            <a:r>
              <a:rPr sz="1100" b="0" i="0" lang="vi-VN">
                <a:solidFill>
                  <a:srgbClr val="16181D"/>
                </a:solidFill>
                <a:latin typeface="IBM Plex Sans SemiBold"/>
              </a:rPr>
              <a:t>Ngân hàng Nhà nước (NHNN)</a:t>
            </a:r>
          </a:p>
          <a:p>
            <a:pPr algn="l">
              <a:lnSpc>
                <a:spcPct val="125000"/>
              </a:lnSpc>
            </a:pPr>
            <a:r>
              <a:rPr sz="1050" b="0" i="0" lang="vi-VN">
                <a:solidFill>
                  <a:srgbClr val="5B6170"/>
                </a:solidFill>
                <a:latin typeface="IBM Plex Sans"/>
              </a:rPr>
              <a:t>Tín dụng theo ngành, huy động, M2, lãi suất điều hành</a:t>
            </a:r>
          </a:p>
          <a:p>
            <a:pPr algn="l">
              <a:spcBef>
                <a:spcPts val="100"/>
              </a:spcBef>
            </a:pPr>
            <a:r>
              <a:rPr sz="900" b="0" i="0" lang="vi-VN">
                <a:solidFill>
                  <a:srgbClr val="8A8F99"/>
                </a:solidFill>
                <a:latin typeface="IBM Plex Sans"/>
              </a:rPr>
              <a:t>2015 – 10/2026 · sbv.gov.vn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3367659"/>
            <a:ext cx="339333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0" name="TextBox 9"/>
          <p:cNvSpPr txBox="1"/>
          <p:nvPr/>
        </p:nvSpPr>
        <p:spPr>
          <a:xfrm>
            <a:off x="548640" y="3431667"/>
            <a:ext cx="3393338" cy="7597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lang="vi-VN">
                <a:solidFill>
                  <a:srgbClr val="C2362F"/>
                </a:solidFill>
                <a:latin typeface="IBM Plex Sans SemiBold"/>
              </a:rPr>
              <a:t> 3  </a:t>
            </a:r>
            <a:r>
              <a:rPr sz="1100" b="0" i="0" lang="vi-VN">
                <a:solidFill>
                  <a:srgbClr val="16181D"/>
                </a:solidFill>
                <a:latin typeface="IBM Plex Sans SemiBold"/>
              </a:rPr>
              <a:t>Bộ Tài chính, Bộ KH&amp;ĐT</a:t>
            </a:r>
          </a:p>
          <a:p>
            <a:pPr algn="l">
              <a:lnSpc>
                <a:spcPct val="125000"/>
              </a:lnSpc>
            </a:pPr>
            <a:r>
              <a:rPr sz="1050" b="0" i="0" lang="vi-VN">
                <a:solidFill>
                  <a:srgbClr val="5B6170"/>
                </a:solidFill>
                <a:latin typeface="IBM Plex Sans"/>
              </a:rPr>
              <a:t>Quyết toán, ước thực hiện và dự toán NSNN; giải ngân đầu tư công</a:t>
            </a:r>
          </a:p>
          <a:p>
            <a:pPr algn="l">
              <a:spcBef>
                <a:spcPts val="100"/>
              </a:spcBef>
            </a:pPr>
            <a:r>
              <a:rPr sz="900" b="0" i="0" lang="vi-VN">
                <a:solidFill>
                  <a:srgbClr val="8A8F99"/>
                </a:solidFill>
                <a:latin typeface="IBM Plex Sans"/>
              </a:rPr>
              <a:t>2018 – 2026 · mof.gov.vn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4273677"/>
            <a:ext cx="3393338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2" name="TextBox 11"/>
          <p:cNvSpPr txBox="1"/>
          <p:nvPr/>
        </p:nvSpPr>
        <p:spPr>
          <a:xfrm>
            <a:off x="548640" y="4337685"/>
            <a:ext cx="3393338" cy="5596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lang="vi-VN">
                <a:solidFill>
                  <a:srgbClr val="C2362F"/>
                </a:solidFill>
                <a:latin typeface="IBM Plex Sans SemiBold"/>
              </a:rPr>
              <a:t> 4  </a:t>
            </a:r>
            <a:r>
              <a:rPr sz="1100" b="0" i="0" lang="vi-VN">
                <a:solidFill>
                  <a:srgbClr val="16181D"/>
                </a:solidFill>
                <a:latin typeface="IBM Plex Sans SemiBold"/>
              </a:rPr>
              <a:t>IMF</a:t>
            </a:r>
          </a:p>
          <a:p>
            <a:pPr algn="l">
              <a:lnSpc>
                <a:spcPct val="125000"/>
              </a:lnSpc>
            </a:pPr>
            <a:r>
              <a:rPr sz="1050" b="0" i="0" lang="vi-VN">
                <a:solidFill>
                  <a:srgbClr val="5B6170"/>
                </a:solidFill>
                <a:latin typeface="IBM Plex Sans"/>
              </a:rPr>
              <a:t>WEO 4/2026; FSI; BoP (BPM6); dự trữ ngoại hối</a:t>
            </a:r>
          </a:p>
          <a:p>
            <a:pPr algn="l">
              <a:spcBef>
                <a:spcPts val="100"/>
              </a:spcBef>
            </a:pPr>
            <a:r>
              <a:rPr sz="900" b="0" i="0" lang="vi-VN">
                <a:solidFill>
                  <a:srgbClr val="8A8F99"/>
                </a:solidFill>
                <a:latin typeface="IBM Plex Sans"/>
              </a:rPr>
              <a:t>2010 – 2030 · imf.org · data.imf.org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07738" y="1755648"/>
            <a:ext cx="3393339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4" name="TextBox 13"/>
          <p:cNvSpPr txBox="1"/>
          <p:nvPr/>
        </p:nvSpPr>
        <p:spPr>
          <a:xfrm>
            <a:off x="4307738" y="1819656"/>
            <a:ext cx="3393338" cy="7597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lang="vi-VN">
                <a:solidFill>
                  <a:srgbClr val="C2362F"/>
                </a:solidFill>
                <a:latin typeface="IBM Plex Sans SemiBold"/>
              </a:rPr>
              <a:t> 5  </a:t>
            </a:r>
            <a:r>
              <a:rPr sz="1100" b="0" i="0" lang="vi-VN">
                <a:solidFill>
                  <a:srgbClr val="16181D"/>
                </a:solidFill>
                <a:latin typeface="IBM Plex Sans SemiBold"/>
              </a:rPr>
              <a:t>Liên Hợp Quốc</a:t>
            </a:r>
          </a:p>
          <a:p>
            <a:pPr algn="l">
              <a:lnSpc>
                <a:spcPct val="125000"/>
              </a:lnSpc>
            </a:pPr>
            <a:r>
              <a:rPr sz="1050" b="0" i="0" lang="vi-VN">
                <a:solidFill>
                  <a:srgbClr val="5B6170"/>
                </a:solidFill>
                <a:latin typeface="IBM Plex Sans"/>
              </a:rPr>
              <a:t>World Population Prospects 2024, phương án trung bình</a:t>
            </a:r>
          </a:p>
          <a:p>
            <a:pPr algn="l">
              <a:spcBef>
                <a:spcPts val="100"/>
              </a:spcBef>
            </a:pPr>
            <a:r>
              <a:rPr sz="900" b="0" i="0" lang="vi-VN">
                <a:solidFill>
                  <a:srgbClr val="8A8F99"/>
                </a:solidFill>
                <a:latin typeface="IBM Plex Sans"/>
              </a:rPr>
              <a:t>2025, 2050 · population.un.org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07738" y="2661666"/>
            <a:ext cx="3393339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6" name="TextBox 15"/>
          <p:cNvSpPr txBox="1"/>
          <p:nvPr/>
        </p:nvSpPr>
        <p:spPr>
          <a:xfrm>
            <a:off x="4307738" y="2725674"/>
            <a:ext cx="3393338" cy="5596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lang="vi-VN">
                <a:solidFill>
                  <a:srgbClr val="C2362F"/>
                </a:solidFill>
                <a:latin typeface="IBM Plex Sans SemiBold"/>
              </a:rPr>
              <a:t> 6  </a:t>
            </a:r>
            <a:r>
              <a:rPr sz="1100" b="0" i="0" lang="vi-VN">
                <a:solidFill>
                  <a:srgbClr val="16181D"/>
                </a:solidFill>
                <a:latin typeface="IBM Plex Sans SemiBold"/>
              </a:rPr>
              <a:t>ADB, World Bank, AMRO, OECD, SCB</a:t>
            </a:r>
          </a:p>
          <a:p>
            <a:pPr algn="l">
              <a:lnSpc>
                <a:spcPct val="125000"/>
              </a:lnSpc>
            </a:pPr>
            <a:r>
              <a:rPr sz="1050" b="0" i="0" lang="vi-VN">
                <a:solidFill>
                  <a:srgbClr val="5B6170"/>
                </a:solidFill>
                <a:latin typeface="IBM Plex Sans"/>
              </a:rPr>
              <a:t>Dự báo tăng trưởng và lạm phát</a:t>
            </a:r>
          </a:p>
          <a:p>
            <a:pPr algn="l">
              <a:spcBef>
                <a:spcPts val="100"/>
              </a:spcBef>
            </a:pPr>
            <a:r>
              <a:rPr sz="900" b="0" i="0" lang="vi-VN">
                <a:solidFill>
                  <a:srgbClr val="8A8F99"/>
                </a:solidFill>
                <a:latin typeface="IBM Plex Sans"/>
              </a:rPr>
              <a:t>2026 – 2027 · data/economy.json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07738" y="3367659"/>
            <a:ext cx="3393339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18" name="TextBox 17"/>
          <p:cNvSpPr txBox="1"/>
          <p:nvPr/>
        </p:nvSpPr>
        <p:spPr>
          <a:xfrm>
            <a:off x="4307738" y="3431667"/>
            <a:ext cx="3393338" cy="7597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lang="vi-VN">
                <a:solidFill>
                  <a:srgbClr val="C2362F"/>
                </a:solidFill>
                <a:latin typeface="IBM Plex Sans SemiBold"/>
              </a:rPr>
              <a:t> 7  </a:t>
            </a:r>
            <a:r>
              <a:rPr sz="1100" b="0" i="0" lang="vi-VN">
                <a:solidFill>
                  <a:srgbClr val="16181D"/>
                </a:solidFill>
                <a:latin typeface="IBM Plex Sans SemiBold"/>
              </a:rPr>
              <a:t>Vietnam Dashboard</a:t>
            </a:r>
          </a:p>
          <a:p>
            <a:pPr algn="l">
              <a:lnSpc>
                <a:spcPct val="125000"/>
              </a:lnSpc>
            </a:pPr>
            <a:r>
              <a:rPr sz="1050" b="0" i="0" lang="vi-VN">
                <a:solidFill>
                  <a:srgbClr val="5B6170"/>
                </a:solidFill>
                <a:latin typeface="IBM Plex Sans"/>
              </a:rPr>
              <a:t>Mô hình lãi suất huy động v2; phân tích hệ thống tài chính</a:t>
            </a:r>
          </a:p>
          <a:p>
            <a:pPr algn="l">
              <a:spcBef>
                <a:spcPts val="100"/>
              </a:spcBef>
            </a:pPr>
            <a:r>
              <a:rPr sz="900" b="0" i="0" lang="vi-VN">
                <a:solidFill>
                  <a:srgbClr val="8A8F99"/>
                </a:solidFill>
                <a:latin typeface="IBM Plex Sans"/>
              </a:rPr>
              <a:t>7/10/2026 · data/simulation.json · data/finance.json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307738" y="4273677"/>
            <a:ext cx="3393339" cy="0"/>
          </a:xfrm>
          <a:prstGeom prst="line">
            <a:avLst/>
          </a:prstGeom>
          <a:ln w="9525" cap="flat">
            <a:solidFill>
              <a:srgbClr val="DEDBD2"/>
            </a:solidFill>
            <a:round/>
          </a:ln>
        </p:spPr>
      </p:cxnSp>
      <p:sp>
        <p:nvSpPr>
          <p:cNvPr id="20" name="TextBox 19"/>
          <p:cNvSpPr txBox="1"/>
          <p:nvPr/>
        </p:nvSpPr>
        <p:spPr>
          <a:xfrm>
            <a:off x="4307738" y="4337685"/>
            <a:ext cx="3393338" cy="7597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lang="vi-VN">
                <a:solidFill>
                  <a:srgbClr val="C2362F"/>
                </a:solidFill>
                <a:latin typeface="IBM Plex Sans SemiBold"/>
              </a:rPr>
              <a:t> 8  </a:t>
            </a:r>
            <a:r>
              <a:rPr sz="1100" b="0" i="0" lang="vi-VN">
                <a:solidFill>
                  <a:srgbClr val="16181D"/>
                </a:solidFill>
                <a:latin typeface="IBM Plex Sans SemiBold"/>
              </a:rPr>
              <a:t>Quốc hội, Chính phủ, Bộ Chính trị</a:t>
            </a:r>
          </a:p>
          <a:p>
            <a:pPr algn="l">
              <a:lnSpc>
                <a:spcPct val="125000"/>
              </a:lnSpc>
            </a:pPr>
            <a:r>
              <a:rPr sz="1050" b="0" i="0" lang="vi-VN">
                <a:solidFill>
                  <a:srgbClr val="5B6170"/>
                </a:solidFill>
                <a:latin typeface="IBM Plex Sans"/>
              </a:rPr>
              <a:t>NQ 244/2025/QH15, NQ 25/2026/QH16, NQ 10-NQ/TW, NĐ 245/2026</a:t>
            </a:r>
          </a:p>
          <a:p>
            <a:pPr algn="l">
              <a:spcBef>
                <a:spcPts val="100"/>
              </a:spcBef>
            </a:pPr>
            <a:r>
              <a:rPr sz="900" b="0" i="0" lang="vi-VN">
                <a:solidFill>
                  <a:srgbClr val="8A8F99"/>
                </a:solidFill>
                <a:latin typeface="IBM Plex Sans"/>
              </a:rPr>
              <a:t>2025 – 2026 · data/policy.json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6837" y="1755648"/>
            <a:ext cx="3576218" cy="443484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5437" y="1956816"/>
            <a:ext cx="311901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 lang="vi-VN" spc="100">
                <a:solidFill>
                  <a:srgbClr val="5B6170"/>
                </a:solidFill>
                <a:latin typeface="IBM Plex Sans SemiBold"/>
              </a:rPr>
              <a:t>PHƯƠNG PHÁP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95437" y="2359152"/>
            <a:ext cx="64008" cy="64008"/>
          </a:xfrm>
          <a:prstGeom prst="rect">
            <a:avLst/>
          </a:prstGeom>
          <a:solidFill>
            <a:srgbClr val="1618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78317" y="2286000"/>
            <a:ext cx="2936138" cy="4160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 lang="vi-VN">
                <a:solidFill>
                  <a:srgbClr val="16181D"/>
                </a:solidFill>
                <a:latin typeface="IBM Plex Sans"/>
              </a:rPr>
              <a:t>Mọi con số trong tiêu đề và ghi chú được tính từ dữ liệu khi dựng slide.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95437" y="2884932"/>
            <a:ext cx="64008" cy="64008"/>
          </a:xfrm>
          <a:prstGeom prst="rect">
            <a:avLst/>
          </a:prstGeom>
          <a:solidFill>
            <a:srgbClr val="1618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78317" y="2811780"/>
            <a:ext cx="2936138" cy="6240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 lang="vi-VN">
                <a:solidFill>
                  <a:srgbClr val="16181D"/>
                </a:solidFill>
                <a:latin typeface="IBM Plex Sans"/>
              </a:rPr>
              <a:t>Biểu đồ là biểu đồ PowerPoint gốc: bấm Edit Data để sửa số; cột phụ (nền ẩn, dải quạt, tứ phân vị…) là công thức Excel.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95437" y="3618738"/>
            <a:ext cx="64008" cy="64008"/>
          </a:xfrm>
          <a:prstGeom prst="rect">
            <a:avLst/>
          </a:prstGeom>
          <a:solidFill>
            <a:srgbClr val="1618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8317" y="3545586"/>
            <a:ext cx="2936138" cy="4160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 lang="vi-VN">
                <a:solidFill>
                  <a:srgbClr val="16181D"/>
                </a:solidFill>
                <a:latin typeface="IBM Plex Sans"/>
              </a:rPr>
              <a:t>Ước tính, dự toán, dự báo: nét đứt, viền đứt hoặc ô rỗng, có ghi chú.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95437" y="4144518"/>
            <a:ext cx="64008" cy="64008"/>
          </a:xfrm>
          <a:prstGeom prst="rect">
            <a:avLst/>
          </a:prstGeom>
          <a:solidFill>
            <a:srgbClr val="1618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78317" y="4071366"/>
            <a:ext cx="2936138" cy="2080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 lang="vi-VN">
                <a:solidFill>
                  <a:srgbClr val="16181D"/>
                </a:solidFill>
                <a:latin typeface="IBM Plex Sans"/>
              </a:rPr>
              <a:t>Chỉ tiêu phái sinh đánh dấu ≈ và nói rõ cách tính.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95437" y="4462272"/>
            <a:ext cx="64008" cy="64008"/>
          </a:xfrm>
          <a:prstGeom prst="rect">
            <a:avLst/>
          </a:prstGeom>
          <a:solidFill>
            <a:srgbClr val="1618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78317" y="4389120"/>
            <a:ext cx="2936138" cy="4160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 lang="vi-VN">
                <a:solidFill>
                  <a:srgbClr val="16181D"/>
                </a:solidFill>
                <a:latin typeface="IBM Plex Sans"/>
              </a:rPr>
              <a:t>Khoảng trống để trống ("—"), không thay bằng 0, không nội suy.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95437" y="4988052"/>
            <a:ext cx="64008" cy="64008"/>
          </a:xfrm>
          <a:prstGeom prst="rect">
            <a:avLst/>
          </a:prstGeom>
          <a:solidFill>
            <a:srgbClr val="1618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78317" y="4914900"/>
            <a:ext cx="2936138" cy="4160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 lang="vi-VN">
                <a:solidFill>
                  <a:srgbClr val="16181D"/>
                </a:solidFill>
                <a:latin typeface="IBM Plex Sans"/>
              </a:rPr>
              <a:t>Mô hình của dashboard là minh hoạ, không phải dự báo chính thức.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95437" y="5513832"/>
            <a:ext cx="64008" cy="64008"/>
          </a:xfrm>
          <a:prstGeom prst="rect">
            <a:avLst/>
          </a:prstGeom>
          <a:solidFill>
            <a:srgbClr val="1618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78317" y="5440680"/>
            <a:ext cx="2936138" cy="2080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 lang="vi-VN">
                <a:solidFill>
                  <a:srgbClr val="16181D"/>
                </a:solidFill>
                <a:latin typeface="IBM Plex Sans"/>
              </a:rPr>
              <a:t>Mô tả số liệu — không phải khuyến nghị đầu tư.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6350" cap="flat">
            <a:solidFill>
              <a:srgbClr val="DEDBD2"/>
            </a:solidFill>
            <a:round/>
          </a:ln>
        </p:spPr>
      </p:cxnSp>
      <p:sp>
        <p:nvSpPr>
          <p:cNvPr id="38" name="TextBox 37"/>
          <p:cNvSpPr txBox="1"/>
          <p:nvPr/>
        </p:nvSpPr>
        <p:spPr>
          <a:xfrm>
            <a:off x="548640" y="6492240"/>
            <a:ext cx="8899855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· bộ mẫu vn-data-story · số liệu đến 7/10/2026.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1375" y="64922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lang="vi-VN">
                <a:solidFill>
                  <a:srgbClr val="8A8F99"/>
                </a:solidFill>
                <a:latin typeface="IBM Plex Sans"/>
              </a:rPr>
              <a:t>Vietnam Dashboard   </a:t>
            </a:r>
            <a:r>
              <a:rPr sz="900" b="0" i="0" lang="vi-VN">
                <a:solidFill>
                  <a:srgbClr val="16181D"/>
                </a:solidFill>
                <a:latin typeface="IBM Plex Sans SemiBold"/>
              </a:rPr>
              <a:t>61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Vietnam Dashboard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vi-VN</dc:language>
</cp:coreProperties>
</file>